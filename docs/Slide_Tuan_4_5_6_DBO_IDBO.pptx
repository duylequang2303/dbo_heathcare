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C9A227"/>
                </a:solidFill>
                <a:latin typeface="Calibri"/>
                <a:ea typeface="Calibri"/>
              </a:rPr>
              <a:t>CNTT-KLCN142  ·  Khoa luan CNTT  ·  2025-2026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  <a:ea typeface="Calibri"/>
              </a:rPr>
              <a:t>DBO va IDBO tren ham benchmark
Slide giai thich hinh + bang (Tuan 4, 5, 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57600"/>
            <a:ext cx="109728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D7E3F4"/>
                </a:solidFill>
                <a:latin typeface="Calibri"/>
                <a:ea typeface="Calibri"/>
              </a:rPr>
              <a:t>De tai: He thong de xuat thuc don dinh duong ca nhan hoa bang IDBO
GVHD: ThS. Dinh Nguyen Trong Nghia
Nhom: Le Quang Duy · Dang Nguyen Minh Dang · Ho Trung Cuong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  <a:ea typeface="Calibri"/>
              </a:rPr>
              <a:t>Cach dung slide: moi hinh co khung vang phia duoi — doc khung do truoc khi nhin so.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  <a:ea typeface="Calibri"/>
              </a:rPr>
              <a:t>Ban do slide — doc theo thu tu nay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188720"/>
            <a:ext cx="36576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3657600" cy="38404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47472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  <a:ea typeface="Calibri"/>
              </a:rPr>
              <a:t>PHAN A · Tuan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" y="1627632"/>
            <a:ext cx="3401568" cy="4434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F2937"/>
                </a:solidFill>
                <a:latin typeface="Calibri"/>
                <a:ea typeface="Calibri"/>
              </a:rPr>
              <a:t>DBO goc la gi?
Bang MEAN 6 ham x 3 dim
(khong nhe 18 dong best/std/worst)
8 hinh hoi tu + boxplot
moi hinh kem 3-4 cau chu thich
Ket luan: cai dat DBO dung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188720"/>
            <a:ext cx="36576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1960" y="1188720"/>
            <a:ext cx="3657600" cy="38404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61688" y="1188720"/>
            <a:ext cx="347472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  <a:ea typeface="Calibri"/>
              </a:rPr>
              <a:t>PHAN B · Tuan 5-6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9976" y="1627632"/>
            <a:ext cx="3401568" cy="4434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F2937"/>
                </a:solidFill>
                <a:latin typeface="Calibri"/>
                <a:ea typeface="Calibri"/>
              </a:rPr>
              <a:t>IDBO them 2 co che khi quan the sup
So do + bang perturb/restart
10 hinh: hoi tu / box / diversity
DBO (xanh) vs IDBO (cam)
Ket luan: hai thuat toan hoa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188720"/>
            <a:ext cx="36576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2A6F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188720"/>
            <a:ext cx="3657600" cy="384048"/>
          </a:xfrm>
          <a:prstGeom prst="rect">
            <a:avLst/>
          </a:prstGeom>
          <a:solidFill>
            <a:srgbClr val="2A6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1188720"/>
            <a:ext cx="347472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  <a:ea typeface="Calibri"/>
              </a:rPr>
              <a:t>Quy uoc doc hinh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6" y="1627632"/>
            <a:ext cx="3401568" cy="4434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F2937"/>
                </a:solidFill>
                <a:latin typeface="Calibri"/>
                <a:ea typeface="Calibri"/>
              </a:rPr>
              <a:t>Truc Y log: duong xuong = tot hon (minimize).
Duong trung binh cua 30 lan chay, khong phai 1 seed.
Boxplot: hop = 50% giua; cham tron = outlier.
Bang chi hien MEAN. So day du nam o CSV.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CNTT-KLCN142  |  DBO / IDBO  |  Tuan 4-5-6  |  dim = 10, 30, 50  |  M = 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601968"/>
            <a:ext cx="14630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2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  <a:ea typeface="Calibri"/>
              </a:rPr>
              <a:t>Protocol — nho 6 so nay la du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30352"/>
            <a:ext cx="11430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7E3F4"/>
                </a:solidFill>
                <a:latin typeface="Calibri"/>
                <a:ea typeface="Calibri"/>
              </a:rPr>
              <a:t>Khong dung dim=2. Khong so sanh equal-budget.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5029200"/>
                <a:gridCol w="4023360"/>
              </a:tblGrid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Tham so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Gia tri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Y nghia ngan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Thuat toan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Tuan 4: DBO   |   Tuan 5-6: DBO vs IDBO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Cung n_agents, max_iter, seed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6 ham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Sphere, Schwefel 2.22, Rosenbrock, Rastrigin, Ackley, Griewank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3 don dieu + 3 da cuc tri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dim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10, 30, 50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So bien can toi uu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n_agents / max_iter / M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30 / 500 / 30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Quan the, vong lap, so lan lap lai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Tong run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Tuan 4: 540     Tuan 5-6: 1080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6x3x30  va  2x6x3x30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089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Chieu toi uu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Minimize  (gan 0 = tot)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Doi dau khi sang fitness thuc don tuan 7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20040" y="5532120"/>
            <a:ext cx="11567160" cy="960120"/>
          </a:xfrm>
          <a:prstGeom prst="roundRect">
            <a:avLst/>
          </a:prstGeom>
          <a:solidFill>
            <a:srgbClr val="FFF8E7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54864"/>
          <a:lstStyle/>
          <a:p>
            <a:pPr algn="ctr"/>
            <a:r>
              <a:rPr sz="1300" b="0">
                <a:solidFill>
                  <a:srgbClr val="1F2937"/>
                </a:solidFill>
                <a:latin typeface="Calibri"/>
                <a:ea typeface="Calibri"/>
              </a:rPr>
              <a:t>Hoa DBO vs IDBO neu |mean_IDBO - mean_DBO| / max(|mean_DBO|, 1e-30) &lt; 1%. So sanh fixed-iteration, IDBO duoc phep goi them objective khi perturb/restart.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CNTT-KLCN142  |  DBO / IDBO  |  Tuan 4-5-6  |  dim = 10, 30, 50  |  M =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01968"/>
            <a:ext cx="14630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3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  <a:ea typeface="Calibri"/>
              </a:rPr>
              <a:t>6 ham benchmark — nho 1 cau moi ham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143000"/>
            <a:ext cx="370332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3703320" cy="38404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43000"/>
            <a:ext cx="35204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  <a:ea typeface="Calibri"/>
              </a:rPr>
              <a:t>Sphere  (don dieu)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" y="1581912"/>
            <a:ext cx="3447288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F2937"/>
                </a:solidFill>
                <a:latin typeface="Calibri"/>
                <a:ea typeface="Calibri"/>
              </a:rPr>
              <a:t>Bat toi thieu o 0. DBO dung se hoi tu rat sau (1e-150...). Neu khong xuong: code sai.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143000"/>
            <a:ext cx="370332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1960" y="1143000"/>
            <a:ext cx="3703320" cy="38404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61688" y="1143000"/>
            <a:ext cx="35204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  <a:ea typeface="Calibri"/>
              </a:rPr>
              <a:t>Schwefel 2.22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9976" y="1581912"/>
            <a:ext cx="3447288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F2937"/>
                </a:solidFill>
                <a:latin typeface="Calibri"/>
                <a:ea typeface="Calibri"/>
              </a:rPr>
              <a:t>Don dieu, cong thuc |x1|+|x2|+...  Cung phai ve gan 0.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143000"/>
            <a:ext cx="370332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143000"/>
            <a:ext cx="3703320" cy="38404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1143000"/>
            <a:ext cx="35204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  <a:ea typeface="Calibri"/>
              </a:rPr>
              <a:t>Rosenbrock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6" y="1581912"/>
            <a:ext cx="3447288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F2937"/>
                </a:solidFill>
                <a:latin typeface="Calibri"/>
                <a:ea typeface="Calibri"/>
              </a:rPr>
              <a:t>Thung lung hep. DBO dung o ~5.6 (10D), ~26 (30D), ~47 (50D) — KHONG ve 0.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749039"/>
            <a:ext cx="370332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2A6F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3749039"/>
            <a:ext cx="3703320" cy="384048"/>
          </a:xfrm>
          <a:prstGeom prst="rect">
            <a:avLst/>
          </a:prstGeom>
          <a:solidFill>
            <a:srgbClr val="2A6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3749039"/>
            <a:ext cx="35204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  <a:ea typeface="Calibri"/>
              </a:rPr>
              <a:t>Rastrigin  (da cuc)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" y="4187951"/>
            <a:ext cx="3447288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F2937"/>
                </a:solidFill>
                <a:latin typeface="Calibri"/>
                <a:ea typeface="Calibri"/>
              </a:rPr>
              <a:t>Nhieu ho cuc bo. 10D mean ~2.74; 50D ve 0 ca 30/30 run.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3749039"/>
            <a:ext cx="370332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2A6F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51960" y="3749039"/>
            <a:ext cx="3703320" cy="384048"/>
          </a:xfrm>
          <a:prstGeom prst="rect">
            <a:avLst/>
          </a:prstGeom>
          <a:solidFill>
            <a:srgbClr val="2A6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61688" y="3749039"/>
            <a:ext cx="35204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  <a:ea typeface="Calibri"/>
              </a:rPr>
              <a:t>Ackley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9976" y="4187951"/>
            <a:ext cx="3447288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F2937"/>
                </a:solidFill>
                <a:latin typeface="Calibri"/>
                <a:ea typeface="Calibri"/>
              </a:rPr>
              <a:t>Da cuc. Moi dim = 4.441e-16 (san may, khong the nho hon).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3749039"/>
            <a:ext cx="370332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2A6F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38160" y="3749039"/>
            <a:ext cx="3703320" cy="384048"/>
          </a:xfrm>
          <a:prstGeom prst="rect">
            <a:avLst/>
          </a:prstGeom>
          <a:solidFill>
            <a:srgbClr val="2A6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7888" y="3749039"/>
            <a:ext cx="35204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  <a:ea typeface="Calibri"/>
              </a:rPr>
              <a:t>Griewank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6176" y="4187951"/>
            <a:ext cx="3447288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F2937"/>
                </a:solidFill>
                <a:latin typeface="Calibri"/>
                <a:ea typeface="Calibri"/>
              </a:rPr>
              <a:t>10D mean ~0.035 (con sot cuc bo); 30D va 50D = 0.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CNTT-KLCN142  |  DBO / IDBO  |  Tuan 4-5-6  |  dim = 10, 30, 50  |  M = 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6601968"/>
            <a:ext cx="14630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4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  <a:ea typeface="Calibri"/>
              </a:rPr>
              <a:t>Tuan 4 — DBO goc: 4 hanh vi (Xue &amp; Shen 2023)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30352"/>
            <a:ext cx="11430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7E3F4"/>
                </a:solidFill>
                <a:latin typeface="Calibri"/>
                <a:ea typeface="Calibri"/>
              </a:rPr>
              <a:t>Chua cai tien. Chua thuc don.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188720"/>
            <a:ext cx="56692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5669280" cy="38404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88720"/>
            <a:ext cx="548640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  <a:ea typeface="Calibri"/>
              </a:rPr>
              <a:t>Ball-rolling + dancing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1627632"/>
            <a:ext cx="5413248" cy="1783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F2937"/>
                </a:solidFill>
                <a:latin typeface="Calibri"/>
                <a:ea typeface="Calibri"/>
              </a:rPr>
              <a:t>Cuon phan ve phia tot nhat. Gap vat can thi nhay (tan theta) de doi huong. Nhom ~20% quan the.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188720"/>
            <a:ext cx="557784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2A6F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5577840" cy="384048"/>
          </a:xfrm>
          <a:prstGeom prst="rect">
            <a:avLst/>
          </a:prstGeom>
          <a:solidFill>
            <a:srgbClr val="2A6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188720"/>
            <a:ext cx="539496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  <a:ea typeface="Calibri"/>
              </a:rPr>
              <a:t>Reproduction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1627632"/>
            <a:ext cx="5321808" cy="1783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F2937"/>
                </a:solidFill>
                <a:latin typeface="Calibri"/>
                <a:ea typeface="Calibri"/>
              </a:rPr>
              <a:t>Vung de trung co dan quanh best. Sinh ca the con gan nghiem tot. Nhom ~20%.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3657600"/>
            <a:ext cx="56692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657600"/>
            <a:ext cx="5669280" cy="38404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3657600"/>
            <a:ext cx="548640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  <a:ea typeface="Calibri"/>
              </a:rPr>
              <a:t>Foraging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" y="4096512"/>
            <a:ext cx="5413248" cy="1783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F2937"/>
                </a:solidFill>
                <a:latin typeface="Calibri"/>
                <a:ea typeface="Calibri"/>
              </a:rPr>
              <a:t>Bo nho di kiem an; vung tim kiem co dan theo vong lap. Nhom ~7/30.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657600"/>
            <a:ext cx="557784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3657600"/>
            <a:ext cx="5577840" cy="38404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3657600"/>
            <a:ext cx="539496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  <a:ea typeface="Calibri"/>
              </a:rPr>
              <a:t>Thieving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4096512"/>
            <a:ext cx="5321808" cy="1783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F2937"/>
                </a:solidFill>
                <a:latin typeface="Calibri"/>
                <a:ea typeface="Calibri"/>
              </a:rPr>
              <a:t>Bo trom bam quanh best toan cuc (nhieu Gaussian). Nhom con lai ~11/30.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CNTT-KLCN142  |  DBO / IDBO  |  Tuan 4-5-6  |  dim = 10, 30, 50  |  M = 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601968"/>
            <a:ext cx="14630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5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  <a:ea typeface="Calibri"/>
              </a:rPr>
              <a:t>Bang MEAN DBO — chi 1 so moi 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30352"/>
            <a:ext cx="11430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7E3F4"/>
                </a:solidFill>
                <a:latin typeface="Calibri"/>
                <a:ea typeface="Calibri"/>
              </a:rPr>
              <a:t>Nho hon = tot hon. Day du best/std/worst nam o experiments/week4/dbo_benchmark_summary.csv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214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645920"/>
                <a:gridCol w="1645920"/>
                <a:gridCol w="1645920"/>
                <a:gridCol w="4663440"/>
              </a:tblGrid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Ham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dim 10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dim 30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dim 50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Doc so nay nhu the nao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Sphere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3.49e-153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2.06e-158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5.70e-168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Hoi tu rat sau — cai dat dung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Schwefel 2.22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6.70e-82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3.60e-87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4.18e-82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Cung ve gan 0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Rosenbrock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5.61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26.23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46.65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Kho; ~ dim  (khong ve 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Rastrigin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2.74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4.85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0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50D: 30/30 run ve 0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Ackley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4.44e-16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4.44e-16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4.44e-16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San may, moi dim giong nhau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Griewank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0.0349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0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0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10D con sot; 30/50D het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CNTT-KLCN142  |  DBO / IDBO  |  Tuan 4-5-6  |  dim = 10, 30, 50  |  M =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601968"/>
            <a:ext cx="14630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6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  <a:ea typeface="Calibri"/>
              </a:rPr>
              <a:t>Cach doc hinh hoi tu (truoc khi xem 4 slide sau)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Calibri"/>
                <a:ea typeface="Calibri"/>
              </a:rPr>
              <a:t>Moi khung = 1 ham. 6 khung: Sphere, Schwefel, Rosenbrock (hang tren) · Rastrigin, Ackley, Griewank (hang duoi).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Calibri"/>
                <a:ea typeface="Calibri"/>
              </a:rPr>
              <a:t>Truc X = vong lap 0 → 500. Truc Y = best fitness TRUNG BINH 30 seed, thang LOG (moi vach la gap 10, 100, 1000 lan).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Calibri"/>
                <a:ea typeface="Calibri"/>
              </a:rPr>
              <a:t>Duong XUONG = thuat toan dang tot len. Duong nam ngang = da dung (khong cai thien them).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Calibri"/>
                <a:ea typeface="Calibri"/>
              </a:rPr>
              <a:t>Gia tri 0 khong ve duoc tren log → doan cuoi Griewank/Rastrigin 50D co the 'mat tich' — do ve 0, khong phai loi ve.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Calibri"/>
                <a:ea typeface="Calibri"/>
              </a:rPr>
              <a:t>Slide sau: dim 10, roi 30, roi 50, roi 3 duong chong len nhau. Doc caption vang duoi moi hinh.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CNTT-KLCN142  |  DBO / IDBO  |  Tuan 4-5-6  |  dim = 10, 30, 50  |  M =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601968"/>
            <a:ext cx="14630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7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  <a:ea typeface="Calibri"/>
              </a:rPr>
              <a:t>Tuan 4 · Hoi tu DBO  dim=10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30352"/>
            <a:ext cx="11430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7E3F4"/>
                </a:solidFill>
                <a:latin typeface="Calibri"/>
                <a:ea typeface="Calibri"/>
              </a:rPr>
              <a:t>6 subplot, 1 duong DBO, trung binh 30 run, truc Y log</a:t>
            </a:r>
          </a:p>
        </p:txBody>
      </p:sp>
      <p:pic>
        <p:nvPicPr>
          <p:cNvPr id="6" name="Picture 5" descr="fig_convergence_dim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7925" y="1024128"/>
            <a:ext cx="7953101" cy="4572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0040" y="5687568"/>
            <a:ext cx="11567160" cy="868680"/>
          </a:xfrm>
          <a:prstGeom prst="roundRect">
            <a:avLst/>
          </a:prstGeom>
          <a:solidFill>
            <a:srgbClr val="FFF8E7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54864"/>
          <a:lstStyle/>
          <a:p>
            <a:pPr algn="ctr"/>
            <a:r>
              <a:rPr sz="1300" b="0">
                <a:solidFill>
                  <a:srgbClr val="1F2937"/>
                </a:solidFill>
                <a:latin typeface="Calibri"/>
                <a:ea typeface="Calibri"/>
              </a:rPr>
              <a:t>Dim 10 de nhat. Sphere/Schwefel xuong 1e-80 den 1e-150. Ackley dung o 4.4e-16 tu vong ~100. Rosenbrock dung ~5-6 (thung lung). Rastrigin/Griewank giam nhung chua ve 0 — con cuc bo.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CNTT-KLCN142  |  DBO / IDBO  |  Tuan 4-5-6  |  dim = 10, 30, 50  |  M =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01968"/>
            <a:ext cx="14630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8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  <a:ea typeface="Calibri"/>
              </a:rPr>
              <a:t>Tuan 4 · Hoi tu DBO  dim=30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30352"/>
            <a:ext cx="11430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7E3F4"/>
                </a:solidFill>
                <a:latin typeface="Calibri"/>
                <a:ea typeface="Calibri"/>
              </a:rPr>
              <a:t>Cung 6 ham, cung M=30, chi doi so chieu</a:t>
            </a:r>
          </a:p>
        </p:txBody>
      </p:sp>
      <p:pic>
        <p:nvPicPr>
          <p:cNvPr id="6" name="Picture 5" descr="fig_convergence_dim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7925" y="1024128"/>
            <a:ext cx="7953101" cy="4572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0040" y="5687568"/>
            <a:ext cx="11567160" cy="868680"/>
          </a:xfrm>
          <a:prstGeom prst="roundRect">
            <a:avLst/>
          </a:prstGeom>
          <a:solidFill>
            <a:srgbClr val="FFF8E7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54864"/>
          <a:lstStyle/>
          <a:p>
            <a:pPr algn="ctr"/>
            <a:r>
              <a:rPr sz="1300" b="0">
                <a:solidFill>
                  <a:srgbClr val="1F2937"/>
                </a:solidFill>
                <a:latin typeface="Calibri"/>
                <a:ea typeface="Calibri"/>
              </a:rPr>
              <a:t>Dim 30 kho hon. Sphere van xuong rat sau. Rosenbrock dung ~26 (gap ~dim). Griewank dim 30 ve 0 (tot hon dim 10 — dac trung ham nay). Rastrigin mean ~4.85, std lon vi 1-2 seed ket o cuc bo.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CNTT-KLCN142  |  DBO / IDBO  |  Tuan 4-5-6  |  dim = 10, 30, 50  |  M =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01968"/>
            <a:ext cx="14630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9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  <a:ea typeface="Calibri"/>
              </a:rPr>
              <a:t>Tuan 4 · Hoi tu DBO  dim=50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30352"/>
            <a:ext cx="11430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7E3F4"/>
                </a:solidFill>
                <a:latin typeface="Calibri"/>
                <a:ea typeface="Calibri"/>
              </a:rPr>
              <a:t>Day la chieu kho nhat trong protocol</a:t>
            </a:r>
          </a:p>
        </p:txBody>
      </p:sp>
      <p:pic>
        <p:nvPicPr>
          <p:cNvPr id="6" name="Picture 5" descr="fig_convergence_dim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7925" y="1024128"/>
            <a:ext cx="7953101" cy="4572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0040" y="5687568"/>
            <a:ext cx="11567160" cy="868680"/>
          </a:xfrm>
          <a:prstGeom prst="roundRect">
            <a:avLst/>
          </a:prstGeom>
          <a:solidFill>
            <a:srgbClr val="FFF8E7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54864"/>
          <a:lstStyle/>
          <a:p>
            <a:pPr algn="ctr"/>
            <a:r>
              <a:rPr sz="1300" b="0">
                <a:solidFill>
                  <a:srgbClr val="1F2937"/>
                </a:solidFill>
                <a:latin typeface="Calibri"/>
                <a:ea typeface="Calibri"/>
              </a:rPr>
              <a:t>Dim 50. Rastrigin va Griewank ve 0 SOM (duong dut doan vi log(0)). Ackley van 4.44e-16. Rosenbrock ~47. Ket luan: DBO khong vo o chieu cao; ham da cuc con de hon Rosenbrock.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CNTT-KLCN142  |  DBO / IDBO  |  Tuan 4-5-6  |  dim = 10, 30, 50  |  M =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01968"/>
            <a:ext cx="14630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10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  <a:ea typeface="Calibri"/>
              </a:rPr>
              <a:t>Tuan 4 · Chong 3 chieu tren 1 hinh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30352"/>
            <a:ext cx="11430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7E3F4"/>
                </a:solidFill>
                <a:latin typeface="Calibri"/>
                <a:ea typeface="Calibri"/>
              </a:rPr>
              <a:t>Doc tung ham: 3 duong = 3 dim, khong phai 3 thuat toan</a:t>
            </a:r>
          </a:p>
        </p:txBody>
      </p:sp>
      <p:pic>
        <p:nvPicPr>
          <p:cNvPr id="6" name="Picture 5" descr="fig_convergence_multi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28" y="1024128"/>
            <a:ext cx="7582095" cy="4572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0040" y="5687568"/>
            <a:ext cx="11567160" cy="868680"/>
          </a:xfrm>
          <a:prstGeom prst="roundRect">
            <a:avLst/>
          </a:prstGeom>
          <a:solidFill>
            <a:srgbClr val="FFF8E7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54864"/>
          <a:lstStyle/>
          <a:p>
            <a:pPr algn="ctr"/>
            <a:r>
              <a:rPr sz="1300" b="0">
                <a:solidFill>
                  <a:srgbClr val="1F2937"/>
                </a:solidFill>
                <a:latin typeface="Calibri"/>
                <a:ea typeface="Calibri"/>
              </a:rPr>
              <a:t>Xanh=10, cam=30, tim=50. Sphere: 50D (tim) xuong SAU hon 10D — binh thuong vi span lon, std chua chuan hoa. Rosenbrock: 50D nam cao nhat (~47), 10D thap nhat (~5.6). Rastrigin/Griewank: chi duong tim (50D) rot thang xuong 0.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CNTT-KLCN142  |  DBO / IDBO  |  Tuan 4-5-6  |  dim = 10, 30, 50  |  M =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01968"/>
            <a:ext cx="14630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11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  <a:ea typeface="Calibri"/>
              </a:rPr>
              <a:t>Cach doc boxplot (4 slide hinh ke tiep)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Calibri"/>
                <a:ea typeface="Calibri"/>
              </a:rPr>
              <a:t>Moi hop = 30 so best_fitness (1 so / seed). Khong phai duong hoi tu.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Calibri"/>
                <a:ea typeface="Calibri"/>
              </a:rPr>
              <a:t>Gach den giua hop = trung vi. Hop = 50% run nam trong khoang nay. Rau = phan con lai (khong ke outlier).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Calibri"/>
                <a:ea typeface="Calibri"/>
              </a:rPr>
              <a:t>Cham tron = outlier: seed tu (Rastrigin 10D co 3 cham ~10-17; Sphere co vai seed te hon mean 1e-151).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Calibri"/>
                <a:ea typeface="Calibri"/>
              </a:rPr>
              <a:t>Hop MONG / gach nam ngang (Ackley) = 30/30 run ra CUNG mot so → thuat toan on dinh.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Calibri"/>
                <a:ea typeface="Calibri"/>
              </a:rPr>
              <a:t>Truc Y log: hop nam THAP hon = tot hon. So sanh hop, dung so sanh 1 cham outlier.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CNTT-KLCN142  |  DBO / IDBO  |  Tuan 4-5-6  |  dim = 10, 30, 50  |  M =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601968"/>
            <a:ext cx="14630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12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  <a:ea typeface="Calibri"/>
              </a:rPr>
              <a:t>Tuan 4 · Boxplot DBO  dim=10</a:t>
            </a:r>
          </a:p>
        </p:txBody>
      </p:sp>
      <p:pic>
        <p:nvPicPr>
          <p:cNvPr id="5" name="Picture 4" descr="fig_boxplot_dim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7925" y="1024128"/>
            <a:ext cx="7953101" cy="4572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20040" y="5687568"/>
            <a:ext cx="11567160" cy="868680"/>
          </a:xfrm>
          <a:prstGeom prst="roundRect">
            <a:avLst/>
          </a:prstGeom>
          <a:solidFill>
            <a:srgbClr val="FFF8E7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54864"/>
          <a:lstStyle/>
          <a:p>
            <a:pPr algn="ctr"/>
            <a:r>
              <a:rPr sz="1300" b="0">
                <a:solidFill>
                  <a:srgbClr val="1F2937"/>
                </a:solidFill>
                <a:latin typeface="Calibri"/>
                <a:ea typeface="Calibri"/>
              </a:rPr>
              <a:t>Ackley: mot gach — 30 run = 4.44e-16. Rosenbrock: hop chat 5.3-5.7, 1 outlier ~9. Rastrigin: hop sat 0 nhung 3 outlier keo mean len 2.74. Sphere/Schwefel: hop o 1e-80..1e-180, vai outlier te hon — van cuc tot.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CNTT-KLCN142  |  DBO / IDBO  |  Tuan 4-5-6  |  dim = 10, 30, 50  |  M =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601968"/>
            <a:ext cx="14630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13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  <a:ea typeface="Calibri"/>
              </a:rPr>
              <a:t>Tuan 4 · Boxplot DBO  dim=30</a:t>
            </a:r>
          </a:p>
        </p:txBody>
      </p:sp>
      <p:pic>
        <p:nvPicPr>
          <p:cNvPr id="5" name="Picture 4" descr="fig_boxplot_dim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7925" y="1024128"/>
            <a:ext cx="7953101" cy="4572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20040" y="5687568"/>
            <a:ext cx="11567160" cy="868680"/>
          </a:xfrm>
          <a:prstGeom prst="roundRect">
            <a:avLst/>
          </a:prstGeom>
          <a:solidFill>
            <a:srgbClr val="FFF8E7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54864"/>
          <a:lstStyle/>
          <a:p>
            <a:pPr algn="ctr"/>
            <a:r>
              <a:rPr sz="1300" b="0">
                <a:solidFill>
                  <a:srgbClr val="1F2937"/>
                </a:solidFill>
                <a:latin typeface="Calibri"/>
                <a:ea typeface="Calibri"/>
              </a:rPr>
              <a:t>Rosenbrock hop rat chat quanh 26 (on dinh nhung lech xa 0). Rastrigin: hop thap nhung 1 outlier ~115 keo mean len 4.85 va std 21 — day la ham 'te nhat' ve do on dinh. Griewank: 0 het.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CNTT-KLCN142  |  DBO / IDBO  |  Tuan 4-5-6  |  dim = 10, 30, 50  |  M =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601968"/>
            <a:ext cx="14630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14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  <a:ea typeface="Calibri"/>
              </a:rPr>
              <a:t>Tuan 4 · Boxplot DBO  dim=50</a:t>
            </a:r>
          </a:p>
        </p:txBody>
      </p:sp>
      <p:pic>
        <p:nvPicPr>
          <p:cNvPr id="5" name="Picture 4" descr="fig_boxplot_dim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7925" y="1024128"/>
            <a:ext cx="7953101" cy="4572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20040" y="5687568"/>
            <a:ext cx="11567160" cy="868680"/>
          </a:xfrm>
          <a:prstGeom prst="roundRect">
            <a:avLst/>
          </a:prstGeom>
          <a:solidFill>
            <a:srgbClr val="FFF8E7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54864"/>
          <a:lstStyle/>
          <a:p>
            <a:pPr algn="ctr"/>
            <a:r>
              <a:rPr sz="1300" b="0">
                <a:solidFill>
                  <a:srgbClr val="1F2937"/>
                </a:solidFill>
                <a:latin typeface="Calibri"/>
                <a:ea typeface="Calibri"/>
              </a:rPr>
              <a:t>Rastrigin 50D = 0 het (hop bien mat tren log). Griewank = 0. Rosenbrock hop quanh 46-47. Sphere std=0 trong CSV vi underflow float — 30 run deu sieu nho, khong phai 'khong phan tan'.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CNTT-KLCN142  |  DBO / IDBO  |  Tuan 4-5-6  |  dim = 10, 30, 50  |  M =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601968"/>
            <a:ext cx="14630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15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  <a:ea typeface="Calibri"/>
              </a:rPr>
              <a:t>Tuan 4 · Boxplot chong 3 dim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30352"/>
            <a:ext cx="11430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7E3F4"/>
                </a:solidFill>
                <a:latin typeface="Calibri"/>
                <a:ea typeface="Calibri"/>
              </a:rPr>
              <a:t>Dung de nhin xu huong theo so chieu, khong de so tung seed</a:t>
            </a:r>
          </a:p>
        </p:txBody>
      </p:sp>
      <p:pic>
        <p:nvPicPr>
          <p:cNvPr id="6" name="Picture 5" descr="fig_boxplot_multi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28" y="1024128"/>
            <a:ext cx="7582095" cy="4572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0040" y="5687568"/>
            <a:ext cx="11567160" cy="868680"/>
          </a:xfrm>
          <a:prstGeom prst="roundRect">
            <a:avLst/>
          </a:prstGeom>
          <a:solidFill>
            <a:srgbClr val="FFF8E7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54864"/>
          <a:lstStyle/>
          <a:p>
            <a:pPr algn="ctr"/>
            <a:r>
              <a:rPr sz="1300" b="0">
                <a:solidFill>
                  <a:srgbClr val="1F2937"/>
                </a:solidFill>
                <a:latin typeface="Calibri"/>
                <a:ea typeface="Calibri"/>
              </a:rPr>
              <a:t>Moi ham 3 hop (10/30/50). Rosenbrock: hop di LEN theo dim (5 → 26 → 47) — day la ham kho theo chieu. Ackley: 3 gach trung nhau. Griewank: chi dim 10 con hop, 30/50 ve 0.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CNTT-KLCN142  |  DBO / IDBO  |  Tuan 4-5-6  |  dim = 10, 30, 50  |  M =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01968"/>
            <a:ext cx="14630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16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  <a:ea typeface="Calibri"/>
              </a:rPr>
              <a:t>Tuan 4 — 4 cau ket luan (de bao 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Calibri"/>
                <a:ea typeface="Calibri"/>
              </a:rPr>
              <a:t>DBO cai dat dung: Sphere 10D mean 3.49e-153, tot hon random hang 10^150 lan.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Calibri"/>
                <a:ea typeface="Calibri"/>
              </a:rPr>
              <a:t>Don dieu: Sphere/Schwefel ok; Rosenbrock la ham 'thua' — mean bam ~dim, khong ve 0.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Calibri"/>
                <a:ea typeface="Calibri"/>
              </a:rPr>
              <a:t>Da cuc: Ackley dat san may moi dim. Griewank 30/50D ve 0. Rastrigin 10/30D con outlier.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2937"/>
                </a:solidFill>
                <a:latin typeface="Calibri"/>
                <a:ea typeface="Calibri"/>
              </a:rPr>
              <a:t>Tuan 5-6 khong sua 4 hanh vi. IDBO chi them perturb/restart KHI diversity &lt; 1e-3.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CNTT-KLCN142  |  DBO / IDBO  |  Tuan 4-5-6  |  dim = 10, 30, 50  |  M =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601968"/>
            <a:ext cx="14630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17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  <a:ea typeface="Calibri"/>
              </a:rPr>
              <a:t>Tuan 5-6 — IDBO: DBO + 2 co che khi quan the sup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30352"/>
            <a:ext cx="11430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7E3F4"/>
                </a:solidFill>
                <a:latin typeface="Calibri"/>
                <a:ea typeface="Calibri"/>
              </a:rPr>
              <a:t>Khong doi 4 hanh vi. Khong doi optimize(objective, dim, lb, ub, seed).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188720"/>
            <a:ext cx="56692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5669280" cy="38404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88720"/>
            <a:ext cx="548640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  <a:ea typeface="Calibri"/>
              </a:rPr>
              <a:t>1. Random perturbation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1627632"/>
            <a:ext cx="5413248" cy="4434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F2937"/>
                </a:solidFill>
                <a:latin typeface="Calibri"/>
                <a:ea typeface="Calibri"/>
              </a:rPr>
              <a:t>Khi nao: diversity &lt; 1e-3 VA chua du 25 vong dung (chua restart).
Lam gi: nhiu Gauss len ~20% agent, KHONG dung elite tot nhat.
Bien do: 0.1*(ub-lb) giam dan theo vong lap.
Muc dich: lay quan the ra khoi diem dung, khong pha nghiem tot.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188720"/>
            <a:ext cx="557784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2A6F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5577840" cy="384048"/>
          </a:xfrm>
          <a:prstGeom prst="rect">
            <a:avLst/>
          </a:prstGeom>
          <a:solidFill>
            <a:srgbClr val="2A6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188720"/>
            <a:ext cx="539496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  <a:ea typeface="Calibri"/>
              </a:rPr>
              <a:t>2. Random restart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1627632"/>
            <a:ext cx="5321808" cy="4434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F2937"/>
                </a:solidFill>
                <a:latin typeface="Calibri"/>
                <a:ea typeface="Calibri"/>
              </a:rPr>
              <a:t>Khi nao: diversity &lt; 1e-3 VA best dung yen 25 vong.
Lam gi: 25% agent TE NHAT khoi tao lai deu trong [lb, ub]. Elite giu.
Mot vong: restart HOAC perturb, khong ca hai.
Luu y: goi them objective → n_evaluations IDBO &gt;= DBO (15030).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CNTT-KLCN142  |  DBO / IDBO  |  Tuan 4-5-6  |  dim = 10, 30, 50  |  M = 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01968"/>
            <a:ext cx="14630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18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  <a:ea typeface="Calibri"/>
              </a:rPr>
              <a:t>Tuan 5-6 · So do IDBO sau moi vong DBO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30352"/>
            <a:ext cx="11430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7E3F4"/>
                </a:solidFill>
                <a:latin typeface="Calibri"/>
                <a:ea typeface="Calibri"/>
              </a:rPr>
              <a:t>Elite (n_elite=1) khong bao gio bi sua</a:t>
            </a:r>
          </a:p>
        </p:txBody>
      </p:sp>
      <p:pic>
        <p:nvPicPr>
          <p:cNvPr id="6" name="Picture 5" descr="fig_idbo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3646" y="1024128"/>
            <a:ext cx="3621659" cy="4572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0040" y="5687568"/>
            <a:ext cx="11567160" cy="868680"/>
          </a:xfrm>
          <a:prstGeom prst="roundRect">
            <a:avLst/>
          </a:prstGeom>
          <a:solidFill>
            <a:srgbClr val="FFF8E7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54864"/>
          <a:lstStyle/>
          <a:p>
            <a:pPr algn="ctr"/>
            <a:r>
              <a:rPr sz="1300" b="0">
                <a:solidFill>
                  <a:srgbClr val="1F2937"/>
                </a:solidFill>
                <a:latin typeface="Calibri"/>
                <a:ea typeface="Calibri"/>
              </a:rPr>
              <a:t>Doc tu tren xuong: 4 hanh vi DBO → do diversity. Neu diversity &gt;= 1e-3: bo qua, sang vong sau (da so vong la nhanh nay). Neu &lt; 1e-3: hoi stagnation &gt;= 25? Co → restart 25% te nhat. Khong → perturb Gauss. Roi danh gia lai agent vua doi.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CNTT-KLCN142  |  DBO / IDBO  |  Tuan 4-5-6  |  dim = 10, 30, 50  |  M =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01968"/>
            <a:ext cx="14630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19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  <a:ea typeface="Calibri"/>
              </a:rPr>
              <a:t>Bang perturb / restart — IDBO (trung binh 30 run)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30352"/>
            <a:ext cx="11430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7E3F4"/>
                </a:solidFill>
                <a:latin typeface="Calibri"/>
                <a:ea typeface="Calibri"/>
              </a:rPr>
              <a:t>0 = co che khong kip kich hoat vi diversity chua xuong 1e-3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115568"/>
          <a:ext cx="11612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377440"/>
                <a:gridCol w="2011680"/>
                <a:gridCol w="2011680"/>
                <a:gridCol w="3200400"/>
              </a:tblGrid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Ham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dim10 pert / restart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dim30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dim50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Doc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Sphere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0  /  0.53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0 / 0.07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0 / 0.07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10D restart nhieu nhat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Schwefel 2.22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0  /  0.20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0 / 0.03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0 / 0.07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Restart nhe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Rosenbrock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0  / 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0.10 /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0.07 /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Chi perturb, khong restart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Rastrigin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0  /  0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0 / 0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0 / 0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Diversity khong sup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Ackley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0  / 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0 /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0 /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Dung som, van rai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Griewank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0  /  0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0 / 0.03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0 / 0.10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50D restart nhe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CNTT-KLCN142  |  DBO / IDBO  |  Tuan 4-5-6  |  dim = 10, 30, 50  |  M =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601968"/>
            <a:ext cx="14630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20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  <a:ea typeface="Calibri"/>
              </a:rPr>
              <a:t>Cach doc hinh DBO vs IDBO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  <a:ea typeface="Calibri"/>
              </a:rPr>
              <a:t>Duong dut XANH = DBO. Duong CAM = IDBO. Neu 2 duong de len nhau = HOA (chenh &lt; 1%).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  <a:ea typeface="Calibri"/>
              </a:rPr>
              <a:t>Hinh hoi tu: neu cam nam DUOI xanh = IDBO tot hon (minimize). Hinh tuan nay hai duong chong khit.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  <a:ea typeface="Calibri"/>
              </a:rPr>
              <a:t>Boxplot: 2 hop canh nhau. Hop giong nhau = phan bo best_fitness khong doi.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  <a:ea typeface="Calibri"/>
              </a:rPr>
              <a:t>Diversity: chi ve IDBO. Duong dut 1e-3 = nguong kich hoat. Sphere (xanh la) xuong gan nguong roi nhich len = restart/perturb. Rastrigin (do) nam cao ~0.1 = khong kich hoat.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  <a:ea typeface="Calibri"/>
              </a:rPr>
              <a:t>Khong viet 'IDBO tot hon' neu bang mean hoa. IDBO khong pha chat luong DBO — do la ket luan dung.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CNTT-KLCN142  |  DBO / IDBO  |  Tuan 4-5-6  |  dim = 10, 30, 50  |  M =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601968"/>
            <a:ext cx="14630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21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  <a:ea typeface="Calibri"/>
              </a:rPr>
              <a:t>Tuan 5-6 · Hoi tu DBO vs IDBO  dim=10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30352"/>
            <a:ext cx="11430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7E3F4"/>
                </a:solidFill>
                <a:latin typeface="Calibri"/>
                <a:ea typeface="Calibri"/>
              </a:rPr>
              <a:t>F1  ·  6 subplot  ·  Y log  ·  M=30</a:t>
            </a:r>
          </a:p>
        </p:txBody>
      </p:sp>
      <p:pic>
        <p:nvPicPr>
          <p:cNvPr id="6" name="Picture 5" descr="fig_convergence_dim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7925" y="1024128"/>
            <a:ext cx="7953101" cy="4572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0040" y="5687568"/>
            <a:ext cx="11567160" cy="868680"/>
          </a:xfrm>
          <a:prstGeom prst="roundRect">
            <a:avLst/>
          </a:prstGeom>
          <a:solidFill>
            <a:srgbClr val="FFF8E7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54864"/>
          <a:lstStyle/>
          <a:p>
            <a:pPr algn="ctr"/>
            <a:r>
              <a:rPr sz="1300" b="0">
                <a:solidFill>
                  <a:srgbClr val="1F2937"/>
                </a:solidFill>
                <a:latin typeface="Calibri"/>
                <a:ea typeface="Calibri"/>
              </a:rPr>
              <a:t>Cam de len xanh o MOI ham — hai thuat toan di cung mot duong. Sphere van xuong 1e-150. Ackley dung 4.4e-16 tu vong 100. IDBO khong lam cham hoi tu, cung khong bung ra tot hon tren benchmark lien tuc nay.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CNTT-KLCN142  |  DBO / IDBO  |  Tuan 4-5-6  |  dim = 10, 30, 50  |  M =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01968"/>
            <a:ext cx="14630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22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  <a:ea typeface="Calibri"/>
              </a:rPr>
              <a:t>Tuan 5-6 · Hoi tu DBO vs IDBO  dim=30</a:t>
            </a:r>
          </a:p>
        </p:txBody>
      </p:sp>
      <p:pic>
        <p:nvPicPr>
          <p:cNvPr id="5" name="Picture 4" descr="fig_convergence_dim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7925" y="1024128"/>
            <a:ext cx="7953101" cy="4572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20040" y="5687568"/>
            <a:ext cx="11567160" cy="868680"/>
          </a:xfrm>
          <a:prstGeom prst="roundRect">
            <a:avLst/>
          </a:prstGeom>
          <a:solidFill>
            <a:srgbClr val="FFF8E7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54864"/>
          <a:lstStyle/>
          <a:p>
            <a:pPr algn="ctr"/>
            <a:r>
              <a:rPr sz="1300" b="0">
                <a:solidFill>
                  <a:srgbClr val="1F2937"/>
                </a:solidFill>
                <a:latin typeface="Calibri"/>
                <a:ea typeface="Calibri"/>
              </a:rPr>
              <a:t>Van chong khit. Rosenbrock dung ~26 ca hai. Griewank ve 0. Rastrigin con 'duoi' ngang ~5 vi outlier. Khong co ham nao IDBO rot xuong duoi DBO ro.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CNTT-KLCN142  |  DBO / IDBO  |  Tuan 4-5-6  |  dim = 10, 30, 50  |  M =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601968"/>
            <a:ext cx="14630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23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  <a:ea typeface="Calibri"/>
              </a:rPr>
              <a:t>Tuan 5-6 · Hoi tu DBO vs IDBO  dim=50</a:t>
            </a:r>
          </a:p>
        </p:txBody>
      </p:sp>
      <p:pic>
        <p:nvPicPr>
          <p:cNvPr id="5" name="Picture 4" descr="fig_convergence_dim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7925" y="1024128"/>
            <a:ext cx="7953101" cy="4572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20040" y="5687568"/>
            <a:ext cx="11567160" cy="868680"/>
          </a:xfrm>
          <a:prstGeom prst="roundRect">
            <a:avLst/>
          </a:prstGeom>
          <a:solidFill>
            <a:srgbClr val="FFF8E7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54864"/>
          <a:lstStyle/>
          <a:p>
            <a:pPr algn="ctr"/>
            <a:r>
              <a:rPr sz="1300" b="0">
                <a:solidFill>
                  <a:srgbClr val="1F2937"/>
                </a:solidFill>
                <a:latin typeface="Calibri"/>
                <a:ea typeface="Calibri"/>
              </a:rPr>
              <a:t>Rastrigin/Griewank ve 0 (log dut). Ackley san may. Rosenbrock ~47. Van hoa. Chieu cao khong lam IDBO lech khoi DBO.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CNTT-KLCN142  |  DBO / IDBO  |  Tuan 4-5-6  |  dim = 10, 30, 50  |  M =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601968"/>
            <a:ext cx="14630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24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  <a:ea typeface="Calibri"/>
              </a:rPr>
              <a:t>Tuan 5-6 · Boxplot DBO vs IDBO  dim=10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30352"/>
            <a:ext cx="11430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7E3F4"/>
                </a:solidFill>
                <a:latin typeface="Calibri"/>
                <a:ea typeface="Calibri"/>
              </a:rPr>
              <a:t>F2  ·  hop trai = DBO, hop phai = IDBO</a:t>
            </a:r>
          </a:p>
        </p:txBody>
      </p:sp>
      <p:pic>
        <p:nvPicPr>
          <p:cNvPr id="6" name="Picture 5" descr="fig_boxplot_dim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7925" y="1024128"/>
            <a:ext cx="7953101" cy="4572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0040" y="5687568"/>
            <a:ext cx="11567160" cy="868680"/>
          </a:xfrm>
          <a:prstGeom prst="roundRect">
            <a:avLst/>
          </a:prstGeom>
          <a:solidFill>
            <a:srgbClr val="FFF8E7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54864"/>
          <a:lstStyle/>
          <a:p>
            <a:pPr algn="ctr"/>
            <a:r>
              <a:rPr sz="1300" b="0">
                <a:solidFill>
                  <a:srgbClr val="1F2937"/>
                </a:solidFill>
                <a:latin typeface="Calibri"/>
                <a:ea typeface="Calibri"/>
              </a:rPr>
              <a:t>Tung cap hop xanh/cam GAN NHU GIONG NHAU (median, rau, outlier). Ackley: 2 gach trung. Rastrigin: cung 3 outlier. Day la bang chung truc quan rang IDBO khong doi phan bo ket qua.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CNTT-KLCN142  |  DBO / IDBO  |  Tuan 4-5-6  |  dim = 10, 30, 50  |  M =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01968"/>
            <a:ext cx="14630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25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  <a:ea typeface="Calibri"/>
              </a:rPr>
              <a:t>Tuan 5-6 · Boxplot DBO vs IDBO  dim=30</a:t>
            </a:r>
          </a:p>
        </p:txBody>
      </p:sp>
      <p:pic>
        <p:nvPicPr>
          <p:cNvPr id="5" name="Picture 4" descr="fig_boxplot_dim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7925" y="1024128"/>
            <a:ext cx="7953101" cy="4572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20040" y="5687568"/>
            <a:ext cx="11567160" cy="868680"/>
          </a:xfrm>
          <a:prstGeom prst="roundRect">
            <a:avLst/>
          </a:prstGeom>
          <a:solidFill>
            <a:srgbClr val="FFF8E7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54864"/>
          <a:lstStyle/>
          <a:p>
            <a:pPr algn="ctr"/>
            <a:r>
              <a:rPr sz="1300" b="0">
                <a:solidFill>
                  <a:srgbClr val="1F2937"/>
                </a:solidFill>
                <a:latin typeface="Calibri"/>
                <a:ea typeface="Calibri"/>
              </a:rPr>
              <a:t>Rosenbrock 2 hop trung ~26. Rastrigin van 1 outlier lon (ca DBO lan IDBO, vi cung seed). Griewank 0. Khong co hop cam thap hon xanh mot cach he thong.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CNTT-KLCN142  |  DBO / IDBO  |  Tuan 4-5-6  |  dim = 10, 30, 50  |  M =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601968"/>
            <a:ext cx="14630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26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  <a:ea typeface="Calibri"/>
              </a:rPr>
              <a:t>Tuan 5-6 · Boxplot DBO vs IDBO  dim=50</a:t>
            </a:r>
          </a:p>
        </p:txBody>
      </p:sp>
      <p:pic>
        <p:nvPicPr>
          <p:cNvPr id="5" name="Picture 4" descr="fig_boxplot_dim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7925" y="1024128"/>
            <a:ext cx="7953101" cy="4572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20040" y="5687568"/>
            <a:ext cx="11567160" cy="868680"/>
          </a:xfrm>
          <a:prstGeom prst="roundRect">
            <a:avLst/>
          </a:prstGeom>
          <a:solidFill>
            <a:srgbClr val="FFF8E7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54864"/>
          <a:lstStyle/>
          <a:p>
            <a:pPr algn="ctr"/>
            <a:r>
              <a:rPr sz="1300" b="0">
                <a:solidFill>
                  <a:srgbClr val="1F2937"/>
                </a:solidFill>
                <a:latin typeface="Calibri"/>
                <a:ea typeface="Calibri"/>
              </a:rPr>
              <a:t>Rastrigin/Griewank 0 het. Sphere/Schwefel van sieu nho. Rosenbrock hop cam/xanh trung 46-47. Ket luan boxplot: 18 cap (ham, dim) deu hoa.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CNTT-KLCN142  |  DBO / IDBO  |  Tuan 4-5-6  |  dim = 10, 30, 50  |  M =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601968"/>
            <a:ext cx="14630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27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  <a:ea typeface="Calibri"/>
              </a:rPr>
              <a:t>Tuan 5-6 · Diversity IDBO  dim=10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30352"/>
            <a:ext cx="11430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7E3F4"/>
                </a:solidFill>
                <a:latin typeface="Calibri"/>
                <a:ea typeface="Calibri"/>
              </a:rPr>
              <a:t>F3  ·  chi IDBO  ·  Sphere (don dieu) vs Rastrigin (da cuc)</a:t>
            </a:r>
          </a:p>
        </p:txBody>
      </p:sp>
      <p:pic>
        <p:nvPicPr>
          <p:cNvPr id="6" name="Picture 5" descr="fig_diversity_dim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0210" y="1024128"/>
            <a:ext cx="8148531" cy="4572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0040" y="5687568"/>
            <a:ext cx="11567160" cy="868680"/>
          </a:xfrm>
          <a:prstGeom prst="roundRect">
            <a:avLst/>
          </a:prstGeom>
          <a:solidFill>
            <a:srgbClr val="FFF8E7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54864"/>
          <a:lstStyle/>
          <a:p>
            <a:pPr algn="ctr"/>
            <a:r>
              <a:rPr sz="1300" b="0">
                <a:solidFill>
                  <a:srgbClr val="1F2937"/>
                </a:solidFill>
                <a:latin typeface="Calibri"/>
                <a:ea typeface="Calibri"/>
              </a:rPr>
              <a:t>DO = Rastrigin: diversity dung ~0.15, CAO hon nguong 1e-3 → perturb/restart = 0 (khop bang). XANH LA = Sphere: giam dan, gan 1e-3 roi NHICH LEN (rang cua) tu vong ~350 = restart 0.53 lan/run. Nguong dut khong bi vuot xuong duoi lau.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CNTT-KLCN142  |  DBO / IDBO  |  Tuan 4-5-6  |  dim = 10, 30, 50  |  M =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01968"/>
            <a:ext cx="14630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28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  <a:ea typeface="Calibri"/>
              </a:rPr>
              <a:t>Tuan 5-6 · Diversity IDBO  dim=30</a:t>
            </a:r>
          </a:p>
        </p:txBody>
      </p:sp>
      <p:pic>
        <p:nvPicPr>
          <p:cNvPr id="5" name="Picture 4" descr="fig_diversity_dim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0210" y="1024128"/>
            <a:ext cx="8148531" cy="4572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20040" y="5687568"/>
            <a:ext cx="11567160" cy="868680"/>
          </a:xfrm>
          <a:prstGeom prst="roundRect">
            <a:avLst/>
          </a:prstGeom>
          <a:solidFill>
            <a:srgbClr val="FFF8E7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54864"/>
          <a:lstStyle/>
          <a:p>
            <a:pPr algn="ctr"/>
            <a:r>
              <a:rPr sz="1300" b="0">
                <a:solidFill>
                  <a:srgbClr val="1F2937"/>
                </a:solidFill>
                <a:latin typeface="Calibri"/>
                <a:ea typeface="Calibri"/>
              </a:rPr>
              <a:t>Sphere van giam nhung restart chi 0.07 (it hon dim 10). Rastrigin van cao, khong kich hoat. Dim lon → quan the kho sap het vao 1 diem hon dim 10, nen co che ngau nhien it duoc goi.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CNTT-KLCN142  |  DBO / IDBO  |  Tuan 4-5-6  |  dim = 10, 30, 50  |  M =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601968"/>
            <a:ext cx="14630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29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  <a:ea typeface="Calibri"/>
              </a:rPr>
              <a:t>Tuan 5-6 · Diversity IDBO  dim=50</a:t>
            </a:r>
          </a:p>
        </p:txBody>
      </p:sp>
      <p:pic>
        <p:nvPicPr>
          <p:cNvPr id="5" name="Picture 4" descr="fig_diversity_dim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0210" y="1024128"/>
            <a:ext cx="8148531" cy="4572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20040" y="5687568"/>
            <a:ext cx="11567160" cy="868680"/>
          </a:xfrm>
          <a:prstGeom prst="roundRect">
            <a:avLst/>
          </a:prstGeom>
          <a:solidFill>
            <a:srgbClr val="FFF8E7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54864"/>
          <a:lstStyle/>
          <a:p>
            <a:pPr algn="ctr"/>
            <a:r>
              <a:rPr sz="1300" b="0">
                <a:solidFill>
                  <a:srgbClr val="1F2937"/>
                </a:solidFill>
                <a:latin typeface="Calibri"/>
                <a:ea typeface="Calibri"/>
              </a:rPr>
              <a:t>Giong dim 30: Rastrigin khong sup. Sphere/Griewank restart rat thua (0.07 / 0.10). Co che IDBO 'ngu' tren da so ham — do do ket qua trung DBO la hop ly, khong phai bug.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CNTT-KLCN142  |  DBO / IDBO  |  Tuan 4-5-6  |  dim = 10, 30, 50  |  M =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601968"/>
            <a:ext cx="14630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30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  <a:ea typeface="Calibri"/>
              </a:rPr>
              <a:t>Bang so sanh MEAN — 6 ham, 3 dim, cot Thang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30352"/>
            <a:ext cx="11430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7E3F4"/>
                </a:solidFill>
                <a:latin typeface="Calibri"/>
                <a:ea typeface="Calibri"/>
              </a:rPr>
              <a:t>Nguong hoa 1%. Fitness minimize. Day du 36 dong o CSV.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28600" y="1115568"/>
          <a:ext cx="11704320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880360"/>
                <a:gridCol w="2880360"/>
                <a:gridCol w="2880360"/>
                <a:gridCol w="1325880"/>
              </a:tblGrid>
              <a:tr h="65967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Ham / dim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10 DBO | IDBO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30 DBO | IDBO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50 DBO | IDBO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Thang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Sphere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3.49e-153 | 3.49e-153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2.06e-158 | 2.06e-158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5.70e-168 | 5.70e-168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hoa 3/3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Schwefel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6.70e-82 | 6.70e-82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3.60e-87 | 3.60e-87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4.18e-82 | 4.18e-82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hoa 3/3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Rosenbrock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5.611 | 5.611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26.23 | 26.23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46.65 | 46.65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hoa 3/3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Rastrigin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2.741 | 2.741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4.847 | 4.847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0 | 0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hoa 3/3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Ackley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4.44e-16 | 4.44e-16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4.44e-16 | 4.44e-16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4.44e-16 | 4.44e-16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hoa 3/3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967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Griewank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0.0349 | 0.0349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0 | 0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0 | 0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  <a:ea typeface="Calibri"/>
                        </a:rPr>
                        <a:t>hoa 3/3</a:t>
                      </a:r>
                    </a:p>
                  </a:txBody>
                  <a:tcPr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CNTT-KLCN142  |  DBO / IDBO  |  Tuan 4-5-6  |  dim = 10, 30, 50  |  M =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601968"/>
            <a:ext cx="14630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31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  <a:ea typeface="Calibri"/>
              </a:rPr>
              <a:t>5 cau bao ve — tra loi ngan, co 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  <a:ea typeface="Calibri"/>
              </a:rPr>
              <a:t>Unimodal: IDBO KHONG lam xau DBO. Sphere/Schwefel/Rosenbrock hoa 9/9 o mean (nguong 1%).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  <a:ea typeface="Calibri"/>
              </a:rPr>
              <a:t>Multimodal: IDBO thang 0/9 o mean. Rastrigin/Ackley/Griewank hoa tuyet doi, ke ca outlier.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  <a:ea typeface="Calibri"/>
              </a:rPr>
              <a:t>Dim 50 van hoi tu. Ham 'te' ve on dinh: Rastrigin 30D (std 21 vi 1 seed ~115). Khong phai IDBO gay ra.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  <a:ea typeface="Calibri"/>
              </a:rPr>
              <a:t>F3: Rastrigin KHONG tut xuong 1e-3. Sphere dim 10 tut gan nguong roi nhich — dung la restart (0.53).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Calibri"/>
                <a:ea typeface="Calibri"/>
              </a:rPr>
              <a:t>Thoi gian dim 10: IDBO cham hon DBO ~15-20% (vi du Sphere 0.27s → 0.32s). Doi bang so eval them (15030 → 15034).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CNTT-KLCN142  |  DBO / IDBO  |  Tuan 4-5-6  |  dim = 10, 30, 50  |  M =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601968"/>
            <a:ext cx="14630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32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  <a:ea typeface="Calibri"/>
              </a:rPr>
              <a:t>Ket luan 3 tuan + viec tuan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143000"/>
            <a:ext cx="37033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3703320" cy="38404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43000"/>
            <a:ext cx="35204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  <a:ea typeface="Calibri"/>
              </a:rPr>
              <a:t>Da chot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" y="1581912"/>
            <a:ext cx="3447288" cy="4434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F2937"/>
                </a:solidFill>
                <a:latin typeface="Calibri"/>
                <a:ea typeface="Calibri"/>
              </a:rPr>
              <a:t>DBO goc dung tren 6 ham, dim 10/30/50, M=30.
IDBO khong pha baseline.
Perturb/restart chi thuc su kich hoat khi quan the sap (chu yeu Sphere 10D).
So lieu CSV = nguon su that, khong bia.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143000"/>
            <a:ext cx="37033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1960" y="1143000"/>
            <a:ext cx="3703320" cy="38404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61688" y="1143000"/>
            <a:ext cx="35204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  <a:ea typeface="Calibri"/>
              </a:rPr>
              <a:t>Khong noi qua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9976" y="1581912"/>
            <a:ext cx="3447288" cy="4434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F2937"/>
                </a:solidFill>
                <a:latin typeface="Calibri"/>
                <a:ea typeface="Calibri"/>
              </a:rPr>
              <a:t>Khong noi 'IDBO tot hon DBO'.
Khong so sanh equal-evaluation-budget.
Khong dung dim=2.
Rosenbrock chua giai; do la han che DBO goc, khong phai loi code.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143000"/>
            <a:ext cx="370332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2A6F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143000"/>
            <a:ext cx="3703320" cy="384048"/>
          </a:xfrm>
          <a:prstGeom prst="rect">
            <a:avLst/>
          </a:prstGeom>
          <a:solidFill>
            <a:srgbClr val="2A6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1143000"/>
            <a:ext cx="35204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  <a:ea typeface="Calibri"/>
              </a:rPr>
              <a:t>Tuan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6" y="1581912"/>
            <a:ext cx="3447288" cy="4434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F2937"/>
                </a:solidFill>
                <a:latin typeface="Calibri"/>
                <a:ea typeface="Calibri"/>
              </a:rPr>
              <a:t>Gan fitness thuc don vao optimize().
IDBO chi toi uu khau phan x (dim=8, 25-350 g). food_ids chon truoc.
objective(x) = -evaluate(menu) vi DBO minimize.
M=10, max_iter=200, profile P1.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6601968"/>
            <a:ext cx="91440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CNTT-KLCN142  |  DBO / IDBO  |  Tuan 4-5-6  |  dim = 10, 30, 50  |  M = 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601968"/>
            <a:ext cx="14630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33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  <a:ea typeface="Calibri"/>
              </a:rPr>
              <a:t>Het phan hinh tuan 4-5-6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474720"/>
            <a:ext cx="1097280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D7E3F4"/>
                </a:solidFill>
                <a:latin typeface="Calibri"/>
                <a:ea typeface="Calibri"/>
              </a:rPr>
              <a:t>File: docs/Slide_Tuan_4_5_6_DBO_IDBO.pptx
18 PNG da nhung trong slide. Bang chi MEAN. CSV goc khong commit.
Phan cong tuan 7: docs/TASK_WEEK7.md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