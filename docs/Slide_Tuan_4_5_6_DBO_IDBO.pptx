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73152" cy="310896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20700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KHÓA LUẬN CỐT CNTT · MÃ ĐỀ TÀI CNTT-KLCN142 · 2025–2026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Đánh giá DBO và IDBO
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trên bộ hàm benchmark chuẩn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429000"/>
            <a:ext cx="2011680" cy="38100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Báo cáo kết quả thực nghiệm · Tuần 4 · Tuần 5–6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Đề tài: Hệ thống đề xuất thực đơn dinh dưỡng cá nhân hóa bằng IDBO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GVHD: ThS. Đinh Nguyễn Trọng Nghĩa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Nhóm thực hiện: Lê Quang Duy · Đặng Nguyễn Minh Đăng · Hồ Trung Cương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FB0CE"/>
                </a:solidFill>
                <a:latin typeface="Calibri"/>
                <a:ea typeface="Calibri"/>
                <a:cs typeface="Calibri"/>
              </a:rPr>
              <a:t>Nguồn số liệu: 540 lần chạy DBO (tuần 4) + 1.080 lần chạy DBO/IDBO (tuần 5–6) · M = 30 · dim = 10, 30, 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TOÀN CẢNH HAI TUẦN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Tóm tắt: dùng gì — kết quả — ai làm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679192" cy="1170432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73152" cy="117043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3898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7451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hàm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3055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3 đơn điệu + 3 đa cực trị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280160"/>
            <a:ext cx="2679192" cy="1170432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1280160"/>
            <a:ext cx="73152" cy="1170432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13898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1.620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187451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lần chạy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13055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540 DBO + 1.080 DBO/IDBO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280160"/>
            <a:ext cx="2679192" cy="1170432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280160"/>
            <a:ext cx="73152" cy="1170432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3898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E7D5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187451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ô đều HÒA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13055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IDBO không lệch DBO (1%)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280160"/>
            <a:ext cx="2679192" cy="1170432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4272" y="1280160"/>
            <a:ext cx="73152" cy="1170432"/>
          </a:xfrm>
          <a:prstGeom prst="rect">
            <a:avLst/>
          </a:prstGeom>
          <a:solidFill>
            <a:srgbClr val="B84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3898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B8432A"/>
                </a:solidFill>
                <a:latin typeface="Calibri"/>
                <a:ea typeface="Calibri"/>
                <a:cs typeface="Calibri"/>
              </a:rPr>
              <a:t>15–20%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87451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IDBO chậm hơn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13055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do gọi thêm objective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2697480"/>
          <a:ext cx="111831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3657600"/>
                <a:gridCol w="295351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1440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Dùng gì</a:t>
                      </a:r>
                    </a:p>
                  </a:txBody>
                  <a:tcPr marL="91440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Kết quả chính</a:t>
                      </a:r>
                    </a:p>
                  </a:txBody>
                  <a:tcPr marL="91440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Ai làm</a:t>
                      </a:r>
                    </a:p>
                  </a:txBody>
                  <a:tcPr marL="91440" marR="73152" marT="27432" marB="27432" anchor="ctr">
                    <a:solidFill>
                      <a:srgbClr val="1F2A4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Tuần 4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DBO gốc (4 hành vi), 6 hàm, dim 10/30/50, M=30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Cài đặt đúng; Rosenbrock là điểm yếu (~5,6/26,2/46,6)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Duy — khung; Cương — hành vi; Đăng — benchmark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Tuần 5–6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IDBO = DBO + perturb/restart khi diversity &lt; 1e-3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18/18 ô hòa DBO; IDBO chậm hơn 15–20%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Duy — khung; Cương — cơ chế; Đăng — thí nghiệm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Tóm tắt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PHẦN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Tuần 4 — DBO gốc trên hàm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CFDAEE"/>
                </a:solidFill>
                <a:latin typeface="Calibri"/>
                <a:ea typeface="Calibri"/>
                <a:cs typeface="Calibri"/>
              </a:rPr>
              <a:t>Kiểm chứng cài đặt DBO (Xue &amp; Shen, 2023) trên 6 hàm chuẩn, dim 10/30/50, M = 30 lần chạy.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DÙNG GÌ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Thiết lập thí nghiệm tuần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532120" cy="411480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THIẾT LẬP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Thuật toán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874519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DBO gốc, 4 hành vi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Bộ hàm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331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6 hàm: 3 đơn điệu + 3 đa cực trị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Số chiều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dim = 10, 30, 50 (bỏ dim =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461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Quần thể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2461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n_agents =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Vòng lặp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7033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max_iter =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Số lần lặp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1605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M = 30 seed độc lập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177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Tổng số lần chạy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617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6 hàm × 3 dim × 30 = 540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749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Tiêu chí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50749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minimize — càng gần 0 càng tốt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371600"/>
            <a:ext cx="5422392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5544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PHÂN CÔNG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Lê Quang Duy —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khung DBO, vòng lặp chính, tích hợp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331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Hồ Trung Cương —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4 hành vi (ball-rolling, reproduction, foraging, thieving)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7889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Đặng Nguyễn Minh Đăng —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bộ hàm benchmark + script thí nghiệm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429000"/>
            <a:ext cx="4892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Hàm mục tiêu: Sphere, Schwefel 2.22, Rosenbrock, Rastrigin, Ackley, Griewank. Dữ liệu gốc: experiments/week4/*.csv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Thiết lập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KẾT QUẢ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Bảng MEAN DBO — 6 hàm × 3 chiều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3112" cy="3858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783080"/>
                <a:gridCol w="1783080"/>
                <a:gridCol w="1783080"/>
                <a:gridCol w="391363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Hàm</a:t>
                      </a:r>
                    </a:p>
                  </a:txBody>
                  <a:tcPr marL="91440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dim = 10</a:t>
                      </a:r>
                    </a:p>
                  </a:txBody>
                  <a:tcPr marL="91440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dim = 30</a:t>
                      </a:r>
                    </a:p>
                  </a:txBody>
                  <a:tcPr marL="91440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dim = 50</a:t>
                      </a:r>
                    </a:p>
                  </a:txBody>
                  <a:tcPr marL="91440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Đọc số</a:t>
                      </a:r>
                    </a:p>
                  </a:txBody>
                  <a:tcPr marL="91440" marR="73152" marT="27432" marB="27432" anchor="ctr">
                    <a:solidFill>
                      <a:srgbClr val="1F2A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Sphere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3,49e-153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2,06e-158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5,70e-168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Hội tụ sâu — cài đặt đúng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Schwefel 2.22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6,70e-82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3,60e-87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4,18e-82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Về gần 0 ở mọi chiều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Rosenbrock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5,61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26,23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46,65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B8432A"/>
                          </a:solidFill>
                          <a:latin typeface="Calibri"/>
                          <a:ea typeface="Calibri"/>
                          <a:cs typeface="Calibri"/>
                        </a:rPr>
                        <a:t>Không về 0 — độ khó tăng theo dim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Rastrigin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2,74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4,85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50D: cả 30/30 seed đạt 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Ackley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4,44e-16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4,44e-16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4,44e-16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Sàn máy tính, mọi dim giống nhau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Griewank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0,0349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10D còn sót; 30D và 50D hết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623560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5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DBO đạt gần 0 tuyệt đối ở các hàm đơn điệu và Ackley. Rosenbrock là điểm yếu duy nhất: mean bám ~ số chiều. Rastrigin bất ổn ở dim 10/30 nhưng đạt 0 tuyệt đối ở dim 50.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HÌNH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Hội tụ DBO — dim =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Sphere/Schwefel về 1e-80…1e-150; Ackley chạm sàn 4,4e-16 sau ~100 vòng. Rosenbrock dừng ở ~5,6 vì thung lũng hẹp. Rastrigin/Griewank còn kẹt cực tiểu cục bộ ở chiều thấp.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Hội tụ dim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HÌNH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Hội tụ DBO — dim = 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Rosenbrock tệ hơn dim 10 (≈26, gần bằng số chiều). Griewank đạt 0 ở dim 30 (tốt hơn dim 10). Rastrigin mean 4,85 nhưng std 21 — chỉ 1/30 seed kẹt ở ~115 kéo lệch toàn bộ.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Hội tụ dim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HÌNH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Hội tụ DBO — dim = 50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Rastrigin và Griewank về 0 trên cả 30/30 seed (đường log đứt đoạn tại 0). Rosenbrock ≈ 46,6 — càng nhiều chiều càng xa 0. Ackley vẫn ở sàn máy. DBO mạnh ở hàm đa cực, yếu ở Rosenbrock.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Hội tụ dim 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HÌNH 4/4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Hội tụ DBO — chồng 3 chiều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multi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444" y="1234440"/>
            <a:ext cx="6748064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Rosenbrock tách rõ theo chiều (5,6 → 26 → 46,6). Sphere dim 50 hội tụ muộn hơn dim 10 vì không gian tìm kiếm rộng hơn — không phải thuật toán kém đi. Đọc mỗi khung là 3 đường dim, không phải 3 thuật toán.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Hội tụ 3 chiều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HÌNH 5/8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Boxplot DBO — dim =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oxplot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Ackley là một vạch duy nhất (30/30 seed cùng giá trị) → ổn định tuyệt đối. Rastrigin có 3 outlier ~10–17. Rosenbrock hộp chặt 5,3–5,7. Sphere/Schwefel hộp sát 0, vài outlier nhỏ.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Boxplot dim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HÌNH 6/8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Boxplot DBO — dim = 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oxplot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Rastrigin bất ổn nhất: 1 outlier ~115 kéo std lên 21. Rosenbrock hộp rất chặt quanh 26 → ổn định nhưng lệch xa 0. Griewank đạt 0 hoàn toàn.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Boxplot dim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HÌNH 7/8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Boxplot DBO — dim = 50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oxplot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Rastrigin/Griewank hộp biến mất vì giá trị = 0 (thang log). Rosenbrock quanh 46–47. Sphere std = 0 do underflow float — cả 30 seed đều siêu nhỏ, không phải mất đa dạng.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Boxplot dim 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HÌNH 8/8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Boxplot DBO — chồng 3 chiều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oxplot_multi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444" y="1234440"/>
            <a:ext cx="6748064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Rosenbrock hộp dâng theo số chiều (5 → 26 → 47). Ackley 3 hộp trùng nhau. Griewank chỉ dim 10 còn hộp. Dùng hình này để thấy ảnh hưởng của số chiều, không để so từng seed.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Boxplot 3 chiều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NHẬN XÉT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Kết luận tuần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27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Cài đặt đúng.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Sphere 10D đạt mean 3,49e-153 — tốt hơn ngẫu nhiên hàng 10^150 lần.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Điểm yếu duy nhất là Rosenbrock.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Mean bám theo số chiều (~5,6 / 26,2 / 46,6) và không về 0.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Rastrigin bất ổn ở chiều thấp.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1 seed kẹt cực tiểu cục bộ đủ kéo lệch mean; dim 50 thì hết.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Sẵn sàng sang tuần 5–6.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Khung đã tách thuật toán ↔ bài toán, không cần sửa khi thêm cơ chế.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4 · Kết luận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PHẦN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Tuần 5–6 — IDBO: cải tiến DBO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CFDAEE"/>
                </a:solidFill>
                <a:latin typeface="Calibri"/>
                <a:ea typeface="Calibri"/>
                <a:cs typeface="Calibri"/>
              </a:rPr>
              <a:t>Thêm hai cơ chế ngẫu nhiên khi quần thể mất đa dạng, rồi so sánh với DBO gốc trên cùng bộ hàm.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DÙNG GÌ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IDBO thêm gì so với DBO gốc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532120" cy="411480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THIẾT LẬP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Giữ nguyên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874519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4 hành vi DBO, chữ ký optimize()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Kích hoạt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331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khi diversity &lt; 1e-3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Cơ chế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Perturb Gauss ~20%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461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Cơ chế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2461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Restart 25% agent tệ nhất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Điều kiện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7033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stagnation ≥ 25 vòng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Elite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1605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1 cá thể tốt nhất không bị đổi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177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Cấu hình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617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n_agents = 30, max_iter = 500, M = 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7492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Tổng số lần chạy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50749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03E62"/>
                </a:solidFill>
                <a:latin typeface="Calibri"/>
                <a:ea typeface="Calibri"/>
                <a:cs typeface="Calibri"/>
              </a:rPr>
              <a:t>2 thuật toán × 6 hàm × 3 dim × 30 = 1.080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371600"/>
            <a:ext cx="5422392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5544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PHÂN CÔNG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Lê Quang Duy —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khung IDBO, tích hợp vào DBO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331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Hồ Trung Cương —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perturb/restart, đo diversity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7889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Đặng Nguyễn Minh Đăng —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thí nghiệm so sánh DBO vs IDBO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429000"/>
            <a:ext cx="4892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So sánh fixed-iteration (cùng n_agents, max_iter, seed). Hòa nếu |mean_IDBO − mean_DBO| / max(|mean_DBO|, 1e-30) &lt; 1%. Dữ liệu: experiments/week5_6/*.csv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Thiết lập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THUẬT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Sơ đồ IDBO sau mỗi vòng DBO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idbo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837" y="1234440"/>
            <a:ext cx="3223277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Sau mỗi vòng: đo diversity = mean(std / (ub − lb)). Nếu ≥ 1e-3 thì bỏ qua (đa số các vòng). Nếu &lt; 1e-3: stagnation ≥ 25 → restart 25% agent tệ nhất, ngược lại → perturb Gauss. Elite không bao giờ bị thay đổi.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Sơ đồ IDBO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KẾT QUẢ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Tần suất kích hoạt perturb / restart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311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2103120"/>
                <a:gridCol w="2103120"/>
                <a:gridCol w="222199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Hàm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dim 10 (pert / restart)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dim 30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dim 50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Đọc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Sphere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B8432A"/>
                          </a:solidFill>
                          <a:latin typeface="Calibri"/>
                          <a:ea typeface="Calibri"/>
                          <a:cs typeface="Calibri"/>
                        </a:rPr>
                        <a:t>0 / 0,53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0,07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0,07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10D restart nhiều nhất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Schwefel 2.22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0,20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0,03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0,07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Restart nhẹ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Rosenbrock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0,10 / 0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0,07 / 0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Chỉ perturb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Rastrigin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Diversity không sụp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Ackley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Không kích hoạt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Griewank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0,03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/ 0,10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50D restart nhẹ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111831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5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Cơ chế gần như không kích hoạt: 15/18 ô bằng 0. Ngoại lệ đáng kể là Sphere dim 10 (restart 0,53 lần/run). Rastrigin và Ackley không bao giờ kích hoạt vì diversity không sụp.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HÌNH 1/9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Hội tụ DBO vs IDBO — dim =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Đường cam (IDBO) phủ khít xanh (DBO) ở cả 6 hàm. IDBO không làm chậm hay làm xấu hội tụ. Ở dim 10 cơ chế chỉ chạy ở Sphere nhưng không tạo khác biệt về mean.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Hội tụ dim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HÌNH 2/9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Hội tụ DBO vs IDBO — dim = 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Vẫn trùng khít. Griewank về 0 ở cả hai. Rosenbrock dừng ≈26 ở cả hai. Không hàm nào IDBO vượt trội hay thua rõ — khớp với cột 'Thắng' ở bảng so sánh phía sau.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Hội tụ dim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HÌNH 3/9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Hội tụ DBO vs IDBO — dim = 50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Rastrigin/Griewank về 0 (log đứt đoạn). Ackley ở sàn. Không thay đổi so với DBO. Số chiều cao không làm IDBO lệch khỏi DBO.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Hội tụ dim 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HÌNH 4/9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Boxplot DBO vs IDBO — dim =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oxplot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Từng cặp hộp xanh/cam gần như trùng nhau về trung vị, tứ phân vị và outlier. Bằng chứng trực quan rằng phân bố best_fitness không đổi khi thêm cơ chế ngẫu nhiên.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Boxplot dim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HÌNH 5/9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Boxplot DBO vs IDBO — dim = 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oxplot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Rosenbrock hai hộp trùng ≈26. Rastrigin cùng 1 outlier lớn ở cả hai (cùng seed). Không có cặp nào IDBO thấp hơn một cách hệ thống.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Boxplot dim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HÌNH 6/9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Boxplot DBO vs IDBO — dim = 50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oxplot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46" y="1234440"/>
            <a:ext cx="7078259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Rastrigin/Griewank biến mất (giá trị 0). Sphere/Schwefel siêu nhỏ. Kết luận boxplot: 18 cặp (hàm, dim) đều hòa.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Boxplot dim 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HÌNH 7/9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Diversity IDBO — dim =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diversity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379" y="1234440"/>
            <a:ext cx="7252193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Rastrigin (đỏ) giữ diversity ~0,15 — cao hơn ngưỡng 1e-3 nên không kích hoạt. Sphere (xanh) giảm dần tới sát ngưỡng rồi nhích lên (răng cưa) từ vòng ~350 — chính là restart 0,53 lần/run trong bảng.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Diversity dim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HÌNH 8/9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Diversity IDBO — dim = 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diversity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379" y="1234440"/>
            <a:ext cx="7252193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Sphere vẫn sụp nhưng ít hơn (restart 0,07). Rastrigin vẫn cao, không kích hoạt. Ở chiều lớn, quần thể khó dồn về một điểm nên cơ chế ít có dịp chạy.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Diversity dim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HÌNH 9/9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Diversity IDBO — dim = 50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diversity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379" y="1234440"/>
            <a:ext cx="7252193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68112"/>
            <a:ext cx="11183112" cy="932688"/>
          </a:xfrm>
          <a:prstGeom prst="roundRect">
            <a:avLst/>
          </a:prstGeom>
          <a:solidFill>
            <a:srgbClr val="FD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468112"/>
            <a:ext cx="82296" cy="932688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559552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Cùng xu hướng dim 30. Cơ chế gần như 'ngủ' trên đa số hàm → kết quả trùng DBO là hợp lý, không phải lỗi.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Diversity dim 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KẾT QUẢ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Bảng so sánh MEAN — cột 'Thắng'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311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88920"/>
                <a:gridCol w="2788920"/>
                <a:gridCol w="2788920"/>
                <a:gridCol w="117043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Hàm / dim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10: DBO | IDBO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30: DBO | IDBO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50: DBO | IDBO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Thắng</a:t>
                      </a:r>
                    </a:p>
                  </a:txBody>
                  <a:tcPr marL="91440" marR="73152" marT="27432" marB="27432" anchor="ctr">
                    <a:solidFill>
                      <a:srgbClr val="2C7A7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Sphere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3,49e-153 | 3,49e-153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2,06e-158 | 2,06e-158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5,70e-168 | 5,70e-168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hòa 3/3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Schwefel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6,70e-82 | 6,70e-82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3,60e-87 | 3,60e-87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4,18e-82 | 4,18e-82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hòa 3/3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Rosenbrock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5,611 | 5,611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26,23 | 26,23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46,65 | 46,65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hòa 3/3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Rastrigin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2,741 | 2,741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4,847 | 4,847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| 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hòa 3/3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Ackley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4,44e-16 | 4,44e-16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4,44e-16 | 4,44e-16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4,44e-16 | 4,44e-16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hòa 3/3</a:t>
                      </a:r>
                    </a:p>
                  </a:txBody>
                  <a:tcPr marL="91440" marR="73152" marT="27432" marB="27432" anchor="ctr">
                    <a:solidFill>
                      <a:srgbClr val="F4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Griewank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0,0349 | 0,0349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| 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0 | 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C2333"/>
                          </a:solidFill>
                          <a:latin typeface="Calibri"/>
                          <a:ea typeface="Calibri"/>
                          <a:cs typeface="Calibri"/>
                        </a:rPr>
                        <a:t>hòa 3/3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111831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Nhận xét.  </a:t>
            </a:r>
            <a:r>
              <a:rPr sz="135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Toàn bộ 18 ô (hàm × dim) đều 'Hòa' theo ngưỡng 1%. Đây là câu trả lời trung thực: trên benchmark trơn nhẵn, cơ chế ngẫu nhiên không tạo khác biệt về chất lượng nghiệm.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Bảng so sánh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PHÂN TÍCH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Chi phí thời gian &amp; vì sao hai bên hòa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27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IDBO chậm hơn 15–20%.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Ví dụ Sphere dim 10: 0,27s → 0,32s. Nguyên nhân: gọi thêm objective khi cơ chế kích hoạt (n_evaluations 15.030 → ~15.034).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Cơ chế hiếm khi chạy.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Trên hàm trơn, quần thể DBO đã hội tụ về đúng tối ưu toàn cục, nên diversity không sụp dưới 1e-3 → perturb/restart bằng 0.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Vì vậy hai bên hòa.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Không phải IDBO kém, mà là bài toán benchmark chưa cần đến nó.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Ý nghĩa cho đề tài.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Giá trị của IDBO sẽ thể hiện ở bài toán thực đơn (nhiều cực trị, ràng buộc) — bắt đầu từ tuần 7.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Phân tích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31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NHẬN XÉT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Kết luận tuần 5–6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778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27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Không làm xấu DBO.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18/18 ô mean hòa; boxplot và hội tụ đều trùng khít.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Chi phí chấp nhận được.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Chậm hơn 15–20%, đổi lại có cơ chế thoát cực tiểu cục bộ khi cần.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Kích hoạt chủ yếu ở Sphere dim 10.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Rastrigin/Ackley không kích hoạt; Rosenbrock chỉ perturb.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2C7A7A"/>
                </a:solidFill>
                <a:latin typeface="Calibri"/>
                <a:ea typeface="Calibri"/>
                <a:cs typeface="Calibri"/>
              </a:rPr>
              <a:t>▪  </a:t>
            </a:r>
            <a:r>
              <a:rPr sz="1700" b="1" i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Trung thực về kết quả. </a:t>
            </a:r>
            <a:r>
              <a:rPr sz="1700" b="0" i="0">
                <a:solidFill>
                  <a:srgbClr val="1C2333"/>
                </a:solidFill>
                <a:latin typeface="Calibri"/>
                <a:ea typeface="Calibri"/>
                <a:cs typeface="Calibri"/>
              </a:rPr>
              <a:t>Không tuyên bố 'IDBO tốt hơn'; kết luận đúng là hai thuật toán tương đương trên benchmark liên tục.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46520"/>
            <a:ext cx="11183112" cy="15240"/>
          </a:xfrm>
          <a:prstGeom prst="rect">
            <a:avLst/>
          </a:prstGeom>
          <a:solidFill>
            <a:srgbClr val="D8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Tuần 5–6 · Kết luận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46C7E"/>
                </a:solidFill>
                <a:latin typeface="Calibri"/>
                <a:ea typeface="Calibri"/>
                <a:cs typeface="Calibri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Kết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1828800" cy="38100"/>
          </a:xfrm>
          <a:prstGeom prst="rect">
            <a:avLst/>
          </a:prstGeom>
          <a:solidFill>
            <a:srgbClr val="E09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20440"/>
            <a:ext cx="10058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D5DFF0"/>
                </a:solidFill>
                <a:latin typeface="Calibri"/>
                <a:ea typeface="Calibri"/>
                <a:cs typeface="Calibri"/>
              </a:rPr>
              <a:t>DBO cài đặt đúng và ổn định trên cả 6 hàm, dim 10/30/50.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D5DFF0"/>
                </a:solidFill>
                <a:latin typeface="Calibri"/>
                <a:ea typeface="Calibri"/>
                <a:cs typeface="Calibri"/>
              </a:rPr>
              <a:t>IDBO không làm xấu DBO: 18/18 ô hòa, đánh đổi 15–20% thời gian.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D5DFF0"/>
                </a:solidFill>
                <a:latin typeface="Calibri"/>
                <a:ea typeface="Calibri"/>
                <a:cs typeface="Calibri"/>
              </a:rPr>
              <a:t>Cơ chế ngẫu nhiên gần như không kích hoạt trên benchmark trơn; giá trị thực nằm ở bài toán thực đơn (tuần 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942E"/>
                </a:solidFill>
                <a:latin typeface="Calibri"/>
                <a:ea typeface="Calibri"/>
                <a:cs typeface="Calibri"/>
              </a:rPr>
              <a:t>Tuần 7: gắn fitness thực đơn vào optimize() — xem docs/TASK_WEEK7.md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