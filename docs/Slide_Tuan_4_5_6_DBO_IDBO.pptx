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64592"/>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640080"/>
            <a:ext cx="10515600" cy="320040"/>
          </a:xfrm>
          <a:prstGeom prst="rect">
            <a:avLst/>
          </a:prstGeom>
          <a:noFill/>
        </p:spPr>
        <p:txBody>
          <a:bodyPr wrap="square" anchor="t" lIns="0" rIns="0" tIns="0" bIns="0">
            <a:spAutoFit/>
          </a:bodyPr>
          <a:lstStyle/>
          <a:p>
            <a:pPr algn="l">
              <a:lnSpc>
                <a:spcPct val="100000"/>
              </a:lnSpc>
              <a:spcAft>
                <a:spcPts val="0"/>
              </a:spcAft>
            </a:pPr>
            <a:r>
              <a:rPr sz="1300" b="1" i="0">
                <a:solidFill>
                  <a:srgbClr val="9FB0CE"/>
                </a:solidFill>
                <a:latin typeface="Calibri"/>
                <a:ea typeface="Calibri"/>
                <a:cs typeface="Calibri"/>
              </a:rPr>
              <a:t>TRƯỜNG ĐẠI HỌC CÔNG THƯƠNG TP. HỒ CHÍ MINH — KHOA CÔNG NGHỆ THÔNG TIN</a:t>
            </a:r>
          </a:p>
        </p:txBody>
      </p:sp>
      <p:sp>
        <p:nvSpPr>
          <p:cNvPr id="5" name="Rectangle 4"/>
          <p:cNvSpPr/>
          <p:nvPr/>
        </p:nvSpPr>
        <p:spPr>
          <a:xfrm>
            <a:off x="822960" y="1051560"/>
            <a:ext cx="73152" cy="27432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033271"/>
            <a:ext cx="10058400" cy="274320"/>
          </a:xfrm>
          <a:prstGeom prst="rect">
            <a:avLst/>
          </a:prstGeom>
          <a:noFill/>
        </p:spPr>
        <p:txBody>
          <a:bodyPr wrap="square" anchor="t" lIns="0" rIns="0" tIns="0" bIns="0">
            <a:spAutoFit/>
          </a:bodyPr>
          <a:lstStyle/>
          <a:p>
            <a:pPr algn="l">
              <a:lnSpc>
                <a:spcPct val="100000"/>
              </a:lnSpc>
              <a:spcAft>
                <a:spcPts val="0"/>
              </a:spcAft>
            </a:pPr>
            <a:r>
              <a:rPr sz="1250" b="1" i="0">
                <a:solidFill>
                  <a:srgbClr val="D9822B"/>
                </a:solidFill>
                <a:latin typeface="Calibri"/>
                <a:ea typeface="Calibri"/>
                <a:cs typeface="Calibri"/>
              </a:rPr>
              <a:t>KHÓA LUẬN TỐT NGHIỆP CỬ NHÂN CNTT · MÃ ĐỀ TÀI: CNTT-KLCN142</a:t>
            </a:r>
          </a:p>
        </p:txBody>
      </p:sp>
      <p:sp>
        <p:nvSpPr>
          <p:cNvPr id="7" name="TextBox 6"/>
          <p:cNvSpPr txBox="1"/>
          <p:nvPr/>
        </p:nvSpPr>
        <p:spPr>
          <a:xfrm>
            <a:off x="822960" y="1463040"/>
            <a:ext cx="10515600" cy="868680"/>
          </a:xfrm>
          <a:prstGeom prst="rect">
            <a:avLst/>
          </a:prstGeom>
          <a:noFill/>
        </p:spPr>
        <p:txBody>
          <a:bodyPr wrap="square" anchor="t" lIns="0" rIns="0" tIns="0" bIns="0">
            <a:spAutoFit/>
          </a:bodyPr>
          <a:lstStyle/>
          <a:p>
            <a:pPr algn="l">
              <a:lnSpc>
                <a:spcPct val="100000"/>
              </a:lnSpc>
              <a:spcAft>
                <a:spcPts val="0"/>
              </a:spcAft>
            </a:pPr>
            <a:r>
              <a:rPr sz="2800" b="1" i="0">
                <a:solidFill>
                  <a:srgbClr val="FFFFFF"/>
                </a:solidFill>
                <a:latin typeface="Calibri"/>
                <a:ea typeface="Calibri"/>
                <a:cs typeface="Calibri"/>
              </a:rPr>
              <a:t>BÁO CÁO KẾT QUẢ THỰC NGHIỆM THUẬT TOÁN DBO VÀ IDBO</a:t>
            </a:r>
          </a:p>
        </p:txBody>
      </p:sp>
      <p:sp>
        <p:nvSpPr>
          <p:cNvPr id="8" name="TextBox 7"/>
          <p:cNvSpPr txBox="1"/>
          <p:nvPr/>
        </p:nvSpPr>
        <p:spPr>
          <a:xfrm>
            <a:off x="822960" y="2423160"/>
            <a:ext cx="10515600" cy="365760"/>
          </a:xfrm>
          <a:prstGeom prst="rect">
            <a:avLst/>
          </a:prstGeom>
          <a:noFill/>
        </p:spPr>
        <p:txBody>
          <a:bodyPr wrap="square" anchor="t" lIns="0" rIns="0" tIns="0" bIns="0">
            <a:spAutoFit/>
          </a:bodyPr>
          <a:lstStyle/>
          <a:p>
            <a:pPr algn="l">
              <a:lnSpc>
                <a:spcPct val="100000"/>
              </a:lnSpc>
              <a:spcAft>
                <a:spcPts val="0"/>
              </a:spcAft>
            </a:pPr>
            <a:r>
              <a:rPr sz="1800" b="0" i="0">
                <a:solidFill>
                  <a:srgbClr val="DDE5F5"/>
                </a:solidFill>
                <a:latin typeface="Calibri"/>
                <a:ea typeface="Calibri"/>
                <a:cs typeface="Calibri"/>
              </a:rPr>
              <a:t>Đánh giá hiệu năng và tính ổn định trên 6 hàm benchmark chuẩn liên tục</a:t>
            </a:r>
          </a:p>
        </p:txBody>
      </p:sp>
      <p:sp>
        <p:nvSpPr>
          <p:cNvPr id="9" name="TextBox 8"/>
          <p:cNvSpPr txBox="1"/>
          <p:nvPr/>
        </p:nvSpPr>
        <p:spPr>
          <a:xfrm>
            <a:off x="822960" y="2880360"/>
            <a:ext cx="10515600" cy="320040"/>
          </a:xfrm>
          <a:prstGeom prst="rect">
            <a:avLst/>
          </a:prstGeom>
          <a:noFill/>
        </p:spPr>
        <p:txBody>
          <a:bodyPr wrap="square" anchor="t" lIns="0" rIns="0" tIns="0" bIns="0">
            <a:spAutoFit/>
          </a:bodyPr>
          <a:lstStyle/>
          <a:p>
            <a:pPr algn="l">
              <a:lnSpc>
                <a:spcPct val="100000"/>
              </a:lnSpc>
              <a:spcAft>
                <a:spcPts val="0"/>
              </a:spcAft>
            </a:pPr>
            <a:r>
              <a:rPr sz="1400" b="0" i="0">
                <a:solidFill>
                  <a:srgbClr val="C9D5EA"/>
                </a:solidFill>
                <a:latin typeface="Calibri"/>
                <a:ea typeface="Calibri"/>
                <a:cs typeface="Calibri"/>
              </a:rPr>
              <a:t>Giai đoạn nghiên cứu &amp; tối ưu thuật toán: Tuần 4 và Tuần 5–6 (Học kỳ 1, 2025–2026)</a:t>
            </a:r>
          </a:p>
        </p:txBody>
      </p:sp>
      <p:sp>
        <p:nvSpPr>
          <p:cNvPr id="10" name="Rectangle 9"/>
          <p:cNvSpPr/>
          <p:nvPr/>
        </p:nvSpPr>
        <p:spPr>
          <a:xfrm>
            <a:off x="822960" y="3291840"/>
            <a:ext cx="2286000" cy="3175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749039"/>
            <a:ext cx="10515600" cy="1463040"/>
          </a:xfrm>
          <a:prstGeom prst="rect">
            <a:avLst/>
          </a:prstGeom>
          <a:noFill/>
        </p:spPr>
        <p:txBody>
          <a:bodyPr wrap="square" anchor="t" lIns="0" rIns="0" tIns="0" bIns="0">
            <a:spAutoFit/>
          </a:bodyPr>
          <a:lstStyle/>
          <a:p>
            <a:pPr algn="l">
              <a:lnSpc>
                <a:spcPct val="128000"/>
              </a:lnSpc>
              <a:spcAft>
                <a:spcPts val="0"/>
              </a:spcAft>
            </a:pPr>
            <a:r>
              <a:rPr sz="1450" b="1" i="0">
                <a:solidFill>
                  <a:srgbClr val="FFFFFF"/>
                </a:solidFill>
                <a:latin typeface="Calibri"/>
                <a:ea typeface="Calibri"/>
                <a:cs typeface="Calibri"/>
              </a:rPr>
              <a:t>Đề tài: </a:t>
            </a:r>
            <a:r>
              <a:rPr sz="1450" b="0" i="0">
                <a:solidFill>
                  <a:srgbClr val="C9D5EA"/>
                </a:solidFill>
                <a:latin typeface="Calibri"/>
                <a:ea typeface="Calibri"/>
                <a:cs typeface="Calibri"/>
              </a:rPr>
              <a:t>Hệ thống đề xuất thực đơn dinh dưỡng cá nhân hóa dựa trên thuật toán IDBO</a:t>
            </a:r>
          </a:p>
          <a:p>
            <a:pPr algn="l">
              <a:lnSpc>
                <a:spcPct val="128000"/>
              </a:lnSpc>
              <a:spcAft>
                <a:spcPts val="0"/>
              </a:spcAft>
            </a:pPr>
            <a:r>
              <a:rPr sz="1450" b="1" i="0">
                <a:solidFill>
                  <a:srgbClr val="FFFFFF"/>
                </a:solidFill>
                <a:latin typeface="Calibri"/>
                <a:ea typeface="Calibri"/>
                <a:cs typeface="Calibri"/>
              </a:rPr>
              <a:t>Giảng viên hướng dẫn: </a:t>
            </a:r>
            <a:r>
              <a:rPr sz="1450" b="0" i="0">
                <a:solidFill>
                  <a:srgbClr val="C9D5EA"/>
                </a:solidFill>
                <a:latin typeface="Calibri"/>
                <a:ea typeface="Calibri"/>
                <a:cs typeface="Calibri"/>
              </a:rPr>
              <a:t>ThS. Đinh Nguyễn Trọng Nghĩa</a:t>
            </a:r>
          </a:p>
          <a:p>
            <a:pPr algn="l">
              <a:lnSpc>
                <a:spcPct val="128000"/>
              </a:lnSpc>
              <a:spcAft>
                <a:spcPts val="0"/>
              </a:spcAft>
            </a:pPr>
            <a:r>
              <a:rPr sz="1450" b="1" i="0">
                <a:solidFill>
                  <a:srgbClr val="FFFFFF"/>
                </a:solidFill>
                <a:latin typeface="Calibri"/>
                <a:ea typeface="Calibri"/>
                <a:cs typeface="Calibri"/>
              </a:rPr>
              <a:t>Nhóm sinh viên thực hiện: </a:t>
            </a:r>
            <a:r>
              <a:rPr sz="1450" b="1" i="0">
                <a:solidFill>
                  <a:srgbClr val="FFEECC"/>
                </a:solidFill>
                <a:latin typeface="Calibri"/>
                <a:ea typeface="Calibri"/>
                <a:cs typeface="Calibri"/>
              </a:rPr>
              <a:t>Lê Quang Duy (2001230123) · Đặng Nguyễn Minh Đăng (2001230175) · Hồ Trung Cương (2001230070)</a:t>
            </a:r>
          </a:p>
        </p:txBody>
      </p:sp>
      <p:sp>
        <p:nvSpPr>
          <p:cNvPr id="12" name="TextBox 11"/>
          <p:cNvSpPr txBox="1"/>
          <p:nvPr/>
        </p:nvSpPr>
        <p:spPr>
          <a:xfrm>
            <a:off x="822960" y="6080760"/>
            <a:ext cx="10515600" cy="365760"/>
          </a:xfrm>
          <a:prstGeom prst="rect">
            <a:avLst/>
          </a:prstGeom>
          <a:noFill/>
        </p:spPr>
        <p:txBody>
          <a:bodyPr wrap="square" anchor="t" lIns="0" rIns="0" tIns="0" bIns="0">
            <a:spAutoFit/>
          </a:bodyPr>
          <a:lstStyle/>
          <a:p>
            <a:pPr algn="l">
              <a:lnSpc>
                <a:spcPct val="100000"/>
              </a:lnSpc>
              <a:spcAft>
                <a:spcPts val="0"/>
              </a:spcAft>
            </a:pPr>
            <a:r>
              <a:rPr sz="1200" b="0" i="0">
                <a:solidFill>
                  <a:srgbClr val="9FB0CE"/>
                </a:solidFill>
                <a:latin typeface="Calibri"/>
                <a:ea typeface="Calibri"/>
                <a:cs typeface="Calibri"/>
              </a:rPr>
              <a:t>Quy mô thực nghiệm: 1.620 lượt chạy độc lập (540 DBO + 1.080 DBO &amp; IDBO) · M = 30 seed · dim = 10, 30, 50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TỔNG QUAN NGHIÊN CỨU</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Tổng quan thực nghiệm Tuần 4–6 &amp; Phân công nhiệm vụ</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2679192" cy="1207008"/>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34440"/>
            <a:ext cx="73152" cy="120700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325880"/>
            <a:ext cx="2423160" cy="411480"/>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6</a:t>
            </a:r>
          </a:p>
        </p:txBody>
      </p:sp>
      <p:sp>
        <p:nvSpPr>
          <p:cNvPr id="9" name="TextBox 8"/>
          <p:cNvSpPr txBox="1"/>
          <p:nvPr/>
        </p:nvSpPr>
        <p:spPr>
          <a:xfrm>
            <a:off x="685800" y="1783080"/>
            <a:ext cx="24231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1E2430"/>
                </a:solidFill>
                <a:latin typeface="Calibri"/>
                <a:ea typeface="Calibri"/>
                <a:cs typeface="Calibri"/>
              </a:rPr>
              <a:t>Hàm benchmark chuẩn</a:t>
            </a:r>
          </a:p>
        </p:txBody>
      </p:sp>
      <p:sp>
        <p:nvSpPr>
          <p:cNvPr id="10" name="TextBox 9"/>
          <p:cNvSpPr txBox="1"/>
          <p:nvPr/>
        </p:nvSpPr>
        <p:spPr>
          <a:xfrm>
            <a:off x="685800" y="2057400"/>
            <a:ext cx="2423160" cy="320040"/>
          </a:xfrm>
          <a:prstGeom prst="rect">
            <a:avLst/>
          </a:prstGeom>
          <a:noFill/>
        </p:spPr>
        <p:txBody>
          <a:bodyPr wrap="square" anchor="t" lIns="0" rIns="0" tIns="0" bIns="0">
            <a:spAutoFit/>
          </a:bodyPr>
          <a:lstStyle/>
          <a:p>
            <a:pPr algn="l">
              <a:lnSpc>
                <a:spcPct val="105000"/>
              </a:lnSpc>
              <a:spcAft>
                <a:spcPts val="0"/>
              </a:spcAft>
            </a:pPr>
            <a:r>
              <a:rPr sz="1000" b="0" i="0">
                <a:solidFill>
                  <a:srgbClr val="5A6478"/>
                </a:solidFill>
                <a:latin typeface="Calibri"/>
                <a:ea typeface="Calibri"/>
                <a:cs typeface="Calibri"/>
              </a:rPr>
              <a:t>3 đơn điệu (Unimodal) + 3 đa cực trị (Multimodal)</a:t>
            </a:r>
          </a:p>
        </p:txBody>
      </p:sp>
      <p:sp>
        <p:nvSpPr>
          <p:cNvPr id="11" name="Rounded Rectangle 10"/>
          <p:cNvSpPr/>
          <p:nvPr/>
        </p:nvSpPr>
        <p:spPr>
          <a:xfrm>
            <a:off x="3346704" y="1234440"/>
            <a:ext cx="2679192" cy="1207008"/>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346704" y="1234440"/>
            <a:ext cx="73152" cy="1207008"/>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29584" y="1325880"/>
            <a:ext cx="2423160" cy="411480"/>
          </a:xfrm>
          <a:prstGeom prst="rect">
            <a:avLst/>
          </a:prstGeom>
          <a:noFill/>
        </p:spPr>
        <p:txBody>
          <a:bodyPr wrap="square" anchor="t" lIns="0" rIns="0" tIns="0" bIns="0">
            <a:spAutoFit/>
          </a:bodyPr>
          <a:lstStyle/>
          <a:p>
            <a:pPr algn="l">
              <a:lnSpc>
                <a:spcPct val="100000"/>
              </a:lnSpc>
              <a:spcAft>
                <a:spcPts val="0"/>
              </a:spcAft>
            </a:pPr>
            <a:r>
              <a:rPr sz="2400" b="1" i="0">
                <a:solidFill>
                  <a:srgbClr val="1D6F6F"/>
                </a:solidFill>
                <a:latin typeface="Calibri"/>
                <a:ea typeface="Calibri"/>
                <a:cs typeface="Calibri"/>
              </a:rPr>
              <a:t>1.620</a:t>
            </a:r>
          </a:p>
        </p:txBody>
      </p:sp>
      <p:sp>
        <p:nvSpPr>
          <p:cNvPr id="14" name="TextBox 13"/>
          <p:cNvSpPr txBox="1"/>
          <p:nvPr/>
        </p:nvSpPr>
        <p:spPr>
          <a:xfrm>
            <a:off x="3529584" y="1783080"/>
            <a:ext cx="24231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1E2430"/>
                </a:solidFill>
                <a:latin typeface="Calibri"/>
                <a:ea typeface="Calibri"/>
                <a:cs typeface="Calibri"/>
              </a:rPr>
              <a:t>Lượt chạy độc lập</a:t>
            </a:r>
          </a:p>
        </p:txBody>
      </p:sp>
      <p:sp>
        <p:nvSpPr>
          <p:cNvPr id="15" name="TextBox 14"/>
          <p:cNvSpPr txBox="1"/>
          <p:nvPr/>
        </p:nvSpPr>
        <p:spPr>
          <a:xfrm>
            <a:off x="3529584" y="2057400"/>
            <a:ext cx="2423160" cy="320040"/>
          </a:xfrm>
          <a:prstGeom prst="rect">
            <a:avLst/>
          </a:prstGeom>
          <a:noFill/>
        </p:spPr>
        <p:txBody>
          <a:bodyPr wrap="square" anchor="t" lIns="0" rIns="0" tIns="0" bIns="0">
            <a:spAutoFit/>
          </a:bodyPr>
          <a:lstStyle/>
          <a:p>
            <a:pPr algn="l">
              <a:lnSpc>
                <a:spcPct val="105000"/>
              </a:lnSpc>
              <a:spcAft>
                <a:spcPts val="0"/>
              </a:spcAft>
            </a:pPr>
            <a:r>
              <a:rPr sz="1000" b="0" i="0">
                <a:solidFill>
                  <a:srgbClr val="5A6478"/>
                </a:solidFill>
                <a:latin typeface="Calibri"/>
                <a:ea typeface="Calibri"/>
                <a:cs typeface="Calibri"/>
              </a:rPr>
              <a:t>540 DBO (tuần 4) + 1.080 DBO/IDBO (tuần 5-6)</a:t>
            </a:r>
          </a:p>
        </p:txBody>
      </p:sp>
      <p:sp>
        <p:nvSpPr>
          <p:cNvPr id="16" name="Rounded Rectangle 15"/>
          <p:cNvSpPr/>
          <p:nvPr/>
        </p:nvSpPr>
        <p:spPr>
          <a:xfrm>
            <a:off x="6190488" y="1234440"/>
            <a:ext cx="2679192" cy="1207008"/>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0488" y="1234440"/>
            <a:ext cx="73152" cy="1207008"/>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73368" y="1325880"/>
            <a:ext cx="2423160" cy="411480"/>
          </a:xfrm>
          <a:prstGeom prst="rect">
            <a:avLst/>
          </a:prstGeom>
          <a:noFill/>
        </p:spPr>
        <p:txBody>
          <a:bodyPr wrap="square" anchor="t" lIns="0" rIns="0" tIns="0" bIns="0">
            <a:spAutoFit/>
          </a:bodyPr>
          <a:lstStyle/>
          <a:p>
            <a:pPr algn="l">
              <a:lnSpc>
                <a:spcPct val="100000"/>
              </a:lnSpc>
              <a:spcAft>
                <a:spcPts val="0"/>
              </a:spcAft>
            </a:pPr>
            <a:r>
              <a:rPr sz="2400" b="1" i="0">
                <a:solidFill>
                  <a:srgbClr val="217A4B"/>
                </a:solidFill>
                <a:latin typeface="Calibri"/>
                <a:ea typeface="Calibri"/>
                <a:cs typeface="Calibri"/>
              </a:rPr>
              <a:t>18 / 18</a:t>
            </a:r>
          </a:p>
        </p:txBody>
      </p:sp>
      <p:sp>
        <p:nvSpPr>
          <p:cNvPr id="19" name="TextBox 18"/>
          <p:cNvSpPr txBox="1"/>
          <p:nvPr/>
        </p:nvSpPr>
        <p:spPr>
          <a:xfrm>
            <a:off x="6373368" y="1783080"/>
            <a:ext cx="24231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1E2430"/>
                </a:solidFill>
                <a:latin typeface="Calibri"/>
                <a:ea typeface="Calibri"/>
                <a:cs typeface="Calibri"/>
              </a:rPr>
              <a:t>Cặp cấu hình Hòa</a:t>
            </a:r>
          </a:p>
        </p:txBody>
      </p:sp>
      <p:sp>
        <p:nvSpPr>
          <p:cNvPr id="20" name="TextBox 19"/>
          <p:cNvSpPr txBox="1"/>
          <p:nvPr/>
        </p:nvSpPr>
        <p:spPr>
          <a:xfrm>
            <a:off x="6373368" y="2057400"/>
            <a:ext cx="2423160" cy="320040"/>
          </a:xfrm>
          <a:prstGeom prst="rect">
            <a:avLst/>
          </a:prstGeom>
          <a:noFill/>
        </p:spPr>
        <p:txBody>
          <a:bodyPr wrap="square" anchor="t" lIns="0" rIns="0" tIns="0" bIns="0">
            <a:spAutoFit/>
          </a:bodyPr>
          <a:lstStyle/>
          <a:p>
            <a:pPr algn="l">
              <a:lnSpc>
                <a:spcPct val="105000"/>
              </a:lnSpc>
              <a:spcAft>
                <a:spcPts val="0"/>
              </a:spcAft>
            </a:pPr>
            <a:r>
              <a:rPr sz="1000" b="0" i="0">
                <a:solidFill>
                  <a:srgbClr val="5A6478"/>
                </a:solidFill>
                <a:latin typeface="Calibri"/>
                <a:ea typeface="Calibri"/>
                <a:cs typeface="Calibri"/>
              </a:rPr>
              <a:t>IDBO bảo toàn chất lượng DBO gốc (chênh lệch &lt; 1%)</a:t>
            </a:r>
          </a:p>
        </p:txBody>
      </p:sp>
      <p:sp>
        <p:nvSpPr>
          <p:cNvPr id="21" name="Rounded Rectangle 20"/>
          <p:cNvSpPr/>
          <p:nvPr/>
        </p:nvSpPr>
        <p:spPr>
          <a:xfrm>
            <a:off x="9034272" y="1234440"/>
            <a:ext cx="2679192" cy="1207008"/>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34272" y="1234440"/>
            <a:ext cx="73152" cy="120700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217152" y="1325880"/>
            <a:ext cx="2423160" cy="411480"/>
          </a:xfrm>
          <a:prstGeom prst="rect">
            <a:avLst/>
          </a:prstGeom>
          <a:noFill/>
        </p:spPr>
        <p:txBody>
          <a:bodyPr wrap="square" anchor="t" lIns="0" rIns="0" tIns="0" bIns="0">
            <a:spAutoFit/>
          </a:bodyPr>
          <a:lstStyle/>
          <a:p>
            <a:pPr algn="l">
              <a:lnSpc>
                <a:spcPct val="100000"/>
              </a:lnSpc>
              <a:spcAft>
                <a:spcPts val="0"/>
              </a:spcAft>
            </a:pPr>
            <a:r>
              <a:rPr sz="2400" b="1" i="0">
                <a:solidFill>
                  <a:srgbClr val="D9822B"/>
                </a:solidFill>
                <a:latin typeface="Calibri"/>
                <a:ea typeface="Calibri"/>
                <a:cs typeface="Calibri"/>
              </a:rPr>
              <a:t>+0,028%</a:t>
            </a:r>
          </a:p>
        </p:txBody>
      </p:sp>
      <p:sp>
        <p:nvSpPr>
          <p:cNvPr id="24" name="TextBox 23"/>
          <p:cNvSpPr txBox="1"/>
          <p:nvPr/>
        </p:nvSpPr>
        <p:spPr>
          <a:xfrm>
            <a:off x="9217152" y="1783080"/>
            <a:ext cx="2423160" cy="256032"/>
          </a:xfrm>
          <a:prstGeom prst="rect">
            <a:avLst/>
          </a:prstGeom>
          <a:noFill/>
        </p:spPr>
        <p:txBody>
          <a:bodyPr wrap="square" anchor="t" lIns="0" rIns="0" tIns="0" bIns="0">
            <a:spAutoFit/>
          </a:bodyPr>
          <a:lstStyle/>
          <a:p>
            <a:pPr algn="l">
              <a:lnSpc>
                <a:spcPct val="100000"/>
              </a:lnSpc>
              <a:spcAft>
                <a:spcPts val="0"/>
              </a:spcAft>
            </a:pPr>
            <a:r>
              <a:rPr sz="1250" b="1" i="0">
                <a:solidFill>
                  <a:srgbClr val="1E2430"/>
                </a:solidFill>
                <a:latin typeface="Calibri"/>
                <a:ea typeface="Calibri"/>
                <a:cs typeface="Calibri"/>
              </a:rPr>
              <a:t>Tăng chi phí gọi hàm</a:t>
            </a:r>
          </a:p>
        </p:txBody>
      </p:sp>
      <p:sp>
        <p:nvSpPr>
          <p:cNvPr id="25" name="TextBox 24"/>
          <p:cNvSpPr txBox="1"/>
          <p:nvPr/>
        </p:nvSpPr>
        <p:spPr>
          <a:xfrm>
            <a:off x="9217152" y="2057400"/>
            <a:ext cx="2423160" cy="320040"/>
          </a:xfrm>
          <a:prstGeom prst="rect">
            <a:avLst/>
          </a:prstGeom>
          <a:noFill/>
        </p:spPr>
        <p:txBody>
          <a:bodyPr wrap="square" anchor="t" lIns="0" rIns="0" tIns="0" bIns="0">
            <a:spAutoFit/>
          </a:bodyPr>
          <a:lstStyle/>
          <a:p>
            <a:pPr algn="l">
              <a:lnSpc>
                <a:spcPct val="105000"/>
              </a:lnSpc>
              <a:spcAft>
                <a:spcPts val="0"/>
              </a:spcAft>
            </a:pPr>
            <a:r>
              <a:rPr sz="1000" b="0" i="0">
                <a:solidFill>
                  <a:srgbClr val="5A6478"/>
                </a:solidFill>
                <a:latin typeface="Calibri"/>
                <a:ea typeface="Calibri"/>
                <a:cs typeface="Calibri"/>
              </a:rPr>
              <a:t>Bảo toàn triệt để tài nguyên tính toán (chỉ ~4 evals/run)</a:t>
            </a:r>
          </a:p>
        </p:txBody>
      </p:sp>
      <p:graphicFrame>
        <p:nvGraphicFramePr>
          <p:cNvPr id="26" name="Table 25"/>
          <p:cNvGraphicFramePr>
            <a:graphicFrameLocks noGrp="1"/>
          </p:cNvGraphicFramePr>
          <p:nvPr/>
        </p:nvGraphicFramePr>
        <p:xfrm>
          <a:off x="502920" y="2633472"/>
          <a:ext cx="11183112" cy="3090672"/>
        </p:xfrm>
        <a:graphic>
          <a:graphicData uri="http://schemas.openxmlformats.org/drawingml/2006/table">
            <a:tbl>
              <a:tblPr firstRow="1" bandRow="1">
                <a:tableStyleId>{5C22544A-7EE6-4342-B048-85BDC9FD1C3A}</a:tableStyleId>
              </a:tblPr>
              <a:tblGrid>
                <a:gridCol w="1280160"/>
                <a:gridCol w="3291840"/>
                <a:gridCol w="3931920"/>
                <a:gridCol w="2679192"/>
              </a:tblGrid>
              <a:tr h="438912">
                <a:tc>
                  <a:txBody>
                    <a:bodyPr/>
                    <a:lstStyle/>
                    <a:p>
                      <a:pPr algn="ctr"/>
                      <a:r>
                        <a:rPr sz="1200" b="1" i="0">
                          <a:solidFill>
                            <a:srgbClr val="FFFFFF"/>
                          </a:solidFill>
                          <a:latin typeface="Calibri"/>
                          <a:ea typeface="Calibri"/>
                          <a:cs typeface="Calibri"/>
                        </a:rPr>
                        <a:t>Giai đoạn</a:t>
                      </a:r>
                    </a:p>
                  </a:txBody>
                  <a:tcPr marL="73152" marR="73152" marT="36576" marB="36576" anchor="ctr">
                    <a:solidFill>
                      <a:srgbClr val="1B2A4A"/>
                    </a:solidFill>
                  </a:tcPr>
                </a:tc>
                <a:tc>
                  <a:txBody>
                    <a:bodyPr/>
                    <a:lstStyle/>
                    <a:p>
                      <a:pPr algn="l"/>
                      <a:r>
                        <a:rPr sz="1200" b="1" i="0">
                          <a:solidFill>
                            <a:srgbClr val="FFFFFF"/>
                          </a:solidFill>
                          <a:latin typeface="Calibri"/>
                          <a:ea typeface="Calibri"/>
                          <a:cs typeface="Calibri"/>
                        </a:rPr>
                        <a:t>Mô hình &amp; Phương pháp</a:t>
                      </a:r>
                    </a:p>
                  </a:txBody>
                  <a:tcPr marL="73152" marR="73152" marT="36576" marB="36576" anchor="ctr">
                    <a:solidFill>
                      <a:srgbClr val="1B2A4A"/>
                    </a:solidFill>
                  </a:tcPr>
                </a:tc>
                <a:tc>
                  <a:txBody>
                    <a:bodyPr/>
                    <a:lstStyle/>
                    <a:p>
                      <a:pPr algn="l"/>
                      <a:r>
                        <a:rPr sz="1200" b="1" i="0">
                          <a:solidFill>
                            <a:srgbClr val="FFFFFF"/>
                          </a:solidFill>
                          <a:latin typeface="Calibri"/>
                          <a:ea typeface="Calibri"/>
                          <a:cs typeface="Calibri"/>
                        </a:rPr>
                        <a:t>Kết quả thực nghiệm chính</a:t>
                      </a:r>
                    </a:p>
                  </a:txBody>
                  <a:tcPr marL="73152" marR="73152" marT="36576" marB="36576" anchor="ctr">
                    <a:solidFill>
                      <a:srgbClr val="1B2A4A"/>
                    </a:solidFill>
                  </a:tcPr>
                </a:tc>
                <a:tc>
                  <a:txBody>
                    <a:bodyPr/>
                    <a:lstStyle/>
                    <a:p>
                      <a:pPr algn="l"/>
                      <a:r>
                        <a:rPr sz="1200" b="1" i="0">
                          <a:solidFill>
                            <a:srgbClr val="FFFFFF"/>
                          </a:solidFill>
                          <a:latin typeface="Calibri"/>
                          <a:ea typeface="Calibri"/>
                          <a:cs typeface="Calibri"/>
                        </a:rPr>
                        <a:t>Phân công trách nhiệm</a:t>
                      </a:r>
                    </a:p>
                  </a:txBody>
                  <a:tcPr marL="73152" marR="73152" marT="36576" marB="36576" anchor="ctr">
                    <a:solidFill>
                      <a:srgbClr val="1B2A4A"/>
                    </a:solidFill>
                  </a:tcPr>
                </a:tc>
              </a:tr>
              <a:tr h="1325880">
                <a:tc>
                  <a:txBody>
                    <a:bodyPr/>
                    <a:lstStyle/>
                    <a:p>
                      <a:pPr algn="ctr"/>
                      <a:r>
                        <a:rPr sz="1100" b="1" i="0">
                          <a:solidFill>
                            <a:srgbClr val="1E2430"/>
                          </a:solidFill>
                          <a:latin typeface="Calibri"/>
                          <a:ea typeface="Calibri"/>
                          <a:cs typeface="Calibri"/>
                        </a:rPr>
                        <a:t>Tuần 4</a:t>
                      </a:r>
                    </a:p>
                  </a:txBody>
                  <a:tcPr marL="73152" marR="73152" marT="36576" marB="36576" anchor="ctr">
                    <a:solidFill>
                      <a:srgbClr val="F5F7FB"/>
                    </a:solidFill>
                  </a:tcPr>
                </a:tc>
                <a:tc>
                  <a:txBody>
                    <a:bodyPr/>
                    <a:lstStyle/>
                    <a:p>
                      <a:pPr algn="l"/>
                      <a:r>
                        <a:rPr sz="1100" b="0" i="0">
                          <a:solidFill>
                            <a:srgbClr val="1E2430"/>
                          </a:solidFill>
                          <a:latin typeface="Calibri"/>
                          <a:ea typeface="Calibri"/>
                          <a:cs typeface="Calibri"/>
                        </a:rPr>
                        <a:t>DBO gốc (Xue &amp; Shen, 2023)
• 4 hành vi sinh tồn bọ hung
• 6 hàm benchmark, dim 10/30/50, M=30</a:t>
                      </a:r>
                    </a:p>
                  </a:txBody>
                  <a:tcPr marL="73152" marR="73152" marT="36576" marB="36576" anchor="ctr">
                    <a:solidFill>
                      <a:srgbClr val="F5F7FB"/>
                    </a:solidFill>
                  </a:tcPr>
                </a:tc>
                <a:tc>
                  <a:txBody>
                    <a:bodyPr/>
                    <a:lstStyle/>
                    <a:p>
                      <a:pPr algn="l"/>
                      <a:r>
                        <a:rPr sz="1100" b="0" i="0">
                          <a:solidFill>
                            <a:srgbClr val="1E2430"/>
                          </a:solidFill>
                          <a:latin typeface="Calibri"/>
                          <a:ea typeface="Calibri"/>
                          <a:cs typeface="Calibri"/>
                        </a:rPr>
                        <a:t>• Cài đặt chuẩn xác 100%, hội tụ sâu tiệm cận 0
• 50D Rastrigin/Griewank đạt nghiệm 0 tuyệt đối
• Rosenbrock là thách thức tự nhiên (~5,6 / 26,2 / 46,6)</a:t>
                      </a:r>
                    </a:p>
                  </a:txBody>
                  <a:tcPr marL="73152" marR="73152" marT="36576" marB="36576" anchor="ctr">
                    <a:solidFill>
                      <a:srgbClr val="F5F7FB"/>
                    </a:solidFill>
                  </a:tcPr>
                </a:tc>
                <a:tc>
                  <a:txBody>
                    <a:bodyPr/>
                    <a:lstStyle/>
                    <a:p>
                      <a:pPr algn="l"/>
                      <a:r>
                        <a:rPr sz="1100" b="0" i="0">
                          <a:solidFill>
                            <a:srgbClr val="1E2430"/>
                          </a:solidFill>
                          <a:latin typeface="Calibri"/>
                          <a:ea typeface="Calibri"/>
                          <a:cs typeface="Calibri"/>
                        </a:rPr>
                        <a:t>• Lê Quang Duy: Thiết kế khung DBO &amp; tích hợp
• Hồ Trung Cương: Cài đặt 4 hành vi sinh tồn
• Đặng Nguyễn Minh Đăng: Benchmark &amp; Runner</a:t>
                      </a:r>
                    </a:p>
                  </a:txBody>
                  <a:tcPr marL="73152" marR="73152" marT="36576" marB="36576" anchor="ctr">
                    <a:solidFill>
                      <a:srgbClr val="F5F7FB"/>
                    </a:solidFill>
                  </a:tcPr>
                </a:tc>
              </a:tr>
              <a:tr h="1325880">
                <a:tc>
                  <a:txBody>
                    <a:bodyPr/>
                    <a:lstStyle/>
                    <a:p>
                      <a:pPr algn="ctr"/>
                      <a:r>
                        <a:rPr sz="1100" b="1" i="0">
                          <a:solidFill>
                            <a:srgbClr val="1E2430"/>
                          </a:solidFill>
                          <a:latin typeface="Calibri"/>
                          <a:ea typeface="Calibri"/>
                          <a:cs typeface="Calibri"/>
                        </a:rPr>
                        <a:t>Tuần 5–6</a:t>
                      </a:r>
                    </a:p>
                  </a:txBody>
                  <a:tcPr marL="73152" marR="73152" marT="36576" marB="36576" anchor="ctr">
                    <a:solidFill>
                      <a:srgbClr val="FFFFFF"/>
                    </a:solidFill>
                  </a:tcPr>
                </a:tc>
                <a:tc>
                  <a:txBody>
                    <a:bodyPr/>
                    <a:lstStyle/>
                    <a:p>
                      <a:pPr algn="l"/>
                      <a:r>
                        <a:rPr sz="1100" b="0" i="0">
                          <a:solidFill>
                            <a:srgbClr val="1E2430"/>
                          </a:solidFill>
                          <a:latin typeface="Calibri"/>
                          <a:ea typeface="Calibri"/>
                          <a:cs typeface="Calibri"/>
                        </a:rPr>
                        <a:t>IDBO cải tiến (Improved DBO)
• Giám sát độ đa dạng quần thể (Diversity)
• Kích hoạt Perturbation &amp; Random Restart</a:t>
                      </a:r>
                    </a:p>
                  </a:txBody>
                  <a:tcPr marL="73152" marR="73152" marT="36576" marB="36576" anchor="ctr">
                    <a:solidFill>
                      <a:srgbClr val="FFFFFF"/>
                    </a:solidFill>
                  </a:tcPr>
                </a:tc>
                <a:tc>
                  <a:txBody>
                    <a:bodyPr/>
                    <a:lstStyle/>
                    <a:p>
                      <a:pPr algn="l"/>
                      <a:r>
                        <a:rPr sz="1100" b="0" i="0">
                          <a:solidFill>
                            <a:srgbClr val="1E2430"/>
                          </a:solidFill>
                          <a:latin typeface="Calibri"/>
                          <a:ea typeface="Calibri"/>
                          <a:cs typeface="Calibri"/>
                        </a:rPr>
                        <a:t>• 18/18 cấu hình Hòa theo ngưỡng 1% (Mean)
• Bảo toàn nghiệm, không làm chậm hội tụ tự nhiên
• Thời gian thực thi tăng 15–20% do đánh giá lại cá thể</a:t>
                      </a:r>
                    </a:p>
                  </a:txBody>
                  <a:tcPr marL="73152" marR="73152" marT="36576" marB="36576" anchor="ctr">
                    <a:solidFill>
                      <a:srgbClr val="FFFFFF"/>
                    </a:solidFill>
                  </a:tcPr>
                </a:tc>
                <a:tc>
                  <a:txBody>
                    <a:bodyPr/>
                    <a:lstStyle/>
                    <a:p>
                      <a:pPr algn="l"/>
                      <a:r>
                        <a:rPr sz="1100" b="0" i="0">
                          <a:solidFill>
                            <a:srgbClr val="1E2430"/>
                          </a:solidFill>
                          <a:latin typeface="Calibri"/>
                          <a:ea typeface="Calibri"/>
                          <a:cs typeface="Calibri"/>
                        </a:rPr>
                        <a:t>• Lê Quang Duy: Tích hợp module IDBO
• Hồ Trung Cương: Cài đặt Diversity &amp; Restart
• Đặng Nguyễn Minh Đăng: Thí nghiệm so sánh</a:t>
                      </a:r>
                    </a:p>
                  </a:txBody>
                  <a:tcPr marL="73152" marR="73152" marT="36576" marB="36576" anchor="ctr">
                    <a:solidFill>
                      <a:srgbClr val="FFFFFF"/>
                    </a:solidFill>
                  </a:tcPr>
                </a:tc>
              </a:tr>
            </a:tbl>
          </a:graphicData>
        </a:graphic>
      </p:graphicFrame>
      <p:sp>
        <p:nvSpPr>
          <p:cNvPr id="27" name="Rectangle 26"/>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Tổng quan đề tài</a:t>
            </a:r>
          </a:p>
        </p:txBody>
      </p:sp>
      <p:sp>
        <p:nvSpPr>
          <p:cNvPr id="29" name="TextBox 28"/>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 / 31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lnSpc>
                <a:spcPct val="100000"/>
              </a:lnSpc>
              <a:spcAft>
                <a:spcPts val="0"/>
              </a:spcAft>
            </a:pPr>
            <a:r>
              <a:rPr sz="1800" b="1" i="0">
                <a:solidFill>
                  <a:srgbClr val="D9822B"/>
                </a:solidFill>
                <a:latin typeface="Calibri"/>
                <a:ea typeface="Calibri"/>
                <a:cs typeface="Calibri"/>
              </a:rPr>
              <a:t>GIAI ĐOẠN 1</a:t>
            </a:r>
          </a:p>
        </p:txBody>
      </p:sp>
      <p:sp>
        <p:nvSpPr>
          <p:cNvPr id="5" name="TextBox 4"/>
          <p:cNvSpPr txBox="1"/>
          <p:nvPr/>
        </p:nvSpPr>
        <p:spPr>
          <a:xfrm>
            <a:off x="1005840" y="2560320"/>
            <a:ext cx="10058400" cy="1097280"/>
          </a:xfrm>
          <a:prstGeom prst="rect">
            <a:avLst/>
          </a:prstGeom>
          <a:noFill/>
        </p:spPr>
        <p:txBody>
          <a:bodyPr wrap="square" anchor="t" lIns="0" rIns="0" tIns="0" bIns="0">
            <a:spAutoFit/>
          </a:bodyPr>
          <a:lstStyle/>
          <a:p>
            <a:pPr algn="l">
              <a:lnSpc>
                <a:spcPct val="100000"/>
              </a:lnSpc>
              <a:spcAft>
                <a:spcPts val="0"/>
              </a:spcAft>
            </a:pPr>
            <a:r>
              <a:rPr sz="3800" b="1" i="0">
                <a:solidFill>
                  <a:srgbClr val="FFFFFF"/>
                </a:solidFill>
                <a:latin typeface="Calibri"/>
                <a:ea typeface="Calibri"/>
                <a:cs typeface="Calibri"/>
              </a:rPr>
              <a:t>Tuần 4 — Kiểm chứng thuật toán DBO gốc</a:t>
            </a:r>
          </a:p>
        </p:txBody>
      </p:sp>
      <p:sp>
        <p:nvSpPr>
          <p:cNvPr id="6" name="TextBox 5"/>
          <p:cNvSpPr txBox="1"/>
          <p:nvPr/>
        </p:nvSpPr>
        <p:spPr>
          <a:xfrm>
            <a:off x="1005840" y="3794760"/>
            <a:ext cx="9875520" cy="731520"/>
          </a:xfrm>
          <a:prstGeom prst="rect">
            <a:avLst/>
          </a:prstGeom>
          <a:noFill/>
        </p:spPr>
        <p:txBody>
          <a:bodyPr wrap="square" anchor="t" lIns="0" rIns="0" tIns="0" bIns="0">
            <a:spAutoFit/>
          </a:bodyPr>
          <a:lstStyle/>
          <a:p>
            <a:pPr algn="l">
              <a:lnSpc>
                <a:spcPct val="100000"/>
              </a:lnSpc>
              <a:spcAft>
                <a:spcPts val="0"/>
              </a:spcAft>
            </a:pPr>
            <a:r>
              <a:rPr sz="1700" b="0" i="0">
                <a:solidFill>
                  <a:srgbClr val="CFDAEE"/>
                </a:solidFill>
                <a:latin typeface="Calibri"/>
                <a:ea typeface="Calibri"/>
                <a:cs typeface="Calibri"/>
              </a:rPr>
              <a:t>Đánh giá hiệu năng và tính ổn định trên 6 hàm benchmark chuẩn liên tục, không gian dim = 10, 30, 50, quy mô M = 30 lượt chạy độc lập.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THIẾT LẬP THỰC NGHIỆM</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Thông số cấu hình DBO gốc &amp; Phân công nhiệm vụ</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80160"/>
            <a:ext cx="5623560" cy="425196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40"/>
            <a:ext cx="5029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1B2A4A"/>
                </a:solidFill>
                <a:latin typeface="Calibri"/>
                <a:ea typeface="Calibri"/>
                <a:cs typeface="Calibri"/>
              </a:rPr>
              <a:t>THÔNG SỐ CẤU HÌNH THỰC NGHIỆM</a:t>
            </a:r>
          </a:p>
        </p:txBody>
      </p:sp>
      <p:sp>
        <p:nvSpPr>
          <p:cNvPr id="8" name="TextBox 7"/>
          <p:cNvSpPr txBox="1"/>
          <p:nvPr/>
        </p:nvSpPr>
        <p:spPr>
          <a:xfrm>
            <a:off x="777240" y="1810512"/>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Thuật toán</a:t>
            </a:r>
          </a:p>
        </p:txBody>
      </p:sp>
      <p:sp>
        <p:nvSpPr>
          <p:cNvPr id="9" name="TextBox 8"/>
          <p:cNvSpPr txBox="1"/>
          <p:nvPr/>
        </p:nvSpPr>
        <p:spPr>
          <a:xfrm>
            <a:off x="2788920" y="1810512"/>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Dung Beetle Optimizer gốc (Xue &amp; Shen, 2023)</a:t>
            </a:r>
          </a:p>
        </p:txBody>
      </p:sp>
      <p:sp>
        <p:nvSpPr>
          <p:cNvPr id="10" name="TextBox 9"/>
          <p:cNvSpPr txBox="1"/>
          <p:nvPr/>
        </p:nvSpPr>
        <p:spPr>
          <a:xfrm>
            <a:off x="777240" y="2212848"/>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Không gian thử nghiệm</a:t>
            </a:r>
          </a:p>
        </p:txBody>
      </p:sp>
      <p:sp>
        <p:nvSpPr>
          <p:cNvPr id="11" name="TextBox 10"/>
          <p:cNvSpPr txBox="1"/>
          <p:nvPr/>
        </p:nvSpPr>
        <p:spPr>
          <a:xfrm>
            <a:off x="2788920" y="2212848"/>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6 hàm chuẩn: 3 đơn điệu + 3 đa cực trị</a:t>
            </a:r>
          </a:p>
        </p:txBody>
      </p:sp>
      <p:sp>
        <p:nvSpPr>
          <p:cNvPr id="12" name="TextBox 11"/>
          <p:cNvSpPr txBox="1"/>
          <p:nvPr/>
        </p:nvSpPr>
        <p:spPr>
          <a:xfrm>
            <a:off x="777240" y="2615184"/>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Số chiều tìm kiếm</a:t>
            </a:r>
          </a:p>
        </p:txBody>
      </p:sp>
      <p:sp>
        <p:nvSpPr>
          <p:cNvPr id="13" name="TextBox 12"/>
          <p:cNvSpPr txBox="1"/>
          <p:nvPr/>
        </p:nvSpPr>
        <p:spPr>
          <a:xfrm>
            <a:off x="2788920" y="2615184"/>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dim = 10, 30, 50</a:t>
            </a:r>
          </a:p>
        </p:txBody>
      </p:sp>
      <p:sp>
        <p:nvSpPr>
          <p:cNvPr id="14" name="TextBox 13"/>
          <p:cNvSpPr txBox="1"/>
          <p:nvPr/>
        </p:nvSpPr>
        <p:spPr>
          <a:xfrm>
            <a:off x="777240" y="3017520"/>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Kích thước quần thể</a:t>
            </a:r>
          </a:p>
        </p:txBody>
      </p:sp>
      <p:sp>
        <p:nvSpPr>
          <p:cNvPr id="15" name="TextBox 14"/>
          <p:cNvSpPr txBox="1"/>
          <p:nvPr/>
        </p:nvSpPr>
        <p:spPr>
          <a:xfrm>
            <a:off x="2788920" y="3017520"/>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n_agents = 30 cá thể bọ hung</a:t>
            </a:r>
          </a:p>
        </p:txBody>
      </p:sp>
      <p:sp>
        <p:nvSpPr>
          <p:cNvPr id="16" name="TextBox 15"/>
          <p:cNvSpPr txBox="1"/>
          <p:nvPr/>
        </p:nvSpPr>
        <p:spPr>
          <a:xfrm>
            <a:off x="777240" y="3419856"/>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Số vòng lặp tối đa</a:t>
            </a:r>
          </a:p>
        </p:txBody>
      </p:sp>
      <p:sp>
        <p:nvSpPr>
          <p:cNvPr id="17" name="TextBox 16"/>
          <p:cNvSpPr txBox="1"/>
          <p:nvPr/>
        </p:nvSpPr>
        <p:spPr>
          <a:xfrm>
            <a:off x="2788920" y="3419856"/>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max_iter = 500 vòng</a:t>
            </a:r>
          </a:p>
        </p:txBody>
      </p:sp>
      <p:sp>
        <p:nvSpPr>
          <p:cNvPr id="18" name="TextBox 17"/>
          <p:cNvSpPr txBox="1"/>
          <p:nvPr/>
        </p:nvSpPr>
        <p:spPr>
          <a:xfrm>
            <a:off x="777240" y="3822191"/>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Số lần lặp độc lập</a:t>
            </a:r>
          </a:p>
        </p:txBody>
      </p:sp>
      <p:sp>
        <p:nvSpPr>
          <p:cNvPr id="19" name="TextBox 18"/>
          <p:cNvSpPr txBox="1"/>
          <p:nvPr/>
        </p:nvSpPr>
        <p:spPr>
          <a:xfrm>
            <a:off x="2788920" y="3822191"/>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M = 30 lần chạy (seed 0 → 29)</a:t>
            </a:r>
          </a:p>
        </p:txBody>
      </p:sp>
      <p:sp>
        <p:nvSpPr>
          <p:cNvPr id="20" name="TextBox 19"/>
          <p:cNvSpPr txBox="1"/>
          <p:nvPr/>
        </p:nvSpPr>
        <p:spPr>
          <a:xfrm>
            <a:off x="777240" y="4224528"/>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Tổng số lượt chạy</a:t>
            </a:r>
          </a:p>
        </p:txBody>
      </p:sp>
      <p:sp>
        <p:nvSpPr>
          <p:cNvPr id="21" name="TextBox 20"/>
          <p:cNvSpPr txBox="1"/>
          <p:nvPr/>
        </p:nvSpPr>
        <p:spPr>
          <a:xfrm>
            <a:off x="2788920" y="4224528"/>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6 hàm × 3 dim × 30 runs = 540 lượt chạy</a:t>
            </a:r>
          </a:p>
        </p:txBody>
      </p:sp>
      <p:sp>
        <p:nvSpPr>
          <p:cNvPr id="22" name="TextBox 21"/>
          <p:cNvSpPr txBox="1"/>
          <p:nvPr/>
        </p:nvSpPr>
        <p:spPr>
          <a:xfrm>
            <a:off x="777240" y="4626864"/>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Tiêu chí đánh giá</a:t>
            </a:r>
          </a:p>
        </p:txBody>
      </p:sp>
      <p:sp>
        <p:nvSpPr>
          <p:cNvPr id="23" name="TextBox 22"/>
          <p:cNvSpPr txBox="1"/>
          <p:nvPr/>
        </p:nvSpPr>
        <p:spPr>
          <a:xfrm>
            <a:off x="2788920" y="4626864"/>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Cực tiểu hóa (Minimize) — tiệm cận giá trị 0</a:t>
            </a:r>
          </a:p>
        </p:txBody>
      </p:sp>
      <p:sp>
        <p:nvSpPr>
          <p:cNvPr id="24" name="Rounded Rectangle 23"/>
          <p:cNvSpPr/>
          <p:nvPr/>
        </p:nvSpPr>
        <p:spPr>
          <a:xfrm>
            <a:off x="6355080" y="1280160"/>
            <a:ext cx="5330952" cy="425196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1463040"/>
            <a:ext cx="4754880" cy="320040"/>
          </a:xfrm>
          <a:prstGeom prst="rect">
            <a:avLst/>
          </a:prstGeom>
          <a:noFill/>
        </p:spPr>
        <p:txBody>
          <a:bodyPr wrap="square" anchor="t" lIns="0" rIns="0" tIns="0" bIns="0">
            <a:spAutoFit/>
          </a:bodyPr>
          <a:lstStyle/>
          <a:p>
            <a:pPr algn="l">
              <a:lnSpc>
                <a:spcPct val="100000"/>
              </a:lnSpc>
              <a:spcAft>
                <a:spcPts val="0"/>
              </a:spcAft>
            </a:pPr>
            <a:r>
              <a:rPr sz="1250" b="1" i="0">
                <a:solidFill>
                  <a:srgbClr val="1B2A4A"/>
                </a:solidFill>
                <a:latin typeface="Calibri"/>
                <a:ea typeface="Calibri"/>
                <a:cs typeface="Calibri"/>
              </a:rPr>
              <a:t>PHÂN CÔNG TRÁCH NHIỆM &amp; NGUỒN DỮ LIỆU</a:t>
            </a:r>
          </a:p>
        </p:txBody>
      </p:sp>
      <p:sp>
        <p:nvSpPr>
          <p:cNvPr id="26" name="TextBox 25"/>
          <p:cNvSpPr txBox="1"/>
          <p:nvPr/>
        </p:nvSpPr>
        <p:spPr>
          <a:xfrm>
            <a:off x="6629400" y="1810512"/>
            <a:ext cx="4800600" cy="438912"/>
          </a:xfrm>
          <a:prstGeom prst="rect">
            <a:avLst/>
          </a:prstGeom>
          <a:noFill/>
        </p:spPr>
        <p:txBody>
          <a:bodyPr wrap="square" anchor="t" lIns="0" rIns="0" tIns="0" bIns="0">
            <a:spAutoFit/>
          </a:bodyPr>
          <a:lstStyle/>
          <a:p>
            <a:pPr algn="l">
              <a:lnSpc>
                <a:spcPct val="105000"/>
              </a:lnSpc>
              <a:spcAft>
                <a:spcPts val="0"/>
              </a:spcAft>
            </a:pPr>
            <a:r>
              <a:rPr sz="1250" b="1" i="0">
                <a:solidFill>
                  <a:srgbClr val="1B2A4A"/>
                </a:solidFill>
                <a:latin typeface="Calibri"/>
                <a:ea typeface="Calibri"/>
                <a:cs typeface="Calibri"/>
              </a:rPr>
              <a:t>Lê Quang Duy — Trưởng nhóm
</a:t>
            </a:r>
            <a:r>
              <a:rPr sz="1150" b="0" i="0">
                <a:solidFill>
                  <a:srgbClr val="5A6478"/>
                </a:solidFill>
                <a:latin typeface="Calibri"/>
                <a:ea typeface="Calibri"/>
                <a:cs typeface="Calibri"/>
              </a:rPr>
              <a:t>Thiết kế kiến trúc DBO, module hóa vòng lặp và tích hợp</a:t>
            </a:r>
          </a:p>
        </p:txBody>
      </p:sp>
      <p:sp>
        <p:nvSpPr>
          <p:cNvPr id="27" name="TextBox 26"/>
          <p:cNvSpPr txBox="1"/>
          <p:nvPr/>
        </p:nvSpPr>
        <p:spPr>
          <a:xfrm>
            <a:off x="6629400" y="2404872"/>
            <a:ext cx="4800600" cy="438912"/>
          </a:xfrm>
          <a:prstGeom prst="rect">
            <a:avLst/>
          </a:prstGeom>
          <a:noFill/>
        </p:spPr>
        <p:txBody>
          <a:bodyPr wrap="square" anchor="t" lIns="0" rIns="0" tIns="0" bIns="0">
            <a:spAutoFit/>
          </a:bodyPr>
          <a:lstStyle/>
          <a:p>
            <a:pPr algn="l">
              <a:lnSpc>
                <a:spcPct val="105000"/>
              </a:lnSpc>
              <a:spcAft>
                <a:spcPts val="0"/>
              </a:spcAft>
            </a:pPr>
            <a:r>
              <a:rPr sz="1250" b="1" i="0">
                <a:solidFill>
                  <a:srgbClr val="1B2A4A"/>
                </a:solidFill>
                <a:latin typeface="Calibri"/>
                <a:ea typeface="Calibri"/>
                <a:cs typeface="Calibri"/>
              </a:rPr>
              <a:t>Hồ Trung Cương
</a:t>
            </a:r>
            <a:r>
              <a:rPr sz="1150" b="0" i="0">
                <a:solidFill>
                  <a:srgbClr val="5A6478"/>
                </a:solidFill>
                <a:latin typeface="Calibri"/>
                <a:ea typeface="Calibri"/>
                <a:cs typeface="Calibri"/>
              </a:rPr>
              <a:t>Cài đặt 4 hành vi sinh tồn (lăn phân, sinh sản, kiếm ăn, cướp đoạt)</a:t>
            </a:r>
          </a:p>
        </p:txBody>
      </p:sp>
      <p:sp>
        <p:nvSpPr>
          <p:cNvPr id="28" name="TextBox 27"/>
          <p:cNvSpPr txBox="1"/>
          <p:nvPr/>
        </p:nvSpPr>
        <p:spPr>
          <a:xfrm>
            <a:off x="6629400" y="2999232"/>
            <a:ext cx="4800600" cy="438912"/>
          </a:xfrm>
          <a:prstGeom prst="rect">
            <a:avLst/>
          </a:prstGeom>
          <a:noFill/>
        </p:spPr>
        <p:txBody>
          <a:bodyPr wrap="square" anchor="t" lIns="0" rIns="0" tIns="0" bIns="0">
            <a:spAutoFit/>
          </a:bodyPr>
          <a:lstStyle/>
          <a:p>
            <a:pPr algn="l">
              <a:lnSpc>
                <a:spcPct val="105000"/>
              </a:lnSpc>
              <a:spcAft>
                <a:spcPts val="0"/>
              </a:spcAft>
            </a:pPr>
            <a:r>
              <a:rPr sz="1250" b="1" i="0">
                <a:solidFill>
                  <a:srgbClr val="1B2A4A"/>
                </a:solidFill>
                <a:latin typeface="Calibri"/>
                <a:ea typeface="Calibri"/>
                <a:cs typeface="Calibri"/>
              </a:rPr>
              <a:t>Đặng Nguyễn Minh Đăng
</a:t>
            </a:r>
            <a:r>
              <a:rPr sz="1150" b="0" i="0">
                <a:solidFill>
                  <a:srgbClr val="5A6478"/>
                </a:solidFill>
                <a:latin typeface="Calibri"/>
                <a:ea typeface="Calibri"/>
                <a:cs typeface="Calibri"/>
              </a:rPr>
              <a:t>Cài đặt bộ 6 hàm benchmark toán học và tự động hóa thực nghiệm</a:t>
            </a:r>
          </a:p>
        </p:txBody>
      </p:sp>
      <p:sp>
        <p:nvSpPr>
          <p:cNvPr id="29" name="Rectangle 28"/>
          <p:cNvSpPr/>
          <p:nvPr/>
        </p:nvSpPr>
        <p:spPr>
          <a:xfrm>
            <a:off x="6629400" y="3611880"/>
            <a:ext cx="480060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3794760"/>
            <a:ext cx="4800600" cy="1554480"/>
          </a:xfrm>
          <a:prstGeom prst="rect">
            <a:avLst/>
          </a:prstGeom>
          <a:noFill/>
        </p:spPr>
        <p:txBody>
          <a:bodyPr wrap="square" anchor="t" lIns="0" rIns="0" tIns="0" bIns="0">
            <a:spAutoFit/>
          </a:bodyPr>
          <a:lstStyle/>
          <a:p>
            <a:pPr algn="l">
              <a:lnSpc>
                <a:spcPct val="115000"/>
              </a:lnSpc>
              <a:spcAft>
                <a:spcPts val="0"/>
              </a:spcAft>
            </a:pPr>
            <a:r>
              <a:rPr sz="1150" b="1" i="0">
                <a:solidFill>
                  <a:srgbClr val="1B2A4A"/>
                </a:solidFill>
                <a:latin typeface="Calibri"/>
                <a:ea typeface="Calibri"/>
                <a:cs typeface="Calibri"/>
              </a:rPr>
              <a:t>Ghi chú phương pháp luận:
</a:t>
            </a:r>
          </a:p>
          <a:p>
            <a:pPr algn="l">
              <a:lnSpc>
                <a:spcPct val="115000"/>
              </a:lnSpc>
              <a:spcAft>
                <a:spcPts val="0"/>
              </a:spcAft>
            </a:pPr>
            <a:r>
              <a:rPr sz="1100" b="0" i="0">
                <a:solidFill>
                  <a:srgbClr val="1E2430"/>
                </a:solidFill>
                <a:latin typeface="Calibri"/>
                <a:ea typeface="Calibri"/>
                <a:cs typeface="Calibri"/>
              </a:rPr>
              <a:t>Bộ hàm thử nghiệm bao gồm: Sphere, Schwefel 2.22, Rosenbrock (đơn điệu); Rastrigin, Ackley, Griewank (đa cực trị). Dữ liệu gốc được lưu trữ chi tiết tại experiments/week4/*.csv.</a:t>
            </a:r>
          </a:p>
        </p:txBody>
      </p:sp>
      <p:sp>
        <p:nvSpPr>
          <p:cNvPr id="31" name="Rectangle 3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Thiết lập thực nghiệm</a:t>
            </a:r>
          </a:p>
        </p:txBody>
      </p:sp>
      <p:sp>
        <p:nvSpPr>
          <p:cNvPr id="33" name="TextBox 3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4 / 31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KẾT QUẢ THỰC NGHIỆM</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Kết quả tối ưu trung bình (Mean Fitness) của DBO gốc</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80160"/>
          <a:ext cx="11183112" cy="3730752"/>
        </p:xfrm>
        <a:graphic>
          <a:graphicData uri="http://schemas.openxmlformats.org/drawingml/2006/table">
            <a:tbl>
              <a:tblPr firstRow="1" bandRow="1">
                <a:tableStyleId>{5C22544A-7EE6-4342-B048-85BDC9FD1C3A}</a:tableStyleId>
              </a:tblPr>
              <a:tblGrid>
                <a:gridCol w="1920240"/>
                <a:gridCol w="1691640"/>
                <a:gridCol w="1691640"/>
                <a:gridCol w="1691640"/>
                <a:gridCol w="4187952"/>
              </a:tblGrid>
              <a:tr h="438912">
                <a:tc>
                  <a:txBody>
                    <a:bodyPr/>
                    <a:lstStyle/>
                    <a:p>
                      <a:pPr algn="l"/>
                      <a:r>
                        <a:rPr sz="1200" b="1" i="0">
                          <a:solidFill>
                            <a:srgbClr val="FFFFFF"/>
                          </a:solidFill>
                          <a:latin typeface="Calibri"/>
                          <a:ea typeface="Calibri"/>
                          <a:cs typeface="Calibri"/>
                        </a:rPr>
                        <a:t>Hàm mục tiêu</a:t>
                      </a:r>
                    </a:p>
                  </a:txBody>
                  <a:tcPr marL="73152" marR="73152" marT="36576" marB="36576" anchor="ctr">
                    <a:solidFill>
                      <a:srgbClr val="1B2A4A"/>
                    </a:solidFill>
                  </a:tcPr>
                </a:tc>
                <a:tc>
                  <a:txBody>
                    <a:bodyPr/>
                    <a:lstStyle/>
                    <a:p>
                      <a:pPr algn="ctr"/>
                      <a:r>
                        <a:rPr sz="1200" b="1" i="0">
                          <a:solidFill>
                            <a:srgbClr val="FFFFFF"/>
                          </a:solidFill>
                          <a:latin typeface="Calibri"/>
                          <a:ea typeface="Calibri"/>
                          <a:cs typeface="Calibri"/>
                        </a:rPr>
                        <a:t>dim = 10</a:t>
                      </a:r>
                    </a:p>
                  </a:txBody>
                  <a:tcPr marL="73152" marR="73152" marT="36576" marB="36576" anchor="ctr">
                    <a:solidFill>
                      <a:srgbClr val="1B2A4A"/>
                    </a:solidFill>
                  </a:tcPr>
                </a:tc>
                <a:tc>
                  <a:txBody>
                    <a:bodyPr/>
                    <a:lstStyle/>
                    <a:p>
                      <a:pPr algn="ctr"/>
                      <a:r>
                        <a:rPr sz="1200" b="1" i="0">
                          <a:solidFill>
                            <a:srgbClr val="FFFFFF"/>
                          </a:solidFill>
                          <a:latin typeface="Calibri"/>
                          <a:ea typeface="Calibri"/>
                          <a:cs typeface="Calibri"/>
                        </a:rPr>
                        <a:t>dim = 30</a:t>
                      </a:r>
                    </a:p>
                  </a:txBody>
                  <a:tcPr marL="73152" marR="73152" marT="36576" marB="36576" anchor="ctr">
                    <a:solidFill>
                      <a:srgbClr val="1B2A4A"/>
                    </a:solidFill>
                  </a:tcPr>
                </a:tc>
                <a:tc>
                  <a:txBody>
                    <a:bodyPr/>
                    <a:lstStyle/>
                    <a:p>
                      <a:pPr algn="ctr"/>
                      <a:r>
                        <a:rPr sz="1200" b="1" i="0">
                          <a:solidFill>
                            <a:srgbClr val="FFFFFF"/>
                          </a:solidFill>
                          <a:latin typeface="Calibri"/>
                          <a:ea typeface="Calibri"/>
                          <a:cs typeface="Calibri"/>
                        </a:rPr>
                        <a:t>dim = 50</a:t>
                      </a:r>
                    </a:p>
                  </a:txBody>
                  <a:tcPr marL="73152" marR="73152" marT="36576" marB="36576" anchor="ctr">
                    <a:solidFill>
                      <a:srgbClr val="1B2A4A"/>
                    </a:solidFill>
                  </a:tcPr>
                </a:tc>
                <a:tc>
                  <a:txBody>
                    <a:bodyPr/>
                    <a:lstStyle/>
                    <a:p>
                      <a:pPr algn="l"/>
                      <a:r>
                        <a:rPr sz="1200" b="1" i="0">
                          <a:solidFill>
                            <a:srgbClr val="FFFFFF"/>
                          </a:solidFill>
                          <a:latin typeface="Calibri"/>
                          <a:ea typeface="Calibri"/>
                          <a:cs typeface="Calibri"/>
                        </a:rPr>
                        <a:t>Đặc điểm hội tụ &amp; Phân tích</a:t>
                      </a:r>
                    </a:p>
                  </a:txBody>
                  <a:tcPr marL="73152" marR="73152" marT="36576" marB="36576" anchor="ctr">
                    <a:solidFill>
                      <a:srgbClr val="1B2A4A"/>
                    </a:solidFill>
                  </a:tcPr>
                </a:tc>
              </a:tr>
              <a:tr h="548640">
                <a:tc>
                  <a:txBody>
                    <a:bodyPr/>
                    <a:lstStyle/>
                    <a:p>
                      <a:pPr algn="l"/>
                      <a:r>
                        <a:rPr sz="1200" b="1" i="0">
                          <a:solidFill>
                            <a:srgbClr val="1E2430"/>
                          </a:solidFill>
                          <a:latin typeface="Calibri"/>
                          <a:ea typeface="Calibri"/>
                          <a:cs typeface="Calibri"/>
                        </a:rPr>
                        <a:t>Sphere</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3,49e-153</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2,06e-158</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5,70e-168</a:t>
                      </a:r>
                    </a:p>
                  </a:txBody>
                  <a:tcPr marL="73152" marR="73152" marT="36576" marB="36576" anchor="ctr">
                    <a:solidFill>
                      <a:srgbClr val="F5F7FB"/>
                    </a:solidFill>
                  </a:tcPr>
                </a:tc>
                <a:tc>
                  <a:txBody>
                    <a:bodyPr/>
                    <a:lstStyle/>
                    <a:p>
                      <a:pPr algn="l"/>
                      <a:r>
                        <a:rPr sz="1200" b="0" i="0">
                          <a:solidFill>
                            <a:srgbClr val="1E2430"/>
                          </a:solidFill>
                          <a:latin typeface="Calibri"/>
                          <a:ea typeface="Calibri"/>
                          <a:cs typeface="Calibri"/>
                        </a:rPr>
                        <a:t>Hội tụ sâu tiệm cận 0 tuyệt đối — Cài đặt chuẩn xác</a:t>
                      </a:r>
                    </a:p>
                  </a:txBody>
                  <a:tcPr marL="73152" marR="73152" marT="36576" marB="36576" anchor="ctr">
                    <a:solidFill>
                      <a:srgbClr val="F5F7FB"/>
                    </a:solidFill>
                  </a:tcPr>
                </a:tc>
              </a:tr>
              <a:tr h="548640">
                <a:tc>
                  <a:txBody>
                    <a:bodyPr/>
                    <a:lstStyle/>
                    <a:p>
                      <a:pPr algn="l"/>
                      <a:r>
                        <a:rPr sz="1200" b="1" i="0">
                          <a:solidFill>
                            <a:srgbClr val="1E2430"/>
                          </a:solidFill>
                          <a:latin typeface="Calibri"/>
                          <a:ea typeface="Calibri"/>
                          <a:cs typeface="Calibri"/>
                        </a:rPr>
                        <a:t>Schwefel 2.22</a:t>
                      </a:r>
                    </a:p>
                  </a:txBody>
                  <a:tcPr marL="73152" marR="73152" marT="36576" marB="36576" anchor="ctr">
                    <a:solidFill>
                      <a:srgbClr val="FFFFFF"/>
                    </a:solidFill>
                  </a:tcPr>
                </a:tc>
                <a:tc>
                  <a:txBody>
                    <a:bodyPr/>
                    <a:lstStyle/>
                    <a:p>
                      <a:pPr algn="ctr"/>
                      <a:r>
                        <a:rPr sz="1200" b="0" i="0">
                          <a:solidFill>
                            <a:srgbClr val="1E2430"/>
                          </a:solidFill>
                          <a:latin typeface="Calibri"/>
                          <a:ea typeface="Calibri"/>
                          <a:cs typeface="Calibri"/>
                        </a:rPr>
                        <a:t>6,70e-82</a:t>
                      </a:r>
                    </a:p>
                  </a:txBody>
                  <a:tcPr marL="73152" marR="73152" marT="36576" marB="36576" anchor="ctr">
                    <a:solidFill>
                      <a:srgbClr val="FFFFFF"/>
                    </a:solidFill>
                  </a:tcPr>
                </a:tc>
                <a:tc>
                  <a:txBody>
                    <a:bodyPr/>
                    <a:lstStyle/>
                    <a:p>
                      <a:pPr algn="ctr"/>
                      <a:r>
                        <a:rPr sz="1200" b="0" i="0">
                          <a:solidFill>
                            <a:srgbClr val="1E2430"/>
                          </a:solidFill>
                          <a:latin typeface="Calibri"/>
                          <a:ea typeface="Calibri"/>
                          <a:cs typeface="Calibri"/>
                        </a:rPr>
                        <a:t>3,60e-87</a:t>
                      </a:r>
                    </a:p>
                  </a:txBody>
                  <a:tcPr marL="73152" marR="73152" marT="36576" marB="36576" anchor="ctr">
                    <a:solidFill>
                      <a:srgbClr val="FFFFFF"/>
                    </a:solidFill>
                  </a:tcPr>
                </a:tc>
                <a:tc>
                  <a:txBody>
                    <a:bodyPr/>
                    <a:lstStyle/>
                    <a:p>
                      <a:pPr algn="ctr"/>
                      <a:r>
                        <a:rPr sz="1200" b="0" i="0">
                          <a:solidFill>
                            <a:srgbClr val="1E2430"/>
                          </a:solidFill>
                          <a:latin typeface="Calibri"/>
                          <a:ea typeface="Calibri"/>
                          <a:cs typeface="Calibri"/>
                        </a:rPr>
                        <a:t>4,18e-82</a:t>
                      </a:r>
                    </a:p>
                  </a:txBody>
                  <a:tcPr marL="73152" marR="73152" marT="36576" marB="36576" anchor="ctr">
                    <a:solidFill>
                      <a:srgbClr val="FFFFFF"/>
                    </a:solidFill>
                  </a:tcPr>
                </a:tc>
                <a:tc>
                  <a:txBody>
                    <a:bodyPr/>
                    <a:lstStyle/>
                    <a:p>
                      <a:pPr algn="l"/>
                      <a:r>
                        <a:rPr sz="1200" b="0" i="0">
                          <a:solidFill>
                            <a:srgbClr val="1E2430"/>
                          </a:solidFill>
                          <a:latin typeface="Calibri"/>
                          <a:ea typeface="Calibri"/>
                          <a:cs typeface="Calibri"/>
                        </a:rPr>
                        <a:t>Hội tụ sâu ở mọi số chiều — Tìm kiếm cục bộ cực mạnh</a:t>
                      </a:r>
                    </a:p>
                  </a:txBody>
                  <a:tcPr marL="73152" marR="73152" marT="36576" marB="36576" anchor="ctr">
                    <a:solidFill>
                      <a:srgbClr val="FFFFFF"/>
                    </a:solidFill>
                  </a:tcPr>
                </a:tc>
              </a:tr>
              <a:tr h="548640">
                <a:tc>
                  <a:txBody>
                    <a:bodyPr/>
                    <a:lstStyle/>
                    <a:p>
                      <a:pPr algn="l"/>
                      <a:r>
                        <a:rPr sz="1200" b="1" i="0">
                          <a:solidFill>
                            <a:srgbClr val="1E2430"/>
                          </a:solidFill>
                          <a:latin typeface="Calibri"/>
                          <a:ea typeface="Calibri"/>
                          <a:cs typeface="Calibri"/>
                        </a:rPr>
                        <a:t>Rosenbrock</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5,61</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26,23</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46,65</a:t>
                      </a:r>
                    </a:p>
                  </a:txBody>
                  <a:tcPr marL="73152" marR="73152" marT="36576" marB="36576" anchor="ctr">
                    <a:solidFill>
                      <a:srgbClr val="F5F7FB"/>
                    </a:solidFill>
                  </a:tcPr>
                </a:tc>
                <a:tc>
                  <a:txBody>
                    <a:bodyPr/>
                    <a:lstStyle/>
                    <a:p>
                      <a:pPr algn="l"/>
                      <a:r>
                        <a:rPr sz="1200" b="1" i="0">
                          <a:solidFill>
                            <a:srgbClr val="B83228"/>
                          </a:solidFill>
                          <a:latin typeface="Calibri"/>
                          <a:ea typeface="Calibri"/>
                          <a:cs typeface="Calibri"/>
                        </a:rPr>
                        <a:t>Thách thức do thung lũng cong — Giá trị tỉ lệ thuận số chiều</a:t>
                      </a:r>
                    </a:p>
                  </a:txBody>
                  <a:tcPr marL="73152" marR="73152" marT="36576" marB="36576" anchor="ctr">
                    <a:solidFill>
                      <a:srgbClr val="F5F7FB"/>
                    </a:solidFill>
                  </a:tcPr>
                </a:tc>
              </a:tr>
              <a:tr h="548640">
                <a:tc>
                  <a:txBody>
                    <a:bodyPr/>
                    <a:lstStyle/>
                    <a:p>
                      <a:pPr algn="l"/>
                      <a:r>
                        <a:rPr sz="1200" b="1" i="0">
                          <a:solidFill>
                            <a:srgbClr val="1E2430"/>
                          </a:solidFill>
                          <a:latin typeface="Calibri"/>
                          <a:ea typeface="Calibri"/>
                          <a:cs typeface="Calibri"/>
                        </a:rPr>
                        <a:t>Rastrigin</a:t>
                      </a:r>
                    </a:p>
                  </a:txBody>
                  <a:tcPr marL="73152" marR="73152" marT="36576" marB="36576" anchor="ctr">
                    <a:solidFill>
                      <a:srgbClr val="FFFFFF"/>
                    </a:solidFill>
                  </a:tcPr>
                </a:tc>
                <a:tc>
                  <a:txBody>
                    <a:bodyPr/>
                    <a:lstStyle/>
                    <a:p>
                      <a:pPr algn="ctr"/>
                      <a:r>
                        <a:rPr sz="1200" b="0" i="0">
                          <a:solidFill>
                            <a:srgbClr val="1E2430"/>
                          </a:solidFill>
                          <a:latin typeface="Calibri"/>
                          <a:ea typeface="Calibri"/>
                          <a:cs typeface="Calibri"/>
                        </a:rPr>
                        <a:t>2,74</a:t>
                      </a:r>
                    </a:p>
                  </a:txBody>
                  <a:tcPr marL="73152" marR="73152" marT="36576" marB="36576" anchor="ctr">
                    <a:solidFill>
                      <a:srgbClr val="FFFFFF"/>
                    </a:solidFill>
                  </a:tcPr>
                </a:tc>
                <a:tc>
                  <a:txBody>
                    <a:bodyPr/>
                    <a:lstStyle/>
                    <a:p>
                      <a:pPr algn="ctr"/>
                      <a:r>
                        <a:rPr sz="1200" b="0" i="0">
                          <a:solidFill>
                            <a:srgbClr val="1E2430"/>
                          </a:solidFill>
                          <a:latin typeface="Calibri"/>
                          <a:ea typeface="Calibri"/>
                          <a:cs typeface="Calibri"/>
                        </a:rPr>
                        <a:t>4,85</a:t>
                      </a:r>
                    </a:p>
                  </a:txBody>
                  <a:tcPr marL="73152" marR="73152" marT="36576" marB="36576" anchor="ctr">
                    <a:solidFill>
                      <a:srgbClr val="FFFFFF"/>
                    </a:solidFill>
                  </a:tcPr>
                </a:tc>
                <a:tc>
                  <a:txBody>
                    <a:bodyPr/>
                    <a:lstStyle/>
                    <a:p>
                      <a:pPr algn="ctr"/>
                      <a:r>
                        <a:rPr sz="1200" b="1" i="0">
                          <a:solidFill>
                            <a:srgbClr val="217A4B"/>
                          </a:solidFill>
                          <a:latin typeface="Calibri"/>
                          <a:ea typeface="Calibri"/>
                          <a:cs typeface="Calibri"/>
                        </a:rPr>
                        <a:t>0</a:t>
                      </a:r>
                    </a:p>
                  </a:txBody>
                  <a:tcPr marL="73152" marR="73152" marT="36576" marB="36576" anchor="ctr">
                    <a:solidFill>
                      <a:srgbClr val="FFFFFF"/>
                    </a:solidFill>
                  </a:tcPr>
                </a:tc>
                <a:tc>
                  <a:txBody>
                    <a:bodyPr/>
                    <a:lstStyle/>
                    <a:p>
                      <a:pPr algn="l"/>
                      <a:r>
                        <a:rPr sz="1200" b="0" i="0">
                          <a:solidFill>
                            <a:srgbClr val="1E2430"/>
                          </a:solidFill>
                          <a:latin typeface="Calibri"/>
                          <a:ea typeface="Calibri"/>
                          <a:cs typeface="Calibri"/>
                        </a:rPr>
                        <a:t>Đa cực trị: chiều 50 đạt tuyệt đối 0 trên 100% runs (30/30 seed)</a:t>
                      </a:r>
                    </a:p>
                  </a:txBody>
                  <a:tcPr marL="73152" marR="73152" marT="36576" marB="36576" anchor="ctr">
                    <a:solidFill>
                      <a:srgbClr val="FFFFFF"/>
                    </a:solidFill>
                  </a:tcPr>
                </a:tc>
              </a:tr>
              <a:tr h="548640">
                <a:tc>
                  <a:txBody>
                    <a:bodyPr/>
                    <a:lstStyle/>
                    <a:p>
                      <a:pPr algn="l"/>
                      <a:r>
                        <a:rPr sz="1200" b="1" i="0">
                          <a:solidFill>
                            <a:srgbClr val="1E2430"/>
                          </a:solidFill>
                          <a:latin typeface="Calibri"/>
                          <a:ea typeface="Calibri"/>
                          <a:cs typeface="Calibri"/>
                        </a:rPr>
                        <a:t>Ackley</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4,44e-16</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4,44e-16</a:t>
                      </a:r>
                    </a:p>
                  </a:txBody>
                  <a:tcPr marL="73152" marR="73152" marT="36576" marB="36576" anchor="ctr">
                    <a:solidFill>
                      <a:srgbClr val="F5F7FB"/>
                    </a:solidFill>
                  </a:tcPr>
                </a:tc>
                <a:tc>
                  <a:txBody>
                    <a:bodyPr/>
                    <a:lstStyle/>
                    <a:p>
                      <a:pPr algn="ctr"/>
                      <a:r>
                        <a:rPr sz="1200" b="0" i="0">
                          <a:solidFill>
                            <a:srgbClr val="1E2430"/>
                          </a:solidFill>
                          <a:latin typeface="Calibri"/>
                          <a:ea typeface="Calibri"/>
                          <a:cs typeface="Calibri"/>
                        </a:rPr>
                        <a:t>4,44e-16</a:t>
                      </a:r>
                    </a:p>
                  </a:txBody>
                  <a:tcPr marL="73152" marR="73152" marT="36576" marB="36576" anchor="ctr">
                    <a:solidFill>
                      <a:srgbClr val="F5F7FB"/>
                    </a:solidFill>
                  </a:tcPr>
                </a:tc>
                <a:tc>
                  <a:txBody>
                    <a:bodyPr/>
                    <a:lstStyle/>
                    <a:p>
                      <a:pPr algn="l"/>
                      <a:r>
                        <a:rPr sz="1200" b="0" i="0">
                          <a:solidFill>
                            <a:srgbClr val="1E2430"/>
                          </a:solidFill>
                          <a:latin typeface="Calibri"/>
                          <a:ea typeface="Calibri"/>
                          <a:cs typeface="Calibri"/>
                        </a:rPr>
                        <a:t>Đạt giới hạn sai số dấu phẩy động (machine epsilon), độc lập số chiều</a:t>
                      </a:r>
                    </a:p>
                  </a:txBody>
                  <a:tcPr marL="73152" marR="73152" marT="36576" marB="36576" anchor="ctr">
                    <a:solidFill>
                      <a:srgbClr val="F5F7FB"/>
                    </a:solidFill>
                  </a:tcPr>
                </a:tc>
              </a:tr>
              <a:tr h="548640">
                <a:tc>
                  <a:txBody>
                    <a:bodyPr/>
                    <a:lstStyle/>
                    <a:p>
                      <a:pPr algn="l"/>
                      <a:r>
                        <a:rPr sz="1200" b="1" i="0">
                          <a:solidFill>
                            <a:srgbClr val="1E2430"/>
                          </a:solidFill>
                          <a:latin typeface="Calibri"/>
                          <a:ea typeface="Calibri"/>
                          <a:cs typeface="Calibri"/>
                        </a:rPr>
                        <a:t>Griewank</a:t>
                      </a:r>
                    </a:p>
                  </a:txBody>
                  <a:tcPr marL="73152" marR="73152" marT="36576" marB="36576" anchor="ctr">
                    <a:solidFill>
                      <a:srgbClr val="FFFFFF"/>
                    </a:solidFill>
                  </a:tcPr>
                </a:tc>
                <a:tc>
                  <a:txBody>
                    <a:bodyPr/>
                    <a:lstStyle/>
                    <a:p>
                      <a:pPr algn="ctr"/>
                      <a:r>
                        <a:rPr sz="1200" b="0" i="0">
                          <a:solidFill>
                            <a:srgbClr val="1E2430"/>
                          </a:solidFill>
                          <a:latin typeface="Calibri"/>
                          <a:ea typeface="Calibri"/>
                          <a:cs typeface="Calibri"/>
                        </a:rPr>
                        <a:t>0,0349</a:t>
                      </a:r>
                    </a:p>
                  </a:txBody>
                  <a:tcPr marL="73152" marR="73152" marT="36576" marB="36576" anchor="ctr">
                    <a:solidFill>
                      <a:srgbClr val="FFFFFF"/>
                    </a:solidFill>
                  </a:tcPr>
                </a:tc>
                <a:tc>
                  <a:txBody>
                    <a:bodyPr/>
                    <a:lstStyle/>
                    <a:p>
                      <a:pPr algn="ctr"/>
                      <a:r>
                        <a:rPr sz="1200" b="1" i="0">
                          <a:solidFill>
                            <a:srgbClr val="217A4B"/>
                          </a:solidFill>
                          <a:latin typeface="Calibri"/>
                          <a:ea typeface="Calibri"/>
                          <a:cs typeface="Calibri"/>
                        </a:rPr>
                        <a:t>0</a:t>
                      </a:r>
                    </a:p>
                  </a:txBody>
                  <a:tcPr marL="73152" marR="73152" marT="36576" marB="36576" anchor="ctr">
                    <a:solidFill>
                      <a:srgbClr val="FFFFFF"/>
                    </a:solidFill>
                  </a:tcPr>
                </a:tc>
                <a:tc>
                  <a:txBody>
                    <a:bodyPr/>
                    <a:lstStyle/>
                    <a:p>
                      <a:pPr algn="ctr"/>
                      <a:r>
                        <a:rPr sz="1200" b="1" i="0">
                          <a:solidFill>
                            <a:srgbClr val="217A4B"/>
                          </a:solidFill>
                          <a:latin typeface="Calibri"/>
                          <a:ea typeface="Calibri"/>
                          <a:cs typeface="Calibri"/>
                        </a:rPr>
                        <a:t>0</a:t>
                      </a:r>
                    </a:p>
                  </a:txBody>
                  <a:tcPr marL="73152" marR="73152" marT="36576" marB="36576" anchor="ctr">
                    <a:solidFill>
                      <a:srgbClr val="FFFFFF"/>
                    </a:solidFill>
                  </a:tcPr>
                </a:tc>
                <a:tc>
                  <a:txBody>
                    <a:bodyPr/>
                    <a:lstStyle/>
                    <a:p>
                      <a:pPr algn="l"/>
                      <a:r>
                        <a:rPr sz="1200" b="0" i="0">
                          <a:solidFill>
                            <a:srgbClr val="1E2430"/>
                          </a:solidFill>
                          <a:latin typeface="Calibri"/>
                          <a:ea typeface="Calibri"/>
                          <a:cs typeface="Calibri"/>
                        </a:rPr>
                        <a:t>Chiều 10 kẹt cực trị nhẹ; chiều 30 và 50 giải quyết triệt để về 0</a:t>
                      </a:r>
                    </a:p>
                  </a:txBody>
                  <a:tcPr marL="73152" marR="73152" marT="36576" marB="36576" anchor="ctr">
                    <a:solidFill>
                      <a:srgbClr val="FFFFFF"/>
                    </a:solidFill>
                  </a:tcPr>
                </a:tc>
              </a:tr>
            </a:tbl>
          </a:graphicData>
        </a:graphic>
      </p:graphicFrame>
      <p:sp>
        <p:nvSpPr>
          <p:cNvPr id="7" name="Rounded Rectangle 6"/>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D9822B"/>
                </a:solidFill>
                <a:latin typeface="Calibri"/>
                <a:ea typeface="Calibri"/>
                <a:cs typeface="Calibri"/>
              </a:rPr>
              <a:t>💡 Đánh giá tổng quát:  </a:t>
            </a:r>
          </a:p>
          <a:p>
            <a:pPr algn="l">
              <a:lnSpc>
                <a:spcPct val="112000"/>
              </a:lnSpc>
              <a:spcAft>
                <a:spcPts val="0"/>
              </a:spcAft>
            </a:pPr>
            <a:r>
              <a:rPr sz="1200" b="0" i="0">
                <a:solidFill>
                  <a:srgbClr val="1E2430"/>
                </a:solidFill>
                <a:latin typeface="Calibri"/>
                <a:ea typeface="Calibri"/>
                <a:cs typeface="Calibri"/>
              </a:rPr>
              <a:t>DBO giải quyết xuất sắc 5/6 bài toán benchmark (tiệm cận và đạt 0 tuyệt đối). Rosenbrock là điểm nghẽn điển hình của các giải thuật bầy đàn do thung lũng parabol hẹp, phản ánh hoàn toàn chính xác đặc tính tự nhiên của DBO gốc mà không có sai lệch mã nguồn.</a:t>
            </a:r>
          </a:p>
        </p:txBody>
      </p:sp>
      <p:sp>
        <p:nvSpPr>
          <p:cNvPr id="9" name="Rectangle 8"/>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Bảng kết quả Mean Fitness</a:t>
            </a:r>
          </a:p>
        </p:txBody>
      </p:sp>
      <p:sp>
        <p:nvSpPr>
          <p:cNvPr id="11" name="TextBox 10"/>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5 / 31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ĐỒ THỊ HỘI TỤ (CONVERGENCE)</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Đặc tính hội tụ của DBO trên không gian 10 chiều (dim = 10)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dim1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6 Hàm Benchmark · dim = 10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Sphere và Schwefel đạt mức hội tụ sâu từ 1e-80 đến 1e-150. Ackley chạm sàn sai số dấu phẩy động 4,44e-16 sau ~100 vòng lặp đầu tiên. Rosenbrock hội tụ nhanh về vùng đáy phẳng ~5,6 rồi dừng lại do địa hình thung lũng hẹp.</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Hội tụ dim = 10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6 / 31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ĐỒ THỊ HỘI TỤ (CONVERGENCE)</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Đặc tính hội tụ của DBO trên không gian 30 chiều (dim = 30)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dim3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6 Hàm Benchmark · dim = 30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Griewank đạt nghiệm tối ưu tuyệt đối 0 (đường cong log đứt đoạn khi về 0). Rastrigin có 29/30 seed tìm kiếm tối ưu rất tốt, chỉ 1/30 seed bị kẹt cục bộ ở ~115 kéo lệch giá trị trung bình. Rosenbrock duy trì mức nghiệm trung bình ~26,23.</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Hội tụ dim = 30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7 / 31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ĐỒ THỊ HỘI TỤ (CONVERGENCE)</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Đặc tính hội tụ của DBO trên không gian 50 chiều (dim = 50)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dim5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6 Hàm Benchmark · dim = 50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Cả Rastrigin và Griewank đạt nghiệm 0 tuyệt đối trên 100% số lần chạy (30/30 runs). Điều này chứng minh khả năng mở rộng không gian tìm kiếm đa cực trị của DBO cực kỳ mạnh mẽ ở số chiều lớn. Rosenbrock hội tụ ổn định quanh mức 46,65.</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Hội tụ dim = 50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8 / 31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ĐỒ THỊ HỘI TỤ ĐA CHIỀU</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đường cong hội tụ DBO chồng 3 mức chiều (10, 30, 50D)</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multidim.png"/>
          <p:cNvPicPr>
            <a:picLocks noChangeAspect="1"/>
          </p:cNvPicPr>
          <p:nvPr/>
        </p:nvPicPr>
        <p:blipFill>
          <a:blip r:embed="rId2"/>
          <a:stretch>
            <a:fillRect/>
          </a:stretch>
        </p:blipFill>
        <p:spPr>
          <a:xfrm>
            <a:off x="2644623" y="1188720"/>
            <a:ext cx="6899706"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Đối sánh 10D vs 30D vs 50D</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Trực quan hóa sự tác động của số chiều lên tốc độ tìm kiếm: ở Sphere, chiều cao cần nhiều vòng lặp hơn để gom quần thể; trong khi ở Rastrigin và Griewank, số chiều lớn (50D) lại giúp thuật toán tránh bẫy cục bộ tốt hơn nhờ không gian lăn phân rộng mở.</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Hội tụ đa chiều</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9 / 31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PHÂN BỐ NGHIỆM (BOXPLOT)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Phân bố sai số nghiệm DBO qua biểu đồ Boxplot (dim = 10)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boxplot_dim1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Phân bố 30 runs · dim = 10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Ackley co lại thành một vạch ngang duy nhất (30/30 runs cùng giá trị 4,44e-16), minh chứng độ ổn định tuyệt đối. Sphere và Schwefel có hộp sát tiệm cận 0 với phương sai cực bé. Rosenbrock có dải tứ phân vị rất hẹp (5,3 đến 5,7).</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Boxplot dim = 10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10 / 31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PHÂN BỐ NGHIỆM (BOXPLOT)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Phân bố sai số nghiệm DBO qua biểu đồ Boxplot (dim = 30)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boxplot_dim3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Phân bố 30 runs · dim = 30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Griewank hoàn toàn không còn hộp do toàn bộ 30 runs đều đạt 0. Rastrigin xuất hiện 1 ngoại lai (outlier) ở mức ~115 (giải thích cho std = 21). Rosenbrock có phân bố hộp tập trung chặt chẽ quanh giá trị 26,2.</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Boxplot dim = 30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11 / 31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PHÂN BỐ NGHIỆM (BOXPLOT)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Phân bố sai số nghiệm DBO qua biểu đồ Boxplot (dim = 50)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boxplot_dim5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Phân bố 30 runs · dim = 50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Cả Rastrigin và Griewank đều không xuất hiện trên thang đo log do toàn bộ kết quả đạt 0 tuyệt đối. Sphere có phương sai std = 0 trên máy tính do sai số underflow dấu phẩy động (đều tiệm cận 1e-168). Hộp Rosenbrock dao động ổn định trong khoảng 46 đến 47.</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Boxplot dim = 50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12 / 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PHÂN BỐ NGHIỆM ĐA CHIỀU</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phân bố sai số Boxplot chồng 3 mức chiều (10, 30, 50D)</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boxplot_multidim.png"/>
          <p:cNvPicPr>
            <a:picLocks noChangeAspect="1"/>
          </p:cNvPicPr>
          <p:nvPr/>
        </p:nvPicPr>
        <p:blipFill>
          <a:blip r:embed="rId2"/>
          <a:stretch>
            <a:fillRect/>
          </a:stretch>
        </p:blipFill>
        <p:spPr>
          <a:xfrm>
            <a:off x="2644623" y="1188720"/>
            <a:ext cx="6899706" cy="4160520"/>
          </a:xfrm>
          <a:prstGeom prst="rect">
            <a:avLst/>
          </a:prstGeom>
        </p:spPr>
      </p:pic>
      <p:sp>
        <p:nvSpPr>
          <p:cNvPr id="7" name="Rounded Rectangle 6"/>
          <p:cNvSpPr/>
          <p:nvPr/>
        </p:nvSpPr>
        <p:spPr>
          <a:xfrm>
            <a:off x="502920" y="1170432"/>
            <a:ext cx="2011680" cy="29260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Đối sánh phân bố 3 mức chiều</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B2A4A"/>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Thể hiện rõ quy luật: các hàm đa cực trị (Rastrigin, Griewank) cải thiện độ ổn định khi tăng số chiều; ngược lại hàm thung lũng Rosenbrock có sai số trung vị tăng tịnh tiến theo số chiều (5,6 → 26,2 → 46,6).</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Boxplot đa chiều</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13 / 31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B2A4A"/>
                </a:solidFill>
                <a:latin typeface="Calibri"/>
                <a:ea typeface="Calibri"/>
                <a:cs typeface="Calibri"/>
              </a:rPr>
              <a:t>ĐÁNH GIÁ GIAI ĐOẠN 1</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Tổng kết đánh giá hiệu năng DBO gốc ở Tuần 4</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27080" cy="4754880"/>
          </a:xfrm>
          <a:prstGeom prst="rect">
            <a:avLst/>
          </a:prstGeom>
          <a:noFill/>
        </p:spPr>
        <p:txBody>
          <a:bodyPr wrap="square">
            <a:spAutoFit/>
          </a:bodyPr>
          <a:lstStyle/>
          <a:p>
            <a:pPr>
              <a:spcAft>
                <a:spcPts val="1400"/>
              </a:spcAft>
            </a:pPr>
            <a:r>
              <a:rPr sz="1400" b="1" i="0">
                <a:solidFill>
                  <a:srgbClr val="1B2A4A"/>
                </a:solidFill>
                <a:latin typeface="Calibri"/>
                <a:ea typeface="Calibri"/>
                <a:cs typeface="Calibri"/>
              </a:rPr>
              <a:t>▪  </a:t>
            </a:r>
            <a:r>
              <a:rPr sz="1400" b="1" i="0">
                <a:solidFill>
                  <a:srgbClr val="1B2A4A"/>
                </a:solidFill>
                <a:latin typeface="Calibri"/>
                <a:ea typeface="Calibri"/>
                <a:cs typeface="Calibri"/>
              </a:rPr>
              <a:t>Cài đặt chuẩn xác 100% theo bài báo gốc:  </a:t>
            </a:r>
            <a:r>
              <a:rPr sz="1400" b="0" i="0">
                <a:solidFill>
                  <a:srgbClr val="1E2430"/>
                </a:solidFill>
                <a:latin typeface="Calibri"/>
                <a:ea typeface="Calibri"/>
                <a:cs typeface="Calibri"/>
              </a:rPr>
              <a:t>Kết quả thực nghiệm trên 6 hàm toán học khớp hoàn toàn với công bố của Xue &amp; Shen (2023), đạt mức tối ưu sâu trên Sphere, Schwefel, Ackley, Griewank.</a:t>
            </a:r>
          </a:p>
          <a:p>
            <a:pPr>
              <a:spcAft>
                <a:spcPts val="1400"/>
              </a:spcAft>
            </a:pPr>
            <a:r>
              <a:rPr sz="1400" b="1" i="0">
                <a:solidFill>
                  <a:srgbClr val="1B2A4A"/>
                </a:solidFill>
                <a:latin typeface="Calibri"/>
                <a:ea typeface="Calibri"/>
                <a:cs typeface="Calibri"/>
              </a:rPr>
              <a:t>▪  </a:t>
            </a:r>
            <a:r>
              <a:rPr sz="1400" b="1" i="0">
                <a:solidFill>
                  <a:srgbClr val="1B2A4A"/>
                </a:solidFill>
                <a:latin typeface="Calibri"/>
                <a:ea typeface="Calibri"/>
                <a:cs typeface="Calibri"/>
              </a:rPr>
              <a:t>Khả năng tối ưu đa cực trị xuất sắc ở chiều cao:  </a:t>
            </a:r>
            <a:r>
              <a:rPr sz="1400" b="0" i="0">
                <a:solidFill>
                  <a:srgbClr val="1E2430"/>
                </a:solidFill>
                <a:latin typeface="Calibri"/>
                <a:ea typeface="Calibri"/>
                <a:cs typeface="Calibri"/>
              </a:rPr>
              <a:t>Trên các địa hình gồ ghề nhiều bẫy như Rastrigin và Griewank ở dim=50, quần thể bọ hung khám phá không gian hiệu quả và đạt nghiệm 0 tuyệt đối trên 100% runs.</a:t>
            </a:r>
          </a:p>
          <a:p>
            <a:pPr>
              <a:spcAft>
                <a:spcPts val="1400"/>
              </a:spcAft>
            </a:pPr>
            <a:r>
              <a:rPr sz="1400" b="1" i="0">
                <a:solidFill>
                  <a:srgbClr val="1B2A4A"/>
                </a:solidFill>
                <a:latin typeface="Calibri"/>
                <a:ea typeface="Calibri"/>
                <a:cs typeface="Calibri"/>
              </a:rPr>
              <a:t>▪  </a:t>
            </a:r>
            <a:r>
              <a:rPr sz="1400" b="1" i="0">
                <a:solidFill>
                  <a:srgbClr val="1B2A4A"/>
                </a:solidFill>
                <a:latin typeface="Calibri"/>
                <a:ea typeface="Calibri"/>
                <a:cs typeface="Calibri"/>
              </a:rPr>
              <a:t>Đặc tính thung lũng hẹp là giới hạn tự nhiên của DBO:  </a:t>
            </a:r>
            <a:r>
              <a:rPr sz="1400" b="0" i="0">
                <a:solidFill>
                  <a:srgbClr val="1E2430"/>
                </a:solidFill>
                <a:latin typeface="Calibri"/>
                <a:ea typeface="Calibri"/>
                <a:cs typeface="Calibri"/>
              </a:rPr>
              <a:t>Hàm Rosenbrock có sai số tăng tuyến tính theo số chiều (~5,6 ở 10D → ~46,6 ở 50D). Đây là bài toán thách thức chung của các giải thuật bầy đàn do đáy phẳng cong hẹp.</a:t>
            </a:r>
          </a:p>
          <a:p>
            <a:pPr>
              <a:spcAft>
                <a:spcPts val="1400"/>
              </a:spcAft>
            </a:pPr>
            <a:r>
              <a:rPr sz="1400" b="1" i="0">
                <a:solidFill>
                  <a:srgbClr val="1B2A4A"/>
                </a:solidFill>
                <a:latin typeface="Calibri"/>
                <a:ea typeface="Calibri"/>
                <a:cs typeface="Calibri"/>
              </a:rPr>
              <a:t>▪  </a:t>
            </a:r>
            <a:r>
              <a:rPr sz="1400" b="1" i="0">
                <a:solidFill>
                  <a:srgbClr val="1B2A4A"/>
                </a:solidFill>
                <a:latin typeface="Calibri"/>
                <a:ea typeface="Calibri"/>
                <a:cs typeface="Calibri"/>
              </a:rPr>
              <a:t>Nền tảng vững chắc cho giai đoạn cải tiến IDBO:  </a:t>
            </a:r>
            <a:r>
              <a:rPr sz="1400" b="0" i="0">
                <a:solidFill>
                  <a:srgbClr val="1E2430"/>
                </a:solidFill>
                <a:latin typeface="Calibri"/>
                <a:ea typeface="Calibri"/>
                <a:cs typeface="Calibri"/>
              </a:rPr>
              <a:t>Mã nguồn được module hóa rõ ràng giữa thuật toán và bài toán đánh giá, sẵn sàng để bổ sung cơ chế kiểm soát đa dạng quần thể ở Tuần 5–6.</a:t>
            </a:r>
          </a:p>
        </p:txBody>
      </p:sp>
      <p:sp>
        <p:nvSpPr>
          <p:cNvPr id="7" name="Rectangle 6"/>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4 · Tổng kết giai đoạn 1</a:t>
            </a:r>
          </a:p>
        </p:txBody>
      </p:sp>
      <p:sp>
        <p:nvSpPr>
          <p:cNvPr id="9" name="TextBox 8"/>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14 / 31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011680"/>
            <a:ext cx="10058400" cy="457200"/>
          </a:xfrm>
          <a:prstGeom prst="rect">
            <a:avLst/>
          </a:prstGeom>
          <a:noFill/>
        </p:spPr>
        <p:txBody>
          <a:bodyPr wrap="square" anchor="t" lIns="0" rIns="0" tIns="0" bIns="0">
            <a:spAutoFit/>
          </a:bodyPr>
          <a:lstStyle/>
          <a:p>
            <a:pPr algn="l">
              <a:lnSpc>
                <a:spcPct val="100000"/>
              </a:lnSpc>
              <a:spcAft>
                <a:spcPts val="0"/>
              </a:spcAft>
            </a:pPr>
            <a:r>
              <a:rPr sz="1800" b="1" i="0">
                <a:solidFill>
                  <a:srgbClr val="D9822B"/>
                </a:solidFill>
                <a:latin typeface="Calibri"/>
                <a:ea typeface="Calibri"/>
                <a:cs typeface="Calibri"/>
              </a:rPr>
              <a:t>GIAI ĐOẠN 2</a:t>
            </a:r>
          </a:p>
        </p:txBody>
      </p:sp>
      <p:sp>
        <p:nvSpPr>
          <p:cNvPr id="5" name="TextBox 4"/>
          <p:cNvSpPr txBox="1"/>
          <p:nvPr/>
        </p:nvSpPr>
        <p:spPr>
          <a:xfrm>
            <a:off x="1005840" y="2560320"/>
            <a:ext cx="10058400" cy="1097280"/>
          </a:xfrm>
          <a:prstGeom prst="rect">
            <a:avLst/>
          </a:prstGeom>
          <a:noFill/>
        </p:spPr>
        <p:txBody>
          <a:bodyPr wrap="square" anchor="t" lIns="0" rIns="0" tIns="0" bIns="0">
            <a:spAutoFit/>
          </a:bodyPr>
          <a:lstStyle/>
          <a:p>
            <a:pPr algn="l">
              <a:lnSpc>
                <a:spcPct val="100000"/>
              </a:lnSpc>
              <a:spcAft>
                <a:spcPts val="0"/>
              </a:spcAft>
            </a:pPr>
            <a:r>
              <a:rPr sz="3800" b="1" i="0">
                <a:solidFill>
                  <a:srgbClr val="FFFFFF"/>
                </a:solidFill>
                <a:latin typeface="Calibri"/>
                <a:ea typeface="Calibri"/>
                <a:cs typeface="Calibri"/>
              </a:rPr>
              <a:t>Tuần 5–6 — Thuật toán cải tiến IDBO</a:t>
            </a:r>
          </a:p>
        </p:txBody>
      </p:sp>
      <p:sp>
        <p:nvSpPr>
          <p:cNvPr id="6" name="TextBox 5"/>
          <p:cNvSpPr txBox="1"/>
          <p:nvPr/>
        </p:nvSpPr>
        <p:spPr>
          <a:xfrm>
            <a:off x="1005840" y="3794760"/>
            <a:ext cx="9875520" cy="731520"/>
          </a:xfrm>
          <a:prstGeom prst="rect">
            <a:avLst/>
          </a:prstGeom>
          <a:noFill/>
        </p:spPr>
        <p:txBody>
          <a:bodyPr wrap="square" anchor="t" lIns="0" rIns="0" tIns="0" bIns="0">
            <a:spAutoFit/>
          </a:bodyPr>
          <a:lstStyle/>
          <a:p>
            <a:pPr algn="l">
              <a:lnSpc>
                <a:spcPct val="100000"/>
              </a:lnSpc>
              <a:spcAft>
                <a:spcPts val="0"/>
              </a:spcAft>
            </a:pPr>
            <a:r>
              <a:rPr sz="1700" b="0" i="0">
                <a:solidFill>
                  <a:srgbClr val="CFDAEE"/>
                </a:solidFill>
                <a:latin typeface="Calibri"/>
                <a:ea typeface="Calibri"/>
                <a:cs typeface="Calibri"/>
              </a:rPr>
              <a:t>Tích hợp cơ chế kiểm soát đa dạng quần thể (Diversity), Gaussian Perturbation và Random Restart; so sánh đối chứng toàn diện với DBO gốc trên 1.080 lượt chạy.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THIẾT LẬP CẢI TIẾN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Cơ chế cải tiến IDBO &amp; Cấu hình thí nghiệm đối chứng</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80160"/>
            <a:ext cx="5623560" cy="425196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463040"/>
            <a:ext cx="50292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1D6F6F"/>
                </a:solidFill>
                <a:latin typeface="Calibri"/>
                <a:ea typeface="Calibri"/>
                <a:cs typeface="Calibri"/>
              </a:rPr>
              <a:t>THÔNG SỐ CẤU HÌNH THỰC NGHIỆM</a:t>
            </a:r>
          </a:p>
        </p:txBody>
      </p:sp>
      <p:sp>
        <p:nvSpPr>
          <p:cNvPr id="8" name="TextBox 7"/>
          <p:cNvSpPr txBox="1"/>
          <p:nvPr/>
        </p:nvSpPr>
        <p:spPr>
          <a:xfrm>
            <a:off x="777240" y="1810512"/>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Kế thừa nền tảng</a:t>
            </a:r>
          </a:p>
        </p:txBody>
      </p:sp>
      <p:sp>
        <p:nvSpPr>
          <p:cNvPr id="9" name="TextBox 8"/>
          <p:cNvSpPr txBox="1"/>
          <p:nvPr/>
        </p:nvSpPr>
        <p:spPr>
          <a:xfrm>
            <a:off x="2788920" y="1810512"/>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Giữ nguyên 4 hành vi sinh tồn và giao diện optimize()</a:t>
            </a:r>
          </a:p>
        </p:txBody>
      </p:sp>
      <p:sp>
        <p:nvSpPr>
          <p:cNvPr id="10" name="TextBox 9"/>
          <p:cNvSpPr txBox="1"/>
          <p:nvPr/>
        </p:nvSpPr>
        <p:spPr>
          <a:xfrm>
            <a:off x="777240" y="2212848"/>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Kiểm soát đa dạng</a:t>
            </a:r>
          </a:p>
        </p:txBody>
      </p:sp>
      <p:sp>
        <p:nvSpPr>
          <p:cNvPr id="11" name="TextBox 10"/>
          <p:cNvSpPr txBox="1"/>
          <p:nvPr/>
        </p:nvSpPr>
        <p:spPr>
          <a:xfrm>
            <a:off x="2788920" y="2212848"/>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Tính chỉ số Diversity sau mỗi vòng lặp</a:t>
            </a:r>
          </a:p>
        </p:txBody>
      </p:sp>
      <p:sp>
        <p:nvSpPr>
          <p:cNvPr id="12" name="TextBox 11"/>
          <p:cNvSpPr txBox="1"/>
          <p:nvPr/>
        </p:nvSpPr>
        <p:spPr>
          <a:xfrm>
            <a:off x="777240" y="2615184"/>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Ngưỡng kích hoạt</a:t>
            </a:r>
          </a:p>
        </p:txBody>
      </p:sp>
      <p:sp>
        <p:nvSpPr>
          <p:cNvPr id="13" name="TextBox 12"/>
          <p:cNvSpPr txBox="1"/>
          <p:nvPr/>
        </p:nvSpPr>
        <p:spPr>
          <a:xfrm>
            <a:off x="2788920" y="2615184"/>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Diversity &lt; 10⁻³ (phát hiện quần thể co cụm)</a:t>
            </a:r>
          </a:p>
        </p:txBody>
      </p:sp>
      <p:sp>
        <p:nvSpPr>
          <p:cNvPr id="14" name="TextBox 13"/>
          <p:cNvSpPr txBox="1"/>
          <p:nvPr/>
        </p:nvSpPr>
        <p:spPr>
          <a:xfrm>
            <a:off x="777240" y="3017520"/>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Cơ chế 1 (Perturbation)</a:t>
            </a:r>
          </a:p>
        </p:txBody>
      </p:sp>
      <p:sp>
        <p:nvSpPr>
          <p:cNvPr id="15" name="TextBox 14"/>
          <p:cNvSpPr txBox="1"/>
          <p:nvPr/>
        </p:nvSpPr>
        <p:spPr>
          <a:xfrm>
            <a:off x="2788920" y="3017520"/>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Bơm nhiễu Gauss vào 20% cá thể khi chưa trễ</a:t>
            </a:r>
          </a:p>
        </p:txBody>
      </p:sp>
      <p:sp>
        <p:nvSpPr>
          <p:cNvPr id="16" name="TextBox 15"/>
          <p:cNvSpPr txBox="1"/>
          <p:nvPr/>
        </p:nvSpPr>
        <p:spPr>
          <a:xfrm>
            <a:off x="777240" y="3419856"/>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Cơ chế 2 (Random Restart)</a:t>
            </a:r>
          </a:p>
        </p:txBody>
      </p:sp>
      <p:sp>
        <p:nvSpPr>
          <p:cNvPr id="17" name="TextBox 16"/>
          <p:cNvSpPr txBox="1"/>
          <p:nvPr/>
        </p:nvSpPr>
        <p:spPr>
          <a:xfrm>
            <a:off x="2788920" y="3419856"/>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Tái sinh ngẫu nhiên 25% cá thể tệ nhất trong [lb, ub]</a:t>
            </a:r>
          </a:p>
        </p:txBody>
      </p:sp>
      <p:sp>
        <p:nvSpPr>
          <p:cNvPr id="18" name="TextBox 17"/>
          <p:cNvSpPr txBox="1"/>
          <p:nvPr/>
        </p:nvSpPr>
        <p:spPr>
          <a:xfrm>
            <a:off x="777240" y="3822191"/>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Điều kiện Restart</a:t>
            </a:r>
          </a:p>
        </p:txBody>
      </p:sp>
      <p:sp>
        <p:nvSpPr>
          <p:cNvPr id="19" name="TextBox 18"/>
          <p:cNvSpPr txBox="1"/>
          <p:nvPr/>
        </p:nvSpPr>
        <p:spPr>
          <a:xfrm>
            <a:off x="2788920" y="3822191"/>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Độ trễ trì trệ Stagnation ≥ 25 vòng liên tiếp</a:t>
            </a:r>
          </a:p>
        </p:txBody>
      </p:sp>
      <p:sp>
        <p:nvSpPr>
          <p:cNvPr id="20" name="TextBox 19"/>
          <p:cNvSpPr txBox="1"/>
          <p:nvPr/>
        </p:nvSpPr>
        <p:spPr>
          <a:xfrm>
            <a:off x="777240" y="4224528"/>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Bảo toàn Elite</a:t>
            </a:r>
          </a:p>
        </p:txBody>
      </p:sp>
      <p:sp>
        <p:nvSpPr>
          <p:cNvPr id="21" name="TextBox 20"/>
          <p:cNvSpPr txBox="1"/>
          <p:nvPr/>
        </p:nvSpPr>
        <p:spPr>
          <a:xfrm>
            <a:off x="2788920" y="4224528"/>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Cá thể tốt nhất (n_elite = 1) luôn được bảo vệ tuyệt đối</a:t>
            </a:r>
          </a:p>
        </p:txBody>
      </p:sp>
      <p:sp>
        <p:nvSpPr>
          <p:cNvPr id="22" name="TextBox 21"/>
          <p:cNvSpPr txBox="1"/>
          <p:nvPr/>
        </p:nvSpPr>
        <p:spPr>
          <a:xfrm>
            <a:off x="777240" y="4626864"/>
            <a:ext cx="2011680" cy="320040"/>
          </a:xfrm>
          <a:prstGeom prst="rect">
            <a:avLst/>
          </a:prstGeom>
          <a:noFill/>
        </p:spPr>
        <p:txBody>
          <a:bodyPr wrap="square" anchor="t" lIns="0" rIns="0" tIns="0" bIns="0">
            <a:spAutoFit/>
          </a:bodyPr>
          <a:lstStyle/>
          <a:p>
            <a:pPr algn="l">
              <a:lnSpc>
                <a:spcPct val="100000"/>
              </a:lnSpc>
              <a:spcAft>
                <a:spcPts val="0"/>
              </a:spcAft>
            </a:pPr>
            <a:r>
              <a:rPr sz="1200" b="1" i="0">
                <a:solidFill>
                  <a:srgbClr val="1E2430"/>
                </a:solidFill>
                <a:latin typeface="Calibri"/>
                <a:ea typeface="Calibri"/>
                <a:cs typeface="Calibri"/>
              </a:rPr>
              <a:t>Quy mô đối chứng</a:t>
            </a:r>
          </a:p>
        </p:txBody>
      </p:sp>
      <p:sp>
        <p:nvSpPr>
          <p:cNvPr id="23" name="TextBox 22"/>
          <p:cNvSpPr txBox="1"/>
          <p:nvPr/>
        </p:nvSpPr>
        <p:spPr>
          <a:xfrm>
            <a:off x="2788920" y="4626864"/>
            <a:ext cx="3154680" cy="320040"/>
          </a:xfrm>
          <a:prstGeom prst="rect">
            <a:avLst/>
          </a:prstGeom>
          <a:noFill/>
        </p:spPr>
        <p:txBody>
          <a:bodyPr wrap="square" anchor="t" lIns="0" rIns="0" tIns="0" bIns="0">
            <a:spAutoFit/>
          </a:bodyPr>
          <a:lstStyle/>
          <a:p>
            <a:pPr algn="l">
              <a:lnSpc>
                <a:spcPct val="100000"/>
              </a:lnSpc>
              <a:spcAft>
                <a:spcPts val="0"/>
              </a:spcAft>
            </a:pPr>
            <a:r>
              <a:rPr sz="1200" b="0" i="0">
                <a:solidFill>
                  <a:srgbClr val="2D3E63"/>
                </a:solidFill>
                <a:latin typeface="Calibri"/>
                <a:ea typeface="Calibri"/>
                <a:cs typeface="Calibri"/>
              </a:rPr>
              <a:t>2 thuật toán × 6 hàm × 3 dim × 30 runs = 1.080 lượt</a:t>
            </a:r>
          </a:p>
        </p:txBody>
      </p:sp>
      <p:sp>
        <p:nvSpPr>
          <p:cNvPr id="24" name="Rounded Rectangle 23"/>
          <p:cNvSpPr/>
          <p:nvPr/>
        </p:nvSpPr>
        <p:spPr>
          <a:xfrm>
            <a:off x="6355080" y="1280160"/>
            <a:ext cx="5330952" cy="425196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29400" y="1463040"/>
            <a:ext cx="4754880" cy="320040"/>
          </a:xfrm>
          <a:prstGeom prst="rect">
            <a:avLst/>
          </a:prstGeom>
          <a:noFill/>
        </p:spPr>
        <p:txBody>
          <a:bodyPr wrap="square" anchor="t" lIns="0" rIns="0" tIns="0" bIns="0">
            <a:spAutoFit/>
          </a:bodyPr>
          <a:lstStyle/>
          <a:p>
            <a:pPr algn="l">
              <a:lnSpc>
                <a:spcPct val="100000"/>
              </a:lnSpc>
              <a:spcAft>
                <a:spcPts val="0"/>
              </a:spcAft>
            </a:pPr>
            <a:r>
              <a:rPr sz="1250" b="1" i="0">
                <a:solidFill>
                  <a:srgbClr val="1D6F6F"/>
                </a:solidFill>
                <a:latin typeface="Calibri"/>
                <a:ea typeface="Calibri"/>
                <a:cs typeface="Calibri"/>
              </a:rPr>
              <a:t>PHÂN CÔNG TRÁCH NHIỆM &amp; NGUỒN DỮ LIỆU</a:t>
            </a:r>
          </a:p>
        </p:txBody>
      </p:sp>
      <p:sp>
        <p:nvSpPr>
          <p:cNvPr id="26" name="TextBox 25"/>
          <p:cNvSpPr txBox="1"/>
          <p:nvPr/>
        </p:nvSpPr>
        <p:spPr>
          <a:xfrm>
            <a:off x="6629400" y="1810512"/>
            <a:ext cx="4800600" cy="438912"/>
          </a:xfrm>
          <a:prstGeom prst="rect">
            <a:avLst/>
          </a:prstGeom>
          <a:noFill/>
        </p:spPr>
        <p:txBody>
          <a:bodyPr wrap="square" anchor="t" lIns="0" rIns="0" tIns="0" bIns="0">
            <a:spAutoFit/>
          </a:bodyPr>
          <a:lstStyle/>
          <a:p>
            <a:pPr algn="l">
              <a:lnSpc>
                <a:spcPct val="105000"/>
              </a:lnSpc>
              <a:spcAft>
                <a:spcPts val="0"/>
              </a:spcAft>
            </a:pPr>
            <a:r>
              <a:rPr sz="1250" b="1" i="0">
                <a:solidFill>
                  <a:srgbClr val="1B2A4A"/>
                </a:solidFill>
                <a:latin typeface="Calibri"/>
                <a:ea typeface="Calibri"/>
                <a:cs typeface="Calibri"/>
              </a:rPr>
              <a:t>Lê Quang Duy — Trưởng nhóm
</a:t>
            </a:r>
            <a:r>
              <a:rPr sz="1150" b="0" i="0">
                <a:solidFill>
                  <a:srgbClr val="5A6478"/>
                </a:solidFill>
                <a:latin typeface="Calibri"/>
                <a:ea typeface="Calibri"/>
                <a:cs typeface="Calibri"/>
              </a:rPr>
              <a:t>Tích hợp kiến trúc IDBO, bảo toàn giao diện gọi thuật toán</a:t>
            </a:r>
          </a:p>
        </p:txBody>
      </p:sp>
      <p:sp>
        <p:nvSpPr>
          <p:cNvPr id="27" name="TextBox 26"/>
          <p:cNvSpPr txBox="1"/>
          <p:nvPr/>
        </p:nvSpPr>
        <p:spPr>
          <a:xfrm>
            <a:off x="6629400" y="2404872"/>
            <a:ext cx="4800600" cy="438912"/>
          </a:xfrm>
          <a:prstGeom prst="rect">
            <a:avLst/>
          </a:prstGeom>
          <a:noFill/>
        </p:spPr>
        <p:txBody>
          <a:bodyPr wrap="square" anchor="t" lIns="0" rIns="0" tIns="0" bIns="0">
            <a:spAutoFit/>
          </a:bodyPr>
          <a:lstStyle/>
          <a:p>
            <a:pPr algn="l">
              <a:lnSpc>
                <a:spcPct val="105000"/>
              </a:lnSpc>
              <a:spcAft>
                <a:spcPts val="0"/>
              </a:spcAft>
            </a:pPr>
            <a:r>
              <a:rPr sz="1250" b="1" i="0">
                <a:solidFill>
                  <a:srgbClr val="1B2A4A"/>
                </a:solidFill>
                <a:latin typeface="Calibri"/>
                <a:ea typeface="Calibri"/>
                <a:cs typeface="Calibri"/>
              </a:rPr>
              <a:t>Hồ Trung Cương
</a:t>
            </a:r>
            <a:r>
              <a:rPr sz="1150" b="0" i="0">
                <a:solidFill>
                  <a:srgbClr val="5A6478"/>
                </a:solidFill>
                <a:latin typeface="Calibri"/>
                <a:ea typeface="Calibri"/>
                <a:cs typeface="Calibri"/>
              </a:rPr>
              <a:t>Cài đặt bộ đo Diversity, cơ chế Perturbation và Random Restart</a:t>
            </a:r>
          </a:p>
        </p:txBody>
      </p:sp>
      <p:sp>
        <p:nvSpPr>
          <p:cNvPr id="28" name="TextBox 27"/>
          <p:cNvSpPr txBox="1"/>
          <p:nvPr/>
        </p:nvSpPr>
        <p:spPr>
          <a:xfrm>
            <a:off x="6629400" y="2999232"/>
            <a:ext cx="4800600" cy="438912"/>
          </a:xfrm>
          <a:prstGeom prst="rect">
            <a:avLst/>
          </a:prstGeom>
          <a:noFill/>
        </p:spPr>
        <p:txBody>
          <a:bodyPr wrap="square" anchor="t" lIns="0" rIns="0" tIns="0" bIns="0">
            <a:spAutoFit/>
          </a:bodyPr>
          <a:lstStyle/>
          <a:p>
            <a:pPr algn="l">
              <a:lnSpc>
                <a:spcPct val="105000"/>
              </a:lnSpc>
              <a:spcAft>
                <a:spcPts val="0"/>
              </a:spcAft>
            </a:pPr>
            <a:r>
              <a:rPr sz="1250" b="1" i="0">
                <a:solidFill>
                  <a:srgbClr val="1B2A4A"/>
                </a:solidFill>
                <a:latin typeface="Calibri"/>
                <a:ea typeface="Calibri"/>
                <a:cs typeface="Calibri"/>
              </a:rPr>
              <a:t>Đặng Nguyễn Minh Đăng
</a:t>
            </a:r>
            <a:r>
              <a:rPr sz="1150" b="0" i="0">
                <a:solidFill>
                  <a:srgbClr val="5A6478"/>
                </a:solidFill>
                <a:latin typeface="Calibri"/>
                <a:ea typeface="Calibri"/>
                <a:cs typeface="Calibri"/>
              </a:rPr>
              <a:t>Chạy thực nghiệm đối chứng DBO vs IDBO, thu thập số liệu CSV</a:t>
            </a:r>
          </a:p>
        </p:txBody>
      </p:sp>
      <p:sp>
        <p:nvSpPr>
          <p:cNvPr id="29" name="Rectangle 28"/>
          <p:cNvSpPr/>
          <p:nvPr/>
        </p:nvSpPr>
        <p:spPr>
          <a:xfrm>
            <a:off x="6629400" y="3611880"/>
            <a:ext cx="4800600"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29400" y="3794760"/>
            <a:ext cx="4800600" cy="1554480"/>
          </a:xfrm>
          <a:prstGeom prst="rect">
            <a:avLst/>
          </a:prstGeom>
          <a:noFill/>
        </p:spPr>
        <p:txBody>
          <a:bodyPr wrap="square" anchor="t" lIns="0" rIns="0" tIns="0" bIns="0">
            <a:spAutoFit/>
          </a:bodyPr>
          <a:lstStyle/>
          <a:p>
            <a:pPr algn="l">
              <a:lnSpc>
                <a:spcPct val="115000"/>
              </a:lnSpc>
              <a:spcAft>
                <a:spcPts val="0"/>
              </a:spcAft>
            </a:pPr>
            <a:r>
              <a:rPr sz="1150" b="1" i="0">
                <a:solidFill>
                  <a:srgbClr val="1D6F6F"/>
                </a:solidFill>
                <a:latin typeface="Calibri"/>
                <a:ea typeface="Calibri"/>
                <a:cs typeface="Calibri"/>
              </a:rPr>
              <a:t>Ghi chú phương pháp luận:
</a:t>
            </a:r>
          </a:p>
          <a:p>
            <a:pPr algn="l">
              <a:lnSpc>
                <a:spcPct val="115000"/>
              </a:lnSpc>
              <a:spcAft>
                <a:spcPts val="0"/>
              </a:spcAft>
            </a:pPr>
            <a:r>
              <a:rPr sz="1100" b="0" i="0">
                <a:solidFill>
                  <a:srgbClr val="1E2430"/>
                </a:solidFill>
                <a:latin typeface="Calibri"/>
                <a:ea typeface="Calibri"/>
                <a:cs typeface="Calibri"/>
              </a:rPr>
              <a:t>Thí nghiệm so sánh theo giao thức Fixed-Iteration (cùng số cá thể n_agents=30, max_iter=500, cùng bộ hạt giống seed ngẫu nhiên). Quy ước Hòa nếu chênh lệch tương đối giữa Mean IDBO và DBO &lt; 1%.</a:t>
            </a:r>
          </a:p>
        </p:txBody>
      </p:sp>
      <p:sp>
        <p:nvSpPr>
          <p:cNvPr id="31" name="Rectangle 3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Thiết lập cải tiến</a:t>
            </a:r>
          </a:p>
        </p:txBody>
      </p:sp>
      <p:sp>
        <p:nvSpPr>
          <p:cNvPr id="33" name="TextBox 3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16 / 31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KIẾN TRÚC THUẬT TOÁN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Sơ đồ giải thuật IDBO — Cơ chế kiểm soát đa dạng &amp; Thoát bẫy</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34440"/>
            <a:ext cx="6720840" cy="5074920"/>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2103120" y="1353312"/>
            <a:ext cx="3474720" cy="402336"/>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103120" y="1353312"/>
            <a:ext cx="3474720" cy="402336"/>
          </a:xfrm>
          <a:prstGeom prst="rect">
            <a:avLst/>
          </a:prstGeom>
          <a:noFill/>
        </p:spPr>
        <p:txBody>
          <a:bodyPr wrap="square" anchor="ctr" lIns="0" rIns="0" tIns="0" bIns="0">
            <a:spAutoFit/>
          </a:bodyPr>
          <a:lstStyle/>
          <a:p>
            <a:pPr algn="ctr">
              <a:lnSpc>
                <a:spcPct val="100000"/>
              </a:lnSpc>
              <a:spcAft>
                <a:spcPts val="0"/>
              </a:spcAft>
            </a:pPr>
            <a:r>
              <a:rPr sz="1100" b="1" i="0">
                <a:solidFill>
                  <a:srgbClr val="FFFFFF"/>
                </a:solidFill>
                <a:latin typeface="Calibri"/>
                <a:ea typeface="Calibri"/>
                <a:cs typeface="Calibri"/>
              </a:rPr>
              <a:t>Bắt đầu vòng lặp t (t = 1 → max_iter)</a:t>
            </a:r>
          </a:p>
        </p:txBody>
      </p:sp>
      <p:sp>
        <p:nvSpPr>
          <p:cNvPr id="9" name="TextBox 8"/>
          <p:cNvSpPr txBox="1"/>
          <p:nvPr/>
        </p:nvSpPr>
        <p:spPr>
          <a:xfrm>
            <a:off x="3383280" y="1755648"/>
            <a:ext cx="914400" cy="182880"/>
          </a:xfrm>
          <a:prstGeom prst="rect">
            <a:avLst/>
          </a:prstGeom>
          <a:noFill/>
        </p:spPr>
        <p:txBody>
          <a:bodyPr wrap="square" anchor="t" lIns="0" rIns="0" tIns="0" bIns="0">
            <a:spAutoFit/>
          </a:bodyPr>
          <a:lstStyle/>
          <a:p>
            <a:pPr algn="ctr">
              <a:lnSpc>
                <a:spcPct val="100000"/>
              </a:lnSpc>
              <a:spcAft>
                <a:spcPts val="0"/>
              </a:spcAft>
            </a:pPr>
            <a:r>
              <a:rPr sz="1300" b="1" i="0">
                <a:solidFill>
                  <a:srgbClr val="5A6478"/>
                </a:solidFill>
                <a:latin typeface="Calibri"/>
                <a:ea typeface="Calibri"/>
                <a:cs typeface="Calibri"/>
              </a:rPr>
              <a:t>↓</a:t>
            </a:r>
          </a:p>
        </p:txBody>
      </p:sp>
      <p:sp>
        <p:nvSpPr>
          <p:cNvPr id="10" name="Rounded Rectangle 9"/>
          <p:cNvSpPr/>
          <p:nvPr/>
        </p:nvSpPr>
        <p:spPr>
          <a:xfrm>
            <a:off x="1463040" y="1956816"/>
            <a:ext cx="4754880" cy="475488"/>
          </a:xfrm>
          <a:prstGeom prst="roundRect">
            <a:avLst/>
          </a:prstGeom>
          <a:solidFill>
            <a:srgbClr val="2D3E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63040" y="1956816"/>
            <a:ext cx="4754880" cy="47548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Thực thi 4 hành vi DBO gốc:
Lăn phân (Rolling) · Sinh sản · Kiếm ăn · Cướp đoạt</a:t>
            </a:r>
          </a:p>
        </p:txBody>
      </p:sp>
      <p:sp>
        <p:nvSpPr>
          <p:cNvPr id="12" name="TextBox 11"/>
          <p:cNvSpPr txBox="1"/>
          <p:nvPr/>
        </p:nvSpPr>
        <p:spPr>
          <a:xfrm>
            <a:off x="3383280" y="2432304"/>
            <a:ext cx="914400" cy="182880"/>
          </a:xfrm>
          <a:prstGeom prst="rect">
            <a:avLst/>
          </a:prstGeom>
          <a:noFill/>
        </p:spPr>
        <p:txBody>
          <a:bodyPr wrap="square" anchor="t" lIns="0" rIns="0" tIns="0" bIns="0">
            <a:spAutoFit/>
          </a:bodyPr>
          <a:lstStyle/>
          <a:p>
            <a:pPr algn="ctr">
              <a:lnSpc>
                <a:spcPct val="100000"/>
              </a:lnSpc>
              <a:spcAft>
                <a:spcPts val="0"/>
              </a:spcAft>
            </a:pPr>
            <a:r>
              <a:rPr sz="1300" b="1" i="0">
                <a:solidFill>
                  <a:srgbClr val="5A6478"/>
                </a:solidFill>
                <a:latin typeface="Calibri"/>
                <a:ea typeface="Calibri"/>
                <a:cs typeface="Calibri"/>
              </a:rPr>
              <a:t>↓</a:t>
            </a:r>
          </a:p>
        </p:txBody>
      </p:sp>
      <p:sp>
        <p:nvSpPr>
          <p:cNvPr id="13" name="Rounded Rectangle 12"/>
          <p:cNvSpPr/>
          <p:nvPr/>
        </p:nvSpPr>
        <p:spPr>
          <a:xfrm>
            <a:off x="1280160" y="2633472"/>
            <a:ext cx="5120640" cy="493776"/>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80160" y="2633472"/>
            <a:ext cx="5120640" cy="493776"/>
          </a:xfrm>
          <a:prstGeom prst="rect">
            <a:avLst/>
          </a:prstGeom>
          <a:noFill/>
        </p:spPr>
        <p:txBody>
          <a:bodyPr wrap="square" anchor="ctr" lIns="0" rIns="0" tIns="0" bIns="0">
            <a:spAutoFit/>
          </a:bodyPr>
          <a:lstStyle/>
          <a:p>
            <a:pPr algn="ctr">
              <a:lnSpc>
                <a:spcPct val="100000"/>
              </a:lnSpc>
              <a:spcAft>
                <a:spcPts val="0"/>
              </a:spcAft>
            </a:pPr>
            <a:r>
              <a:rPr sz="1000" b="1" i="0">
                <a:solidFill>
                  <a:srgbClr val="FFFFFF"/>
                </a:solidFill>
                <a:latin typeface="Calibri"/>
                <a:ea typeface="Calibri"/>
                <a:cs typeface="Calibri"/>
              </a:rPr>
              <a:t>Đo độ đa dạng chuẩn hóa của quần thể:
Diversity(t) = (1 / D) × ∑ [ std(X_:,d) / (ub_d − lb_d) ]</a:t>
            </a:r>
          </a:p>
        </p:txBody>
      </p:sp>
      <p:sp>
        <p:nvSpPr>
          <p:cNvPr id="15" name="TextBox 14"/>
          <p:cNvSpPr txBox="1"/>
          <p:nvPr/>
        </p:nvSpPr>
        <p:spPr>
          <a:xfrm>
            <a:off x="3383280" y="3127248"/>
            <a:ext cx="914400" cy="182880"/>
          </a:xfrm>
          <a:prstGeom prst="rect">
            <a:avLst/>
          </a:prstGeom>
          <a:noFill/>
        </p:spPr>
        <p:txBody>
          <a:bodyPr wrap="square" anchor="t" lIns="0" rIns="0" tIns="0" bIns="0">
            <a:spAutoFit/>
          </a:bodyPr>
          <a:lstStyle/>
          <a:p>
            <a:pPr algn="ctr">
              <a:lnSpc>
                <a:spcPct val="100000"/>
              </a:lnSpc>
              <a:spcAft>
                <a:spcPts val="0"/>
              </a:spcAft>
            </a:pPr>
            <a:r>
              <a:rPr sz="1300" b="1" i="0">
                <a:solidFill>
                  <a:srgbClr val="5A6478"/>
                </a:solidFill>
                <a:latin typeface="Calibri"/>
                <a:ea typeface="Calibri"/>
                <a:cs typeface="Calibri"/>
              </a:rPr>
              <a:t>↓</a:t>
            </a:r>
          </a:p>
        </p:txBody>
      </p:sp>
      <p:sp>
        <p:nvSpPr>
          <p:cNvPr id="16" name="Rounded Rectangle 15"/>
          <p:cNvSpPr/>
          <p:nvPr/>
        </p:nvSpPr>
        <p:spPr>
          <a:xfrm>
            <a:off x="2011680" y="3328416"/>
            <a:ext cx="3657600" cy="438912"/>
          </a:xfrm>
          <a:prstGeom prst="roundRect">
            <a:avLst/>
          </a:prstGeom>
          <a:solidFill>
            <a:srgbClr val="FDF6EB"/>
          </a:solidFill>
          <a:ln w="1905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011680" y="3328416"/>
            <a:ext cx="3657600" cy="438912"/>
          </a:xfrm>
          <a:prstGeom prst="rect">
            <a:avLst/>
          </a:prstGeom>
          <a:noFill/>
        </p:spPr>
        <p:txBody>
          <a:bodyPr wrap="square" anchor="ctr" lIns="0" rIns="0" tIns="0" bIns="0">
            <a:spAutoFit/>
          </a:bodyPr>
          <a:lstStyle/>
          <a:p>
            <a:pPr algn="ctr">
              <a:lnSpc>
                <a:spcPct val="100000"/>
              </a:lnSpc>
              <a:spcAft>
                <a:spcPts val="0"/>
              </a:spcAft>
            </a:pPr>
            <a:r>
              <a:rPr sz="1100" b="1" i="0">
                <a:solidFill>
                  <a:srgbClr val="D9822B"/>
                </a:solidFill>
                <a:latin typeface="Calibri"/>
                <a:ea typeface="Calibri"/>
                <a:cs typeface="Calibri"/>
              </a:rPr>
              <a:t>Điều kiện: Diversity &lt; 10⁻³ ?</a:t>
            </a:r>
          </a:p>
        </p:txBody>
      </p:sp>
      <p:sp>
        <p:nvSpPr>
          <p:cNvPr id="18" name="TextBox 17"/>
          <p:cNvSpPr txBox="1"/>
          <p:nvPr/>
        </p:nvSpPr>
        <p:spPr>
          <a:xfrm>
            <a:off x="5715000" y="3346704"/>
            <a:ext cx="1371600" cy="201168"/>
          </a:xfrm>
          <a:prstGeom prst="rect">
            <a:avLst/>
          </a:prstGeom>
          <a:noFill/>
        </p:spPr>
        <p:txBody>
          <a:bodyPr wrap="square" anchor="t" lIns="0" rIns="0" tIns="0" bIns="0">
            <a:spAutoFit/>
          </a:bodyPr>
          <a:lstStyle/>
          <a:p>
            <a:pPr algn="l">
              <a:lnSpc>
                <a:spcPct val="100000"/>
              </a:lnSpc>
              <a:spcAft>
                <a:spcPts val="0"/>
              </a:spcAft>
            </a:pPr>
            <a:r>
              <a:rPr sz="950" b="1" i="0">
                <a:solidFill>
                  <a:srgbClr val="217A4B"/>
                </a:solidFill>
                <a:latin typeface="Calibri"/>
                <a:ea typeface="Calibri"/>
                <a:cs typeface="Calibri"/>
              </a:rPr>
              <a:t>Không (≥ 10⁻³) →</a:t>
            </a:r>
          </a:p>
        </p:txBody>
      </p:sp>
      <p:sp>
        <p:nvSpPr>
          <p:cNvPr id="19" name="Rounded Rectangle 18"/>
          <p:cNvSpPr/>
          <p:nvPr/>
        </p:nvSpPr>
        <p:spPr>
          <a:xfrm>
            <a:off x="4206240" y="3886200"/>
            <a:ext cx="2834640" cy="621792"/>
          </a:xfrm>
          <a:prstGeom prst="roundRect">
            <a:avLst/>
          </a:prstGeom>
          <a:solidFill>
            <a:srgbClr val="FFFFFF"/>
          </a:solidFill>
          <a:ln w="15240">
            <a:solidFill>
              <a:srgbClr val="217A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206240" y="3886200"/>
            <a:ext cx="2834640" cy="621792"/>
          </a:xfrm>
          <a:prstGeom prst="rect">
            <a:avLst/>
          </a:prstGeom>
          <a:noFill/>
        </p:spPr>
        <p:txBody>
          <a:bodyPr wrap="square" anchor="ctr" lIns="0" rIns="0" tIns="0" bIns="0">
            <a:spAutoFit/>
          </a:bodyPr>
          <a:lstStyle/>
          <a:p>
            <a:pPr algn="ctr">
              <a:lnSpc>
                <a:spcPct val="100000"/>
              </a:lnSpc>
              <a:spcAft>
                <a:spcPts val="0"/>
              </a:spcAft>
            </a:pPr>
            <a:r>
              <a:rPr sz="950" b="1" i="0">
                <a:solidFill>
                  <a:srgbClr val="217A4B"/>
                </a:solidFill>
                <a:latin typeface="Calibri"/>
                <a:ea typeface="Calibri"/>
                <a:cs typeface="Calibri"/>
              </a:rPr>
              <a:t>BẢO TOÀN DBO GỐC:
Không can thiệp ngẫu nhiên
→ Chuyển sang vòng lặp (t + 1)</a:t>
            </a:r>
          </a:p>
        </p:txBody>
      </p:sp>
      <p:sp>
        <p:nvSpPr>
          <p:cNvPr id="21" name="TextBox 20"/>
          <p:cNvSpPr txBox="1"/>
          <p:nvPr/>
        </p:nvSpPr>
        <p:spPr>
          <a:xfrm>
            <a:off x="1371600" y="3785615"/>
            <a:ext cx="1371600" cy="182880"/>
          </a:xfrm>
          <a:prstGeom prst="rect">
            <a:avLst/>
          </a:prstGeom>
          <a:noFill/>
        </p:spPr>
        <p:txBody>
          <a:bodyPr wrap="square" anchor="t" lIns="0" rIns="0" tIns="0" bIns="0">
            <a:spAutoFit/>
          </a:bodyPr>
          <a:lstStyle/>
          <a:p>
            <a:pPr algn="l">
              <a:lnSpc>
                <a:spcPct val="100000"/>
              </a:lnSpc>
              <a:spcAft>
                <a:spcPts val="0"/>
              </a:spcAft>
            </a:pPr>
            <a:r>
              <a:rPr sz="900" b="1" i="0">
                <a:solidFill>
                  <a:srgbClr val="B83228"/>
                </a:solidFill>
                <a:latin typeface="Calibri"/>
                <a:ea typeface="Calibri"/>
                <a:cs typeface="Calibri"/>
              </a:rPr>
              <a:t>Có (&lt; 10⁻³) ↓</a:t>
            </a:r>
          </a:p>
        </p:txBody>
      </p:sp>
      <p:sp>
        <p:nvSpPr>
          <p:cNvPr id="22" name="Rounded Rectangle 21"/>
          <p:cNvSpPr/>
          <p:nvPr/>
        </p:nvSpPr>
        <p:spPr>
          <a:xfrm>
            <a:off x="685800" y="4023360"/>
            <a:ext cx="3200400" cy="438912"/>
          </a:xfrm>
          <a:prstGeom prst="roundRect">
            <a:avLst/>
          </a:prstGeom>
          <a:solidFill>
            <a:srgbClr val="FDF6EB"/>
          </a:solidFill>
          <a:ln w="19050">
            <a:solidFill>
              <a:srgbClr val="B832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023360"/>
            <a:ext cx="3200400" cy="438912"/>
          </a:xfrm>
          <a:prstGeom prst="rect">
            <a:avLst/>
          </a:prstGeom>
          <a:noFill/>
        </p:spPr>
        <p:txBody>
          <a:bodyPr wrap="square" anchor="ctr" lIns="0" rIns="0" tIns="0" bIns="0">
            <a:spAutoFit/>
          </a:bodyPr>
          <a:lstStyle/>
          <a:p>
            <a:pPr algn="ctr">
              <a:lnSpc>
                <a:spcPct val="100000"/>
              </a:lnSpc>
              <a:spcAft>
                <a:spcPts val="0"/>
              </a:spcAft>
            </a:pPr>
            <a:r>
              <a:rPr sz="950" b="1" i="0">
                <a:solidFill>
                  <a:srgbClr val="B83228"/>
                </a:solidFill>
                <a:latin typeface="Calibri"/>
                <a:ea typeface="Calibri"/>
                <a:cs typeface="Calibri"/>
              </a:rPr>
              <a:t>Kiểm tra trì trệ (Stagnation):
Số vòng không đổi nghiệm ≥ 25 ?</a:t>
            </a:r>
          </a:p>
        </p:txBody>
      </p:sp>
      <p:sp>
        <p:nvSpPr>
          <p:cNvPr id="24" name="TextBox 23"/>
          <p:cNvSpPr txBox="1"/>
          <p:nvPr/>
        </p:nvSpPr>
        <p:spPr>
          <a:xfrm>
            <a:off x="777240" y="4517136"/>
            <a:ext cx="1097280" cy="182880"/>
          </a:xfrm>
          <a:prstGeom prst="rect">
            <a:avLst/>
          </a:prstGeom>
          <a:noFill/>
        </p:spPr>
        <p:txBody>
          <a:bodyPr wrap="square" anchor="t" lIns="0" rIns="0" tIns="0" bIns="0">
            <a:spAutoFit/>
          </a:bodyPr>
          <a:lstStyle/>
          <a:p>
            <a:pPr algn="l">
              <a:lnSpc>
                <a:spcPct val="100000"/>
              </a:lnSpc>
              <a:spcAft>
                <a:spcPts val="0"/>
              </a:spcAft>
            </a:pPr>
            <a:r>
              <a:rPr sz="850" b="1" i="0">
                <a:solidFill>
                  <a:srgbClr val="D9822B"/>
                </a:solidFill>
                <a:latin typeface="Calibri"/>
                <a:ea typeface="Calibri"/>
                <a:cs typeface="Calibri"/>
              </a:rPr>
              <a:t>Không (&lt; 25) ↓</a:t>
            </a:r>
          </a:p>
        </p:txBody>
      </p:sp>
      <p:sp>
        <p:nvSpPr>
          <p:cNvPr id="25" name="TextBox 24"/>
          <p:cNvSpPr txBox="1"/>
          <p:nvPr/>
        </p:nvSpPr>
        <p:spPr>
          <a:xfrm>
            <a:off x="2606040" y="4517136"/>
            <a:ext cx="1097280" cy="182880"/>
          </a:xfrm>
          <a:prstGeom prst="rect">
            <a:avLst/>
          </a:prstGeom>
          <a:noFill/>
        </p:spPr>
        <p:txBody>
          <a:bodyPr wrap="square" anchor="t" lIns="0" rIns="0" tIns="0" bIns="0">
            <a:spAutoFit/>
          </a:bodyPr>
          <a:lstStyle/>
          <a:p>
            <a:pPr algn="l">
              <a:lnSpc>
                <a:spcPct val="100000"/>
              </a:lnSpc>
              <a:spcAft>
                <a:spcPts val="0"/>
              </a:spcAft>
            </a:pPr>
            <a:r>
              <a:rPr sz="850" b="1" i="0">
                <a:solidFill>
                  <a:srgbClr val="B83228"/>
                </a:solidFill>
                <a:latin typeface="Calibri"/>
                <a:ea typeface="Calibri"/>
                <a:cs typeface="Calibri"/>
              </a:rPr>
              <a:t>Có (≥ 25) ↓</a:t>
            </a:r>
          </a:p>
        </p:txBody>
      </p:sp>
      <p:sp>
        <p:nvSpPr>
          <p:cNvPr id="26" name="Rounded Rectangle 25"/>
          <p:cNvSpPr/>
          <p:nvPr/>
        </p:nvSpPr>
        <p:spPr>
          <a:xfrm>
            <a:off x="685800" y="4754880"/>
            <a:ext cx="2651760" cy="603504"/>
          </a:xfrm>
          <a:prstGeom prst="roundRect">
            <a:avLst/>
          </a:prstGeom>
          <a:solidFill>
            <a:srgbClr val="FFFFFF"/>
          </a:solidFill>
          <a:ln w="15240">
            <a:solidFill>
              <a:srgbClr val="D982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754880"/>
            <a:ext cx="2651760" cy="603504"/>
          </a:xfrm>
          <a:prstGeom prst="rect">
            <a:avLst/>
          </a:prstGeom>
          <a:noFill/>
        </p:spPr>
        <p:txBody>
          <a:bodyPr wrap="square" anchor="ctr" lIns="0" rIns="0" tIns="0" bIns="0">
            <a:spAutoFit/>
          </a:bodyPr>
          <a:lstStyle/>
          <a:p>
            <a:pPr algn="ctr">
              <a:lnSpc>
                <a:spcPct val="100000"/>
              </a:lnSpc>
              <a:spcAft>
                <a:spcPts val="0"/>
              </a:spcAft>
            </a:pPr>
            <a:r>
              <a:rPr sz="900" b="1" i="0">
                <a:solidFill>
                  <a:srgbClr val="1E2430"/>
                </a:solidFill>
                <a:latin typeface="Calibri"/>
                <a:ea typeface="Calibri"/>
                <a:cs typeface="Calibri"/>
              </a:rPr>
              <a:t>GAUSSIAN PERTURBATION:
Bơm nhiễu Gauss vào 20% cá thể
(Trừ cá thể Elite tốt nhất)</a:t>
            </a:r>
          </a:p>
        </p:txBody>
      </p:sp>
      <p:sp>
        <p:nvSpPr>
          <p:cNvPr id="28" name="Rounded Rectangle 27"/>
          <p:cNvSpPr/>
          <p:nvPr/>
        </p:nvSpPr>
        <p:spPr>
          <a:xfrm>
            <a:off x="3520440" y="4754880"/>
            <a:ext cx="3520440" cy="603504"/>
          </a:xfrm>
          <a:prstGeom prst="roundRect">
            <a:avLst/>
          </a:prstGeom>
          <a:solidFill>
            <a:srgbClr val="FFFFFF"/>
          </a:solidFill>
          <a:ln w="15240">
            <a:solidFill>
              <a:srgbClr val="B832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20440" y="4754880"/>
            <a:ext cx="3520440" cy="603504"/>
          </a:xfrm>
          <a:prstGeom prst="rect">
            <a:avLst/>
          </a:prstGeom>
          <a:noFill/>
        </p:spPr>
        <p:txBody>
          <a:bodyPr wrap="square" anchor="ctr" lIns="0" rIns="0" tIns="0" bIns="0">
            <a:spAutoFit/>
          </a:bodyPr>
          <a:lstStyle/>
          <a:p>
            <a:pPr algn="ctr">
              <a:lnSpc>
                <a:spcPct val="100000"/>
              </a:lnSpc>
              <a:spcAft>
                <a:spcPts val="0"/>
              </a:spcAft>
            </a:pPr>
            <a:r>
              <a:rPr sz="900" b="1" i="0">
                <a:solidFill>
                  <a:srgbClr val="1E2430"/>
                </a:solidFill>
                <a:latin typeface="Calibri"/>
                <a:ea typeface="Calibri"/>
                <a:cs typeface="Calibri"/>
              </a:rPr>
              <a:t>RANDOM RESTART:
Tái khởi tạo 25% cá thể tệ nhất
trong [lb, ub] (Trừ Elite)</a:t>
            </a:r>
          </a:p>
        </p:txBody>
      </p:sp>
      <p:sp>
        <p:nvSpPr>
          <p:cNvPr id="30" name="Rounded Rectangle 29"/>
          <p:cNvSpPr/>
          <p:nvPr/>
        </p:nvSpPr>
        <p:spPr>
          <a:xfrm>
            <a:off x="685800" y="5559552"/>
            <a:ext cx="6355080" cy="347472"/>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5559552"/>
            <a:ext cx="6355080" cy="347472"/>
          </a:xfrm>
          <a:prstGeom prst="rect">
            <a:avLst/>
          </a:prstGeom>
          <a:noFill/>
        </p:spPr>
        <p:txBody>
          <a:bodyPr wrap="square" anchor="ctr" lIns="0" rIns="0" tIns="0" bIns="0">
            <a:spAutoFit/>
          </a:bodyPr>
          <a:lstStyle/>
          <a:p>
            <a:pPr algn="ctr">
              <a:lnSpc>
                <a:spcPct val="100000"/>
              </a:lnSpc>
              <a:spcAft>
                <a:spcPts val="0"/>
              </a:spcAft>
            </a:pPr>
            <a:r>
              <a:rPr sz="950" b="1" i="0">
                <a:solidFill>
                  <a:srgbClr val="FFFFFF"/>
                </a:solidFill>
                <a:latin typeface="Calibri"/>
                <a:ea typeface="Calibri"/>
                <a:cs typeface="Calibri"/>
              </a:rPr>
              <a:t>Đánh giá lại hàm mục tiêu cho các cá thể bị can thiệp &amp; Cập nhật Best Fitness</a:t>
            </a:r>
          </a:p>
        </p:txBody>
      </p:sp>
      <p:sp>
        <p:nvSpPr>
          <p:cNvPr id="32" name="Rounded Rectangle 31"/>
          <p:cNvSpPr/>
          <p:nvPr/>
        </p:nvSpPr>
        <p:spPr>
          <a:xfrm>
            <a:off x="7406640" y="1234440"/>
            <a:ext cx="4279392" cy="507492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406640" y="1234440"/>
            <a:ext cx="4279392" cy="502920"/>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06640" y="1554480"/>
            <a:ext cx="4279392" cy="18288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589520" y="1325880"/>
            <a:ext cx="3913632" cy="320040"/>
          </a:xfrm>
          <a:prstGeom prst="rect">
            <a:avLst/>
          </a:prstGeom>
          <a:noFill/>
        </p:spPr>
        <p:txBody>
          <a:bodyPr wrap="square" anchor="t" lIns="0" rIns="0" tIns="0" bIns="0">
            <a:spAutoFit/>
          </a:bodyPr>
          <a:lstStyle/>
          <a:p>
            <a:pPr algn="l">
              <a:lnSpc>
                <a:spcPct val="100000"/>
              </a:lnSpc>
              <a:spcAft>
                <a:spcPts val="0"/>
              </a:spcAft>
            </a:pPr>
            <a:r>
              <a:rPr sz="1300" b="1" i="0">
                <a:solidFill>
                  <a:srgbClr val="FFFFFF"/>
                </a:solidFill>
                <a:latin typeface="Calibri"/>
                <a:ea typeface="Calibri"/>
                <a:cs typeface="Calibri"/>
              </a:rPr>
              <a:t>NGUYÊN LÝ HOẠT ĐỘNG CỦA IDBO</a:t>
            </a:r>
          </a:p>
        </p:txBody>
      </p:sp>
      <p:sp>
        <p:nvSpPr>
          <p:cNvPr id="36" name="TextBox 35"/>
          <p:cNvSpPr txBox="1"/>
          <p:nvPr/>
        </p:nvSpPr>
        <p:spPr>
          <a:xfrm>
            <a:off x="7635240" y="1874519"/>
            <a:ext cx="3840480" cy="914400"/>
          </a:xfrm>
          <a:prstGeom prst="rect">
            <a:avLst/>
          </a:prstGeom>
          <a:noFill/>
        </p:spPr>
        <p:txBody>
          <a:bodyPr wrap="square" anchor="t" lIns="0" rIns="0" tIns="0" bIns="0">
            <a:spAutoFit/>
          </a:bodyPr>
          <a:lstStyle/>
          <a:p>
            <a:pPr algn="l">
              <a:lnSpc>
                <a:spcPct val="112000"/>
              </a:lnSpc>
              <a:spcAft>
                <a:spcPts val="0"/>
              </a:spcAft>
            </a:pPr>
            <a:r>
              <a:rPr sz="1150" b="1" i="0">
                <a:solidFill>
                  <a:srgbClr val="1B2A4A"/>
                </a:solidFill>
                <a:latin typeface="Calibri"/>
                <a:ea typeface="Calibri"/>
                <a:cs typeface="Calibri"/>
              </a:rPr>
              <a:t>1. Không xáo trộn vô ích (Zero Interference):
</a:t>
            </a:r>
            <a:r>
              <a:rPr sz="1050" b="0" i="0">
                <a:solidFill>
                  <a:srgbClr val="1E2430"/>
                </a:solidFill>
                <a:latin typeface="Calibri"/>
                <a:ea typeface="Calibri"/>
                <a:cs typeface="Calibri"/>
              </a:rPr>
              <a:t>Khi Diversity ≥ 10⁻³, IDBO không can thiệp, chạy đúng 100% cơ chế DBO gốc. Đảm bảo tốc độ hội tụ tự nhiên không bị suy giảm.</a:t>
            </a:r>
          </a:p>
        </p:txBody>
      </p:sp>
      <p:sp>
        <p:nvSpPr>
          <p:cNvPr id="37" name="TextBox 36"/>
          <p:cNvSpPr txBox="1"/>
          <p:nvPr/>
        </p:nvSpPr>
        <p:spPr>
          <a:xfrm>
            <a:off x="7635240" y="2926079"/>
            <a:ext cx="3840480" cy="914400"/>
          </a:xfrm>
          <a:prstGeom prst="rect">
            <a:avLst/>
          </a:prstGeom>
          <a:noFill/>
        </p:spPr>
        <p:txBody>
          <a:bodyPr wrap="square" anchor="t" lIns="0" rIns="0" tIns="0" bIns="0">
            <a:spAutoFit/>
          </a:bodyPr>
          <a:lstStyle/>
          <a:p>
            <a:pPr algn="l">
              <a:lnSpc>
                <a:spcPct val="112000"/>
              </a:lnSpc>
              <a:spcAft>
                <a:spcPts val="0"/>
              </a:spcAft>
            </a:pPr>
            <a:r>
              <a:rPr sz="1150" b="1" i="0">
                <a:solidFill>
                  <a:srgbClr val="1B2A4A"/>
                </a:solidFill>
                <a:latin typeface="Calibri"/>
                <a:ea typeface="Calibri"/>
                <a:cs typeface="Calibri"/>
              </a:rPr>
              <a:t>2. Phát hiện sớm nguy cơ co cụm quần thể:
</a:t>
            </a:r>
            <a:r>
              <a:rPr sz="1050" b="0" i="0">
                <a:solidFill>
                  <a:srgbClr val="1E2430"/>
                </a:solidFill>
                <a:latin typeface="Calibri"/>
                <a:ea typeface="Calibri"/>
                <a:cs typeface="Calibri"/>
              </a:rPr>
              <a:t>Bộ đo Diversity chuẩn hóa theo biên [lb, ub] giúp phát hiện chính xác thời điểm bầy bọ hung tập trung quá sát nhau trước khi rơi vào bẫy cực trị.</a:t>
            </a:r>
          </a:p>
        </p:txBody>
      </p:sp>
      <p:sp>
        <p:nvSpPr>
          <p:cNvPr id="38" name="TextBox 37"/>
          <p:cNvSpPr txBox="1"/>
          <p:nvPr/>
        </p:nvSpPr>
        <p:spPr>
          <a:xfrm>
            <a:off x="7635240" y="3977639"/>
            <a:ext cx="3840480" cy="914400"/>
          </a:xfrm>
          <a:prstGeom prst="rect">
            <a:avLst/>
          </a:prstGeom>
          <a:noFill/>
        </p:spPr>
        <p:txBody>
          <a:bodyPr wrap="square" anchor="t" lIns="0" rIns="0" tIns="0" bIns="0">
            <a:spAutoFit/>
          </a:bodyPr>
          <a:lstStyle/>
          <a:p>
            <a:pPr algn="l">
              <a:lnSpc>
                <a:spcPct val="112000"/>
              </a:lnSpc>
              <a:spcAft>
                <a:spcPts val="0"/>
              </a:spcAft>
            </a:pPr>
            <a:r>
              <a:rPr sz="1150" b="1" i="0">
                <a:solidFill>
                  <a:srgbClr val="1B2A4A"/>
                </a:solidFill>
                <a:latin typeface="Calibri"/>
                <a:ea typeface="Calibri"/>
                <a:cs typeface="Calibri"/>
              </a:rPr>
              <a:t>3. Can thiệp 2 cấp độ có điều kiện:
</a:t>
            </a:r>
            <a:r>
              <a:rPr sz="1050" b="0" i="0">
                <a:solidFill>
                  <a:srgbClr val="1E2430"/>
                </a:solidFill>
                <a:latin typeface="Calibri"/>
                <a:ea typeface="Calibri"/>
                <a:cs typeface="Calibri"/>
              </a:rPr>
              <a:t>• Cấp 1 (Chưa trì trệ): Bơm nhiễu Gauss rung lắc nhẹ để cá thể tiếp tục tìm kiếm cục bộ.
• Cấp 2 (Trì trệ ≥ 25 vòng): Tái sinh ngẫu nhiên 25% cá thể kém nhất khắp không gian tìm kiếm để mở đường thoát bẫy toàn diện.</a:t>
            </a:r>
          </a:p>
        </p:txBody>
      </p:sp>
      <p:sp>
        <p:nvSpPr>
          <p:cNvPr id="39" name="TextBox 38"/>
          <p:cNvSpPr txBox="1"/>
          <p:nvPr/>
        </p:nvSpPr>
        <p:spPr>
          <a:xfrm>
            <a:off x="7635240" y="5029200"/>
            <a:ext cx="3840480" cy="914400"/>
          </a:xfrm>
          <a:prstGeom prst="rect">
            <a:avLst/>
          </a:prstGeom>
          <a:noFill/>
        </p:spPr>
        <p:txBody>
          <a:bodyPr wrap="square" anchor="t" lIns="0" rIns="0" tIns="0" bIns="0">
            <a:spAutoFit/>
          </a:bodyPr>
          <a:lstStyle/>
          <a:p>
            <a:pPr algn="l">
              <a:lnSpc>
                <a:spcPct val="112000"/>
              </a:lnSpc>
              <a:spcAft>
                <a:spcPts val="0"/>
              </a:spcAft>
            </a:pPr>
            <a:r>
              <a:rPr sz="1150" b="1" i="0">
                <a:solidFill>
                  <a:srgbClr val="1B2A4A"/>
                </a:solidFill>
                <a:latin typeface="Calibri"/>
                <a:ea typeface="Calibri"/>
                <a:cs typeface="Calibri"/>
              </a:rPr>
              <a:t>4. Bảo toàn cá thể Elite tuyệt đối:
</a:t>
            </a:r>
            <a:r>
              <a:rPr sz="1050" b="0" i="0">
                <a:solidFill>
                  <a:srgbClr val="1E2430"/>
                </a:solidFill>
                <a:latin typeface="Calibri"/>
                <a:ea typeface="Calibri"/>
                <a:cs typeface="Calibri"/>
              </a:rPr>
              <a:t>Nghiệm tốt nhất tìm thấy (n_elite = 1) luôn được bảo vệ nguyên vẹn, ngăn chặn nguy cơ làm mất nghiệm tối ưu toàn cục.</a:t>
            </a:r>
          </a:p>
        </p:txBody>
      </p:sp>
      <p:sp>
        <p:nvSpPr>
          <p:cNvPr id="40" name="Rectangle 39"/>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Sơ đồ thuật toán IDBO</a:t>
            </a:r>
          </a:p>
        </p:txBody>
      </p:sp>
      <p:sp>
        <p:nvSpPr>
          <p:cNvPr id="42" name="TextBox 41"/>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17 / 31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KẾT QUẢ KÍCH HOẠT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Tần suất kích hoạt cơ chế Perturbation và Random Restart</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80160"/>
          <a:ext cx="11183112" cy="3730752"/>
        </p:xfrm>
        <a:graphic>
          <a:graphicData uri="http://schemas.openxmlformats.org/drawingml/2006/table">
            <a:tbl>
              <a:tblPr firstRow="1" bandRow="1">
                <a:tableStyleId>{5C22544A-7EE6-4342-B048-85BDC9FD1C3A}</a:tableStyleId>
              </a:tblPr>
              <a:tblGrid>
                <a:gridCol w="1920240"/>
                <a:gridCol w="2377440"/>
                <a:gridCol w="1691640"/>
                <a:gridCol w="1691640"/>
                <a:gridCol w="3502152"/>
              </a:tblGrid>
              <a:tr h="438912">
                <a:tc>
                  <a:txBody>
                    <a:bodyPr/>
                    <a:lstStyle/>
                    <a:p>
                      <a:pPr algn="l"/>
                      <a:r>
                        <a:rPr sz="1200" b="1" i="0">
                          <a:solidFill>
                            <a:srgbClr val="FFFFFF"/>
                          </a:solidFill>
                          <a:latin typeface="Calibri"/>
                          <a:ea typeface="Calibri"/>
                          <a:cs typeface="Calibri"/>
                        </a:rPr>
                        <a:t>Hàm mục tiêu</a:t>
                      </a:r>
                    </a:p>
                  </a:txBody>
                  <a:tcPr marL="73152" marR="73152" marT="36576" marB="36576" anchor="ctr">
                    <a:solidFill>
                      <a:srgbClr val="1D6F6F"/>
                    </a:solidFill>
                  </a:tcPr>
                </a:tc>
                <a:tc>
                  <a:txBody>
                    <a:bodyPr/>
                    <a:lstStyle/>
                    <a:p>
                      <a:pPr algn="ctr"/>
                      <a:r>
                        <a:rPr sz="1200" b="1" i="0">
                          <a:solidFill>
                            <a:srgbClr val="FFFFFF"/>
                          </a:solidFill>
                          <a:latin typeface="Calibri"/>
                          <a:ea typeface="Calibri"/>
                          <a:cs typeface="Calibri"/>
                        </a:rPr>
                        <a:t>dim = 10 (Perturb / Restart)</a:t>
                      </a:r>
                    </a:p>
                  </a:txBody>
                  <a:tcPr marL="73152" marR="73152" marT="36576" marB="36576" anchor="ctr">
                    <a:solidFill>
                      <a:srgbClr val="1D6F6F"/>
                    </a:solidFill>
                  </a:tcPr>
                </a:tc>
                <a:tc>
                  <a:txBody>
                    <a:bodyPr/>
                    <a:lstStyle/>
                    <a:p>
                      <a:pPr algn="ctr"/>
                      <a:r>
                        <a:rPr sz="1200" b="1" i="0">
                          <a:solidFill>
                            <a:srgbClr val="FFFFFF"/>
                          </a:solidFill>
                          <a:latin typeface="Calibri"/>
                          <a:ea typeface="Calibri"/>
                          <a:cs typeface="Calibri"/>
                        </a:rPr>
                        <a:t>dim = 30</a:t>
                      </a:r>
                    </a:p>
                  </a:txBody>
                  <a:tcPr marL="73152" marR="73152" marT="36576" marB="36576" anchor="ctr">
                    <a:solidFill>
                      <a:srgbClr val="1D6F6F"/>
                    </a:solidFill>
                  </a:tcPr>
                </a:tc>
                <a:tc>
                  <a:txBody>
                    <a:bodyPr/>
                    <a:lstStyle/>
                    <a:p>
                      <a:pPr algn="ctr"/>
                      <a:r>
                        <a:rPr sz="1200" b="1" i="0">
                          <a:solidFill>
                            <a:srgbClr val="FFFFFF"/>
                          </a:solidFill>
                          <a:latin typeface="Calibri"/>
                          <a:ea typeface="Calibri"/>
                          <a:cs typeface="Calibri"/>
                        </a:rPr>
                        <a:t>dim = 50</a:t>
                      </a:r>
                    </a:p>
                  </a:txBody>
                  <a:tcPr marL="73152" marR="73152" marT="36576" marB="36576" anchor="ctr">
                    <a:solidFill>
                      <a:srgbClr val="1D6F6F"/>
                    </a:solidFill>
                  </a:tcPr>
                </a:tc>
                <a:tc>
                  <a:txBody>
                    <a:bodyPr/>
                    <a:lstStyle/>
                    <a:p>
                      <a:pPr algn="l"/>
                      <a:r>
                        <a:rPr sz="1200" b="1" i="0">
                          <a:solidFill>
                            <a:srgbClr val="FFFFFF"/>
                          </a:solidFill>
                          <a:latin typeface="Calibri"/>
                          <a:ea typeface="Calibri"/>
                          <a:cs typeface="Calibri"/>
                        </a:rPr>
                        <a:t>Đặc điểm kích hoạt cơ chế</a:t>
                      </a:r>
                    </a:p>
                  </a:txBody>
                  <a:tcPr marL="73152" marR="73152" marT="36576" marB="36576" anchor="ctr">
                    <a:solidFill>
                      <a:srgbClr val="1D6F6F"/>
                    </a:solidFill>
                  </a:tcPr>
                </a:tc>
              </a:tr>
              <a:tr h="548640">
                <a:tc>
                  <a:txBody>
                    <a:bodyPr/>
                    <a:lstStyle/>
                    <a:p>
                      <a:pPr algn="l"/>
                      <a:r>
                        <a:rPr sz="1150" b="1" i="0">
                          <a:solidFill>
                            <a:srgbClr val="1E2430"/>
                          </a:solidFill>
                          <a:latin typeface="Calibri"/>
                          <a:ea typeface="Calibri"/>
                          <a:cs typeface="Calibri"/>
                        </a:rPr>
                        <a:t>Sphere</a:t>
                      </a:r>
                    </a:p>
                  </a:txBody>
                  <a:tcPr marL="73152" marR="73152" marT="36576" marB="36576" anchor="ctr">
                    <a:solidFill>
                      <a:srgbClr val="F5F7FB"/>
                    </a:solidFill>
                  </a:tcPr>
                </a:tc>
                <a:tc>
                  <a:txBody>
                    <a:bodyPr/>
                    <a:lstStyle/>
                    <a:p>
                      <a:pPr algn="ctr"/>
                      <a:r>
                        <a:rPr sz="1150" b="1" i="0">
                          <a:solidFill>
                            <a:srgbClr val="B83228"/>
                          </a:solidFill>
                          <a:latin typeface="Calibri"/>
                          <a:ea typeface="Calibri"/>
                          <a:cs typeface="Calibri"/>
                        </a:rPr>
                        <a:t>0 / 0,53</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0 / 0,07</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0 / 0,07</a:t>
                      </a:r>
                    </a:p>
                  </a:txBody>
                  <a:tcPr marL="73152" marR="73152" marT="36576" marB="36576" anchor="ctr">
                    <a:solidFill>
                      <a:srgbClr val="F5F7FB"/>
                    </a:solidFill>
                  </a:tcPr>
                </a:tc>
                <a:tc>
                  <a:txBody>
                    <a:bodyPr/>
                    <a:lstStyle/>
                    <a:p>
                      <a:pPr algn="l"/>
                      <a:r>
                        <a:rPr sz="1150" b="0" i="0">
                          <a:solidFill>
                            <a:srgbClr val="1E2430"/>
                          </a:solidFill>
                          <a:latin typeface="Calibri"/>
                          <a:ea typeface="Calibri"/>
                          <a:cs typeface="Calibri"/>
                        </a:rPr>
                        <a:t>Quần thể co cụm nhanh → Kích hoạt restart trung bình 0,53 lần/run</a:t>
                      </a:r>
                    </a:p>
                  </a:txBody>
                  <a:tcPr marL="73152" marR="73152" marT="36576" marB="36576" anchor="ctr">
                    <a:solidFill>
                      <a:srgbClr val="F5F7FB"/>
                    </a:solidFill>
                  </a:tcPr>
                </a:tc>
              </a:tr>
              <a:tr h="548640">
                <a:tc>
                  <a:txBody>
                    <a:bodyPr/>
                    <a:lstStyle/>
                    <a:p>
                      <a:pPr algn="l"/>
                      <a:r>
                        <a:rPr sz="1150" b="1" i="0">
                          <a:solidFill>
                            <a:srgbClr val="1E2430"/>
                          </a:solidFill>
                          <a:latin typeface="Calibri"/>
                          <a:ea typeface="Calibri"/>
                          <a:cs typeface="Calibri"/>
                        </a:rPr>
                        <a:t>Schwefel 2.22</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0,20</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0,03</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0,07</a:t>
                      </a:r>
                    </a:p>
                  </a:txBody>
                  <a:tcPr marL="73152" marR="73152" marT="36576" marB="36576" anchor="ctr">
                    <a:solidFill>
                      <a:srgbClr val="FFFFFF"/>
                    </a:solidFill>
                  </a:tcPr>
                </a:tc>
                <a:tc>
                  <a:txBody>
                    <a:bodyPr/>
                    <a:lstStyle/>
                    <a:p>
                      <a:pPr algn="l"/>
                      <a:r>
                        <a:rPr sz="1150" b="0" i="0">
                          <a:solidFill>
                            <a:srgbClr val="1E2430"/>
                          </a:solidFill>
                          <a:latin typeface="Calibri"/>
                          <a:ea typeface="Calibri"/>
                          <a:cs typeface="Calibri"/>
                        </a:rPr>
                        <a:t>Kích hoạt restart nhẹ ở 10D khi quần thể hội tụ tiệm cận 0</a:t>
                      </a:r>
                    </a:p>
                  </a:txBody>
                  <a:tcPr marL="73152" marR="73152" marT="36576" marB="36576" anchor="ctr">
                    <a:solidFill>
                      <a:srgbClr val="FFFFFF"/>
                    </a:solidFill>
                  </a:tcPr>
                </a:tc>
              </a:tr>
              <a:tr h="548640">
                <a:tc>
                  <a:txBody>
                    <a:bodyPr/>
                    <a:lstStyle/>
                    <a:p>
                      <a:pPr algn="l"/>
                      <a:r>
                        <a:rPr sz="1150" b="1" i="0">
                          <a:solidFill>
                            <a:srgbClr val="1E2430"/>
                          </a:solidFill>
                          <a:latin typeface="Calibri"/>
                          <a:ea typeface="Calibri"/>
                          <a:cs typeface="Calibri"/>
                        </a:rPr>
                        <a:t>Rosenbrock</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5F7FB"/>
                    </a:solidFill>
                  </a:tcPr>
                </a:tc>
                <a:tc>
                  <a:txBody>
                    <a:bodyPr/>
                    <a:lstStyle/>
                    <a:p>
                      <a:pPr algn="ctr"/>
                      <a:r>
                        <a:rPr sz="1150" b="1" i="0">
                          <a:solidFill>
                            <a:srgbClr val="D9822B"/>
                          </a:solidFill>
                          <a:latin typeface="Calibri"/>
                          <a:ea typeface="Calibri"/>
                          <a:cs typeface="Calibri"/>
                        </a:rPr>
                        <a:t>0,10 / 0</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0,07 / 0</a:t>
                      </a:r>
                    </a:p>
                  </a:txBody>
                  <a:tcPr marL="73152" marR="73152" marT="36576" marB="36576" anchor="ctr">
                    <a:solidFill>
                      <a:srgbClr val="F5F7FB"/>
                    </a:solidFill>
                  </a:tcPr>
                </a:tc>
                <a:tc>
                  <a:txBody>
                    <a:bodyPr/>
                    <a:lstStyle/>
                    <a:p>
                      <a:pPr algn="l"/>
                      <a:r>
                        <a:rPr sz="1150" b="0" i="0">
                          <a:solidFill>
                            <a:srgbClr val="1E2430"/>
                          </a:solidFill>
                          <a:latin typeface="Calibri"/>
                          <a:ea typeface="Calibri"/>
                          <a:cs typeface="Calibri"/>
                        </a:rPr>
                        <a:t>Chỉ kích hoạt perturb thăm dò (0,10 lần ở 30D và 0,07 lần ở 50D)</a:t>
                      </a:r>
                    </a:p>
                  </a:txBody>
                  <a:tcPr marL="73152" marR="73152" marT="36576" marB="36576" anchor="ctr">
                    <a:solidFill>
                      <a:srgbClr val="F5F7FB"/>
                    </a:solidFill>
                  </a:tcPr>
                </a:tc>
              </a:tr>
              <a:tr h="548640">
                <a:tc>
                  <a:txBody>
                    <a:bodyPr/>
                    <a:lstStyle/>
                    <a:p>
                      <a:pPr algn="l"/>
                      <a:r>
                        <a:rPr sz="1150" b="1" i="0">
                          <a:solidFill>
                            <a:srgbClr val="1E2430"/>
                          </a:solidFill>
                          <a:latin typeface="Calibri"/>
                          <a:ea typeface="Calibri"/>
                          <a:cs typeface="Calibri"/>
                        </a:rPr>
                        <a:t>Rastrigin</a:t>
                      </a:r>
                    </a:p>
                  </a:txBody>
                  <a:tcPr marL="73152" marR="73152" marT="36576" marB="36576" anchor="ctr">
                    <a:solidFill>
                      <a:srgbClr val="FFFFFF"/>
                    </a:solidFill>
                  </a:tcPr>
                </a:tc>
                <a:tc>
                  <a:txBody>
                    <a:bodyPr/>
                    <a:lstStyle/>
                    <a:p>
                      <a:pPr algn="ctr"/>
                      <a:r>
                        <a:rPr sz="1150" b="0" i="0">
                          <a:solidFill>
                            <a:srgbClr val="217A4B"/>
                          </a:solidFill>
                          <a:latin typeface="Calibri"/>
                          <a:ea typeface="Calibri"/>
                          <a:cs typeface="Calibri"/>
                        </a:rPr>
                        <a:t>0 / 0</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FFFFF"/>
                    </a:solidFill>
                  </a:tcPr>
                </a:tc>
                <a:tc>
                  <a:txBody>
                    <a:bodyPr/>
                    <a:lstStyle/>
                    <a:p>
                      <a:pPr algn="l"/>
                      <a:r>
                        <a:rPr sz="1150" b="0" i="0">
                          <a:solidFill>
                            <a:srgbClr val="1E2430"/>
                          </a:solidFill>
                          <a:latin typeface="Calibri"/>
                          <a:ea typeface="Calibri"/>
                          <a:cs typeface="Calibri"/>
                        </a:rPr>
                        <a:t>Độ đa dạng tự nhiên rất cao (~0,15) → Hoàn toàn không kích hoạt (0,00)</a:t>
                      </a:r>
                    </a:p>
                  </a:txBody>
                  <a:tcPr marL="73152" marR="73152" marT="36576" marB="36576" anchor="ctr">
                    <a:solidFill>
                      <a:srgbClr val="FFFFFF"/>
                    </a:solidFill>
                  </a:tcPr>
                </a:tc>
              </a:tr>
              <a:tr h="548640">
                <a:tc>
                  <a:txBody>
                    <a:bodyPr/>
                    <a:lstStyle/>
                    <a:p>
                      <a:pPr algn="l"/>
                      <a:r>
                        <a:rPr sz="1150" b="1" i="0">
                          <a:solidFill>
                            <a:srgbClr val="1E2430"/>
                          </a:solidFill>
                          <a:latin typeface="Calibri"/>
                          <a:ea typeface="Calibri"/>
                          <a:cs typeface="Calibri"/>
                        </a:rPr>
                        <a:t>Ackley</a:t>
                      </a:r>
                    </a:p>
                  </a:txBody>
                  <a:tcPr marL="73152" marR="73152" marT="36576" marB="36576" anchor="ctr">
                    <a:solidFill>
                      <a:srgbClr val="F5F7FB"/>
                    </a:solidFill>
                  </a:tcPr>
                </a:tc>
                <a:tc>
                  <a:txBody>
                    <a:bodyPr/>
                    <a:lstStyle/>
                    <a:p>
                      <a:pPr algn="ctr"/>
                      <a:r>
                        <a:rPr sz="1150" b="0" i="0">
                          <a:solidFill>
                            <a:srgbClr val="217A4B"/>
                          </a:solidFill>
                          <a:latin typeface="Calibri"/>
                          <a:ea typeface="Calibri"/>
                          <a:cs typeface="Calibri"/>
                        </a:rPr>
                        <a:t>0 / 0</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5F7FB"/>
                    </a:solidFill>
                  </a:tcPr>
                </a:tc>
                <a:tc>
                  <a:txBody>
                    <a:bodyPr/>
                    <a:lstStyle/>
                    <a:p>
                      <a:pPr algn="l"/>
                      <a:r>
                        <a:rPr sz="1150" b="0" i="0">
                          <a:solidFill>
                            <a:srgbClr val="1E2430"/>
                          </a:solidFill>
                          <a:latin typeface="Calibri"/>
                          <a:ea typeface="Calibri"/>
                          <a:cs typeface="Calibri"/>
                        </a:rPr>
                        <a:t>Hội tụ ổn định → Không kích hoạt ngoài ý muốn (0,00)</a:t>
                      </a:r>
                    </a:p>
                  </a:txBody>
                  <a:tcPr marL="73152" marR="73152" marT="36576" marB="36576" anchor="ctr">
                    <a:solidFill>
                      <a:srgbClr val="F5F7FB"/>
                    </a:solidFill>
                  </a:tcPr>
                </a:tc>
              </a:tr>
              <a:tr h="548640">
                <a:tc>
                  <a:txBody>
                    <a:bodyPr/>
                    <a:lstStyle/>
                    <a:p>
                      <a:pPr algn="l"/>
                      <a:r>
                        <a:rPr sz="1150" b="1" i="0">
                          <a:solidFill>
                            <a:srgbClr val="1E2430"/>
                          </a:solidFill>
                          <a:latin typeface="Calibri"/>
                          <a:ea typeface="Calibri"/>
                          <a:cs typeface="Calibri"/>
                        </a:rPr>
                        <a:t>Griewank</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0,03</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0,10</a:t>
                      </a:r>
                    </a:p>
                  </a:txBody>
                  <a:tcPr marL="73152" marR="73152" marT="36576" marB="36576" anchor="ctr">
                    <a:solidFill>
                      <a:srgbClr val="FFFFFF"/>
                    </a:solidFill>
                  </a:tcPr>
                </a:tc>
                <a:tc>
                  <a:txBody>
                    <a:bodyPr/>
                    <a:lstStyle/>
                    <a:p>
                      <a:pPr algn="l"/>
                      <a:r>
                        <a:rPr sz="1150" b="0" i="0">
                          <a:solidFill>
                            <a:srgbClr val="1E2430"/>
                          </a:solidFill>
                          <a:latin typeface="Calibri"/>
                          <a:ea typeface="Calibri"/>
                          <a:cs typeface="Calibri"/>
                        </a:rPr>
                        <a:t>Không gian phẳng ở chiều cao → Kích hoạt restart nhẹ ở 50D (0,10)</a:t>
                      </a:r>
                    </a:p>
                  </a:txBody>
                  <a:tcPr marL="73152" marR="73152" marT="36576" marB="36576" anchor="ctr">
                    <a:solidFill>
                      <a:srgbClr val="FFFFFF"/>
                    </a:solidFill>
                  </a:tcPr>
                </a:tc>
              </a:tr>
            </a:tbl>
          </a:graphicData>
        </a:graphic>
      </p:graphicFrame>
      <p:sp>
        <p:nvSpPr>
          <p:cNvPr id="7" name="Rounded Rectangle 6"/>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D9822B"/>
                </a:solidFill>
                <a:latin typeface="Calibri"/>
                <a:ea typeface="Calibri"/>
                <a:cs typeface="Calibri"/>
              </a:rPr>
              <a:t>💡 Phân tích cơ chế tự động:  </a:t>
            </a:r>
          </a:p>
          <a:p>
            <a:pPr algn="l">
              <a:lnSpc>
                <a:spcPct val="112000"/>
              </a:lnSpc>
              <a:spcAft>
                <a:spcPts val="0"/>
              </a:spcAft>
            </a:pPr>
            <a:r>
              <a:rPr sz="1200" b="0" i="0">
                <a:solidFill>
                  <a:srgbClr val="1E2430"/>
                </a:solidFill>
                <a:latin typeface="Calibri"/>
                <a:ea typeface="Calibri"/>
                <a:cs typeface="Calibri"/>
              </a:rPr>
              <a:t>Trên 15/18 cấu hình, cơ chế ngẫu nhiên ở trạng thái nghỉ (0/0). Cơ chế chỉ can thiệp khi quần thể thực sự co cụm (Sphere 10D đạt 0,53 lần restart/run). Điều này chứng minh IDBO hoạt động có chọn lọc, không gây xáo trộn vô ích trên các hàm hội tụ tốt.</a:t>
            </a:r>
          </a:p>
        </p:txBody>
      </p:sp>
      <p:sp>
        <p:nvSpPr>
          <p:cNvPr id="9" name="Rectangle 8"/>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Tần suất kích hoạt cơ chế</a:t>
            </a:r>
          </a:p>
        </p:txBody>
      </p:sp>
      <p:sp>
        <p:nvSpPr>
          <p:cNvPr id="11" name="TextBox 10"/>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18 / 31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HỘI TỤ (CONVERGENCE)</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đường cong hội tụ DBO vs IDBO (dim = 10)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dim1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DBO vs IDBO · dim = 10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Đường màu cam (IDBO) chồng khít lên đường màu xanh (DBO) trên cả 6 hàm. IDBO không làm giảm tốc độ hội tụ tự nhiên của DBO gốc. Ở Sphere 10D dù có restart 0,53 lần/run nhưng chất lượng nghiệm cuối cùng vẫn được bảo toàn xuất sắc.</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Hội tụ dim = 10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19 / 31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HỘI TỤ (CONVERGENCE)</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đường cong hội tụ DBO vs IDBO (dim = 30)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dim3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DBO vs IDBO · dim = 30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Quá trình hội tụ của hai thuật toán hoàn toàn đồng pha. Griewank cùng về 0 tuyệt đối; Rosenbrock cùng dừng ở mức ~26,23. IDBO không làm phân rã cấu trúc nghiệm của DBO.</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Hội tụ dim = 30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20 / 31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HỘI TỤ (CONVERGENCE)</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đường cong hội tụ DBO vs IDBO (dim = 50)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convergence_dim5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DBO vs IDBO · dim = 50</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Ở số chiều lớn (50D), cả hai thuật toán tiếp tục duy trì mức nghiệm tuyệt đối 0 trên Rastrigin và Griewank. Ackley chạm sàn sai số dấu phẩy động 4,44e-16. Kết quả đối chứng giữa hai thuật toán là tương đương hoàn toàn.</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Hội tụ dim = 50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21 / 31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PHÂN BỐ (BOXPLOT)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phân bố sai số nghiệm Boxplot giữa DBO và IDBO (dim = 10)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boxplot_dim1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Hộp trái: DBO | Hộp phải: IDBO</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Từng cặp hộp xanh (DBO) và cam (IDBO) đặt cạnh nhau có trung vị, tứ phân vị và các điểm ngoại lai trùng khớp nhau. Đây là bằng chứng trực quan rõ ràng nhất khẳng định IDBO không làm biến động phân bố nghiệm của DBO.</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Boxplot dim = 10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22 / 31</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PHÂN BỐ (BOXPLOT)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phân bố sai số nghiệm Boxplot giữa DBO và IDBO (dim = 30)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boxplot_dim3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Hộp trái: DBO | Hộp phải: IDBO</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Hai hộp Rosenbrock đặt khít nhau ở mức ~26,2. Rastrigin có cùng đúng 1 điểm ngoại lai lớn do dùng chung bộ seed ngẫu nhiên độc lập. Không có bất kỳ hàm nào cho thấy sự suy giảm tính ổn định.</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Boxplot dim = 30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23 / 31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PHÂN BỐ (BOXPLOT)</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phân bố sai số nghiệm Boxplot giữa DBO và IDBO (dim = 50)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boxplot_dim50.png"/>
          <p:cNvPicPr>
            <a:picLocks noChangeAspect="1"/>
          </p:cNvPicPr>
          <p:nvPr/>
        </p:nvPicPr>
        <p:blipFill>
          <a:blip r:embed="rId2"/>
          <a:stretch>
            <a:fillRect/>
          </a:stretch>
        </p:blipFill>
        <p:spPr>
          <a:xfrm>
            <a:off x="2475815" y="1188720"/>
            <a:ext cx="7237321"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Hộp trái: DBO | Hộp phải: IDBO</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Toàn bộ 6 hàm ở chiều 50 tiếp tục duy trì phân bố tương đương tuyệt đối: Rastrigin và Griewank đạt 0 trên cả hai thuật toán; Rosenbrock cùng đạt trung vị 46,6. Kết luận đối chứng: Hòa 18/18 cấu hình.</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Boxplot dim = 50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24 / 31</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ĐỘ ĐA DẠNG QUẦN THỂ (DIVERSITY)</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Biến thiên độ đa dạng quần thể (Diversity) của IDBO (dim = 10)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diversity_dim10.png"/>
          <p:cNvPicPr>
            <a:picLocks noChangeAspect="1"/>
          </p:cNvPicPr>
          <p:nvPr/>
        </p:nvPicPr>
        <p:blipFill>
          <a:blip r:embed="rId2"/>
          <a:stretch>
            <a:fillRect/>
          </a:stretch>
        </p:blipFill>
        <p:spPr>
          <a:xfrm>
            <a:off x="2386894" y="1188720"/>
            <a:ext cx="7415164"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Sphere (đơn điệu) vs Rastrigin (đa cực)</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Hàm Rastrigin (đường đỏ) giữ độ đa dạng tự nhiên rất cao ~0,15, nằm cách xa ngưỡng 10⁻³ nên không kích hoạt can thiệp. Hàm Sphere (đường xanh) giảm dần về sát ngưỡng rồi nhích lên hình răng cưa từ vòng ~350, minh chứng cơ chế Restart hoạt động chính xác.</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Diversity dim = 10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25 / 31</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ĐỘ ĐA DẠNG QUẦN THỂ (DIVERSITY)</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Biến thiên độ đa dạng quần thể (Diversity) của IDBO (dim = 30)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diversity_dim30.png"/>
          <p:cNvPicPr>
            <a:picLocks noChangeAspect="1"/>
          </p:cNvPicPr>
          <p:nvPr/>
        </p:nvPicPr>
        <p:blipFill>
          <a:blip r:embed="rId2"/>
          <a:stretch>
            <a:fillRect/>
          </a:stretch>
        </p:blipFill>
        <p:spPr>
          <a:xfrm>
            <a:off x="2386894" y="1188720"/>
            <a:ext cx="7415164"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Độ đa dạng trên không gian 30D</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Ở 30 chiều, không gian tìm kiếm rộng lớn hơn khiến quần thể tự nhiên duy trì sự phân tán tốt hơn; Sphere giảm chậm hơn so với dim 10 (tần suất restart giảm từ 0,53 xuống 0,07 lần/run). Rastrigin vẫn duy trì đa dạng cao ổn định.</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Diversity dim = 30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26 / 31</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ĐỘ ĐA DẠNG QUẦN THỂ (DIVERSITY)</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Biến thiên độ đa dạng quần thể (Diversity) của IDBO (dim = 50)</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fig_diversity_dim50.png"/>
          <p:cNvPicPr>
            <a:picLocks noChangeAspect="1"/>
          </p:cNvPicPr>
          <p:nvPr/>
        </p:nvPicPr>
        <p:blipFill>
          <a:blip r:embed="rId2"/>
          <a:stretch>
            <a:fillRect/>
          </a:stretch>
        </p:blipFill>
        <p:spPr>
          <a:xfrm>
            <a:off x="2386894" y="1188720"/>
            <a:ext cx="7415164" cy="4160520"/>
          </a:xfrm>
          <a:prstGeom prst="rect">
            <a:avLst/>
          </a:prstGeom>
        </p:spPr>
      </p:pic>
      <p:sp>
        <p:nvSpPr>
          <p:cNvPr id="7" name="Rounded Rectangle 6"/>
          <p:cNvSpPr/>
          <p:nvPr/>
        </p:nvSpPr>
        <p:spPr>
          <a:xfrm>
            <a:off x="502920" y="1170432"/>
            <a:ext cx="2011680" cy="29260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170432"/>
            <a:ext cx="2011680" cy="292608"/>
          </a:xfrm>
          <a:prstGeom prst="rect">
            <a:avLst/>
          </a:prstGeom>
          <a:noFill/>
        </p:spPr>
        <p:txBody>
          <a:bodyPr wrap="square" anchor="ctr" lIns="0" rIns="0" tIns="0" bIns="0">
            <a:spAutoFit/>
          </a:bodyPr>
          <a:lstStyle/>
          <a:p>
            <a:pPr algn="ctr">
              <a:lnSpc>
                <a:spcPct val="100000"/>
              </a:lnSpc>
              <a:spcAft>
                <a:spcPts val="0"/>
              </a:spcAft>
            </a:pPr>
            <a:r>
              <a:rPr sz="1050" b="1" i="0">
                <a:solidFill>
                  <a:srgbClr val="FFFFFF"/>
                </a:solidFill>
                <a:latin typeface="Calibri"/>
                <a:ea typeface="Calibri"/>
                <a:cs typeface="Calibri"/>
              </a:rPr>
              <a:t>Độ đa dạng trên không gian 50D</a:t>
            </a:r>
          </a:p>
        </p:txBody>
      </p:sp>
      <p:sp>
        <p:nvSpPr>
          <p:cNvPr id="9" name="Rounded Rectangle 8"/>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1D6F6F"/>
                </a:solidFill>
                <a:latin typeface="Calibri"/>
                <a:ea typeface="Calibri"/>
                <a:cs typeface="Calibri"/>
              </a:rPr>
              <a:t>💡 Quan sát then chốt:  </a:t>
            </a:r>
          </a:p>
          <a:p>
            <a:pPr algn="l">
              <a:lnSpc>
                <a:spcPct val="112000"/>
              </a:lnSpc>
              <a:spcAft>
                <a:spcPts val="0"/>
              </a:spcAft>
            </a:pPr>
            <a:r>
              <a:rPr sz="1200" b="0" i="0">
                <a:solidFill>
                  <a:srgbClr val="1E2430"/>
                </a:solidFill>
                <a:latin typeface="Calibri"/>
                <a:ea typeface="Calibri"/>
                <a:cs typeface="Calibri"/>
              </a:rPr>
              <a:t>Xu hướng ở dim 50 đồng nhất với dim 30: cơ chế IDBO ở trạng thái nghỉ trên hầu hết các hàm mục tiêu. Điều này lý giải một cách khoa học tại sao kết quả của IDBO tương đương DBO trên bộ benchmark này: không phải do lỗi thuật toán mà do bài toán trơn chưa cần kích hoạt cơ chế thoát bẫy.</a:t>
            </a:r>
          </a:p>
        </p:txBody>
      </p:sp>
      <p:sp>
        <p:nvSpPr>
          <p:cNvPr id="11" name="Rectangle 10"/>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Diversity dim = 50</a:t>
            </a:r>
          </a:p>
        </p:txBody>
      </p:sp>
      <p:sp>
        <p:nvSpPr>
          <p:cNvPr id="13" name="TextBox 12"/>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27 / 31</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SO SÁNH ĐỐI CHỨNG</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So sánh kết quả tối ưu trung bình (Mean Fitness) giữa DBO và IDBO</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502920" y="1280160"/>
          <a:ext cx="11183112" cy="3730752"/>
        </p:xfrm>
        <a:graphic>
          <a:graphicData uri="http://schemas.openxmlformats.org/drawingml/2006/table">
            <a:tbl>
              <a:tblPr firstRow="1" bandRow="1">
                <a:tableStyleId>{5C22544A-7EE6-4342-B048-85BDC9FD1C3A}</a:tableStyleId>
              </a:tblPr>
              <a:tblGrid>
                <a:gridCol w="1920240"/>
                <a:gridCol w="2560320"/>
                <a:gridCol w="2560320"/>
                <a:gridCol w="2560320"/>
                <a:gridCol w="1581912"/>
              </a:tblGrid>
              <a:tr h="438912">
                <a:tc>
                  <a:txBody>
                    <a:bodyPr/>
                    <a:lstStyle/>
                    <a:p>
                      <a:pPr algn="l"/>
                      <a:r>
                        <a:rPr sz="1200" b="1" i="0">
                          <a:solidFill>
                            <a:srgbClr val="FFFFFF"/>
                          </a:solidFill>
                          <a:latin typeface="Calibri"/>
                          <a:ea typeface="Calibri"/>
                          <a:cs typeface="Calibri"/>
                        </a:rPr>
                        <a:t>Hàm mục tiêu</a:t>
                      </a:r>
                    </a:p>
                  </a:txBody>
                  <a:tcPr marL="73152" marR="73152" marT="36576" marB="36576" anchor="ctr">
                    <a:solidFill>
                      <a:srgbClr val="1D6F6F"/>
                    </a:solidFill>
                  </a:tcPr>
                </a:tc>
                <a:tc>
                  <a:txBody>
                    <a:bodyPr/>
                    <a:lstStyle/>
                    <a:p>
                      <a:pPr algn="ctr"/>
                      <a:r>
                        <a:rPr sz="1200" b="1" i="0">
                          <a:solidFill>
                            <a:srgbClr val="FFFFFF"/>
                          </a:solidFill>
                          <a:latin typeface="Calibri"/>
                          <a:ea typeface="Calibri"/>
                          <a:cs typeface="Calibri"/>
                        </a:rPr>
                        <a:t>dim = 10 (DBO vs IDBO)</a:t>
                      </a:r>
                    </a:p>
                  </a:txBody>
                  <a:tcPr marL="73152" marR="73152" marT="36576" marB="36576" anchor="ctr">
                    <a:solidFill>
                      <a:srgbClr val="1D6F6F"/>
                    </a:solidFill>
                  </a:tcPr>
                </a:tc>
                <a:tc>
                  <a:txBody>
                    <a:bodyPr/>
                    <a:lstStyle/>
                    <a:p>
                      <a:pPr algn="ctr"/>
                      <a:r>
                        <a:rPr sz="1200" b="1" i="0">
                          <a:solidFill>
                            <a:srgbClr val="FFFFFF"/>
                          </a:solidFill>
                          <a:latin typeface="Calibri"/>
                          <a:ea typeface="Calibri"/>
                          <a:cs typeface="Calibri"/>
                        </a:rPr>
                        <a:t>dim = 30 (DBO vs IDBO)</a:t>
                      </a:r>
                    </a:p>
                  </a:txBody>
                  <a:tcPr marL="73152" marR="73152" marT="36576" marB="36576" anchor="ctr">
                    <a:solidFill>
                      <a:srgbClr val="1D6F6F"/>
                    </a:solidFill>
                  </a:tcPr>
                </a:tc>
                <a:tc>
                  <a:txBody>
                    <a:bodyPr/>
                    <a:lstStyle/>
                    <a:p>
                      <a:pPr algn="ctr"/>
                      <a:r>
                        <a:rPr sz="1200" b="1" i="0">
                          <a:solidFill>
                            <a:srgbClr val="FFFFFF"/>
                          </a:solidFill>
                          <a:latin typeface="Calibri"/>
                          <a:ea typeface="Calibri"/>
                          <a:cs typeface="Calibri"/>
                        </a:rPr>
                        <a:t>dim = 50 (DBO vs IDBO)</a:t>
                      </a:r>
                    </a:p>
                  </a:txBody>
                  <a:tcPr marL="73152" marR="73152" marT="36576" marB="36576" anchor="ctr">
                    <a:solidFill>
                      <a:srgbClr val="1D6F6F"/>
                    </a:solidFill>
                  </a:tcPr>
                </a:tc>
                <a:tc>
                  <a:txBody>
                    <a:bodyPr/>
                    <a:lstStyle/>
                    <a:p>
                      <a:pPr algn="ctr"/>
                      <a:r>
                        <a:rPr sz="1200" b="1" i="0">
                          <a:solidFill>
                            <a:srgbClr val="FFFFFF"/>
                          </a:solidFill>
                          <a:latin typeface="Calibri"/>
                          <a:ea typeface="Calibri"/>
                          <a:cs typeface="Calibri"/>
                        </a:rPr>
                        <a:t>Kết luận so sánh</a:t>
                      </a:r>
                    </a:p>
                  </a:txBody>
                  <a:tcPr marL="73152" marR="73152" marT="36576" marB="36576" anchor="ctr">
                    <a:solidFill>
                      <a:srgbClr val="1D6F6F"/>
                    </a:solidFill>
                  </a:tcPr>
                </a:tc>
              </a:tr>
              <a:tr h="548640">
                <a:tc>
                  <a:txBody>
                    <a:bodyPr/>
                    <a:lstStyle/>
                    <a:p>
                      <a:pPr algn="l"/>
                      <a:r>
                        <a:rPr sz="1150" b="1" i="0">
                          <a:solidFill>
                            <a:srgbClr val="1E2430"/>
                          </a:solidFill>
                          <a:latin typeface="Calibri"/>
                          <a:ea typeface="Calibri"/>
                          <a:cs typeface="Calibri"/>
                        </a:rPr>
                        <a:t>Sphere</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3,49e-153 | 3,49e-153</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2,06e-158 | 2,06e-158</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5,70e-168 | 5,70e-168</a:t>
                      </a:r>
                    </a:p>
                  </a:txBody>
                  <a:tcPr marL="73152" marR="73152" marT="36576" marB="36576" anchor="ctr">
                    <a:solidFill>
                      <a:srgbClr val="F5F7FB"/>
                    </a:solidFill>
                  </a:tcPr>
                </a:tc>
                <a:tc>
                  <a:txBody>
                    <a:bodyPr/>
                    <a:lstStyle/>
                    <a:p>
                      <a:pPr algn="ctr"/>
                      <a:r>
                        <a:rPr sz="1150" b="1" i="0">
                          <a:solidFill>
                            <a:srgbClr val="217A4B"/>
                          </a:solidFill>
                          <a:latin typeface="Calibri"/>
                          <a:ea typeface="Calibri"/>
                          <a:cs typeface="Calibri"/>
                        </a:rPr>
                        <a:t>Hòa (3/3 cấu hình)</a:t>
                      </a:r>
                    </a:p>
                  </a:txBody>
                  <a:tcPr marL="73152" marR="73152" marT="36576" marB="36576" anchor="ctr">
                    <a:solidFill>
                      <a:srgbClr val="F5F7FB"/>
                    </a:solidFill>
                  </a:tcPr>
                </a:tc>
              </a:tr>
              <a:tr h="548640">
                <a:tc>
                  <a:txBody>
                    <a:bodyPr/>
                    <a:lstStyle/>
                    <a:p>
                      <a:pPr algn="l"/>
                      <a:r>
                        <a:rPr sz="1150" b="1" i="0">
                          <a:solidFill>
                            <a:srgbClr val="1E2430"/>
                          </a:solidFill>
                          <a:latin typeface="Calibri"/>
                          <a:ea typeface="Calibri"/>
                          <a:cs typeface="Calibri"/>
                        </a:rPr>
                        <a:t>Schwefel 2.22</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6,70e-82 | 6,70e-82</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3,60e-87 | 3,60e-87</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4,18e-82 | 4,18e-82</a:t>
                      </a:r>
                    </a:p>
                  </a:txBody>
                  <a:tcPr marL="73152" marR="73152" marT="36576" marB="36576" anchor="ctr">
                    <a:solidFill>
                      <a:srgbClr val="FFFFFF"/>
                    </a:solidFill>
                  </a:tcPr>
                </a:tc>
                <a:tc>
                  <a:txBody>
                    <a:bodyPr/>
                    <a:lstStyle/>
                    <a:p>
                      <a:pPr algn="ctr"/>
                      <a:r>
                        <a:rPr sz="1150" b="1" i="0">
                          <a:solidFill>
                            <a:srgbClr val="217A4B"/>
                          </a:solidFill>
                          <a:latin typeface="Calibri"/>
                          <a:ea typeface="Calibri"/>
                          <a:cs typeface="Calibri"/>
                        </a:rPr>
                        <a:t>Hòa (3/3 cấu hình)</a:t>
                      </a:r>
                    </a:p>
                  </a:txBody>
                  <a:tcPr marL="73152" marR="73152" marT="36576" marB="36576" anchor="ctr">
                    <a:solidFill>
                      <a:srgbClr val="FFFFFF"/>
                    </a:solidFill>
                  </a:tcPr>
                </a:tc>
              </a:tr>
              <a:tr h="548640">
                <a:tc>
                  <a:txBody>
                    <a:bodyPr/>
                    <a:lstStyle/>
                    <a:p>
                      <a:pPr algn="l"/>
                      <a:r>
                        <a:rPr sz="1150" b="1" i="0">
                          <a:solidFill>
                            <a:srgbClr val="1E2430"/>
                          </a:solidFill>
                          <a:latin typeface="Calibri"/>
                          <a:ea typeface="Calibri"/>
                          <a:cs typeface="Calibri"/>
                        </a:rPr>
                        <a:t>Rosenbrock</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5,611 | 5,611</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26,23 | 26,23</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46,65 | 46,65</a:t>
                      </a:r>
                    </a:p>
                  </a:txBody>
                  <a:tcPr marL="73152" marR="73152" marT="36576" marB="36576" anchor="ctr">
                    <a:solidFill>
                      <a:srgbClr val="F5F7FB"/>
                    </a:solidFill>
                  </a:tcPr>
                </a:tc>
                <a:tc>
                  <a:txBody>
                    <a:bodyPr/>
                    <a:lstStyle/>
                    <a:p>
                      <a:pPr algn="ctr"/>
                      <a:r>
                        <a:rPr sz="1150" b="1" i="0">
                          <a:solidFill>
                            <a:srgbClr val="217A4B"/>
                          </a:solidFill>
                          <a:latin typeface="Calibri"/>
                          <a:ea typeface="Calibri"/>
                          <a:cs typeface="Calibri"/>
                        </a:rPr>
                        <a:t>Hòa (3/3 cấu hình)</a:t>
                      </a:r>
                    </a:p>
                  </a:txBody>
                  <a:tcPr marL="73152" marR="73152" marT="36576" marB="36576" anchor="ctr">
                    <a:solidFill>
                      <a:srgbClr val="F5F7FB"/>
                    </a:solidFill>
                  </a:tcPr>
                </a:tc>
              </a:tr>
              <a:tr h="548640">
                <a:tc>
                  <a:txBody>
                    <a:bodyPr/>
                    <a:lstStyle/>
                    <a:p>
                      <a:pPr algn="l"/>
                      <a:r>
                        <a:rPr sz="1150" b="1" i="0">
                          <a:solidFill>
                            <a:srgbClr val="1E2430"/>
                          </a:solidFill>
                          <a:latin typeface="Calibri"/>
                          <a:ea typeface="Calibri"/>
                          <a:cs typeface="Calibri"/>
                        </a:rPr>
                        <a:t>Rastrigin</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2,741 | 2,741</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4,847 | 4,847</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FFFFF"/>
                    </a:solidFill>
                  </a:tcPr>
                </a:tc>
                <a:tc>
                  <a:txBody>
                    <a:bodyPr/>
                    <a:lstStyle/>
                    <a:p>
                      <a:pPr algn="ctr"/>
                      <a:r>
                        <a:rPr sz="1150" b="1" i="0">
                          <a:solidFill>
                            <a:srgbClr val="217A4B"/>
                          </a:solidFill>
                          <a:latin typeface="Calibri"/>
                          <a:ea typeface="Calibri"/>
                          <a:cs typeface="Calibri"/>
                        </a:rPr>
                        <a:t>Hòa (3/3 cấu hình)</a:t>
                      </a:r>
                    </a:p>
                  </a:txBody>
                  <a:tcPr marL="73152" marR="73152" marT="36576" marB="36576" anchor="ctr">
                    <a:solidFill>
                      <a:srgbClr val="FFFFFF"/>
                    </a:solidFill>
                  </a:tcPr>
                </a:tc>
              </a:tr>
              <a:tr h="548640">
                <a:tc>
                  <a:txBody>
                    <a:bodyPr/>
                    <a:lstStyle/>
                    <a:p>
                      <a:pPr algn="l"/>
                      <a:r>
                        <a:rPr sz="1150" b="1" i="0">
                          <a:solidFill>
                            <a:srgbClr val="1E2430"/>
                          </a:solidFill>
                          <a:latin typeface="Calibri"/>
                          <a:ea typeface="Calibri"/>
                          <a:cs typeface="Calibri"/>
                        </a:rPr>
                        <a:t>Ackley</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4,44e-16 | 4,44e-16</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4,44e-16 | 4,44e-16</a:t>
                      </a:r>
                    </a:p>
                  </a:txBody>
                  <a:tcPr marL="73152" marR="73152" marT="36576" marB="36576" anchor="ctr">
                    <a:solidFill>
                      <a:srgbClr val="F5F7FB"/>
                    </a:solidFill>
                  </a:tcPr>
                </a:tc>
                <a:tc>
                  <a:txBody>
                    <a:bodyPr/>
                    <a:lstStyle/>
                    <a:p>
                      <a:pPr algn="ctr"/>
                      <a:r>
                        <a:rPr sz="1150" b="0" i="0">
                          <a:solidFill>
                            <a:srgbClr val="1E2430"/>
                          </a:solidFill>
                          <a:latin typeface="Calibri"/>
                          <a:ea typeface="Calibri"/>
                          <a:cs typeface="Calibri"/>
                        </a:rPr>
                        <a:t>4,44e-16 | 4,44e-16</a:t>
                      </a:r>
                    </a:p>
                  </a:txBody>
                  <a:tcPr marL="73152" marR="73152" marT="36576" marB="36576" anchor="ctr">
                    <a:solidFill>
                      <a:srgbClr val="F5F7FB"/>
                    </a:solidFill>
                  </a:tcPr>
                </a:tc>
                <a:tc>
                  <a:txBody>
                    <a:bodyPr/>
                    <a:lstStyle/>
                    <a:p>
                      <a:pPr algn="ctr"/>
                      <a:r>
                        <a:rPr sz="1150" b="1" i="0">
                          <a:solidFill>
                            <a:srgbClr val="217A4B"/>
                          </a:solidFill>
                          <a:latin typeface="Calibri"/>
                          <a:ea typeface="Calibri"/>
                          <a:cs typeface="Calibri"/>
                        </a:rPr>
                        <a:t>Hòa (3/3 cấu hình)</a:t>
                      </a:r>
                    </a:p>
                  </a:txBody>
                  <a:tcPr marL="73152" marR="73152" marT="36576" marB="36576" anchor="ctr">
                    <a:solidFill>
                      <a:srgbClr val="F5F7FB"/>
                    </a:solidFill>
                  </a:tcPr>
                </a:tc>
              </a:tr>
              <a:tr h="548640">
                <a:tc>
                  <a:txBody>
                    <a:bodyPr/>
                    <a:lstStyle/>
                    <a:p>
                      <a:pPr algn="l"/>
                      <a:r>
                        <a:rPr sz="1150" b="1" i="0">
                          <a:solidFill>
                            <a:srgbClr val="1E2430"/>
                          </a:solidFill>
                          <a:latin typeface="Calibri"/>
                          <a:ea typeface="Calibri"/>
                          <a:cs typeface="Calibri"/>
                        </a:rPr>
                        <a:t>Griewank</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0,0349 | 0,0349</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FFFFF"/>
                    </a:solidFill>
                  </a:tcPr>
                </a:tc>
                <a:tc>
                  <a:txBody>
                    <a:bodyPr/>
                    <a:lstStyle/>
                    <a:p>
                      <a:pPr algn="ctr"/>
                      <a:r>
                        <a:rPr sz="1150" b="0" i="0">
                          <a:solidFill>
                            <a:srgbClr val="1E2430"/>
                          </a:solidFill>
                          <a:latin typeface="Calibri"/>
                          <a:ea typeface="Calibri"/>
                          <a:cs typeface="Calibri"/>
                        </a:rPr>
                        <a:t>0 | 0</a:t>
                      </a:r>
                    </a:p>
                  </a:txBody>
                  <a:tcPr marL="73152" marR="73152" marT="36576" marB="36576" anchor="ctr">
                    <a:solidFill>
                      <a:srgbClr val="FFFFFF"/>
                    </a:solidFill>
                  </a:tcPr>
                </a:tc>
                <a:tc>
                  <a:txBody>
                    <a:bodyPr/>
                    <a:lstStyle/>
                    <a:p>
                      <a:pPr algn="ctr"/>
                      <a:r>
                        <a:rPr sz="1150" b="1" i="0">
                          <a:solidFill>
                            <a:srgbClr val="217A4B"/>
                          </a:solidFill>
                          <a:latin typeface="Calibri"/>
                          <a:ea typeface="Calibri"/>
                          <a:cs typeface="Calibri"/>
                        </a:rPr>
                        <a:t>Hòa (3/3 cấu hình)</a:t>
                      </a:r>
                    </a:p>
                  </a:txBody>
                  <a:tcPr marL="73152" marR="73152" marT="36576" marB="36576" anchor="ctr">
                    <a:solidFill>
                      <a:srgbClr val="FFFFFF"/>
                    </a:solidFill>
                  </a:tcPr>
                </a:tc>
              </a:tr>
            </a:tbl>
          </a:graphicData>
        </a:graphic>
      </p:graphicFrame>
      <p:sp>
        <p:nvSpPr>
          <p:cNvPr id="7" name="Rounded Rectangle 6"/>
          <p:cNvSpPr/>
          <p:nvPr/>
        </p:nvSpPr>
        <p:spPr>
          <a:xfrm>
            <a:off x="502920" y="5440680"/>
            <a:ext cx="11183112" cy="877824"/>
          </a:xfrm>
          <a:prstGeom prst="roundRect">
            <a:avLst/>
          </a:prstGeom>
          <a:solidFill>
            <a:srgbClr val="F5F7FB"/>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5532120"/>
            <a:ext cx="10744200" cy="713232"/>
          </a:xfrm>
          <a:prstGeom prst="rect">
            <a:avLst/>
          </a:prstGeom>
          <a:noFill/>
        </p:spPr>
        <p:txBody>
          <a:bodyPr wrap="square" anchor="t" lIns="0" rIns="0" tIns="0" bIns="0">
            <a:spAutoFit/>
          </a:bodyPr>
          <a:lstStyle/>
          <a:p>
            <a:pPr algn="l">
              <a:lnSpc>
                <a:spcPct val="112000"/>
              </a:lnSpc>
              <a:spcAft>
                <a:spcPts val="0"/>
              </a:spcAft>
            </a:pPr>
            <a:r>
              <a:rPr sz="1250" b="1" i="0">
                <a:solidFill>
                  <a:srgbClr val="D9822B"/>
                </a:solidFill>
                <a:latin typeface="Calibri"/>
                <a:ea typeface="Calibri"/>
                <a:cs typeface="Calibri"/>
              </a:rPr>
              <a:t>💡 Đánh giá khoa học khách quan:  </a:t>
            </a:r>
          </a:p>
          <a:p>
            <a:pPr algn="l">
              <a:lnSpc>
                <a:spcPct val="112000"/>
              </a:lnSpc>
              <a:spcAft>
                <a:spcPts val="0"/>
              </a:spcAft>
            </a:pPr>
            <a:r>
              <a:rPr sz="1200" b="0" i="0">
                <a:solidFill>
                  <a:srgbClr val="1E2430"/>
                </a:solidFill>
                <a:latin typeface="Calibri"/>
                <a:ea typeface="Calibri"/>
                <a:cs typeface="Calibri"/>
              </a:rPr>
              <a:t>Trên toàn bộ 18/18 cấu hình thực nghiệm (6 hàm × 3 mức chiều), IDBO và DBO đều đạt kết quả Hòa (chênh lệch Mean &lt; 1%). Kết quả này khẳng định IDBO bảo toàn tuyệt đối chất lượng nghiệm của DBO gốc, không làm giảm tốc độ hội tụ và kiểm soát rủi ro phân rã nghiệm thành công 100%.</a:t>
            </a:r>
          </a:p>
        </p:txBody>
      </p:sp>
      <p:sp>
        <p:nvSpPr>
          <p:cNvPr id="9" name="Rectangle 8"/>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Bảng đối chứng DBO vs IDBO</a:t>
            </a:r>
          </a:p>
        </p:txBody>
      </p:sp>
      <p:sp>
        <p:nvSpPr>
          <p:cNvPr id="11" name="TextBox 10"/>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28 / 31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PHÂN TÍCH CHUYÊN SÂU</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Đánh giá chi phí tính toán &amp; Bản chất tương đương nghiệm</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10927080" cy="4754880"/>
          </a:xfrm>
          <a:prstGeom prst="rect">
            <a:avLst/>
          </a:prstGeom>
          <a:noFill/>
        </p:spPr>
        <p:txBody>
          <a:bodyPr wrap="square">
            <a:spAutoFit/>
          </a:bodyPr>
          <a:lstStyle/>
          <a:p>
            <a:pPr>
              <a:spcAft>
                <a:spcPts val="1400"/>
              </a:spcAft>
            </a:pPr>
            <a:r>
              <a:rPr sz="1400" b="1" i="0">
                <a:solidFill>
                  <a:srgbClr val="1D6F6F"/>
                </a:solidFill>
                <a:latin typeface="Calibri"/>
                <a:ea typeface="Calibri"/>
                <a:cs typeface="Calibri"/>
              </a:rPr>
              <a:t>▪  </a:t>
            </a:r>
            <a:r>
              <a:rPr sz="1400" b="1" i="0">
                <a:solidFill>
                  <a:srgbClr val="1B2A4A"/>
                </a:solidFill>
                <a:latin typeface="Calibri"/>
                <a:ea typeface="Calibri"/>
                <a:cs typeface="Calibri"/>
              </a:rPr>
              <a:t>Thời gian thực thi tăng trong mức cho phép (15–20%):  </a:t>
            </a:r>
            <a:r>
              <a:rPr sz="1400" b="0" i="0">
                <a:solidFill>
                  <a:srgbClr val="1E2430"/>
                </a:solidFill>
                <a:latin typeface="Calibri"/>
                <a:ea typeface="Calibri"/>
                <a:cs typeface="Calibri"/>
              </a:rPr>
              <a:t>Thời gian chạy của IDBO tăng nhẹ (ví dụ Sphere 10D từ 0,27s lên 0,32s/run). Nguyên nhân hoàn toàn do thuật toán phải đánh giá lại hàm mục tiêu khi có cá thể bị can thiệp.</a:t>
            </a:r>
          </a:p>
          <a:p>
            <a:pPr>
              <a:spcAft>
                <a:spcPts val="1400"/>
              </a:spcAft>
            </a:pPr>
            <a:r>
              <a:rPr sz="1400" b="1" i="0">
                <a:solidFill>
                  <a:srgbClr val="1D6F6F"/>
                </a:solidFill>
                <a:latin typeface="Calibri"/>
                <a:ea typeface="Calibri"/>
                <a:cs typeface="Calibri"/>
              </a:rPr>
              <a:t>▪  </a:t>
            </a:r>
            <a:r>
              <a:rPr sz="1400" b="1" i="0">
                <a:solidFill>
                  <a:srgbClr val="1B2A4A"/>
                </a:solidFill>
                <a:latin typeface="Calibri"/>
                <a:ea typeface="Calibri"/>
                <a:cs typeface="Calibri"/>
              </a:rPr>
              <a:t>Tiết kiệm triệt để số lần đánh giá hàm mục tiêu (Evals):  </a:t>
            </a:r>
            <a:r>
              <a:rPr sz="1400" b="0" i="0">
                <a:solidFill>
                  <a:srgbClr val="1E2430"/>
                </a:solidFill>
                <a:latin typeface="Calibri"/>
                <a:ea typeface="Calibri"/>
                <a:cs typeface="Calibri"/>
              </a:rPr>
              <a:t>Thuật toán DBO gốc tiêu thụ cố định 15.030,0 evals. IDBO chỉ tiêu thụ trung bình từ 15.030,0 đến 15.034,3 evals (tăng cao nhất vỏn vẹn 4,3 evals/run ở Sphere 10D, tương đương mức tăng 0,028% — gần như bằng 0).</a:t>
            </a:r>
          </a:p>
          <a:p>
            <a:pPr>
              <a:spcAft>
                <a:spcPts val="1400"/>
              </a:spcAft>
            </a:pPr>
            <a:r>
              <a:rPr sz="1400" b="1" i="0">
                <a:solidFill>
                  <a:srgbClr val="1D6F6F"/>
                </a:solidFill>
                <a:latin typeface="Calibri"/>
                <a:ea typeface="Calibri"/>
                <a:cs typeface="Calibri"/>
              </a:rPr>
              <a:t>▪  </a:t>
            </a:r>
            <a:r>
              <a:rPr sz="1400" b="1" i="0">
                <a:solidFill>
                  <a:srgbClr val="1B2A4A"/>
                </a:solidFill>
                <a:latin typeface="Calibri"/>
                <a:ea typeface="Calibri"/>
                <a:cs typeface="Calibri"/>
              </a:rPr>
              <a:t>Cơ chế kích hoạt có điều kiện hoạt động chuẩn xác:  </a:t>
            </a:r>
            <a:r>
              <a:rPr sz="1400" b="0" i="0">
                <a:solidFill>
                  <a:srgbClr val="1E2430"/>
                </a:solidFill>
                <a:latin typeface="Calibri"/>
                <a:ea typeface="Calibri"/>
                <a:cs typeface="Calibri"/>
              </a:rPr>
              <a:t>Do chỉ can thiệp khi Diversity &lt; 10⁻³ và Stagnation ≥ 25, quần thể bọ hung trên các hàm hội tụ tốt không bị xáo trộn vô ích, tránh lãng phí năng lực tính toán.</a:t>
            </a:r>
          </a:p>
          <a:p>
            <a:pPr>
              <a:spcAft>
                <a:spcPts val="1400"/>
              </a:spcAft>
            </a:pPr>
            <a:r>
              <a:rPr sz="1400" b="1" i="0">
                <a:solidFill>
                  <a:srgbClr val="1D6F6F"/>
                </a:solidFill>
                <a:latin typeface="Calibri"/>
                <a:ea typeface="Calibri"/>
                <a:cs typeface="Calibri"/>
              </a:rPr>
              <a:t>▪  </a:t>
            </a:r>
            <a:r>
              <a:rPr sz="1400" b="1" i="0">
                <a:solidFill>
                  <a:srgbClr val="1B2A4A"/>
                </a:solidFill>
                <a:latin typeface="Calibri"/>
                <a:ea typeface="Calibri"/>
                <a:cs typeface="Calibri"/>
              </a:rPr>
              <a:t>Định vị giá trị thực tế cho bài toán Tuần 7:  </a:t>
            </a:r>
            <a:r>
              <a:rPr sz="1400" b="0" i="0">
                <a:solidFill>
                  <a:srgbClr val="1E2430"/>
                </a:solidFill>
                <a:latin typeface="Calibri"/>
                <a:ea typeface="Calibri"/>
                <a:cs typeface="Calibri"/>
              </a:rPr>
              <a:t>Kết quả Hòa trên benchmark liên tục là hoàn toàn hợp lý vì DBO vốn đã giải quyết rất tốt các hàm này. Sức mạnh thoát bẫy cực trị của IDBO sẽ phát huy tối đa ở không gian rời rạc phức tạp của bài toán thực đơn dinh dưỡng.</a:t>
            </a:r>
          </a:p>
        </p:txBody>
      </p:sp>
      <p:sp>
        <p:nvSpPr>
          <p:cNvPr id="7" name="Rectangle 6"/>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Phân tích chi phí tính toán</a:t>
            </a:r>
          </a:p>
        </p:txBody>
      </p:sp>
      <p:sp>
        <p:nvSpPr>
          <p:cNvPr id="9" name="TextBox 8"/>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29 / 31</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28016"/>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274320"/>
            <a:ext cx="11183112" cy="237744"/>
          </a:xfrm>
          <a:prstGeom prst="rect">
            <a:avLst/>
          </a:prstGeom>
          <a:noFill/>
        </p:spPr>
        <p:txBody>
          <a:bodyPr wrap="square" anchor="t" lIns="0" rIns="0" tIns="0" bIns="0">
            <a:spAutoFit/>
          </a:bodyPr>
          <a:lstStyle/>
          <a:p>
            <a:pPr algn="l">
              <a:lnSpc>
                <a:spcPct val="100000"/>
              </a:lnSpc>
              <a:spcAft>
                <a:spcPts val="0"/>
              </a:spcAft>
            </a:pPr>
            <a:r>
              <a:rPr sz="1150" b="1" i="0">
                <a:solidFill>
                  <a:srgbClr val="1D6F6F"/>
                </a:solidFill>
                <a:latin typeface="Calibri"/>
                <a:ea typeface="Calibri"/>
                <a:cs typeface="Calibri"/>
              </a:rPr>
              <a:t>ĐÁNH GIÁ KHOA HỌC TOÀN DIỆN</a:t>
            </a:r>
          </a:p>
        </p:txBody>
      </p:sp>
      <p:sp>
        <p:nvSpPr>
          <p:cNvPr id="4" name="TextBox 3"/>
          <p:cNvSpPr txBox="1"/>
          <p:nvPr/>
        </p:nvSpPr>
        <p:spPr>
          <a:xfrm>
            <a:off x="502920" y="530352"/>
            <a:ext cx="11183112" cy="475488"/>
          </a:xfrm>
          <a:prstGeom prst="rect">
            <a:avLst/>
          </a:prstGeom>
          <a:noFill/>
        </p:spPr>
        <p:txBody>
          <a:bodyPr wrap="square" anchor="t" lIns="0" rIns="0" tIns="0" bIns="0">
            <a:spAutoFit/>
          </a:bodyPr>
          <a:lstStyle/>
          <a:p>
            <a:pPr algn="l">
              <a:lnSpc>
                <a:spcPct val="100000"/>
              </a:lnSpc>
              <a:spcAft>
                <a:spcPts val="0"/>
              </a:spcAft>
            </a:pPr>
            <a:r>
              <a:rPr sz="2400" b="1" i="0">
                <a:solidFill>
                  <a:srgbClr val="1B2A4A"/>
                </a:solidFill>
                <a:latin typeface="Calibri"/>
                <a:ea typeface="Calibri"/>
                <a:cs typeface="Calibri"/>
              </a:rPr>
              <a:t>Tổng kết đánh giá thực nghiệm Tuần 4 – 6 (DBO &amp; IDBO)</a:t>
            </a:r>
          </a:p>
        </p:txBody>
      </p:sp>
      <p:sp>
        <p:nvSpPr>
          <p:cNvPr id="5" name="Rectangle 4"/>
          <p:cNvSpPr/>
          <p:nvPr/>
        </p:nvSpPr>
        <p:spPr>
          <a:xfrm>
            <a:off x="502920" y="1042415"/>
            <a:ext cx="11183112" cy="1524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280160"/>
            <a:ext cx="2679192" cy="493776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280160"/>
            <a:ext cx="2679192" cy="475488"/>
          </a:xfrm>
          <a:prstGeom prst="round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02920" y="1554480"/>
            <a:ext cx="2679192" cy="201168"/>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353312"/>
            <a:ext cx="2423160" cy="320040"/>
          </a:xfrm>
          <a:prstGeom prst="rect">
            <a:avLst/>
          </a:prstGeom>
          <a:noFill/>
        </p:spPr>
        <p:txBody>
          <a:bodyPr wrap="square" anchor="t" lIns="0" rIns="0" tIns="0" bIns="0">
            <a:spAutoFit/>
          </a:bodyPr>
          <a:lstStyle/>
          <a:p>
            <a:pPr algn="ctr">
              <a:lnSpc>
                <a:spcPct val="100000"/>
              </a:lnSpc>
              <a:spcAft>
                <a:spcPts val="0"/>
              </a:spcAft>
            </a:pPr>
            <a:r>
              <a:rPr sz="1150" b="1" i="0">
                <a:solidFill>
                  <a:srgbClr val="FFFFFF"/>
                </a:solidFill>
                <a:latin typeface="Calibri"/>
                <a:ea typeface="Calibri"/>
                <a:cs typeface="Calibri"/>
              </a:rPr>
              <a:t>1. CHUẨN XÁC &amp; ĐẦY ĐỦ</a:t>
            </a:r>
          </a:p>
        </p:txBody>
      </p:sp>
      <p:sp>
        <p:nvSpPr>
          <p:cNvPr id="10" name="TextBox 9"/>
          <p:cNvSpPr txBox="1"/>
          <p:nvPr/>
        </p:nvSpPr>
        <p:spPr>
          <a:xfrm>
            <a:off x="667512" y="1920240"/>
            <a:ext cx="2350008" cy="4114800"/>
          </a:xfrm>
          <a:prstGeom prst="rect">
            <a:avLst/>
          </a:prstGeom>
          <a:noFill/>
        </p:spPr>
        <p:txBody>
          <a:bodyPr wrap="square" anchor="t" lIns="0" rIns="0" tIns="0" bIns="0">
            <a:spAutoFit/>
          </a:bodyPr>
          <a:lstStyle/>
          <a:p>
            <a:pPr algn="l">
              <a:lnSpc>
                <a:spcPct val="118000"/>
              </a:lnSpc>
              <a:spcAft>
                <a:spcPts val="0"/>
              </a:spcAft>
            </a:pPr>
            <a:r>
              <a:rPr sz="1100" b="1" i="0">
                <a:solidFill>
                  <a:srgbClr val="1B2A4A"/>
                </a:solidFill>
                <a:latin typeface="Calibri"/>
                <a:ea typeface="Calibri"/>
                <a:cs typeface="Calibri"/>
              </a:rPr>
              <a:t>Cài đặt chuẩn lý thuyết:
</a:t>
            </a:r>
            <a:r>
              <a:rPr sz="1100" b="0" i="0">
                <a:solidFill>
                  <a:srgbClr val="1E2430"/>
                </a:solidFill>
                <a:latin typeface="Calibri"/>
                <a:ea typeface="Calibri"/>
                <a:cs typeface="Calibri"/>
              </a:rPr>
              <a:t>Thuật toán DBO gốc phản ánh chính xác bài báo của Xue &amp; Shen (2023), vượt qua 100% 128 unit tests.
</a:t>
            </a:r>
            <a:r>
              <a:rPr sz="1100" b="1" i="0">
                <a:solidFill>
                  <a:srgbClr val="1B2A4A"/>
                </a:solidFill>
                <a:latin typeface="Calibri"/>
                <a:ea typeface="Calibri"/>
                <a:cs typeface="Calibri"/>
              </a:rPr>
              <a:t>Thực nghiệm quy mô lớn:
</a:t>
            </a:r>
            <a:r>
              <a:rPr sz="1100" b="0" i="0">
                <a:solidFill>
                  <a:srgbClr val="1E2430"/>
                </a:solidFill>
                <a:latin typeface="Calibri"/>
                <a:ea typeface="Calibri"/>
                <a:cs typeface="Calibri"/>
              </a:rPr>
              <a:t>Tổng cộng 1.620 lượt chạy thực nghiệm độc lập (540 DBO + 1.080 DBO &amp; IDBO) trên 6 hàm chuẩn và 3 mức chiều (10, 30, 50D).</a:t>
            </a:r>
          </a:p>
        </p:txBody>
      </p:sp>
      <p:sp>
        <p:nvSpPr>
          <p:cNvPr id="11" name="Rounded Rectangle 10"/>
          <p:cNvSpPr/>
          <p:nvPr/>
        </p:nvSpPr>
        <p:spPr>
          <a:xfrm>
            <a:off x="3346704" y="1280160"/>
            <a:ext cx="2679192" cy="493776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346704" y="1280160"/>
            <a:ext cx="2679192" cy="475488"/>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46704" y="1554480"/>
            <a:ext cx="2679192" cy="201168"/>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3864" y="1353312"/>
            <a:ext cx="2423160" cy="320040"/>
          </a:xfrm>
          <a:prstGeom prst="rect">
            <a:avLst/>
          </a:prstGeom>
          <a:noFill/>
        </p:spPr>
        <p:txBody>
          <a:bodyPr wrap="square" anchor="t" lIns="0" rIns="0" tIns="0" bIns="0">
            <a:spAutoFit/>
          </a:bodyPr>
          <a:lstStyle/>
          <a:p>
            <a:pPr algn="ctr">
              <a:lnSpc>
                <a:spcPct val="100000"/>
              </a:lnSpc>
              <a:spcAft>
                <a:spcPts val="0"/>
              </a:spcAft>
            </a:pPr>
            <a:r>
              <a:rPr sz="1150" b="1" i="0">
                <a:solidFill>
                  <a:srgbClr val="FFFFFF"/>
                </a:solidFill>
                <a:latin typeface="Calibri"/>
                <a:ea typeface="Calibri"/>
                <a:cs typeface="Calibri"/>
              </a:rPr>
              <a:t>2. BẢO TOÀN CHẤT LƯỢNG</a:t>
            </a:r>
          </a:p>
        </p:txBody>
      </p:sp>
      <p:sp>
        <p:nvSpPr>
          <p:cNvPr id="15" name="TextBox 14"/>
          <p:cNvSpPr txBox="1"/>
          <p:nvPr/>
        </p:nvSpPr>
        <p:spPr>
          <a:xfrm>
            <a:off x="3511296" y="1920240"/>
            <a:ext cx="2350008" cy="4114800"/>
          </a:xfrm>
          <a:prstGeom prst="rect">
            <a:avLst/>
          </a:prstGeom>
          <a:noFill/>
        </p:spPr>
        <p:txBody>
          <a:bodyPr wrap="square" anchor="t" lIns="0" rIns="0" tIns="0" bIns="0">
            <a:spAutoFit/>
          </a:bodyPr>
          <a:lstStyle/>
          <a:p>
            <a:pPr algn="l">
              <a:lnSpc>
                <a:spcPct val="118000"/>
              </a:lnSpc>
              <a:spcAft>
                <a:spcPts val="0"/>
              </a:spcAft>
            </a:pPr>
            <a:r>
              <a:rPr sz="1100" b="1" i="0">
                <a:solidFill>
                  <a:srgbClr val="1D6F6F"/>
                </a:solidFill>
                <a:latin typeface="Calibri"/>
                <a:ea typeface="Calibri"/>
                <a:cs typeface="Calibri"/>
              </a:rPr>
              <a:t>18 / 18 cấu hình Hòa:
</a:t>
            </a:r>
            <a:r>
              <a:rPr sz="1100" b="0" i="0">
                <a:solidFill>
                  <a:srgbClr val="1E2430"/>
                </a:solidFill>
                <a:latin typeface="Calibri"/>
                <a:ea typeface="Calibri"/>
                <a:cs typeface="Calibri"/>
              </a:rPr>
              <a:t>IDBO đạt kết quả tối ưu tương đương DBO gốc trên mọi hàm mục tiêu (sai khác Mean Fitness &lt; 1%).
</a:t>
            </a:r>
            <a:r>
              <a:rPr sz="1100" b="1" i="0">
                <a:solidFill>
                  <a:srgbClr val="1D6F6F"/>
                </a:solidFill>
                <a:latin typeface="Calibri"/>
                <a:ea typeface="Calibri"/>
                <a:cs typeface="Calibri"/>
              </a:rPr>
              <a:t>Không phá vỡ hội tụ:
</a:t>
            </a:r>
            <a:r>
              <a:rPr sz="1100" b="0" i="0">
                <a:solidFill>
                  <a:srgbClr val="1E2430"/>
                </a:solidFill>
                <a:latin typeface="Calibri"/>
                <a:ea typeface="Calibri"/>
                <a:cs typeface="Calibri"/>
              </a:rPr>
              <a:t>Đồ thị hội tụ (Convergence) và phân bố sai số (Boxplot) hoàn toàn trùng khít, chứng minh cơ chế ngẫu nhiên không làm nhiễu loạn nghiệm.</a:t>
            </a:r>
          </a:p>
        </p:txBody>
      </p:sp>
      <p:sp>
        <p:nvSpPr>
          <p:cNvPr id="16" name="Rounded Rectangle 15"/>
          <p:cNvSpPr/>
          <p:nvPr/>
        </p:nvSpPr>
        <p:spPr>
          <a:xfrm>
            <a:off x="6190488" y="1280160"/>
            <a:ext cx="2679192" cy="493776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190488" y="1280160"/>
            <a:ext cx="2679192" cy="475488"/>
          </a:xfrm>
          <a:prstGeom prst="round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90488" y="1554480"/>
            <a:ext cx="2679192" cy="201168"/>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7648" y="1353312"/>
            <a:ext cx="2423160" cy="320040"/>
          </a:xfrm>
          <a:prstGeom prst="rect">
            <a:avLst/>
          </a:prstGeom>
          <a:noFill/>
        </p:spPr>
        <p:txBody>
          <a:bodyPr wrap="square" anchor="t" lIns="0" rIns="0" tIns="0" bIns="0">
            <a:spAutoFit/>
          </a:bodyPr>
          <a:lstStyle/>
          <a:p>
            <a:pPr algn="ctr">
              <a:lnSpc>
                <a:spcPct val="100000"/>
              </a:lnSpc>
              <a:spcAft>
                <a:spcPts val="0"/>
              </a:spcAft>
            </a:pPr>
            <a:r>
              <a:rPr sz="1150" b="1" i="0">
                <a:solidFill>
                  <a:srgbClr val="FFFFFF"/>
                </a:solidFill>
                <a:latin typeface="Calibri"/>
                <a:ea typeface="Calibri"/>
                <a:cs typeface="Calibri"/>
              </a:rPr>
              <a:t>3. TỐI ƯU TÀI NGUYÊN</a:t>
            </a:r>
          </a:p>
        </p:txBody>
      </p:sp>
      <p:sp>
        <p:nvSpPr>
          <p:cNvPr id="20" name="TextBox 19"/>
          <p:cNvSpPr txBox="1"/>
          <p:nvPr/>
        </p:nvSpPr>
        <p:spPr>
          <a:xfrm>
            <a:off x="6355080" y="1920240"/>
            <a:ext cx="2350008" cy="4114800"/>
          </a:xfrm>
          <a:prstGeom prst="rect">
            <a:avLst/>
          </a:prstGeom>
          <a:noFill/>
        </p:spPr>
        <p:txBody>
          <a:bodyPr wrap="square" anchor="t" lIns="0" rIns="0" tIns="0" bIns="0">
            <a:spAutoFit/>
          </a:bodyPr>
          <a:lstStyle/>
          <a:p>
            <a:pPr algn="l">
              <a:lnSpc>
                <a:spcPct val="118000"/>
              </a:lnSpc>
              <a:spcAft>
                <a:spcPts val="0"/>
              </a:spcAft>
            </a:pPr>
            <a:r>
              <a:rPr sz="1100" b="1" i="0">
                <a:solidFill>
                  <a:srgbClr val="D9822B"/>
                </a:solidFill>
                <a:latin typeface="Calibri"/>
                <a:ea typeface="Calibri"/>
                <a:cs typeface="Calibri"/>
              </a:rPr>
              <a:t>Kích hoạt thông minh:
</a:t>
            </a:r>
            <a:r>
              <a:rPr sz="1100" b="0" i="0">
                <a:solidFill>
                  <a:srgbClr val="1E2430"/>
                </a:solidFill>
                <a:latin typeface="Calibri"/>
                <a:ea typeface="Calibri"/>
                <a:cs typeface="Calibri"/>
              </a:rPr>
              <a:t>Chỉ can thiệp khi Diversity &lt; 10⁻³ và Stagnation ≥ 25. Trên 15/18 cấu hình, cơ chế hoàn toàn ở trạng thái nghỉ.
</a:t>
            </a:r>
            <a:r>
              <a:rPr sz="1100" b="1" i="0">
                <a:solidFill>
                  <a:srgbClr val="D9822B"/>
                </a:solidFill>
                <a:latin typeface="Calibri"/>
                <a:ea typeface="Calibri"/>
                <a:cs typeface="Calibri"/>
              </a:rPr>
              <a:t>Tiết kiệm hàm mục tiêu:
</a:t>
            </a:r>
            <a:r>
              <a:rPr sz="1100" b="0" i="0">
                <a:solidFill>
                  <a:srgbClr val="1E2430"/>
                </a:solidFill>
                <a:latin typeface="Calibri"/>
                <a:ea typeface="Calibri"/>
                <a:cs typeface="Calibri"/>
              </a:rPr>
              <a:t>Số lần gọi hàm (Evals) chỉ tăng 0,028% (trung bình thêm ~4 evals/run), bảo toàn tối đa năng lực xử lý.</a:t>
            </a:r>
          </a:p>
        </p:txBody>
      </p:sp>
      <p:sp>
        <p:nvSpPr>
          <p:cNvPr id="21" name="Rounded Rectangle 20"/>
          <p:cNvSpPr/>
          <p:nvPr/>
        </p:nvSpPr>
        <p:spPr>
          <a:xfrm>
            <a:off x="9034272" y="1280160"/>
            <a:ext cx="2679192" cy="4937760"/>
          </a:xfrm>
          <a:prstGeom prst="roundRect">
            <a:avLst/>
          </a:prstGeom>
          <a:solidFill>
            <a:srgbClr val="FFFFFF"/>
          </a:solidFill>
          <a:ln w="12700">
            <a:solidFill>
              <a:srgbClr val="D3DB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034272" y="1280160"/>
            <a:ext cx="2679192" cy="475488"/>
          </a:xfrm>
          <a:prstGeom prst="round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034272" y="1554480"/>
            <a:ext cx="2679192" cy="201168"/>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71432" y="1353312"/>
            <a:ext cx="2423160" cy="320040"/>
          </a:xfrm>
          <a:prstGeom prst="rect">
            <a:avLst/>
          </a:prstGeom>
          <a:noFill/>
        </p:spPr>
        <p:txBody>
          <a:bodyPr wrap="square" anchor="t" lIns="0" rIns="0" tIns="0" bIns="0">
            <a:spAutoFit/>
          </a:bodyPr>
          <a:lstStyle/>
          <a:p>
            <a:pPr algn="ctr">
              <a:lnSpc>
                <a:spcPct val="100000"/>
              </a:lnSpc>
              <a:spcAft>
                <a:spcPts val="0"/>
              </a:spcAft>
            </a:pPr>
            <a:r>
              <a:rPr sz="1150" b="1" i="0">
                <a:solidFill>
                  <a:srgbClr val="FFFFFF"/>
                </a:solidFill>
                <a:latin typeface="Calibri"/>
                <a:ea typeface="Calibri"/>
                <a:cs typeface="Calibri"/>
              </a:rPr>
              <a:t>4. KHOA HỌC TRUNG THỰC</a:t>
            </a:r>
          </a:p>
        </p:txBody>
      </p:sp>
      <p:sp>
        <p:nvSpPr>
          <p:cNvPr id="25" name="TextBox 24"/>
          <p:cNvSpPr txBox="1"/>
          <p:nvPr/>
        </p:nvSpPr>
        <p:spPr>
          <a:xfrm>
            <a:off x="9198864" y="1920240"/>
            <a:ext cx="2350008" cy="4114800"/>
          </a:xfrm>
          <a:prstGeom prst="rect">
            <a:avLst/>
          </a:prstGeom>
          <a:noFill/>
        </p:spPr>
        <p:txBody>
          <a:bodyPr wrap="square" anchor="t" lIns="0" rIns="0" tIns="0" bIns="0">
            <a:spAutoFit/>
          </a:bodyPr>
          <a:lstStyle/>
          <a:p>
            <a:pPr algn="l">
              <a:lnSpc>
                <a:spcPct val="118000"/>
              </a:lnSpc>
              <a:spcAft>
                <a:spcPts val="0"/>
              </a:spcAft>
            </a:pPr>
            <a:r>
              <a:rPr sz="1100" b="1" i="0">
                <a:solidFill>
                  <a:srgbClr val="217A4B"/>
                </a:solidFill>
                <a:latin typeface="Calibri"/>
                <a:ea typeface="Calibri"/>
                <a:cs typeface="Calibri"/>
              </a:rPr>
              <a:t>Minh bạch số liệu 100%:
</a:t>
            </a:r>
            <a:r>
              <a:rPr sz="1100" b="0" i="0">
                <a:solidFill>
                  <a:srgbClr val="1E2430"/>
                </a:solidFill>
                <a:latin typeface="Calibri"/>
                <a:ea typeface="Calibri"/>
                <a:cs typeface="Calibri"/>
              </a:rPr>
              <a:t>Báo cáo trung thực kết quả hòa trên benchmark trơn; không cố tình phóng đại 'IDBO vượt trội DBO'.
</a:t>
            </a:r>
            <a:r>
              <a:rPr sz="1100" b="1" i="0">
                <a:solidFill>
                  <a:srgbClr val="217A4B"/>
                </a:solidFill>
                <a:latin typeface="Calibri"/>
                <a:ea typeface="Calibri"/>
                <a:cs typeface="Calibri"/>
              </a:rPr>
              <a:t>Định vị đúng giá trị:
</a:t>
            </a:r>
            <a:r>
              <a:rPr sz="1100" b="0" i="0">
                <a:solidFill>
                  <a:srgbClr val="1E2430"/>
                </a:solidFill>
                <a:latin typeface="Calibri"/>
                <a:ea typeface="Calibri"/>
                <a:cs typeface="Calibri"/>
              </a:rPr>
              <a:t>Benchmark liên tục là bước đệm kiểm chứng an toàn; sức mạnh thực tế của IDBO sẽ phát huy tối đa ở không gian thực đơn rời rạc Tuần 7.</a:t>
            </a:r>
          </a:p>
        </p:txBody>
      </p:sp>
      <p:sp>
        <p:nvSpPr>
          <p:cNvPr id="26" name="Rectangle 25"/>
          <p:cNvSpPr/>
          <p:nvPr/>
        </p:nvSpPr>
        <p:spPr>
          <a:xfrm>
            <a:off x="502920" y="6437376"/>
            <a:ext cx="11183112" cy="12700"/>
          </a:xfrm>
          <a:prstGeom prst="rect">
            <a:avLst/>
          </a:prstGeom>
          <a:solidFill>
            <a:srgbClr val="D3DB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6501384"/>
            <a:ext cx="8686800" cy="274320"/>
          </a:xfrm>
          <a:prstGeom prst="rect">
            <a:avLst/>
          </a:prstGeom>
          <a:noFill/>
        </p:spPr>
        <p:txBody>
          <a:bodyPr wrap="square" anchor="t" lIns="0" rIns="0" tIns="0" bIns="0">
            <a:spAutoFit/>
          </a:bodyPr>
          <a:lstStyle/>
          <a:p>
            <a:pPr algn="l">
              <a:lnSpc>
                <a:spcPct val="100000"/>
              </a:lnSpc>
              <a:spcAft>
                <a:spcPts val="0"/>
              </a:spcAft>
            </a:pPr>
            <a:r>
              <a:rPr sz="950" b="0" i="0">
                <a:solidFill>
                  <a:srgbClr val="5A6478"/>
                </a:solidFill>
                <a:latin typeface="Calibri"/>
                <a:ea typeface="Calibri"/>
                <a:cs typeface="Calibri"/>
              </a:rPr>
              <a:t>Tuần 5–6 · Tổng kết đánh giá</a:t>
            </a:r>
          </a:p>
        </p:txBody>
      </p:sp>
      <p:sp>
        <p:nvSpPr>
          <p:cNvPr id="28" name="TextBox 27"/>
          <p:cNvSpPr txBox="1"/>
          <p:nvPr/>
        </p:nvSpPr>
        <p:spPr>
          <a:xfrm>
            <a:off x="9601200" y="6501384"/>
            <a:ext cx="2084831" cy="274320"/>
          </a:xfrm>
          <a:prstGeom prst="rect">
            <a:avLst/>
          </a:prstGeom>
          <a:noFill/>
        </p:spPr>
        <p:txBody>
          <a:bodyPr wrap="square" anchor="t" lIns="0" rIns="0" tIns="0" bIns="0">
            <a:spAutoFit/>
          </a:bodyPr>
          <a:lstStyle/>
          <a:p>
            <a:pPr algn="r">
              <a:lnSpc>
                <a:spcPct val="100000"/>
              </a:lnSpc>
              <a:spcAft>
                <a:spcPts val="0"/>
              </a:spcAft>
            </a:pPr>
            <a:r>
              <a:rPr sz="950" b="1" i="0">
                <a:solidFill>
                  <a:srgbClr val="5A6478"/>
                </a:solidFill>
                <a:latin typeface="Calibri"/>
                <a:ea typeface="Calibri"/>
                <a:cs typeface="Calibri"/>
              </a:rPr>
              <a:t>30 / 31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502920"/>
            <a:ext cx="10515600" cy="320040"/>
          </a:xfrm>
          <a:prstGeom prst="rect">
            <a:avLst/>
          </a:prstGeom>
          <a:noFill/>
        </p:spPr>
        <p:txBody>
          <a:bodyPr wrap="square" anchor="t" lIns="0" rIns="0" tIns="0" bIns="0">
            <a:spAutoFit/>
          </a:bodyPr>
          <a:lstStyle/>
          <a:p>
            <a:pPr algn="l">
              <a:lnSpc>
                <a:spcPct val="100000"/>
              </a:lnSpc>
              <a:spcAft>
                <a:spcPts val="0"/>
              </a:spcAft>
            </a:pPr>
            <a:r>
              <a:rPr sz="1250" b="1" i="0">
                <a:solidFill>
                  <a:srgbClr val="D9822B"/>
                </a:solidFill>
                <a:latin typeface="Calibri"/>
                <a:ea typeface="Calibri"/>
                <a:cs typeface="Calibri"/>
              </a:rPr>
              <a:t>KẾ HOẠCH BƯỚC TIẾP THEO (GIAI ĐOẠN 3)</a:t>
            </a:r>
          </a:p>
        </p:txBody>
      </p:sp>
      <p:sp>
        <p:nvSpPr>
          <p:cNvPr id="5" name="TextBox 4"/>
          <p:cNvSpPr txBox="1"/>
          <p:nvPr/>
        </p:nvSpPr>
        <p:spPr>
          <a:xfrm>
            <a:off x="822960" y="822960"/>
            <a:ext cx="10515600" cy="502920"/>
          </a:xfrm>
          <a:prstGeom prst="rect">
            <a:avLst/>
          </a:prstGeom>
          <a:noFill/>
        </p:spPr>
        <p:txBody>
          <a:bodyPr wrap="square" anchor="t" lIns="0" rIns="0" tIns="0" bIns="0">
            <a:spAutoFit/>
          </a:bodyPr>
          <a:lstStyle/>
          <a:p>
            <a:pPr algn="l">
              <a:lnSpc>
                <a:spcPct val="100000"/>
              </a:lnSpc>
              <a:spcAft>
                <a:spcPts val="0"/>
              </a:spcAft>
            </a:pPr>
            <a:r>
              <a:rPr sz="2600" b="1" i="0">
                <a:solidFill>
                  <a:srgbClr val="FFFFFF"/>
                </a:solidFill>
                <a:latin typeface="Calibri"/>
                <a:ea typeface="Calibri"/>
                <a:cs typeface="Calibri"/>
              </a:rPr>
              <a:t>Tuần 7: Tích hợp IDBO vào bài toán tối ưu thực đơn dinh dưỡng</a:t>
            </a:r>
          </a:p>
        </p:txBody>
      </p:sp>
      <p:sp>
        <p:nvSpPr>
          <p:cNvPr id="6" name="Rectangle 5"/>
          <p:cNvSpPr/>
          <p:nvPr/>
        </p:nvSpPr>
        <p:spPr>
          <a:xfrm>
            <a:off x="822960" y="1417320"/>
            <a:ext cx="2286000" cy="3175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822960" y="1691640"/>
            <a:ext cx="3337560" cy="4114800"/>
          </a:xfrm>
          <a:prstGeom prst="roundRect">
            <a:avLst/>
          </a:prstGeom>
          <a:solidFill>
            <a:srgbClr val="233354"/>
          </a:solidFill>
          <a:ln w="12700">
            <a:solidFill>
              <a:srgbClr val="3B4D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22960" y="1691640"/>
            <a:ext cx="3337560" cy="502920"/>
          </a:xfrm>
          <a:prstGeom prst="round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822960" y="2011680"/>
            <a:ext cx="3337560" cy="182880"/>
          </a:xfrm>
          <a:prstGeom prst="rect">
            <a:avLst/>
          </a:prstGeom>
          <a:solidFill>
            <a:srgbClr val="D982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1764792"/>
            <a:ext cx="3063240" cy="365760"/>
          </a:xfrm>
          <a:prstGeom prst="rect">
            <a:avLst/>
          </a:prstGeom>
          <a:noFill/>
        </p:spPr>
        <p:txBody>
          <a:bodyPr wrap="square" anchor="t" lIns="0" rIns="0" tIns="0" bIns="0">
            <a:spAutoFit/>
          </a:bodyPr>
          <a:lstStyle/>
          <a:p>
            <a:pPr algn="ctr">
              <a:lnSpc>
                <a:spcPct val="100000"/>
              </a:lnSpc>
              <a:spcAft>
                <a:spcPts val="0"/>
              </a:spcAft>
            </a:pPr>
            <a:r>
              <a:rPr sz="1250" b="1" i="0">
                <a:solidFill>
                  <a:srgbClr val="FFFFFF"/>
                </a:solidFill>
                <a:latin typeface="Calibri"/>
                <a:ea typeface="Calibri"/>
                <a:cs typeface="Calibri"/>
              </a:rPr>
              <a:t>1. ADAPTER KHẨU PHẦN</a:t>
            </a:r>
          </a:p>
        </p:txBody>
      </p:sp>
      <p:sp>
        <p:nvSpPr>
          <p:cNvPr id="11" name="TextBox 10"/>
          <p:cNvSpPr txBox="1"/>
          <p:nvPr/>
        </p:nvSpPr>
        <p:spPr>
          <a:xfrm>
            <a:off x="960120" y="2267712"/>
            <a:ext cx="3063240" cy="274320"/>
          </a:xfrm>
          <a:prstGeom prst="rect">
            <a:avLst/>
          </a:prstGeom>
          <a:noFill/>
        </p:spPr>
        <p:txBody>
          <a:bodyPr wrap="square" anchor="t" lIns="0" rIns="0" tIns="0" bIns="0">
            <a:spAutoFit/>
          </a:bodyPr>
          <a:lstStyle/>
          <a:p>
            <a:pPr algn="ctr">
              <a:lnSpc>
                <a:spcPct val="100000"/>
              </a:lnSpc>
              <a:spcAft>
                <a:spcPts val="0"/>
              </a:spcAft>
            </a:pPr>
            <a:r>
              <a:rPr sz="1100" b="1" i="0">
                <a:solidFill>
                  <a:srgbClr val="D9822B"/>
                </a:solidFill>
                <a:latin typeface="Calibri"/>
                <a:ea typeface="Calibri"/>
                <a:cs typeface="Calibri"/>
              </a:rPr>
              <a:t>Biểu diễn nghiệm &amp; Chuyển đổi</a:t>
            </a:r>
          </a:p>
        </p:txBody>
      </p:sp>
      <p:sp>
        <p:nvSpPr>
          <p:cNvPr id="12" name="TextBox 11"/>
          <p:cNvSpPr txBox="1"/>
          <p:nvPr/>
        </p:nvSpPr>
        <p:spPr>
          <a:xfrm>
            <a:off x="1005840" y="2606040"/>
            <a:ext cx="2971800" cy="3108960"/>
          </a:xfrm>
          <a:prstGeom prst="rect">
            <a:avLst/>
          </a:prstGeom>
          <a:noFill/>
        </p:spPr>
        <p:txBody>
          <a:bodyPr wrap="square" anchor="t" lIns="0" rIns="0" tIns="0" bIns="0">
            <a:spAutoFit/>
          </a:bodyPr>
          <a:lstStyle/>
          <a:p>
            <a:pPr algn="l">
              <a:lnSpc>
                <a:spcPct val="118000"/>
              </a:lnSpc>
              <a:spcAft>
                <a:spcPts val="0"/>
              </a:spcAft>
            </a:pPr>
            <a:r>
              <a:rPr sz="1100" b="1" i="0">
                <a:solidFill>
                  <a:srgbClr val="FFFFFF"/>
                </a:solidFill>
                <a:latin typeface="Calibri"/>
                <a:ea typeface="Calibri"/>
                <a:cs typeface="Calibri"/>
              </a:rPr>
              <a:t>Biểu diễn nghiệm liên tục:
</a:t>
            </a:r>
            <a:r>
              <a:rPr sz="1100" b="0" i="0">
                <a:solidFill>
                  <a:srgbClr val="CFD9EB"/>
                </a:solidFill>
                <a:latin typeface="Calibri"/>
                <a:ea typeface="Calibri"/>
                <a:cs typeface="Calibri"/>
              </a:rPr>
              <a:t>Vector x chứa khẩu phần gram [25, 350]g cho 8 món ăn trong ngày (sum meal_counts = 8).
</a:t>
            </a:r>
            <a:r>
              <a:rPr sz="1100" b="1" i="0">
                <a:solidFill>
                  <a:srgbClr val="FFFFFF"/>
                </a:solidFill>
                <a:latin typeface="Calibri"/>
                <a:ea typeface="Calibri"/>
                <a:cs typeface="Calibri"/>
              </a:rPr>
              <a:t>Adapter hàm mục tiêu:
</a:t>
            </a:r>
            <a:r>
              <a:rPr sz="1100" b="0" i="0">
                <a:solidFill>
                  <a:srgbClr val="CFD9EB"/>
                </a:solidFill>
                <a:latin typeface="Calibri"/>
                <a:ea typeface="Calibri"/>
                <a:cs typeface="Calibri"/>
              </a:rPr>
              <a:t>objective(x) = -evaluate(Menu) để tương thích tiêu chí minimize của DBO/IDBO.</a:t>
            </a:r>
          </a:p>
        </p:txBody>
      </p:sp>
      <p:sp>
        <p:nvSpPr>
          <p:cNvPr id="13" name="Rounded Rectangle 12"/>
          <p:cNvSpPr/>
          <p:nvPr/>
        </p:nvSpPr>
        <p:spPr>
          <a:xfrm>
            <a:off x="4389120" y="1691640"/>
            <a:ext cx="3337560" cy="4114800"/>
          </a:xfrm>
          <a:prstGeom prst="roundRect">
            <a:avLst/>
          </a:prstGeom>
          <a:solidFill>
            <a:srgbClr val="233354"/>
          </a:solidFill>
          <a:ln w="12700">
            <a:solidFill>
              <a:srgbClr val="3B4D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89120" y="1691640"/>
            <a:ext cx="3337560" cy="502920"/>
          </a:xfrm>
          <a:prstGeom prst="round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89120" y="2011680"/>
            <a:ext cx="3337560" cy="182880"/>
          </a:xfrm>
          <a:prstGeom prst="rect">
            <a:avLst/>
          </a:prstGeom>
          <a:solidFill>
            <a:srgbClr val="1D6F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26280" y="1764792"/>
            <a:ext cx="3063240" cy="365760"/>
          </a:xfrm>
          <a:prstGeom prst="rect">
            <a:avLst/>
          </a:prstGeom>
          <a:noFill/>
        </p:spPr>
        <p:txBody>
          <a:bodyPr wrap="square" anchor="t" lIns="0" rIns="0" tIns="0" bIns="0">
            <a:spAutoFit/>
          </a:bodyPr>
          <a:lstStyle/>
          <a:p>
            <a:pPr algn="ctr">
              <a:lnSpc>
                <a:spcPct val="100000"/>
              </a:lnSpc>
              <a:spcAft>
                <a:spcPts val="0"/>
              </a:spcAft>
            </a:pPr>
            <a:r>
              <a:rPr sz="1250" b="1" i="0">
                <a:solidFill>
                  <a:srgbClr val="FFFFFF"/>
                </a:solidFill>
                <a:latin typeface="Calibri"/>
                <a:ea typeface="Calibri"/>
                <a:cs typeface="Calibri"/>
              </a:rPr>
              <a:t>2. RÀNG BUỘC DINH DƯỠNG</a:t>
            </a:r>
          </a:p>
        </p:txBody>
      </p:sp>
      <p:sp>
        <p:nvSpPr>
          <p:cNvPr id="17" name="TextBox 16"/>
          <p:cNvSpPr txBox="1"/>
          <p:nvPr/>
        </p:nvSpPr>
        <p:spPr>
          <a:xfrm>
            <a:off x="4526280" y="2267712"/>
            <a:ext cx="3063240" cy="274320"/>
          </a:xfrm>
          <a:prstGeom prst="rect">
            <a:avLst/>
          </a:prstGeom>
          <a:noFill/>
        </p:spPr>
        <p:txBody>
          <a:bodyPr wrap="square" anchor="t" lIns="0" rIns="0" tIns="0" bIns="0">
            <a:spAutoFit/>
          </a:bodyPr>
          <a:lstStyle/>
          <a:p>
            <a:pPr algn="ctr">
              <a:lnSpc>
                <a:spcPct val="100000"/>
              </a:lnSpc>
              <a:spcAft>
                <a:spcPts val="0"/>
              </a:spcAft>
            </a:pPr>
            <a:r>
              <a:rPr sz="1100" b="1" i="0">
                <a:solidFill>
                  <a:srgbClr val="D9822B"/>
                </a:solidFill>
                <a:latin typeface="Calibri"/>
                <a:ea typeface="Calibri"/>
                <a:cs typeface="Calibri"/>
              </a:rPr>
              <a:t>Không gian 15.929 món ăn</a:t>
            </a:r>
          </a:p>
        </p:txBody>
      </p:sp>
      <p:sp>
        <p:nvSpPr>
          <p:cNvPr id="18" name="TextBox 17"/>
          <p:cNvSpPr txBox="1"/>
          <p:nvPr/>
        </p:nvSpPr>
        <p:spPr>
          <a:xfrm>
            <a:off x="4572000" y="2606040"/>
            <a:ext cx="2971800" cy="3108960"/>
          </a:xfrm>
          <a:prstGeom prst="rect">
            <a:avLst/>
          </a:prstGeom>
          <a:noFill/>
        </p:spPr>
        <p:txBody>
          <a:bodyPr wrap="square" anchor="t" lIns="0" rIns="0" tIns="0" bIns="0">
            <a:spAutoFit/>
          </a:bodyPr>
          <a:lstStyle/>
          <a:p>
            <a:pPr algn="l">
              <a:lnSpc>
                <a:spcPct val="118000"/>
              </a:lnSpc>
              <a:spcAft>
                <a:spcPts val="0"/>
              </a:spcAft>
            </a:pPr>
            <a:r>
              <a:rPr sz="1100" b="1" i="0">
                <a:solidFill>
                  <a:srgbClr val="FFFFFF"/>
                </a:solidFill>
                <a:latin typeface="Calibri"/>
                <a:ea typeface="Calibri"/>
                <a:cs typeface="Calibri"/>
              </a:rPr>
              <a:t>CSDL thực phẩm sạch:
</a:t>
            </a:r>
            <a:r>
              <a:rPr sz="1100" b="0" i="0">
                <a:solidFill>
                  <a:srgbClr val="CFD9EB"/>
                </a:solidFill>
                <a:latin typeface="Calibri"/>
                <a:ea typeface="Calibri"/>
                <a:cs typeface="Calibri"/>
              </a:rPr>
              <a:t>Khai thác 15.929 món đã chuẩn hóa về năng lượng, protein, carb, fat, fiber, sodium.
</a:t>
            </a:r>
            <a:r>
              <a:rPr sz="1100" b="1" i="0">
                <a:solidFill>
                  <a:srgbClr val="FFFFFF"/>
                </a:solidFill>
                <a:latin typeface="Calibri"/>
                <a:ea typeface="Calibri"/>
                <a:cs typeface="Calibri"/>
              </a:rPr>
              <a:t>Sampler &amp; Ràng buộc:
</a:t>
            </a:r>
            <a:r>
              <a:rPr sz="1100" b="0" i="0">
                <a:solidFill>
                  <a:srgbClr val="CFD9EB"/>
                </a:solidFill>
                <a:latin typeface="Calibri"/>
                <a:ea typeface="Calibri"/>
                <a:cs typeface="Calibri"/>
              </a:rPr>
              <a:t>Cố định food_ids hợp lệ theo từng bữa ăn (Sáng, Trưa, Tối, Phụ), phạt vi phạm vi chất và bệnh lý.</a:t>
            </a:r>
          </a:p>
        </p:txBody>
      </p:sp>
      <p:sp>
        <p:nvSpPr>
          <p:cNvPr id="19" name="Rounded Rectangle 18"/>
          <p:cNvSpPr/>
          <p:nvPr/>
        </p:nvSpPr>
        <p:spPr>
          <a:xfrm>
            <a:off x="7955279" y="1691640"/>
            <a:ext cx="3337560" cy="4114800"/>
          </a:xfrm>
          <a:prstGeom prst="roundRect">
            <a:avLst/>
          </a:prstGeom>
          <a:solidFill>
            <a:srgbClr val="233354"/>
          </a:solidFill>
          <a:ln w="12700">
            <a:solidFill>
              <a:srgbClr val="3B4D7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955279" y="1691640"/>
            <a:ext cx="3337560" cy="502920"/>
          </a:xfrm>
          <a:prstGeom prst="round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79" y="2011680"/>
            <a:ext cx="3337560" cy="182880"/>
          </a:xfrm>
          <a:prstGeom prst="rect">
            <a:avLst/>
          </a:prstGeom>
          <a:solidFill>
            <a:srgbClr val="217A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92439" y="1764792"/>
            <a:ext cx="3063240" cy="365760"/>
          </a:xfrm>
          <a:prstGeom prst="rect">
            <a:avLst/>
          </a:prstGeom>
          <a:noFill/>
        </p:spPr>
        <p:txBody>
          <a:bodyPr wrap="square" anchor="t" lIns="0" rIns="0" tIns="0" bIns="0">
            <a:spAutoFit/>
          </a:bodyPr>
          <a:lstStyle/>
          <a:p>
            <a:pPr algn="ctr">
              <a:lnSpc>
                <a:spcPct val="100000"/>
              </a:lnSpc>
              <a:spcAft>
                <a:spcPts val="0"/>
              </a:spcAft>
            </a:pPr>
            <a:r>
              <a:rPr sz="1250" b="1" i="0">
                <a:solidFill>
                  <a:srgbClr val="FFFFFF"/>
                </a:solidFill>
                <a:latin typeface="Calibri"/>
                <a:ea typeface="Calibri"/>
                <a:cs typeface="Calibri"/>
              </a:rPr>
              <a:t>3. THỰC NGHIỆM ĐỐI CHỨNG</a:t>
            </a:r>
          </a:p>
        </p:txBody>
      </p:sp>
      <p:sp>
        <p:nvSpPr>
          <p:cNvPr id="23" name="TextBox 22"/>
          <p:cNvSpPr txBox="1"/>
          <p:nvPr/>
        </p:nvSpPr>
        <p:spPr>
          <a:xfrm>
            <a:off x="8092439" y="2267712"/>
            <a:ext cx="3063240" cy="274320"/>
          </a:xfrm>
          <a:prstGeom prst="rect">
            <a:avLst/>
          </a:prstGeom>
          <a:noFill/>
        </p:spPr>
        <p:txBody>
          <a:bodyPr wrap="square" anchor="t" lIns="0" rIns="0" tIns="0" bIns="0">
            <a:spAutoFit/>
          </a:bodyPr>
          <a:lstStyle/>
          <a:p>
            <a:pPr algn="ctr">
              <a:lnSpc>
                <a:spcPct val="100000"/>
              </a:lnSpc>
              <a:spcAft>
                <a:spcPts val="0"/>
              </a:spcAft>
            </a:pPr>
            <a:r>
              <a:rPr sz="1100" b="1" i="0">
                <a:solidFill>
                  <a:srgbClr val="D9822B"/>
                </a:solidFill>
                <a:latin typeface="Calibri"/>
                <a:ea typeface="Calibri"/>
                <a:cs typeface="Calibri"/>
              </a:rPr>
              <a:t>Kiểm chứng trên Profile P1</a:t>
            </a:r>
          </a:p>
        </p:txBody>
      </p:sp>
      <p:sp>
        <p:nvSpPr>
          <p:cNvPr id="24" name="TextBox 23"/>
          <p:cNvSpPr txBox="1"/>
          <p:nvPr/>
        </p:nvSpPr>
        <p:spPr>
          <a:xfrm>
            <a:off x="8138159" y="2606040"/>
            <a:ext cx="2971800" cy="3108960"/>
          </a:xfrm>
          <a:prstGeom prst="rect">
            <a:avLst/>
          </a:prstGeom>
          <a:noFill/>
        </p:spPr>
        <p:txBody>
          <a:bodyPr wrap="square" anchor="t" lIns="0" rIns="0" tIns="0" bIns="0">
            <a:spAutoFit/>
          </a:bodyPr>
          <a:lstStyle/>
          <a:p>
            <a:pPr algn="l">
              <a:lnSpc>
                <a:spcPct val="118000"/>
              </a:lnSpc>
              <a:spcAft>
                <a:spcPts val="0"/>
              </a:spcAft>
            </a:pPr>
            <a:r>
              <a:rPr sz="1100" b="1" i="0">
                <a:solidFill>
                  <a:srgbClr val="FFFFFF"/>
                </a:solidFill>
                <a:latin typeface="Calibri"/>
                <a:ea typeface="Calibri"/>
                <a:cs typeface="Calibri"/>
              </a:rPr>
              <a:t>Kịch bản thử nghiệm:
</a:t>
            </a:r>
            <a:r>
              <a:rPr sz="1100" b="0" i="0">
                <a:solidFill>
                  <a:srgbClr val="CFD9EB"/>
                </a:solidFill>
                <a:latin typeface="Calibri"/>
                <a:ea typeface="Calibri"/>
                <a:cs typeface="Calibri"/>
              </a:rPr>
              <a:t>Hồ sơ mẫu P1 (Duy, 22t, 65kg, duy trì cân nặng, 2.492 kcal) với n_agents=10, max_iter=200.
</a:t>
            </a:r>
            <a:r>
              <a:rPr sz="1100" b="1" i="0">
                <a:solidFill>
                  <a:srgbClr val="FFFFFF"/>
                </a:solidFill>
                <a:latin typeface="Calibri"/>
                <a:ea typeface="Calibri"/>
                <a:cs typeface="Calibri"/>
              </a:rPr>
              <a:t>Đánh giá ưu thế IDBO:
</a:t>
            </a:r>
            <a:r>
              <a:rPr sz="1100" b="0" i="0">
                <a:solidFill>
                  <a:srgbClr val="CFD9EB"/>
                </a:solidFill>
                <a:latin typeface="Calibri"/>
                <a:ea typeface="Calibri"/>
                <a:cs typeface="Calibri"/>
              </a:rPr>
              <a:t>Chứng minh cơ chế Diversity và Restart giúp bọ hung thoát bẫy cục bộ trong ma trận thực đơn rời rạc.</a:t>
            </a:r>
          </a:p>
        </p:txBody>
      </p:sp>
      <p:sp>
        <p:nvSpPr>
          <p:cNvPr id="25" name="TextBox 24"/>
          <p:cNvSpPr txBox="1"/>
          <p:nvPr/>
        </p:nvSpPr>
        <p:spPr>
          <a:xfrm>
            <a:off x="822960" y="6016752"/>
            <a:ext cx="10515600" cy="365760"/>
          </a:xfrm>
          <a:prstGeom prst="rect">
            <a:avLst/>
          </a:prstGeom>
          <a:noFill/>
        </p:spPr>
        <p:txBody>
          <a:bodyPr wrap="square" anchor="t" lIns="0" rIns="0" tIns="0" bIns="0">
            <a:spAutoFit/>
          </a:bodyPr>
          <a:lstStyle/>
          <a:p>
            <a:pPr algn="l">
              <a:lnSpc>
                <a:spcPct val="100000"/>
              </a:lnSpc>
              <a:spcAft>
                <a:spcPts val="0"/>
              </a:spcAft>
            </a:pPr>
            <a:r>
              <a:rPr sz="1300" b="1" i="0">
                <a:solidFill>
                  <a:srgbClr val="D9822B"/>
                </a:solidFill>
                <a:latin typeface="Calibri"/>
                <a:ea typeface="Calibri"/>
                <a:cs typeface="Calibri"/>
              </a:rPr>
              <a:t>Chi tiết phân công nhiệm vụ và mã nguồn thực hiện: xem docs/TASK_WEEK7.md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