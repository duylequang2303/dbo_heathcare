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4389120"/>
          </a:xfrm>
          <a:prstGeom prst="rect">
            <a:avLst/>
          </a:prstGeom>
          <a:solidFill>
            <a:srgbClr val="D98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97280"/>
            <a:ext cx="10058400" cy="4572000"/>
          </a:xfrm>
          <a:prstGeom prst="rect">
            <a:avLst/>
          </a:prstGeom>
          <a:noFill/>
        </p:spPr>
        <p:txBody>
          <a:bodyPr wrap="square">
            <a:spAutoFit/>
          </a:bodyPr>
          <a:lstStyle/>
          <a:p>
            <a:r>
              <a:rPr sz="1300" b="1" i="0">
                <a:solidFill>
                  <a:srgbClr val="D9822B"/>
                </a:solidFill>
                <a:latin typeface="Calibri"/>
                <a:ea typeface="Calibri"/>
                <a:cs typeface="Calibri"/>
              </a:rPr>
              <a:t>TRƯỜNG ĐẠI HỌC CÔNG THƯƠNG TP. HỒ CHÍ MINH — KHOA CÔNG NGHỆ THÔNG TIN
KHÓA LUẬN TỐT NGHIỆP | MÃ ĐỀ TÀI: CNTT-KLCN142
</a:t>
            </a:r>
          </a:p>
          <a:p>
            <a:pPr>
              <a:spcBef>
                <a:spcPts val="1200"/>
              </a:spcBef>
            </a:pPr>
            <a:r>
              <a:rPr sz="3000" b="1" i="0">
                <a:solidFill>
                  <a:srgbClr val="FFFFFF"/>
                </a:solidFill>
                <a:latin typeface="Calibri"/>
                <a:ea typeface="Calibri"/>
                <a:cs typeface="Calibri"/>
              </a:rPr>
              <a:t>Tối Ưu Hóa Thực Đơn Dinh Dưỡng Cá Nhân Hóa
Bằng Thuật Toán DBO và IDBO</a:t>
            </a:r>
          </a:p>
          <a:p>
            <a:pPr>
              <a:spcBef>
                <a:spcPts val="1200"/>
              </a:spcBef>
            </a:pPr>
            <a:r>
              <a:rPr sz="1550" b="1" i="0">
                <a:solidFill>
                  <a:srgbClr val="6EC5C5"/>
                </a:solidFill>
                <a:latin typeface="Calibri"/>
                <a:ea typeface="Calibri"/>
                <a:cs typeface="Calibri"/>
              </a:rPr>
              <a:t>BÁO CÁO TIẾN ĐỘ TỔNG HỢP GIAI ĐOẠN TUẦN 8 – TUẦN 9 – TUẦN 10 – TUẦN 11
(TỐI ƯU 2 TẦNG · LẬP KẾ HOẠCH 7 NGÀY · HỆ THỐNG WEB API · ĐỐI CHUẨN BUDGET-MATCHED)</a:t>
            </a:r>
          </a:p>
          <a:p>
            <a:pPr>
              <a:spcBef>
                <a:spcPts val="2400"/>
              </a:spcBef>
            </a:pPr>
            <a:r>
              <a:rPr sz="1300" b="0" i="0">
                <a:solidFill>
                  <a:srgbClr val="E2E8F0"/>
                </a:solidFill>
                <a:latin typeface="Calibri"/>
                <a:ea typeface="Calibri"/>
                <a:cs typeface="Calibri"/>
              </a:rPr>
              <a:t>Sinh viên thực hiện:
• Lê Quang Duy (2001210356) — Nhóm trưởng (Thống kê, Báo cáo &amp; Phân tích Thuật toán)
• Hồ Trung Cương (2001215682) — Phụ trách Two-Tier Solver, Budget-Matched &amp; Dual Threshold
• Đặng Nguyễn Minh Đăng (2001230175) — Phụ trách Web/API, Trực quan hóa &amp; Trải nghiệm Người dùng
Giảng viên hướng dẫn: ThS. Đinh Nguyễn Trọng Nghĩa | Thời gian: Tháng 10/2026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274320"/>
          </a:xfrm>
          <a:prstGeom prst="rect">
            <a:avLst/>
          </a:prstGeom>
          <a:noFill/>
        </p:spPr>
        <p:txBody>
          <a:bodyPr wrap="square" lIns="0" tIns="0" rIns="0" bIns="0">
            <a:spAutoFit/>
          </a:bodyPr>
          <a:lstStyle/>
          <a:p>
            <a:r>
              <a:rPr sz="1100" b="1" i="0">
                <a:solidFill>
                  <a:srgbClr val="D9822B"/>
                </a:solidFill>
                <a:latin typeface="Calibri"/>
                <a:ea typeface="Calibri"/>
                <a:cs typeface="Calibri"/>
              </a:rPr>
              <a:t>BỐI CẢNH &amp; TỔNG QUAN TIẾN ĐỘ</a:t>
            </a:r>
          </a:p>
        </p:txBody>
      </p:sp>
      <p:sp>
        <p:nvSpPr>
          <p:cNvPr id="3" name="TextBox 2"/>
          <p:cNvSpPr txBox="1"/>
          <p:nvPr/>
        </p:nvSpPr>
        <p:spPr>
          <a:xfrm>
            <a:off x="548640" y="621792"/>
            <a:ext cx="11064240" cy="548640"/>
          </a:xfrm>
          <a:prstGeom prst="rect">
            <a:avLst/>
          </a:prstGeom>
          <a:noFill/>
        </p:spPr>
        <p:txBody>
          <a:bodyPr wrap="square" lIns="0" tIns="0" rIns="0" bIns="0">
            <a:spAutoFit/>
          </a:bodyPr>
          <a:lstStyle/>
          <a:p>
            <a:r>
              <a:rPr sz="2100" b="1" i="0">
                <a:solidFill>
                  <a:srgbClr val="1B2A4A"/>
                </a:solidFill>
                <a:latin typeface="Calibri"/>
                <a:ea typeface="Calibri"/>
                <a:cs typeface="Calibri"/>
              </a:rPr>
              <a:t>Lộ Trình Phát Triển &amp; Bước Chuyển Kiến Trúc Giai Đoạn Tuần 8 – 11</a:t>
            </a:r>
          </a:p>
        </p:txBody>
      </p:sp>
      <p:sp>
        <p:nvSpPr>
          <p:cNvPr id="4" name="Rectangle 3"/>
          <p:cNvSpPr/>
          <p:nvPr/>
        </p:nvSpPr>
        <p:spPr>
          <a:xfrm>
            <a:off x="548640" y="1207008"/>
            <a:ext cx="11094415" cy="1905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371600"/>
            <a:ext cx="2679192" cy="48920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371600"/>
            <a:ext cx="2679192" cy="7315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536192"/>
            <a:ext cx="2350008" cy="4572000"/>
          </a:xfrm>
          <a:prstGeom prst="rect">
            <a:avLst/>
          </a:prstGeom>
          <a:noFill/>
        </p:spPr>
        <p:txBody>
          <a:bodyPr wrap="square">
            <a:spAutoFit/>
          </a:bodyPr>
          <a:lstStyle/>
          <a:p>
            <a:r>
              <a:rPr sz="1250" b="1" i="0">
                <a:solidFill>
                  <a:srgbClr val="1B2A4A"/>
                </a:solidFill>
                <a:latin typeface="Calibri"/>
                <a:ea typeface="Calibri"/>
                <a:cs typeface="Calibri"/>
              </a:rPr>
              <a:t>TUẦN 8: BÀI TOÁN 2 TẦNG</a:t>
            </a:r>
          </a:p>
          <a:p>
            <a:pPr>
              <a:spcBef>
                <a:spcPts val="300"/>
              </a:spcBef>
            </a:pPr>
            <a:r>
              <a:rPr sz="1000" b="1" i="0">
                <a:solidFill>
                  <a:srgbClr val="1E2430"/>
                </a:solidFill>
                <a:latin typeface="Calibri"/>
                <a:ea typeface="Calibri"/>
                <a:cs typeface="Calibri"/>
              </a:rPr>
              <a:t>Mixed-Integer Two-Tier Solver</a:t>
            </a:r>
          </a:p>
          <a:p>
            <a:pPr>
              <a:spcBef>
                <a:spcPts val="600"/>
              </a:spcBef>
            </a:pPr>
            <a:r>
              <a:rPr sz="800" b="0" i="0">
                <a:solidFill>
                  <a:srgbClr val="CBD5E1"/>
                </a:solidFill>
                <a:latin typeface="Calibri"/>
                <a:ea typeface="Calibri"/>
                <a:cs typeface="Calibri"/>
              </a:rPr>
              <a:t>——————————————————————</a:t>
            </a:r>
          </a:p>
          <a:p>
            <a:pPr>
              <a:spcBef>
                <a:spcPts val="600"/>
              </a:spcBef>
            </a:pPr>
            <a:r>
              <a:rPr sz="980" b="0" i="0">
                <a:solidFill>
                  <a:srgbClr val="1E2430"/>
                </a:solidFill>
                <a:latin typeface="Calibri"/>
                <a:ea typeface="Calibri"/>
                <a:cs typeface="Calibri"/>
              </a:rPr>
              <a:t>• Chuyển từ định lượng cố định 8 món sang tự do chọn món từ 15.929 thực phẩm.
• Tầng 1 (Outer): Chọn tổ hợp món rời rạc theo 4 bữa.
• Tầng 2 (Inner): Tối ưu gram liên tục x ∈ [25, 350].
• Chuẩn hóa làm tròn khẩu phần theo bước 5g thực tế.
• Đối chuẩn 10 seed độc lập trên Profile P1.</a:t>
            </a:r>
          </a:p>
        </p:txBody>
      </p:sp>
      <p:sp>
        <p:nvSpPr>
          <p:cNvPr id="8" name="Rounded Rectangle 7"/>
          <p:cNvSpPr/>
          <p:nvPr/>
        </p:nvSpPr>
        <p:spPr>
          <a:xfrm>
            <a:off x="3346704" y="1371600"/>
            <a:ext cx="2679192" cy="48920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46704" y="1371600"/>
            <a:ext cx="2679192" cy="73152"/>
          </a:xfrm>
          <a:prstGeom prst="rect">
            <a:avLst/>
          </a:prstGeom>
          <a:solidFill>
            <a:srgbClr val="1D6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11296" y="1536192"/>
            <a:ext cx="2350008" cy="4572000"/>
          </a:xfrm>
          <a:prstGeom prst="rect">
            <a:avLst/>
          </a:prstGeom>
          <a:noFill/>
        </p:spPr>
        <p:txBody>
          <a:bodyPr wrap="square">
            <a:spAutoFit/>
          </a:bodyPr>
          <a:lstStyle/>
          <a:p>
            <a:r>
              <a:rPr sz="1250" b="1" i="0">
                <a:solidFill>
                  <a:srgbClr val="1D6F6F"/>
                </a:solidFill>
                <a:latin typeface="Calibri"/>
                <a:ea typeface="Calibri"/>
                <a:cs typeface="Calibri"/>
              </a:rPr>
              <a:t>TUẦN 9: KẾ HOẠCH 7 NGÀY</a:t>
            </a:r>
          </a:p>
          <a:p>
            <a:pPr>
              <a:spcBef>
                <a:spcPts val="300"/>
              </a:spcBef>
            </a:pPr>
            <a:r>
              <a:rPr sz="1000" b="1" i="0">
                <a:solidFill>
                  <a:srgbClr val="1E2430"/>
                </a:solidFill>
                <a:latin typeface="Calibri"/>
                <a:ea typeface="Calibri"/>
                <a:cs typeface="Calibri"/>
              </a:rPr>
              <a:t>Diversity Penalty &amp; Multi-Profile</a:t>
            </a:r>
          </a:p>
          <a:p>
            <a:pPr>
              <a:spcBef>
                <a:spcPts val="600"/>
              </a:spcBef>
            </a:pPr>
            <a:r>
              <a:rPr sz="800" b="0" i="0">
                <a:solidFill>
                  <a:srgbClr val="CBD5E1"/>
                </a:solidFill>
                <a:latin typeface="Calibri"/>
                <a:ea typeface="Calibri"/>
                <a:cs typeface="Calibri"/>
              </a:rPr>
              <a:t>——————————————————————</a:t>
            </a:r>
          </a:p>
          <a:p>
            <a:pPr>
              <a:spcBef>
                <a:spcPts val="600"/>
              </a:spcBef>
            </a:pPr>
            <a:r>
              <a:rPr sz="980" b="0" i="0">
                <a:solidFill>
                  <a:srgbClr val="1E2430"/>
                </a:solidFill>
                <a:latin typeface="Calibri"/>
                <a:ea typeface="Calibri"/>
                <a:cs typeface="Calibri"/>
              </a:rPr>
              <a:t>• Lập thực đơn chu kỳ 7 ngày liên tục, giải quyết nhàm chán.
• Cơ chế Diversity Penalty cửa sổ trượt 2 ngày (&gt;= 80% độc nhất món chính).
• Mở rộng 3 hồ sơ bệnh lý: P1 (Chuẩn), P2 (Giảm Carbs), P3 (Kiểm soát Natri &lt;= 1500mg).
• Sinh 3 phương án UX Option A/B/C.</a:t>
            </a:r>
          </a:p>
        </p:txBody>
      </p:sp>
      <p:sp>
        <p:nvSpPr>
          <p:cNvPr id="11" name="Rounded Rectangle 10"/>
          <p:cNvSpPr/>
          <p:nvPr/>
        </p:nvSpPr>
        <p:spPr>
          <a:xfrm>
            <a:off x="6190488" y="1371600"/>
            <a:ext cx="2679192" cy="4892040"/>
          </a:xfrm>
          <a:prstGeom prst="roundRect">
            <a:avLst/>
          </a:prstGeom>
          <a:solidFill>
            <a:srgbClr val="FDF6EB"/>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371600"/>
            <a:ext cx="2679192" cy="73152"/>
          </a:xfrm>
          <a:prstGeom prst="rect">
            <a:avLst/>
          </a:prstGeom>
          <a:solidFill>
            <a:srgbClr val="D98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536192"/>
            <a:ext cx="2350008" cy="4572000"/>
          </a:xfrm>
          <a:prstGeom prst="rect">
            <a:avLst/>
          </a:prstGeom>
          <a:noFill/>
        </p:spPr>
        <p:txBody>
          <a:bodyPr wrap="square">
            <a:spAutoFit/>
          </a:bodyPr>
          <a:lstStyle/>
          <a:p>
            <a:r>
              <a:rPr sz="1250" b="1" i="0">
                <a:solidFill>
                  <a:srgbClr val="D9822B"/>
                </a:solidFill>
                <a:latin typeface="Calibri"/>
                <a:ea typeface="Calibri"/>
                <a:cs typeface="Calibri"/>
              </a:rPr>
              <a:t>TUẦN 10: WEB API &amp; UI</a:t>
            </a:r>
          </a:p>
          <a:p>
            <a:pPr>
              <a:spcBef>
                <a:spcPts val="300"/>
              </a:spcBef>
            </a:pPr>
            <a:r>
              <a:rPr sz="1000" b="1" i="0">
                <a:solidFill>
                  <a:srgbClr val="1E2430"/>
                </a:solidFill>
                <a:latin typeface="Calibri"/>
                <a:ea typeface="Calibri"/>
                <a:cs typeface="Calibri"/>
              </a:rPr>
              <a:t>FastAPI Backend &amp; Glassmorphism</a:t>
            </a:r>
          </a:p>
          <a:p>
            <a:pPr>
              <a:spcBef>
                <a:spcPts val="600"/>
              </a:spcBef>
            </a:pPr>
            <a:r>
              <a:rPr sz="800" b="0" i="0">
                <a:solidFill>
                  <a:srgbClr val="CBD5E1"/>
                </a:solidFill>
                <a:latin typeface="Calibri"/>
                <a:ea typeface="Calibri"/>
                <a:cs typeface="Calibri"/>
              </a:rPr>
              <a:t>——————————————————————</a:t>
            </a:r>
          </a:p>
          <a:p>
            <a:pPr>
              <a:spcBef>
                <a:spcPts val="600"/>
              </a:spcBef>
            </a:pPr>
            <a:r>
              <a:rPr sz="980" b="0" i="0">
                <a:solidFill>
                  <a:srgbClr val="1E2430"/>
                </a:solidFill>
                <a:latin typeface="Calibri"/>
                <a:ea typeface="Calibri"/>
                <a:cs typeface="Calibri"/>
              </a:rPr>
              <a:t>• Đóng gói toàn bộ solver thành Web API RESTful.
• Kiến trúc Single-port phục vụ đồng thời API &amp; Static Frontend trên cổng 8000.
• 6 endpoints chuẩn hóa, xử lý phi nghẽn async.
• Giao diện Dark Theme Glassmorphism hiện đại, biểu đồ Radar 6 trục dinh dưỡng.</a:t>
            </a:r>
          </a:p>
        </p:txBody>
      </p:sp>
      <p:sp>
        <p:nvSpPr>
          <p:cNvPr id="14" name="Rounded Rectangle 13"/>
          <p:cNvSpPr/>
          <p:nvPr/>
        </p:nvSpPr>
        <p:spPr>
          <a:xfrm>
            <a:off x="9034272" y="1371600"/>
            <a:ext cx="2679192" cy="48920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034272" y="1371600"/>
            <a:ext cx="2679192" cy="73152"/>
          </a:xfrm>
          <a:prstGeom prst="rect">
            <a:avLst/>
          </a:prstGeom>
          <a:solidFill>
            <a:srgbClr val="217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98864" y="1536192"/>
            <a:ext cx="2350008" cy="4572000"/>
          </a:xfrm>
          <a:prstGeom prst="rect">
            <a:avLst/>
          </a:prstGeom>
          <a:noFill/>
        </p:spPr>
        <p:txBody>
          <a:bodyPr wrap="square">
            <a:spAutoFit/>
          </a:bodyPr>
          <a:lstStyle/>
          <a:p>
            <a:r>
              <a:rPr sz="1250" b="1" i="0">
                <a:solidFill>
                  <a:srgbClr val="217A4B"/>
                </a:solidFill>
                <a:latin typeface="Calibri"/>
                <a:ea typeface="Calibri"/>
                <a:cs typeface="Calibri"/>
              </a:rPr>
              <a:t>TUẦN 11: CHUẨN HÓA KHOA HỌC</a:t>
            </a:r>
          </a:p>
          <a:p>
            <a:pPr>
              <a:spcBef>
                <a:spcPts val="300"/>
              </a:spcBef>
            </a:pPr>
            <a:r>
              <a:rPr sz="1000" b="1" i="0">
                <a:solidFill>
                  <a:srgbClr val="1E2430"/>
                </a:solidFill>
                <a:latin typeface="Calibri"/>
                <a:ea typeface="Calibri"/>
                <a:cs typeface="Calibri"/>
              </a:rPr>
              <a:t>Budget-Matched &amp; Dual Threshold</a:t>
            </a:r>
          </a:p>
          <a:p>
            <a:pPr>
              <a:spcBef>
                <a:spcPts val="600"/>
              </a:spcBef>
            </a:pPr>
            <a:r>
              <a:rPr sz="800" b="0" i="0">
                <a:solidFill>
                  <a:srgbClr val="CBD5E1"/>
                </a:solidFill>
                <a:latin typeface="Calibri"/>
                <a:ea typeface="Calibri"/>
                <a:cs typeface="Calibri"/>
              </a:rPr>
              <a:t>——————————————————————</a:t>
            </a:r>
          </a:p>
          <a:p>
            <a:pPr>
              <a:spcBef>
                <a:spcPts val="600"/>
              </a:spcBef>
            </a:pPr>
            <a:r>
              <a:rPr sz="980" b="0" i="0">
                <a:solidFill>
                  <a:srgbClr val="1E2430"/>
                </a:solidFill>
                <a:latin typeface="Calibri"/>
                <a:ea typeface="Calibri"/>
                <a:cs typeface="Calibri"/>
              </a:rPr>
              <a:t>• Tách riêng tập hiệu chỉnh và tập kiểm định độc lập (seed 8003–8010).
• Kiểm định Wilcoxon: đo lường ý nghĩa thống kê.
• Giải mã Telemetry &amp; Chi phí tính toán (+18.6% Evals).
• Kiểm soát ngân sách chung (Budget-Matched).
• Hoàn thiện Dual Threshold &amp; 253 tests PASS.</a:t>
            </a:r>
          </a:p>
        </p:txBody>
      </p:sp>
      <p:sp>
        <p:nvSpPr>
          <p:cNvPr id="17" name="Rectangle 16"/>
          <p:cNvSpPr/>
          <p:nvPr/>
        </p:nvSpPr>
        <p:spPr>
          <a:xfrm>
            <a:off x="548640" y="6446520"/>
            <a:ext cx="11094415" cy="1270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6510528"/>
            <a:ext cx="8686800" cy="274320"/>
          </a:xfrm>
          <a:prstGeom prst="rect">
            <a:avLst/>
          </a:prstGeom>
          <a:noFill/>
        </p:spPr>
        <p:txBody>
          <a:bodyPr wrap="none">
            <a:spAutoFit/>
          </a:bodyPr>
          <a:lstStyle/>
          <a:p>
            <a:r>
              <a:rPr sz="950" b="0" i="0">
                <a:solidFill>
                  <a:srgbClr val="5A6478"/>
                </a:solidFill>
                <a:latin typeface="Calibri"/>
                <a:ea typeface="Calibri"/>
                <a:cs typeface="Calibri"/>
              </a:rPr>
              <a:t>CNTT-KLCN142 — Đề xuất thực đơn dinh dưỡng cá nhân hóa bằng DBO/IDBO | Tổng hợp Tuần 8 – 9 – 10 – 11</a:t>
            </a:r>
          </a:p>
        </p:txBody>
      </p:sp>
      <p:sp>
        <p:nvSpPr>
          <p:cNvPr id="19" name="TextBox 18"/>
          <p:cNvSpPr txBox="1"/>
          <p:nvPr/>
        </p:nvSpPr>
        <p:spPr>
          <a:xfrm>
            <a:off x="9601200" y="6510528"/>
            <a:ext cx="2011680" cy="274320"/>
          </a:xfrm>
          <a:prstGeom prst="rect">
            <a:avLst/>
          </a:prstGeom>
          <a:noFill/>
        </p:spPr>
        <p:txBody>
          <a:bodyPr wrap="none">
            <a:spAutoFit/>
          </a:bodyPr>
          <a:lstStyle/>
          <a:p>
            <a:pPr algn="r"/>
            <a:r>
              <a:rPr sz="950" b="1" i="0">
                <a:solidFill>
                  <a:srgbClr val="5A6478"/>
                </a:solidFill>
                <a:latin typeface="Calibri"/>
                <a:ea typeface="Calibri"/>
                <a:cs typeface="Calibri"/>
              </a:rP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274320"/>
          </a:xfrm>
          <a:prstGeom prst="rect">
            <a:avLst/>
          </a:prstGeom>
          <a:noFill/>
        </p:spPr>
        <p:txBody>
          <a:bodyPr wrap="square" lIns="0" tIns="0" rIns="0" bIns="0">
            <a:spAutoFit/>
          </a:bodyPr>
          <a:lstStyle/>
          <a:p>
            <a:r>
              <a:rPr sz="1100" b="1" i="0">
                <a:solidFill>
                  <a:srgbClr val="D9822B"/>
                </a:solidFill>
                <a:latin typeface="Calibri"/>
                <a:ea typeface="Calibri"/>
                <a:cs typeface="Calibri"/>
              </a:rPr>
              <a:t>THIẾT KẾ GIẢI THUẬT (TUẦN 8)</a:t>
            </a:r>
          </a:p>
        </p:txBody>
      </p:sp>
      <p:sp>
        <p:nvSpPr>
          <p:cNvPr id="3" name="TextBox 2"/>
          <p:cNvSpPr txBox="1"/>
          <p:nvPr/>
        </p:nvSpPr>
        <p:spPr>
          <a:xfrm>
            <a:off x="548640" y="621792"/>
            <a:ext cx="11064240" cy="548640"/>
          </a:xfrm>
          <a:prstGeom prst="rect">
            <a:avLst/>
          </a:prstGeom>
          <a:noFill/>
        </p:spPr>
        <p:txBody>
          <a:bodyPr wrap="square" lIns="0" tIns="0" rIns="0" bIns="0">
            <a:spAutoFit/>
          </a:bodyPr>
          <a:lstStyle/>
          <a:p>
            <a:r>
              <a:rPr sz="2100" b="1" i="0">
                <a:solidFill>
                  <a:srgbClr val="1B2A4A"/>
                </a:solidFill>
                <a:latin typeface="Calibri"/>
                <a:ea typeface="Calibri"/>
                <a:cs typeface="Calibri"/>
              </a:rPr>
              <a:t>[Tuần 8] Kiến Trúc Tối Ưu Hóa 2 Tầng &amp; Chiến Lược Lọc Bể Ứng Viên</a:t>
            </a:r>
          </a:p>
        </p:txBody>
      </p:sp>
      <p:sp>
        <p:nvSpPr>
          <p:cNvPr id="4" name="Rectangle 3"/>
          <p:cNvSpPr/>
          <p:nvPr/>
        </p:nvSpPr>
        <p:spPr>
          <a:xfrm>
            <a:off x="548640" y="1207008"/>
            <a:ext cx="11094415" cy="1905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371600"/>
            <a:ext cx="5394960" cy="49377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554480"/>
            <a:ext cx="4937760" cy="4572000"/>
          </a:xfrm>
          <a:prstGeom prst="rect">
            <a:avLst/>
          </a:prstGeom>
          <a:noFill/>
        </p:spPr>
        <p:txBody>
          <a:bodyPr wrap="square">
            <a:spAutoFit/>
          </a:bodyPr>
          <a:lstStyle/>
          <a:p>
            <a:r>
              <a:rPr sz="1550" b="1" i="0">
                <a:solidFill>
                  <a:srgbClr val="1B2A4A"/>
                </a:solidFill>
                <a:latin typeface="Calibri"/>
                <a:ea typeface="Calibri"/>
                <a:cs typeface="Calibri"/>
              </a:rPr>
              <a:t>Kiến Trúc Two-Tier Solver (Mixed-Integer)</a:t>
            </a:r>
          </a:p>
          <a:p>
            <a:pPr>
              <a:spcBef>
                <a:spcPts val="800"/>
              </a:spcBef>
            </a:pPr>
            <a:r>
              <a:rPr sz="1100" b="1" i="0">
                <a:solidFill>
                  <a:srgbClr val="2D3E63"/>
                </a:solidFill>
                <a:latin typeface="Calibri"/>
                <a:ea typeface="Calibri"/>
                <a:cs typeface="Calibri"/>
              </a:rPr>
              <a:t>★ Tầng 1 — Outer Solver (Chọn tổ hợp món rời rạc):
</a:t>
            </a:r>
            <a:r>
              <a:rPr sz="1000" b="0" i="0">
                <a:solidFill>
                  <a:srgbClr val="1E2430"/>
                </a:solidFill>
                <a:latin typeface="Calibri"/>
                <a:ea typeface="Calibri"/>
                <a:cs typeface="Calibri"/>
              </a:rPr>
              <a:t>• Vector cá thể bọ hung: z = (z₁, ..., z₈) với z_i ∈ [0, 1).
• Ánh xạ chỉ mục Pool: idx_i = floor(z_i × |Pool_i|), giải mã ra tập food_ids.
• Cơ cấu 4 bữa ăn (meal_counts): Sáng (2 món), Trưa (2 món: Đạm + Rau/Canh), Tối (2 món), Phụ (2 món: Trái cây/Hạt).
• Độ thích nghi của z: Chính là kết quả tốt nhất đạt được sau khi chạy tầng 2 trên tổ hợp món đó.</a:t>
            </a:r>
          </a:p>
          <a:p>
            <a:pPr>
              <a:spcBef>
                <a:spcPts val="800"/>
              </a:spcBef>
            </a:pPr>
            <a:r>
              <a:rPr sz="1100" b="1" i="0">
                <a:solidFill>
                  <a:srgbClr val="2D3E63"/>
                </a:solidFill>
                <a:latin typeface="Calibri"/>
                <a:ea typeface="Calibri"/>
                <a:cs typeface="Calibri"/>
              </a:rPr>
              <a:t>★ Tầng 2 — Inner Solver (Tối ưu định lượng khẩu phần liên tục):
</a:t>
            </a:r>
            <a:r>
              <a:rPr sz="1000" b="0" i="0">
                <a:solidFill>
                  <a:srgbClr val="1E2430"/>
                </a:solidFill>
                <a:latin typeface="Calibri"/>
                <a:ea typeface="Calibri"/>
                <a:cs typeface="Calibri"/>
              </a:rPr>
              <a:t>• Vector liên tục x = (x₁, ..., x₈) ∈ [25g, 350g]^8 biểu diễn số gram từng món.
• Chạy IDBO bám sát mục tiêu Năng lượng &amp; Tỷ lệ đa lượng (Carbs / Protein / Fat).
• Thời gian giải nhanh: 0.17s – 0.30s cho mỗi lần chạy Inner Solver.</a:t>
            </a:r>
          </a:p>
          <a:p>
            <a:pPr>
              <a:spcBef>
                <a:spcPts val="800"/>
              </a:spcBef>
            </a:pPr>
            <a:r>
              <a:rPr sz="1100" b="1" i="0">
                <a:solidFill>
                  <a:srgbClr val="2D3E63"/>
                </a:solidFill>
                <a:latin typeface="Calibri"/>
                <a:ea typeface="Calibri"/>
                <a:cs typeface="Calibri"/>
              </a:rPr>
              <a:t>★ Quy chuẩn làm tròn khẩu phần 5g thực tế chế biến:
</a:t>
            </a:r>
            <a:r>
              <a:rPr sz="1000" b="0" i="0">
                <a:solidFill>
                  <a:srgbClr val="1E2430"/>
                </a:solidFill>
                <a:latin typeface="Calibri"/>
                <a:ea typeface="Calibri"/>
                <a:cs typeface="Calibri"/>
              </a:rPr>
              <a:t>• module portion_utils: round_portions(x, step=5) loại bỏ hoàn toàn số lẻ thập phân.
• Dinh dưỡng được tính toán lại và thẩm định validate_menu() trên chính nghiệm đã làm tròn.</a:t>
            </a:r>
          </a:p>
        </p:txBody>
      </p:sp>
      <p:sp>
        <p:nvSpPr>
          <p:cNvPr id="7" name="Rounded Rectangle 6"/>
          <p:cNvSpPr/>
          <p:nvPr/>
        </p:nvSpPr>
        <p:spPr>
          <a:xfrm>
            <a:off x="6217920" y="1371600"/>
            <a:ext cx="5394960" cy="49377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554480"/>
            <a:ext cx="4937760" cy="4572000"/>
          </a:xfrm>
          <a:prstGeom prst="rect">
            <a:avLst/>
          </a:prstGeom>
          <a:noFill/>
        </p:spPr>
        <p:txBody>
          <a:bodyPr wrap="square">
            <a:spAutoFit/>
          </a:bodyPr>
          <a:lstStyle/>
          <a:p>
            <a:r>
              <a:rPr sz="1550" b="1" i="0">
                <a:solidFill>
                  <a:srgbClr val="1B2A4A"/>
                </a:solidFill>
                <a:latin typeface="Calibri"/>
                <a:ea typeface="Calibri"/>
                <a:cs typeface="Calibri"/>
              </a:rPr>
              <a:t>Chiến Lược Lọc Bể Ứng Viên (Candidate Pools)</a:t>
            </a:r>
          </a:p>
          <a:p>
            <a:pPr>
              <a:spcBef>
                <a:spcPts val="800"/>
              </a:spcBef>
            </a:pPr>
            <a:r>
              <a:rPr sz="1100" b="1" i="0">
                <a:solidFill>
                  <a:srgbClr val="1D6F6F"/>
                </a:solidFill>
                <a:latin typeface="Calibri"/>
                <a:ea typeface="Calibri"/>
                <a:cs typeface="Calibri"/>
              </a:rPr>
              <a:t>• Kho CSDL gốc tích hợp 15.929 thực phẩm:
</a:t>
            </a:r>
            <a:r>
              <a:rPr sz="1000" b="0" i="0">
                <a:solidFill>
                  <a:srgbClr val="1E2430"/>
                </a:solidFill>
                <a:latin typeface="Calibri"/>
                <a:ea typeface="Calibri"/>
                <a:cs typeface="Calibri"/>
              </a:rPr>
              <a:t>Hợp nhất từ nguồn thực phẩm chuẩn USDA và Viện Dinh Dưỡng Quốc Gia Việt Nam, cung cấp đầy đủ thông số calo và dinh dưỡng đa lượng.</a:t>
            </a:r>
          </a:p>
          <a:p>
            <a:pPr>
              <a:spcBef>
                <a:spcPts val="800"/>
              </a:spcBef>
            </a:pPr>
            <a:r>
              <a:rPr sz="1100" b="1" i="0">
                <a:solidFill>
                  <a:srgbClr val="1D6F6F"/>
                </a:solidFill>
                <a:latin typeface="Calibri"/>
                <a:ea typeface="Calibri"/>
                <a:cs typeface="Calibri"/>
              </a:rPr>
              <a:t>• Phân loại 4 Bể Ứng Viên chuyên biệt theo bữa:
</a:t>
            </a:r>
            <a:r>
              <a:rPr sz="1000" b="0" i="0">
                <a:solidFill>
                  <a:srgbClr val="1E2430"/>
                </a:solidFill>
                <a:latin typeface="Calibri"/>
                <a:ea typeface="Calibri"/>
                <a:cs typeface="Calibri"/>
              </a:rPr>
              <a:t>• Bữa sáng (Breakfast Pool): 2.140 món (Ngũ cốc, bánh mì, sữa tươi, cháo dinh dưỡng).
• Món chính trưa (Lunch Main): 3.480 món giàu Protein (thịt gà, bò, cá, đậu phụ).
• Canh / Rau trưa (Lunch Side): 1.850 món giàu chất xơ, vitamin và khoáng chất.
• Món chính tối (Dinner Main): 3.120 món đạm dễ tiêu hóa, khống chế Natri &amp; chất béo.
• Rau / Bữa phụ (Dinner Side &amp; Snack): 2.680 món trái cây ít ngọt, các loại hạt, sữa chua.</a:t>
            </a:r>
          </a:p>
          <a:p>
            <a:pPr>
              <a:spcBef>
                <a:spcPts val="800"/>
              </a:spcBef>
            </a:pPr>
            <a:r>
              <a:rPr sz="1100" b="1" i="0">
                <a:solidFill>
                  <a:srgbClr val="1D6F6F"/>
                </a:solidFill>
                <a:latin typeface="Calibri"/>
                <a:ea typeface="Calibri"/>
                <a:cs typeface="Calibri"/>
              </a:rPr>
              <a:t>• Lọc ràng buộc sở thích &amp; dị ứng trước khi giải:
</a:t>
            </a:r>
            <a:r>
              <a:rPr sz="1000" b="0" i="0">
                <a:solidFill>
                  <a:srgbClr val="1E2430"/>
                </a:solidFill>
                <a:latin typeface="Calibri"/>
                <a:ea typeface="Calibri"/>
                <a:cs typeface="Calibri"/>
              </a:rPr>
              <a:t>Tự động loại bỏ các thành phần dị ứng (hải sản, đậu phộng, gluten) theo hồ sơ người dùng. Đảm bảo mỗi slot có từ 50–200 món khả thi 100%.</a:t>
            </a:r>
          </a:p>
        </p:txBody>
      </p:sp>
      <p:sp>
        <p:nvSpPr>
          <p:cNvPr id="9" name="Rectangle 8"/>
          <p:cNvSpPr/>
          <p:nvPr/>
        </p:nvSpPr>
        <p:spPr>
          <a:xfrm>
            <a:off x="548640" y="6446520"/>
            <a:ext cx="11094415" cy="1270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10528"/>
            <a:ext cx="8686800" cy="274320"/>
          </a:xfrm>
          <a:prstGeom prst="rect">
            <a:avLst/>
          </a:prstGeom>
          <a:noFill/>
        </p:spPr>
        <p:txBody>
          <a:bodyPr wrap="none">
            <a:spAutoFit/>
          </a:bodyPr>
          <a:lstStyle/>
          <a:p>
            <a:r>
              <a:rPr sz="950" b="0" i="0">
                <a:solidFill>
                  <a:srgbClr val="5A6478"/>
                </a:solidFill>
                <a:latin typeface="Calibri"/>
                <a:ea typeface="Calibri"/>
                <a:cs typeface="Calibri"/>
              </a:rPr>
              <a:t>CNTT-KLCN142 — Đề xuất thực đơn dinh dưỡng cá nhân hóa bằng DBO/IDBO | Tổng hợp Tuần 8 – 9 – 10 – 11</a:t>
            </a:r>
          </a:p>
        </p:txBody>
      </p:sp>
      <p:sp>
        <p:nvSpPr>
          <p:cNvPr id="11" name="TextBox 10"/>
          <p:cNvSpPr txBox="1"/>
          <p:nvPr/>
        </p:nvSpPr>
        <p:spPr>
          <a:xfrm>
            <a:off x="9601200" y="6510528"/>
            <a:ext cx="2011680" cy="274320"/>
          </a:xfrm>
          <a:prstGeom prst="rect">
            <a:avLst/>
          </a:prstGeom>
          <a:noFill/>
        </p:spPr>
        <p:txBody>
          <a:bodyPr wrap="none">
            <a:spAutoFit/>
          </a:bodyPr>
          <a:lstStyle/>
          <a:p>
            <a:pPr algn="r"/>
            <a:r>
              <a:rPr sz="950" b="1" i="0">
                <a:solidFill>
                  <a:srgbClr val="5A6478"/>
                </a:solidFill>
                <a:latin typeface="Calibri"/>
                <a:ea typeface="Calibri"/>
                <a:cs typeface="Calibri"/>
              </a:rP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274320"/>
          </a:xfrm>
          <a:prstGeom prst="rect">
            <a:avLst/>
          </a:prstGeom>
          <a:noFill/>
        </p:spPr>
        <p:txBody>
          <a:bodyPr wrap="square" lIns="0" tIns="0" rIns="0" bIns="0">
            <a:spAutoFit/>
          </a:bodyPr>
          <a:lstStyle/>
          <a:p>
            <a:r>
              <a:rPr sz="1100" b="1" i="0">
                <a:solidFill>
                  <a:srgbClr val="D9822B"/>
                </a:solidFill>
                <a:latin typeface="Calibri"/>
                <a:ea typeface="Calibri"/>
                <a:cs typeface="Calibri"/>
              </a:rPr>
              <a:t>ĐỐI CHUẨN GIẢI THUẬT (TUẦN 8)</a:t>
            </a:r>
          </a:p>
        </p:txBody>
      </p:sp>
      <p:sp>
        <p:nvSpPr>
          <p:cNvPr id="3" name="TextBox 2"/>
          <p:cNvSpPr txBox="1"/>
          <p:nvPr/>
        </p:nvSpPr>
        <p:spPr>
          <a:xfrm>
            <a:off x="548640" y="621792"/>
            <a:ext cx="11064240" cy="548640"/>
          </a:xfrm>
          <a:prstGeom prst="rect">
            <a:avLst/>
          </a:prstGeom>
          <a:noFill/>
        </p:spPr>
        <p:txBody>
          <a:bodyPr wrap="square" lIns="0" tIns="0" rIns="0" bIns="0">
            <a:spAutoFit/>
          </a:bodyPr>
          <a:lstStyle/>
          <a:p>
            <a:r>
              <a:rPr sz="2100" b="1" i="0">
                <a:solidFill>
                  <a:srgbClr val="1B2A4A"/>
                </a:solidFill>
                <a:latin typeface="Calibri"/>
                <a:ea typeface="Calibri"/>
                <a:cs typeface="Calibri"/>
              </a:rPr>
              <a:t>[Tuần 8] Kết Quả Đối Chuẩn 10 Runs Độc Lập &amp; Đồ Thị Hội Tụ / Phân Phối</a:t>
            </a:r>
          </a:p>
        </p:txBody>
      </p:sp>
      <p:sp>
        <p:nvSpPr>
          <p:cNvPr id="4" name="Rectangle 3"/>
          <p:cNvSpPr/>
          <p:nvPr/>
        </p:nvSpPr>
        <p:spPr>
          <a:xfrm>
            <a:off x="548640" y="1207008"/>
            <a:ext cx="11094415" cy="1905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17920" y="1371600"/>
            <a:ext cx="5394960" cy="49377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46520" y="1554480"/>
            <a:ext cx="4937760" cy="4572000"/>
          </a:xfrm>
          <a:prstGeom prst="rect">
            <a:avLst/>
          </a:prstGeom>
          <a:noFill/>
        </p:spPr>
        <p:txBody>
          <a:bodyPr wrap="square">
            <a:spAutoFit/>
          </a:bodyPr>
          <a:lstStyle/>
          <a:p>
            <a:r>
              <a:rPr sz="1550" b="1" i="0">
                <a:solidFill>
                  <a:srgbClr val="1B2A4A"/>
                </a:solidFill>
                <a:latin typeface="Calibri"/>
                <a:ea typeface="Calibri"/>
                <a:cs typeface="Calibri"/>
              </a:rPr>
              <a:t>Số Liệu Đối Chuẩn Tuần 8 (Profile P1, 10 Seeds)</a:t>
            </a:r>
          </a:p>
          <a:p>
            <a:pPr>
              <a:spcBef>
                <a:spcPts val="600"/>
              </a:spcBef>
            </a:pPr>
            <a:r>
              <a:rPr sz="1100" b="1" i="0">
                <a:solidFill>
                  <a:srgbClr val="2D3E63"/>
                </a:solidFill>
                <a:latin typeface="Calibri"/>
                <a:ea typeface="Calibri"/>
                <a:cs typeface="Calibri"/>
              </a:rPr>
              <a:t>• Cấu hình thử nghiệm:
  </a:t>
            </a:r>
            <a:r>
              <a:rPr sz="1000" b="0" i="0">
                <a:solidFill>
                  <a:srgbClr val="1E2430"/>
                </a:solidFill>
                <a:latin typeface="Calibri"/>
                <a:ea typeface="Calibri"/>
                <a:cs typeface="Calibri"/>
              </a:rPr>
              <a:t>10 seed độc lập (8001–8010), hồ sơ nam 22 tuổi (mục tiêu 2491.6 kcal). Cấu hình cơ sở: 25 vòng ngoài, 25 vòng trong, quần thể 20/15 cá thể.</a:t>
            </a:r>
          </a:p>
          <a:p>
            <a:pPr>
              <a:spcBef>
                <a:spcPts val="600"/>
              </a:spcBef>
            </a:pPr>
            <a:r>
              <a:rPr sz="1100" b="1" i="0">
                <a:solidFill>
                  <a:srgbClr val="2D3E63"/>
                </a:solidFill>
                <a:latin typeface="Calibri"/>
                <a:ea typeface="Calibri"/>
                <a:cs typeface="Calibri"/>
              </a:rPr>
              <a:t>• Kết quả hiệu năng đạt được:
  </a:t>
            </a:r>
            <a:r>
              <a:rPr sz="1000" b="0" i="0">
                <a:solidFill>
                  <a:srgbClr val="1E2430"/>
                </a:solidFill>
                <a:latin typeface="Calibri"/>
                <a:ea typeface="Calibri"/>
                <a:cs typeface="Calibri"/>
              </a:rPr>
              <a:t>• Best Fitness: 99.5106 tại seed 8003; mức sai lệch calo chỉ 8.1 kcal (0.32%).
• Mean Fitness: 98.2148 ± 1.0663 | Worst Fitness: 96.3425.
• Vi phạm ràng buộc: 0.0 / 10 lượt chạy (100% hợp lệ). Thời gian chạy TB: 7.6s – 8.2s.</a:t>
            </a:r>
          </a:p>
          <a:p>
            <a:pPr>
              <a:spcBef>
                <a:spcPts val="600"/>
              </a:spcBef>
            </a:pPr>
            <a:r>
              <a:rPr sz="1100" b="1" i="0">
                <a:solidFill>
                  <a:srgbClr val="2D3E63"/>
                </a:solidFill>
                <a:latin typeface="Calibri"/>
                <a:ea typeface="Calibri"/>
                <a:cs typeface="Calibri"/>
              </a:rPr>
              <a:t>• Nhận định từ đồ thị W8-F1 &amp; W8-F2:
  </a:t>
            </a:r>
            <a:r>
              <a:rPr sz="1000" b="0" i="0">
                <a:solidFill>
                  <a:srgbClr val="1E2430"/>
                </a:solidFill>
                <a:latin typeface="Calibri"/>
                <a:ea typeface="Calibri"/>
                <a:cs typeface="Calibri"/>
              </a:rPr>
              <a:t>• W8-F1 (Hội tụ): Đường cong hội tụ tầng ngoài giảm nhanh và ổn định sau ~10 vòng lặp.
• W8-F2 (Boxplot): Phân phối Best Fitness có trung vị 98.4, khoảng biến thiên hẹp [96.3, 99.5], không xuất hiện outlier suy biến.</a:t>
            </a:r>
          </a:p>
          <a:p>
            <a:pPr>
              <a:spcBef>
                <a:spcPts val="600"/>
              </a:spcBef>
            </a:pPr>
            <a:r>
              <a:rPr sz="1100" b="1" i="0">
                <a:solidFill>
                  <a:srgbClr val="2D3E63"/>
                </a:solidFill>
                <a:latin typeface="Calibri"/>
                <a:ea typeface="Calibri"/>
                <a:cs typeface="Calibri"/>
              </a:rPr>
              <a:t>• Chẩn đoán Telemetry Tuần 8 (Ablation Diagnostic):
  </a:t>
            </a:r>
            <a:r>
              <a:rPr sz="1000" b="0" i="0">
                <a:solidFill>
                  <a:srgbClr val="1E2430"/>
                </a:solidFill>
                <a:latin typeface="Calibri"/>
                <a:ea typeface="Calibri"/>
                <a:cs typeface="Calibri"/>
              </a:rPr>
              <a:t>Trong cấu hình cơ sở 25 vòng, DBO và IDBO cho kết quả tương đương do độ đa dạng thực tế duy trì ở mức cao (min_diversity = 0.246 &gt; threshold 0.05). Khi nâng ngưỡng chẩn đoán lên 0.50, IDBO kích hoạt mạnh 30 lần ở Outer và 8.098 lần ở Inner -&gt; Khẳng định thuật toán kết nối chính xác và mở đường cho việc tối ưu ngưỡng ở Tuần 11.</a:t>
            </a:r>
          </a:p>
        </p:txBody>
      </p:sp>
      <p:sp>
        <p:nvSpPr>
          <p:cNvPr id="7" name="Rectangle 6"/>
          <p:cNvSpPr/>
          <p:nvPr/>
        </p:nvSpPr>
        <p:spPr>
          <a:xfrm>
            <a:off x="548640" y="6446520"/>
            <a:ext cx="11094415" cy="1270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10528"/>
            <a:ext cx="8686800" cy="274320"/>
          </a:xfrm>
          <a:prstGeom prst="rect">
            <a:avLst/>
          </a:prstGeom>
          <a:noFill/>
        </p:spPr>
        <p:txBody>
          <a:bodyPr wrap="none">
            <a:spAutoFit/>
          </a:bodyPr>
          <a:lstStyle/>
          <a:p>
            <a:r>
              <a:rPr sz="950" b="0" i="0">
                <a:solidFill>
                  <a:srgbClr val="5A6478"/>
                </a:solidFill>
                <a:latin typeface="Calibri"/>
                <a:ea typeface="Calibri"/>
                <a:cs typeface="Calibri"/>
              </a:rPr>
              <a:t>CNTT-KLCN142 — Đề xuất thực đơn dinh dưỡng cá nhân hóa bằng DBO/IDBO | Tổng hợp Tuần 8 – 9 – 10 – 11</a:t>
            </a:r>
          </a:p>
        </p:txBody>
      </p:sp>
      <p:sp>
        <p:nvSpPr>
          <p:cNvPr id="9" name="TextBox 8"/>
          <p:cNvSpPr txBox="1"/>
          <p:nvPr/>
        </p:nvSpPr>
        <p:spPr>
          <a:xfrm>
            <a:off x="9601200" y="6510528"/>
            <a:ext cx="2011680" cy="274320"/>
          </a:xfrm>
          <a:prstGeom prst="rect">
            <a:avLst/>
          </a:prstGeom>
          <a:noFill/>
        </p:spPr>
        <p:txBody>
          <a:bodyPr wrap="none">
            <a:spAutoFit/>
          </a:bodyPr>
          <a:lstStyle/>
          <a:p>
            <a:pPr algn="r"/>
            <a:r>
              <a:rPr sz="950" b="1" i="0">
                <a:solidFill>
                  <a:srgbClr val="5A6478"/>
                </a:solidFill>
                <a:latin typeface="Calibri"/>
                <a:ea typeface="Calibri"/>
                <a:cs typeface="Calibri"/>
              </a:rPr>
              <a:t>4 / 14</a:t>
            </a:r>
          </a:p>
        </p:txBody>
      </p:sp>
      <p:sp>
        <p:nvSpPr>
          <p:cNvPr id="10" name="Rounded Rectangle 9"/>
          <p:cNvSpPr/>
          <p:nvPr/>
        </p:nvSpPr>
        <p:spPr>
          <a:xfrm>
            <a:off x="594360" y="1417320"/>
            <a:ext cx="5257800" cy="4773168"/>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672" y="1627632"/>
            <a:ext cx="64008" cy="438912"/>
          </a:xfrm>
          <a:prstGeom prst="rect">
            <a:avLst/>
          </a:prstGeom>
          <a:solidFill>
            <a:srgbClr val="1877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1655064"/>
            <a:ext cx="4572000" cy="475488"/>
          </a:xfrm>
          <a:prstGeom prst="rect">
            <a:avLst/>
          </a:prstGeom>
          <a:noFill/>
        </p:spPr>
        <p:txBody>
          <a:bodyPr wrap="square" lIns="54864" tIns="27432">
            <a:spAutoFit/>
          </a:bodyPr>
          <a:lstStyle/>
          <a:p>
            <a:pPr>
              <a:defRPr sz="2000" b="1">
                <a:solidFill>
                  <a:srgbClr val="1C2C4C"/>
                </a:solidFill>
                <a:latin typeface="Arial"/>
              </a:defRPr>
            </a:pPr>
            <a:r>
              <a:t>KẾT QUẢ ĐỐI CHUẨN</a:t>
            </a:r>
          </a:p>
        </p:txBody>
      </p:sp>
      <p:sp>
        <p:nvSpPr>
          <p:cNvPr id="13" name="TextBox 12"/>
          <p:cNvSpPr txBox="1"/>
          <p:nvPr/>
        </p:nvSpPr>
        <p:spPr>
          <a:xfrm>
            <a:off x="932688" y="2148840"/>
            <a:ext cx="4681728" cy="502920"/>
          </a:xfrm>
          <a:prstGeom prst="rect">
            <a:avLst/>
          </a:prstGeom>
          <a:noFill/>
        </p:spPr>
        <p:txBody>
          <a:bodyPr wrap="square" lIns="54864" tIns="27432">
            <a:spAutoFit/>
          </a:bodyPr>
          <a:lstStyle/>
          <a:p>
            <a:pPr>
              <a:defRPr sz="1200" b="0">
                <a:solidFill>
                  <a:srgbClr val="536173"/>
                </a:solidFill>
                <a:latin typeface="Arial"/>
              </a:defRPr>
            </a:pPr>
            <a:r>
              <a:t>Tuần 8 · Profile P1 · 10 seed độc lập</a:t>
            </a:r>
          </a:p>
        </p:txBody>
      </p:sp>
      <p:sp>
        <p:nvSpPr>
          <p:cNvPr id="14" name="Rounded Rectangle 13"/>
          <p:cNvSpPr/>
          <p:nvPr/>
        </p:nvSpPr>
        <p:spPr>
          <a:xfrm>
            <a:off x="932688" y="2743200"/>
            <a:ext cx="4590288" cy="999744"/>
          </a:xfrm>
          <a:prstGeom prst="roundRect">
            <a:avLst/>
          </a:prstGeom>
          <a:solidFill>
            <a:srgbClr val="E8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15568" y="2816352"/>
            <a:ext cx="4206240" cy="310896"/>
          </a:xfrm>
          <a:prstGeom prst="rect">
            <a:avLst/>
          </a:prstGeom>
          <a:noFill/>
        </p:spPr>
        <p:txBody>
          <a:bodyPr wrap="square" lIns="54864" tIns="27432">
            <a:spAutoFit/>
          </a:bodyPr>
          <a:lstStyle/>
          <a:p>
            <a:pPr>
              <a:defRPr sz="1600" b="1">
                <a:solidFill>
                  <a:srgbClr val="187773"/>
                </a:solidFill>
                <a:latin typeface="Arial"/>
              </a:defRPr>
            </a:pPr>
            <a:r>
              <a:t>99,5106</a:t>
            </a:r>
          </a:p>
        </p:txBody>
      </p:sp>
      <p:sp>
        <p:nvSpPr>
          <p:cNvPr id="16" name="TextBox 15"/>
          <p:cNvSpPr txBox="1"/>
          <p:nvPr/>
        </p:nvSpPr>
        <p:spPr>
          <a:xfrm>
            <a:off x="1115568" y="3172968"/>
            <a:ext cx="4206240" cy="551688"/>
          </a:xfrm>
          <a:prstGeom prst="rect">
            <a:avLst/>
          </a:prstGeom>
          <a:noFill/>
        </p:spPr>
        <p:txBody>
          <a:bodyPr wrap="square" lIns="54864" tIns="27432">
            <a:spAutoFit/>
          </a:bodyPr>
          <a:lstStyle/>
          <a:p>
            <a:pPr>
              <a:defRPr sz="1200" b="0">
                <a:solidFill>
                  <a:srgbClr val="536173"/>
                </a:solidFill>
                <a:latin typeface="Arial"/>
              </a:defRPr>
            </a:pPr>
            <a:r>
              <a:t>Best Fitness · seed 8003</a:t>
            </a:r>
          </a:p>
        </p:txBody>
      </p:sp>
      <p:sp>
        <p:nvSpPr>
          <p:cNvPr id="17" name="Rounded Rectangle 16"/>
          <p:cNvSpPr/>
          <p:nvPr/>
        </p:nvSpPr>
        <p:spPr>
          <a:xfrm>
            <a:off x="932688" y="3861816"/>
            <a:ext cx="4590288" cy="999744"/>
          </a:xfrm>
          <a:prstGeom prst="roundRect">
            <a:avLst/>
          </a:prstGeom>
          <a:solidFill>
            <a:srgbClr val="E8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15568" y="3934968"/>
            <a:ext cx="4206240" cy="310896"/>
          </a:xfrm>
          <a:prstGeom prst="rect">
            <a:avLst/>
          </a:prstGeom>
          <a:noFill/>
        </p:spPr>
        <p:txBody>
          <a:bodyPr wrap="square" lIns="54864" tIns="27432">
            <a:spAutoFit/>
          </a:bodyPr>
          <a:lstStyle/>
          <a:p>
            <a:pPr>
              <a:defRPr sz="1600" b="1">
                <a:solidFill>
                  <a:srgbClr val="187773"/>
                </a:solidFill>
                <a:latin typeface="Arial"/>
              </a:defRPr>
            </a:pPr>
            <a:r>
              <a:t>98,2148 ± 1,0663</a:t>
            </a:r>
          </a:p>
        </p:txBody>
      </p:sp>
      <p:sp>
        <p:nvSpPr>
          <p:cNvPr id="19" name="TextBox 18"/>
          <p:cNvSpPr txBox="1"/>
          <p:nvPr/>
        </p:nvSpPr>
        <p:spPr>
          <a:xfrm>
            <a:off x="1115568" y="4291584"/>
            <a:ext cx="4206240" cy="551688"/>
          </a:xfrm>
          <a:prstGeom prst="rect">
            <a:avLst/>
          </a:prstGeom>
          <a:noFill/>
        </p:spPr>
        <p:txBody>
          <a:bodyPr wrap="square" lIns="54864" tIns="27432">
            <a:spAutoFit/>
          </a:bodyPr>
          <a:lstStyle/>
          <a:p>
            <a:pPr>
              <a:defRPr sz="1200" b="0">
                <a:solidFill>
                  <a:srgbClr val="536173"/>
                </a:solidFill>
                <a:latin typeface="Arial"/>
              </a:defRPr>
            </a:pPr>
            <a:r>
              <a:t>Fitness trung bình và độ lệch</a:t>
            </a:r>
          </a:p>
        </p:txBody>
      </p:sp>
      <p:sp>
        <p:nvSpPr>
          <p:cNvPr id="20" name="Rounded Rectangle 19"/>
          <p:cNvSpPr/>
          <p:nvPr/>
        </p:nvSpPr>
        <p:spPr>
          <a:xfrm>
            <a:off x="932688" y="4980432"/>
            <a:ext cx="4590288" cy="999744"/>
          </a:xfrm>
          <a:prstGeom prst="roundRect">
            <a:avLst/>
          </a:prstGeom>
          <a:solidFill>
            <a:srgbClr val="E8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15568" y="5053584"/>
            <a:ext cx="4206240" cy="310896"/>
          </a:xfrm>
          <a:prstGeom prst="rect">
            <a:avLst/>
          </a:prstGeom>
          <a:noFill/>
        </p:spPr>
        <p:txBody>
          <a:bodyPr wrap="square" lIns="54864" tIns="27432">
            <a:spAutoFit/>
          </a:bodyPr>
          <a:lstStyle/>
          <a:p>
            <a:pPr>
              <a:defRPr sz="1600" b="1">
                <a:solidFill>
                  <a:srgbClr val="187773"/>
                </a:solidFill>
                <a:latin typeface="Arial"/>
              </a:defRPr>
            </a:pPr>
            <a:r>
              <a:t>0/10 VI PHẠM</a:t>
            </a:r>
          </a:p>
        </p:txBody>
      </p:sp>
      <p:sp>
        <p:nvSpPr>
          <p:cNvPr id="22" name="TextBox 21"/>
          <p:cNvSpPr txBox="1"/>
          <p:nvPr/>
        </p:nvSpPr>
        <p:spPr>
          <a:xfrm>
            <a:off x="1115568" y="5410200"/>
            <a:ext cx="4206240" cy="551688"/>
          </a:xfrm>
          <a:prstGeom prst="rect">
            <a:avLst/>
          </a:prstGeom>
          <a:noFill/>
        </p:spPr>
        <p:txBody>
          <a:bodyPr wrap="square" lIns="54864" tIns="27432">
            <a:spAutoFit/>
          </a:bodyPr>
          <a:lstStyle/>
          <a:p>
            <a:pPr>
              <a:defRPr sz="1200" b="0">
                <a:solidFill>
                  <a:srgbClr val="536173"/>
                </a:solidFill>
                <a:latin typeface="Arial"/>
              </a:defRPr>
            </a:pPr>
            <a:r>
              <a:t>Các lượt thử được báo cáo hợp lệ</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274320"/>
          </a:xfrm>
          <a:prstGeom prst="rect">
            <a:avLst/>
          </a:prstGeom>
          <a:noFill/>
        </p:spPr>
        <p:txBody>
          <a:bodyPr wrap="square" lIns="0" tIns="0" rIns="0" bIns="0">
            <a:spAutoFit/>
          </a:bodyPr>
          <a:lstStyle/>
          <a:p>
            <a:r>
              <a:rPr sz="1100" b="1" i="0">
                <a:solidFill>
                  <a:srgbClr val="D9822B"/>
                </a:solidFill>
                <a:latin typeface="Calibri"/>
                <a:ea typeface="Calibri"/>
                <a:cs typeface="Calibri"/>
              </a:rPr>
              <a:t>CASE STUDY &amp; KHẨU PHẦN THỰC TẾ (TUẦN 8)</a:t>
            </a:r>
          </a:p>
        </p:txBody>
      </p:sp>
      <p:sp>
        <p:nvSpPr>
          <p:cNvPr id="3" name="TextBox 2"/>
          <p:cNvSpPr txBox="1"/>
          <p:nvPr/>
        </p:nvSpPr>
        <p:spPr>
          <a:xfrm>
            <a:off x="548640" y="621792"/>
            <a:ext cx="11064240" cy="548640"/>
          </a:xfrm>
          <a:prstGeom prst="rect">
            <a:avLst/>
          </a:prstGeom>
          <a:noFill/>
        </p:spPr>
        <p:txBody>
          <a:bodyPr wrap="square" lIns="0" tIns="0" rIns="0" bIns="0">
            <a:spAutoFit/>
          </a:bodyPr>
          <a:lstStyle/>
          <a:p>
            <a:r>
              <a:rPr sz="2100" b="1" i="0">
                <a:solidFill>
                  <a:srgbClr val="1B2A4A"/>
                </a:solidFill>
                <a:latin typeface="Calibri"/>
                <a:ea typeface="Calibri"/>
                <a:cs typeface="Calibri"/>
              </a:rPr>
              <a:t>[Tuần 8] Cân Đối Dinh Dưỡng &amp; Thực Đơn Đề Xuất Chuẩn Hóa Khẩu Phần 5g</a:t>
            </a:r>
          </a:p>
        </p:txBody>
      </p:sp>
      <p:sp>
        <p:nvSpPr>
          <p:cNvPr id="4" name="Rectangle 3"/>
          <p:cNvSpPr/>
          <p:nvPr/>
        </p:nvSpPr>
        <p:spPr>
          <a:xfrm>
            <a:off x="548640" y="1207008"/>
            <a:ext cx="11094415" cy="1905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035040" y="1371600"/>
            <a:ext cx="5577840" cy="49377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0" y="1508760"/>
            <a:ext cx="5212080" cy="4663440"/>
          </a:xfrm>
          <a:prstGeom prst="rect">
            <a:avLst/>
          </a:prstGeom>
          <a:noFill/>
        </p:spPr>
        <p:txBody>
          <a:bodyPr wrap="square">
            <a:spAutoFit/>
          </a:bodyPr>
          <a:lstStyle/>
          <a:p>
            <a:r>
              <a:rPr sz="1450" b="1" i="0">
                <a:solidFill>
                  <a:srgbClr val="1B2A4A"/>
                </a:solidFill>
                <a:latin typeface="Calibri"/>
                <a:ea typeface="Calibri"/>
                <a:cs typeface="Calibri"/>
              </a:rPr>
              <a:t>Thực Đơn Tối Ưu Cho Profile P1 (Seed 8003)</a:t>
            </a:r>
          </a:p>
          <a:p>
            <a:pPr>
              <a:spcBef>
                <a:spcPts val="200"/>
              </a:spcBef>
            </a:pPr>
            <a:r>
              <a:rPr sz="1000" b="1" i="0">
                <a:solidFill>
                  <a:srgbClr val="217A4B"/>
                </a:solidFill>
                <a:latin typeface="Calibri"/>
                <a:ea typeface="Calibri"/>
                <a:cs typeface="Calibri"/>
              </a:rPr>
              <a:t>Tổng Calo: 2483.6 / 2491.6 kcal (Lệch 8.1 kcal, 0.32%) · Vi phạm: 0 · Fitness: 99.51</a:t>
            </a:r>
          </a:p>
        </p:txBody>
      </p:sp>
      <p:graphicFrame>
        <p:nvGraphicFramePr>
          <p:cNvPr id="7" name="Table 6"/>
          <p:cNvGraphicFramePr>
            <a:graphicFrameLocks noGrp="1"/>
          </p:cNvGraphicFramePr>
          <p:nvPr/>
        </p:nvGraphicFramePr>
        <p:xfrm>
          <a:off x="6172200" y="2057400"/>
          <a:ext cx="5303520" cy="2706624"/>
        </p:xfrm>
        <a:graphic>
          <a:graphicData uri="http://schemas.openxmlformats.org/drawingml/2006/table">
            <a:tbl>
              <a:tblPr firstRow="1" bandRow="1">
                <a:tableStyleId>{5C22544A-7EE6-4342-B048-85BDC9FD1C3A}</a:tableStyleId>
              </a:tblPr>
              <a:tblGrid>
                <a:gridCol w="822960"/>
                <a:gridCol w="2834640"/>
                <a:gridCol w="822960"/>
                <a:gridCol w="822960"/>
              </a:tblGrid>
              <a:tr h="365760">
                <a:tc>
                  <a:txBody>
                    <a:bodyPr/>
                    <a:lstStyle/>
                    <a:p>
                      <a:pPr algn="ctr"/>
                      <a:r>
                        <a:rPr sz="1100" b="1" i="0">
                          <a:solidFill>
                            <a:srgbClr val="FFFFFF"/>
                          </a:solidFill>
                          <a:latin typeface="Calibri"/>
                          <a:ea typeface="Calibri"/>
                          <a:cs typeface="Calibri"/>
                        </a:rPr>
                        <a:t>Bữa ăn</a:t>
                      </a:r>
                    </a:p>
                  </a:txBody>
                  <a:tcPr marL="73152" marR="73152" marT="18288" marB="18288" anchor="ctr">
                    <a:solidFill>
                      <a:srgbClr val="1B2A4A"/>
                    </a:solidFill>
                  </a:tcPr>
                </a:tc>
                <a:tc>
                  <a:txBody>
                    <a:bodyPr/>
                    <a:lstStyle/>
                    <a:p>
                      <a:pPr algn="l"/>
                      <a:r>
                        <a:rPr sz="1100" b="1" i="0">
                          <a:solidFill>
                            <a:srgbClr val="FFFFFF"/>
                          </a:solidFill>
                          <a:latin typeface="Calibri"/>
                          <a:ea typeface="Calibri"/>
                          <a:cs typeface="Calibri"/>
                        </a:rPr>
                        <a:t>Tên món ăn (CSDL 15.929 món)</a:t>
                      </a:r>
                    </a:p>
                  </a:txBody>
                  <a:tcPr marL="73152" marR="73152" marT="18288" marB="18288" anchor="ctr">
                    <a:solidFill>
                      <a:srgbClr val="1B2A4A"/>
                    </a:solidFill>
                  </a:tcPr>
                </a:tc>
                <a:tc>
                  <a:txBody>
                    <a:bodyPr/>
                    <a:lstStyle/>
                    <a:p>
                      <a:pPr algn="r"/>
                      <a:r>
                        <a:rPr sz="1100" b="1" i="0">
                          <a:solidFill>
                            <a:srgbClr val="FFFFFF"/>
                          </a:solidFill>
                          <a:latin typeface="Calibri"/>
                          <a:ea typeface="Calibri"/>
                          <a:cs typeface="Calibri"/>
                        </a:rPr>
                        <a:t>Gram gốc</a:t>
                      </a:r>
                    </a:p>
                  </a:txBody>
                  <a:tcPr marL="73152" marR="73152" marT="18288" marB="18288" anchor="ctr">
                    <a:solidFill>
                      <a:srgbClr val="1B2A4A"/>
                    </a:solidFill>
                  </a:tcPr>
                </a:tc>
                <a:tc>
                  <a:txBody>
                    <a:bodyPr/>
                    <a:lstStyle/>
                    <a:p>
                      <a:pPr algn="ctr"/>
                      <a:r>
                        <a:rPr sz="1100" b="1" i="0">
                          <a:solidFill>
                            <a:srgbClr val="FFFFFF"/>
                          </a:solidFill>
                          <a:latin typeface="Calibri"/>
                          <a:ea typeface="Calibri"/>
                          <a:cs typeface="Calibri"/>
                        </a:rPr>
                        <a:t>Gram làm tròn 5g</a:t>
                      </a:r>
                    </a:p>
                  </a:txBody>
                  <a:tcPr marL="73152" marR="73152" marT="18288" marB="18288" anchor="ctr">
                    <a:solidFill>
                      <a:srgbClr val="1B2A4A"/>
                    </a:solidFill>
                  </a:tcPr>
                </a:tc>
              </a:tr>
              <a:tr h="292608">
                <a:tc>
                  <a:txBody>
                    <a:bodyPr/>
                    <a:lstStyle/>
                    <a:p>
                      <a:pPr algn="ctr"/>
                      <a:r>
                        <a:rPr sz="919" b="1" i="0">
                          <a:solidFill>
                            <a:srgbClr val="1E2430"/>
                          </a:solidFill>
                          <a:latin typeface="Calibri"/>
                          <a:ea typeface="Calibri"/>
                          <a:cs typeface="Calibri"/>
                        </a:rPr>
                        <a:t>Sáng</a:t>
                      </a:r>
                    </a:p>
                  </a:txBody>
                  <a:tcPr marL="73152" marR="73152" marT="18288" marB="18288" anchor="ctr">
                    <a:solidFill>
                      <a:srgbClr val="F8FAFC"/>
                    </a:solidFill>
                  </a:tcPr>
                </a:tc>
                <a:tc>
                  <a:txBody>
                    <a:bodyPr/>
                    <a:lstStyle/>
                    <a:p>
                      <a:pPr algn="l"/>
                      <a:r>
                        <a:rPr sz="919" b="0" i="0">
                          <a:solidFill>
                            <a:srgbClr val="1E2430"/>
                          </a:solidFill>
                          <a:latin typeface="Calibri"/>
                          <a:ea typeface="Calibri"/>
                          <a:cs typeface="Calibri"/>
                        </a:rPr>
                        <a:t>Apple &amp; Cinnamon Filled Crepes</a:t>
                      </a:r>
                    </a:p>
                  </a:txBody>
                  <a:tcPr marL="73152" marR="73152" marT="18288" marB="18288" anchor="ctr">
                    <a:solidFill>
                      <a:srgbClr val="F8FAFC"/>
                    </a:solidFill>
                  </a:tcPr>
                </a:tc>
                <a:tc>
                  <a:txBody>
                    <a:bodyPr/>
                    <a:lstStyle/>
                    <a:p>
                      <a:pPr algn="r"/>
                      <a:r>
                        <a:rPr sz="919" b="0" i="0">
                          <a:solidFill>
                            <a:srgbClr val="1E2430"/>
                          </a:solidFill>
                          <a:latin typeface="Calibri"/>
                          <a:ea typeface="Calibri"/>
                          <a:cs typeface="Calibri"/>
                        </a:rPr>
                        <a:t>350.0g</a:t>
                      </a:r>
                    </a:p>
                  </a:txBody>
                  <a:tcPr marL="73152" marR="73152" marT="18288" marB="18288" anchor="ctr">
                    <a:solidFill>
                      <a:srgbClr val="F8FAFC"/>
                    </a:solidFill>
                  </a:tcPr>
                </a:tc>
                <a:tc>
                  <a:txBody>
                    <a:bodyPr/>
                    <a:lstStyle/>
                    <a:p>
                      <a:pPr algn="ctr"/>
                      <a:r>
                        <a:rPr sz="919" b="1" i="0">
                          <a:solidFill>
                            <a:srgbClr val="217A4B"/>
                          </a:solidFill>
                          <a:latin typeface="Calibri"/>
                          <a:ea typeface="Calibri"/>
                          <a:cs typeface="Calibri"/>
                        </a:rPr>
                        <a:t>350g</a:t>
                      </a:r>
                    </a:p>
                  </a:txBody>
                  <a:tcPr marL="73152" marR="73152" marT="18288" marB="18288" anchor="ctr">
                    <a:solidFill>
                      <a:srgbClr val="F8FAFC"/>
                    </a:solidFill>
                  </a:tcPr>
                </a:tc>
              </a:tr>
              <a:tr h="292608">
                <a:tc>
                  <a:txBody>
                    <a:bodyPr/>
                    <a:lstStyle/>
                    <a:p>
                      <a:pPr algn="ctr"/>
                      <a:r>
                        <a:rPr sz="919" b="1" i="0">
                          <a:solidFill>
                            <a:srgbClr val="1E2430"/>
                          </a:solidFill>
                          <a:latin typeface="Calibri"/>
                          <a:ea typeface="Calibri"/>
                          <a:cs typeface="Calibri"/>
                        </a:rPr>
                        <a:t>Sáng</a:t>
                      </a:r>
                    </a:p>
                  </a:txBody>
                  <a:tcPr marL="73152" marR="73152" marT="18288" marB="18288" anchor="ctr">
                    <a:solidFill>
                      <a:srgbClr val="FFFFFF"/>
                    </a:solidFill>
                  </a:tcPr>
                </a:tc>
                <a:tc>
                  <a:txBody>
                    <a:bodyPr/>
                    <a:lstStyle/>
                    <a:p>
                      <a:pPr algn="l"/>
                      <a:r>
                        <a:rPr sz="919" b="0" i="0">
                          <a:solidFill>
                            <a:srgbClr val="1E2430"/>
                          </a:solidFill>
                          <a:latin typeface="Calibri"/>
                          <a:ea typeface="Calibri"/>
                          <a:cs typeface="Calibri"/>
                        </a:rPr>
                        <a:t>Artisan Bread Loaf</a:t>
                      </a:r>
                    </a:p>
                  </a:txBody>
                  <a:tcPr marL="73152" marR="73152" marT="18288" marB="18288" anchor="ctr">
                    <a:solidFill>
                      <a:srgbClr val="FFFFFF"/>
                    </a:solidFill>
                  </a:tcPr>
                </a:tc>
                <a:tc>
                  <a:txBody>
                    <a:bodyPr/>
                    <a:lstStyle/>
                    <a:p>
                      <a:pPr algn="r"/>
                      <a:r>
                        <a:rPr sz="919" b="0" i="0">
                          <a:solidFill>
                            <a:srgbClr val="1E2430"/>
                          </a:solidFill>
                          <a:latin typeface="Calibri"/>
                          <a:ea typeface="Calibri"/>
                          <a:cs typeface="Calibri"/>
                        </a:rPr>
                        <a:t>85.1g</a:t>
                      </a:r>
                    </a:p>
                  </a:txBody>
                  <a:tcPr marL="73152" marR="73152" marT="18288" marB="18288" anchor="ctr">
                    <a:solidFill>
                      <a:srgbClr val="FFFFFF"/>
                    </a:solidFill>
                  </a:tcPr>
                </a:tc>
                <a:tc>
                  <a:txBody>
                    <a:bodyPr/>
                    <a:lstStyle/>
                    <a:p>
                      <a:pPr algn="ctr"/>
                      <a:r>
                        <a:rPr sz="919" b="1" i="0">
                          <a:solidFill>
                            <a:srgbClr val="217A4B"/>
                          </a:solidFill>
                          <a:latin typeface="Calibri"/>
                          <a:ea typeface="Calibri"/>
                          <a:cs typeface="Calibri"/>
                        </a:rPr>
                        <a:t>85g</a:t>
                      </a:r>
                    </a:p>
                  </a:txBody>
                  <a:tcPr marL="73152" marR="73152" marT="18288" marB="18288" anchor="ctr">
                    <a:solidFill>
                      <a:srgbClr val="FFFFFF"/>
                    </a:solidFill>
                  </a:tcPr>
                </a:tc>
              </a:tr>
              <a:tr h="292608">
                <a:tc>
                  <a:txBody>
                    <a:bodyPr/>
                    <a:lstStyle/>
                    <a:p>
                      <a:pPr algn="ctr"/>
                      <a:r>
                        <a:rPr sz="919" b="1" i="0">
                          <a:solidFill>
                            <a:srgbClr val="1E2430"/>
                          </a:solidFill>
                          <a:latin typeface="Calibri"/>
                          <a:ea typeface="Calibri"/>
                          <a:cs typeface="Calibri"/>
                        </a:rPr>
                        <a:t>Trưa</a:t>
                      </a:r>
                    </a:p>
                  </a:txBody>
                  <a:tcPr marL="73152" marR="73152" marT="18288" marB="18288" anchor="ctr">
                    <a:solidFill>
                      <a:srgbClr val="F8FAFC"/>
                    </a:solidFill>
                  </a:tcPr>
                </a:tc>
                <a:tc>
                  <a:txBody>
                    <a:bodyPr/>
                    <a:lstStyle/>
                    <a:p>
                      <a:pPr algn="l"/>
                      <a:r>
                        <a:rPr sz="919" b="0" i="0">
                          <a:solidFill>
                            <a:srgbClr val="1E2430"/>
                          </a:solidFill>
                          <a:latin typeface="Calibri"/>
                          <a:ea typeface="Calibri"/>
                          <a:cs typeface="Calibri"/>
                        </a:rPr>
                        <a:t>Artichoke Hearts Natural</a:t>
                      </a:r>
                    </a:p>
                  </a:txBody>
                  <a:tcPr marL="73152" marR="73152" marT="18288" marB="18288" anchor="ctr">
                    <a:solidFill>
                      <a:srgbClr val="F8FAFC"/>
                    </a:solidFill>
                  </a:tcPr>
                </a:tc>
                <a:tc>
                  <a:txBody>
                    <a:bodyPr/>
                    <a:lstStyle/>
                    <a:p>
                      <a:pPr algn="r"/>
                      <a:r>
                        <a:rPr sz="919" b="0" i="0">
                          <a:solidFill>
                            <a:srgbClr val="1E2430"/>
                          </a:solidFill>
                          <a:latin typeface="Calibri"/>
                          <a:ea typeface="Calibri"/>
                          <a:cs typeface="Calibri"/>
                        </a:rPr>
                        <a:t>350.0g</a:t>
                      </a:r>
                    </a:p>
                  </a:txBody>
                  <a:tcPr marL="73152" marR="73152" marT="18288" marB="18288" anchor="ctr">
                    <a:solidFill>
                      <a:srgbClr val="F8FAFC"/>
                    </a:solidFill>
                  </a:tcPr>
                </a:tc>
                <a:tc>
                  <a:txBody>
                    <a:bodyPr/>
                    <a:lstStyle/>
                    <a:p>
                      <a:pPr algn="ctr"/>
                      <a:r>
                        <a:rPr sz="919" b="1" i="0">
                          <a:solidFill>
                            <a:srgbClr val="217A4B"/>
                          </a:solidFill>
                          <a:latin typeface="Calibri"/>
                          <a:ea typeface="Calibri"/>
                          <a:cs typeface="Calibri"/>
                        </a:rPr>
                        <a:t>350g</a:t>
                      </a:r>
                    </a:p>
                  </a:txBody>
                  <a:tcPr marL="73152" marR="73152" marT="18288" marB="18288" anchor="ctr">
                    <a:solidFill>
                      <a:srgbClr val="F8FAFC"/>
                    </a:solidFill>
                  </a:tcPr>
                </a:tc>
              </a:tr>
              <a:tr h="292608">
                <a:tc>
                  <a:txBody>
                    <a:bodyPr/>
                    <a:lstStyle/>
                    <a:p>
                      <a:pPr algn="ctr"/>
                      <a:r>
                        <a:rPr sz="919" b="1" i="0">
                          <a:solidFill>
                            <a:srgbClr val="1E2430"/>
                          </a:solidFill>
                          <a:latin typeface="Calibri"/>
                          <a:ea typeface="Calibri"/>
                          <a:cs typeface="Calibri"/>
                        </a:rPr>
                        <a:t>Trưa</a:t>
                      </a:r>
                    </a:p>
                  </a:txBody>
                  <a:tcPr marL="73152" marR="73152" marT="18288" marB="18288" anchor="ctr">
                    <a:solidFill>
                      <a:srgbClr val="FFFFFF"/>
                    </a:solidFill>
                  </a:tcPr>
                </a:tc>
                <a:tc>
                  <a:txBody>
                    <a:bodyPr/>
                    <a:lstStyle/>
                    <a:p>
                      <a:pPr algn="l"/>
                      <a:r>
                        <a:rPr sz="919" b="0" i="0">
                          <a:solidFill>
                            <a:srgbClr val="1E2430"/>
                          </a:solidFill>
                          <a:latin typeface="Calibri"/>
                          <a:ea typeface="Calibri"/>
                          <a:cs typeface="Calibri"/>
                        </a:rPr>
                        <a:t>Chicken, broilers or fryers (thigh)</a:t>
                      </a:r>
                    </a:p>
                  </a:txBody>
                  <a:tcPr marL="73152" marR="73152" marT="18288" marB="18288" anchor="ctr">
                    <a:solidFill>
                      <a:srgbClr val="FFFFFF"/>
                    </a:solidFill>
                  </a:tcPr>
                </a:tc>
                <a:tc>
                  <a:txBody>
                    <a:bodyPr/>
                    <a:lstStyle/>
                    <a:p>
                      <a:pPr algn="r"/>
                      <a:r>
                        <a:rPr sz="919" b="0" i="0">
                          <a:solidFill>
                            <a:srgbClr val="1E2430"/>
                          </a:solidFill>
                          <a:latin typeface="Calibri"/>
                          <a:ea typeface="Calibri"/>
                          <a:cs typeface="Calibri"/>
                        </a:rPr>
                        <a:t>26.8g</a:t>
                      </a:r>
                    </a:p>
                  </a:txBody>
                  <a:tcPr marL="73152" marR="73152" marT="18288" marB="18288" anchor="ctr">
                    <a:solidFill>
                      <a:srgbClr val="FFFFFF"/>
                    </a:solidFill>
                  </a:tcPr>
                </a:tc>
                <a:tc>
                  <a:txBody>
                    <a:bodyPr/>
                    <a:lstStyle/>
                    <a:p>
                      <a:pPr algn="ctr"/>
                      <a:r>
                        <a:rPr sz="919" b="1" i="0">
                          <a:solidFill>
                            <a:srgbClr val="217A4B"/>
                          </a:solidFill>
                          <a:latin typeface="Calibri"/>
                          <a:ea typeface="Calibri"/>
                          <a:cs typeface="Calibri"/>
                        </a:rPr>
                        <a:t>25g</a:t>
                      </a:r>
                    </a:p>
                  </a:txBody>
                  <a:tcPr marL="73152" marR="73152" marT="18288" marB="18288" anchor="ctr">
                    <a:solidFill>
                      <a:srgbClr val="FFFFFF"/>
                    </a:solidFill>
                  </a:tcPr>
                </a:tc>
              </a:tr>
              <a:tr h="292608">
                <a:tc>
                  <a:txBody>
                    <a:bodyPr/>
                    <a:lstStyle/>
                    <a:p>
                      <a:pPr algn="ctr"/>
                      <a:r>
                        <a:rPr sz="919" b="1" i="0">
                          <a:solidFill>
                            <a:srgbClr val="1E2430"/>
                          </a:solidFill>
                          <a:latin typeface="Calibri"/>
                          <a:ea typeface="Calibri"/>
                          <a:cs typeface="Calibri"/>
                        </a:rPr>
                        <a:t>Tối</a:t>
                      </a:r>
                    </a:p>
                  </a:txBody>
                  <a:tcPr marL="73152" marR="73152" marT="18288" marB="18288" anchor="ctr">
                    <a:solidFill>
                      <a:srgbClr val="F8FAFC"/>
                    </a:solidFill>
                  </a:tcPr>
                </a:tc>
                <a:tc>
                  <a:txBody>
                    <a:bodyPr/>
                    <a:lstStyle/>
                    <a:p>
                      <a:pPr algn="l"/>
                      <a:r>
                        <a:rPr sz="919" b="0" i="0">
                          <a:solidFill>
                            <a:srgbClr val="1E2430"/>
                          </a:solidFill>
                          <a:latin typeface="Calibri"/>
                          <a:ea typeface="Calibri"/>
                          <a:cs typeface="Calibri"/>
                        </a:rPr>
                        <a:t>Quail, breast, meat only, raw</a:t>
                      </a:r>
                    </a:p>
                  </a:txBody>
                  <a:tcPr marL="73152" marR="73152" marT="18288" marB="18288" anchor="ctr">
                    <a:solidFill>
                      <a:srgbClr val="F8FAFC"/>
                    </a:solidFill>
                  </a:tcPr>
                </a:tc>
                <a:tc>
                  <a:txBody>
                    <a:bodyPr/>
                    <a:lstStyle/>
                    <a:p>
                      <a:pPr algn="r"/>
                      <a:r>
                        <a:rPr sz="919" b="0" i="0">
                          <a:solidFill>
                            <a:srgbClr val="1E2430"/>
                          </a:solidFill>
                          <a:latin typeface="Calibri"/>
                          <a:ea typeface="Calibri"/>
                          <a:cs typeface="Calibri"/>
                        </a:rPr>
                        <a:t>123.4g</a:t>
                      </a:r>
                    </a:p>
                  </a:txBody>
                  <a:tcPr marL="73152" marR="73152" marT="18288" marB="18288" anchor="ctr">
                    <a:solidFill>
                      <a:srgbClr val="F8FAFC"/>
                    </a:solidFill>
                  </a:tcPr>
                </a:tc>
                <a:tc>
                  <a:txBody>
                    <a:bodyPr/>
                    <a:lstStyle/>
                    <a:p>
                      <a:pPr algn="ctr"/>
                      <a:r>
                        <a:rPr sz="919" b="1" i="0">
                          <a:solidFill>
                            <a:srgbClr val="217A4B"/>
                          </a:solidFill>
                          <a:latin typeface="Calibri"/>
                          <a:ea typeface="Calibri"/>
                          <a:cs typeface="Calibri"/>
                        </a:rPr>
                        <a:t>125g</a:t>
                      </a:r>
                    </a:p>
                  </a:txBody>
                  <a:tcPr marL="73152" marR="73152" marT="18288" marB="18288" anchor="ctr">
                    <a:solidFill>
                      <a:srgbClr val="F8FAFC"/>
                    </a:solidFill>
                  </a:tcPr>
                </a:tc>
              </a:tr>
              <a:tr h="292608">
                <a:tc>
                  <a:txBody>
                    <a:bodyPr/>
                    <a:lstStyle/>
                    <a:p>
                      <a:pPr algn="ctr"/>
                      <a:r>
                        <a:rPr sz="919" b="1" i="0">
                          <a:solidFill>
                            <a:srgbClr val="1E2430"/>
                          </a:solidFill>
                          <a:latin typeface="Calibri"/>
                          <a:ea typeface="Calibri"/>
                          <a:cs typeface="Calibri"/>
                        </a:rPr>
                        <a:t>Tối</a:t>
                      </a:r>
                    </a:p>
                  </a:txBody>
                  <a:tcPr marL="73152" marR="73152" marT="18288" marB="18288" anchor="ctr">
                    <a:solidFill>
                      <a:srgbClr val="FFFFFF"/>
                    </a:solidFill>
                  </a:tcPr>
                </a:tc>
                <a:tc>
                  <a:txBody>
                    <a:bodyPr/>
                    <a:lstStyle/>
                    <a:p>
                      <a:pPr algn="l"/>
                      <a:r>
                        <a:rPr sz="919" b="0" i="0">
                          <a:solidFill>
                            <a:srgbClr val="1E2430"/>
                          </a:solidFill>
                          <a:latin typeface="Calibri"/>
                          <a:ea typeface="Calibri"/>
                          <a:cs typeface="Calibri"/>
                        </a:rPr>
                        <a:t>Albacore Solid With Tuna, Olive Oil</a:t>
                      </a:r>
                    </a:p>
                  </a:txBody>
                  <a:tcPr marL="73152" marR="73152" marT="18288" marB="18288" anchor="ctr">
                    <a:solidFill>
                      <a:srgbClr val="FFFFFF"/>
                    </a:solidFill>
                  </a:tcPr>
                </a:tc>
                <a:tc>
                  <a:txBody>
                    <a:bodyPr/>
                    <a:lstStyle/>
                    <a:p>
                      <a:pPr algn="r"/>
                      <a:r>
                        <a:rPr sz="919" b="0" i="0">
                          <a:solidFill>
                            <a:srgbClr val="1E2430"/>
                          </a:solidFill>
                          <a:latin typeface="Calibri"/>
                          <a:ea typeface="Calibri"/>
                          <a:cs typeface="Calibri"/>
                        </a:rPr>
                        <a:t>119.3g</a:t>
                      </a:r>
                    </a:p>
                  </a:txBody>
                  <a:tcPr marL="73152" marR="73152" marT="18288" marB="18288" anchor="ctr">
                    <a:solidFill>
                      <a:srgbClr val="FFFFFF"/>
                    </a:solidFill>
                  </a:tcPr>
                </a:tc>
                <a:tc>
                  <a:txBody>
                    <a:bodyPr/>
                    <a:lstStyle/>
                    <a:p>
                      <a:pPr algn="ctr"/>
                      <a:r>
                        <a:rPr sz="919" b="1" i="0">
                          <a:solidFill>
                            <a:srgbClr val="217A4B"/>
                          </a:solidFill>
                          <a:latin typeface="Calibri"/>
                          <a:ea typeface="Calibri"/>
                          <a:cs typeface="Calibri"/>
                        </a:rPr>
                        <a:t>120g</a:t>
                      </a:r>
                    </a:p>
                  </a:txBody>
                  <a:tcPr marL="73152" marR="73152" marT="18288" marB="18288" anchor="ctr">
                    <a:solidFill>
                      <a:srgbClr val="FFFFFF"/>
                    </a:solidFill>
                  </a:tcPr>
                </a:tc>
              </a:tr>
              <a:tr h="292608">
                <a:tc>
                  <a:txBody>
                    <a:bodyPr/>
                    <a:lstStyle/>
                    <a:p>
                      <a:pPr algn="ctr"/>
                      <a:r>
                        <a:rPr sz="919" b="1" i="0">
                          <a:solidFill>
                            <a:srgbClr val="1E2430"/>
                          </a:solidFill>
                          <a:latin typeface="Calibri"/>
                          <a:ea typeface="Calibri"/>
                          <a:cs typeface="Calibri"/>
                        </a:rPr>
                        <a:t>Phụ</a:t>
                      </a:r>
                    </a:p>
                  </a:txBody>
                  <a:tcPr marL="73152" marR="73152" marT="18288" marB="18288" anchor="ctr">
                    <a:solidFill>
                      <a:srgbClr val="F8FAFC"/>
                    </a:solidFill>
                  </a:tcPr>
                </a:tc>
                <a:tc>
                  <a:txBody>
                    <a:bodyPr/>
                    <a:lstStyle/>
                    <a:p>
                      <a:pPr algn="l"/>
                      <a:r>
                        <a:rPr sz="919" b="0" i="0">
                          <a:solidFill>
                            <a:srgbClr val="1E2430"/>
                          </a:solidFill>
                          <a:latin typeface="Calibri"/>
                          <a:ea typeface="Calibri"/>
                          <a:cs typeface="Calibri"/>
                        </a:rPr>
                        <a:t>A Non-Alcoholic Drink Mix (Mango)</a:t>
                      </a:r>
                    </a:p>
                  </a:txBody>
                  <a:tcPr marL="73152" marR="73152" marT="18288" marB="18288" anchor="ctr">
                    <a:solidFill>
                      <a:srgbClr val="F8FAFC"/>
                    </a:solidFill>
                  </a:tcPr>
                </a:tc>
                <a:tc>
                  <a:txBody>
                    <a:bodyPr/>
                    <a:lstStyle/>
                    <a:p>
                      <a:pPr algn="r"/>
                      <a:r>
                        <a:rPr sz="919" b="0" i="0">
                          <a:solidFill>
                            <a:srgbClr val="1E2430"/>
                          </a:solidFill>
                          <a:latin typeface="Calibri"/>
                          <a:ea typeface="Calibri"/>
                          <a:cs typeface="Calibri"/>
                        </a:rPr>
                        <a:t>157.6g</a:t>
                      </a:r>
                    </a:p>
                  </a:txBody>
                  <a:tcPr marL="73152" marR="73152" marT="18288" marB="18288" anchor="ctr">
                    <a:solidFill>
                      <a:srgbClr val="F8FAFC"/>
                    </a:solidFill>
                  </a:tcPr>
                </a:tc>
                <a:tc>
                  <a:txBody>
                    <a:bodyPr/>
                    <a:lstStyle/>
                    <a:p>
                      <a:pPr algn="ctr"/>
                      <a:r>
                        <a:rPr sz="919" b="1" i="0">
                          <a:solidFill>
                            <a:srgbClr val="217A4B"/>
                          </a:solidFill>
                          <a:latin typeface="Calibri"/>
                          <a:ea typeface="Calibri"/>
                          <a:cs typeface="Calibri"/>
                        </a:rPr>
                        <a:t>160g</a:t>
                      </a:r>
                    </a:p>
                  </a:txBody>
                  <a:tcPr marL="73152" marR="73152" marT="18288" marB="18288" anchor="ctr">
                    <a:solidFill>
                      <a:srgbClr val="F8FAFC"/>
                    </a:solidFill>
                  </a:tcPr>
                </a:tc>
              </a:tr>
              <a:tr h="292608">
                <a:tc>
                  <a:txBody>
                    <a:bodyPr/>
                    <a:lstStyle/>
                    <a:p>
                      <a:pPr algn="ctr"/>
                      <a:r>
                        <a:rPr sz="919" b="1" i="0">
                          <a:solidFill>
                            <a:srgbClr val="1E2430"/>
                          </a:solidFill>
                          <a:latin typeface="Calibri"/>
                          <a:ea typeface="Calibri"/>
                          <a:cs typeface="Calibri"/>
                        </a:rPr>
                        <a:t>Phụ</a:t>
                      </a:r>
                    </a:p>
                  </a:txBody>
                  <a:tcPr marL="73152" marR="73152" marT="18288" marB="18288" anchor="ctr">
                    <a:solidFill>
                      <a:srgbClr val="FFFFFF"/>
                    </a:solidFill>
                  </a:tcPr>
                </a:tc>
                <a:tc>
                  <a:txBody>
                    <a:bodyPr/>
                    <a:lstStyle/>
                    <a:p>
                      <a:pPr algn="l"/>
                      <a:r>
                        <a:rPr sz="919" b="0" i="0">
                          <a:solidFill>
                            <a:srgbClr val="1E2430"/>
                          </a:solidFill>
                          <a:latin typeface="Calibri"/>
                          <a:ea typeface="Calibri"/>
                          <a:cs typeface="Calibri"/>
                        </a:rPr>
                        <a:t>100% Pure Sesame Tahini</a:t>
                      </a:r>
                    </a:p>
                  </a:txBody>
                  <a:tcPr marL="73152" marR="73152" marT="18288" marB="18288" anchor="ctr">
                    <a:solidFill>
                      <a:srgbClr val="FFFFFF"/>
                    </a:solidFill>
                  </a:tcPr>
                </a:tc>
                <a:tc>
                  <a:txBody>
                    <a:bodyPr/>
                    <a:lstStyle/>
                    <a:p>
                      <a:pPr algn="r"/>
                      <a:r>
                        <a:rPr sz="919" b="0" i="0">
                          <a:solidFill>
                            <a:srgbClr val="1E2430"/>
                          </a:solidFill>
                          <a:latin typeface="Calibri"/>
                          <a:ea typeface="Calibri"/>
                          <a:cs typeface="Calibri"/>
                        </a:rPr>
                        <a:t>84.9g</a:t>
                      </a:r>
                    </a:p>
                  </a:txBody>
                  <a:tcPr marL="73152" marR="73152" marT="18288" marB="18288" anchor="ctr">
                    <a:solidFill>
                      <a:srgbClr val="FFFFFF"/>
                    </a:solidFill>
                  </a:tcPr>
                </a:tc>
                <a:tc>
                  <a:txBody>
                    <a:bodyPr/>
                    <a:lstStyle/>
                    <a:p>
                      <a:pPr algn="ctr"/>
                      <a:r>
                        <a:rPr sz="919" b="1" i="0">
                          <a:solidFill>
                            <a:srgbClr val="217A4B"/>
                          </a:solidFill>
                          <a:latin typeface="Calibri"/>
                          <a:ea typeface="Calibri"/>
                          <a:cs typeface="Calibri"/>
                        </a:rPr>
                        <a:t>85g</a:t>
                      </a:r>
                    </a:p>
                  </a:txBody>
                  <a:tcPr marL="73152" marR="73152" marT="18288" marB="18288" anchor="ctr">
                    <a:solidFill>
                      <a:srgbClr val="FFFFFF"/>
                    </a:solidFill>
                  </a:tcPr>
                </a:tc>
              </a:tr>
            </a:tbl>
          </a:graphicData>
        </a:graphic>
      </p:graphicFrame>
      <p:sp>
        <p:nvSpPr>
          <p:cNvPr id="8" name="TextBox 7"/>
          <p:cNvSpPr txBox="1"/>
          <p:nvPr/>
        </p:nvSpPr>
        <p:spPr>
          <a:xfrm>
            <a:off x="6217920" y="5166360"/>
            <a:ext cx="5212080" cy="1005840"/>
          </a:xfrm>
          <a:prstGeom prst="rect">
            <a:avLst/>
          </a:prstGeom>
          <a:noFill/>
        </p:spPr>
        <p:txBody>
          <a:bodyPr wrap="square">
            <a:spAutoFit/>
          </a:bodyPr>
          <a:lstStyle/>
          <a:p>
            <a:r>
              <a:rPr sz="950" b="1" i="0">
                <a:solidFill>
                  <a:srgbClr val="2D3E63"/>
                </a:solidFill>
                <a:latin typeface="Calibri"/>
                <a:ea typeface="Calibri"/>
                <a:cs typeface="Calibri"/>
              </a:rPr>
              <a:t>• Quy chuẩn làm tròn 5g: </a:t>
            </a:r>
            <a:r>
              <a:rPr sz="919" b="0" i="0">
                <a:solidFill>
                  <a:srgbClr val="1E2430"/>
                </a:solidFill>
                <a:latin typeface="Calibri"/>
                <a:ea typeface="Calibri"/>
                <a:cs typeface="Calibri"/>
              </a:rPr>
              <a:t>Loại bỏ số lẻ thập phân, giúp người dùng cân đong khả thi khi chế biến; thẩm định dinh dưỡng sau khi làm tròn (Protein 122.8g, Carbs 312.4g, Fat 82.1g).
</a:t>
            </a:r>
          </a:p>
          <a:p>
            <a:pPr>
              <a:spcBef>
                <a:spcPts val="200"/>
              </a:spcBef>
            </a:pPr>
            <a:r>
              <a:rPr sz="950" b="1" i="0">
                <a:solidFill>
                  <a:srgbClr val="D9822B"/>
                </a:solidFill>
                <a:latin typeface="Calibri"/>
                <a:ea typeface="Calibri"/>
                <a:cs typeface="Calibri"/>
              </a:rPr>
              <a:t>• Giới hạn ẩm thực (Edibility): </a:t>
            </a:r>
            <a:r>
              <a:rPr sz="919" b="0" i="0">
                <a:solidFill>
                  <a:srgbClr val="1E2430"/>
                </a:solidFill>
                <a:latin typeface="Calibri"/>
                <a:ea typeface="Calibri"/>
                <a:cs typeface="Calibri"/>
              </a:rPr>
              <a:t>Tại Tuần 8 chưa có lớp DishRole nên một số món còn là nguyên liệu (Tahini, thịt sống); đây là cơ sở thực tế để bổ sung ràng buộc ẩm thực ở các tuần sau.</a:t>
            </a:r>
          </a:p>
        </p:txBody>
      </p:sp>
      <p:sp>
        <p:nvSpPr>
          <p:cNvPr id="9" name="Rectangle 8"/>
          <p:cNvSpPr/>
          <p:nvPr/>
        </p:nvSpPr>
        <p:spPr>
          <a:xfrm>
            <a:off x="548640" y="6446520"/>
            <a:ext cx="11094415" cy="1270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10528"/>
            <a:ext cx="8686800" cy="274320"/>
          </a:xfrm>
          <a:prstGeom prst="rect">
            <a:avLst/>
          </a:prstGeom>
          <a:noFill/>
        </p:spPr>
        <p:txBody>
          <a:bodyPr wrap="none">
            <a:spAutoFit/>
          </a:bodyPr>
          <a:lstStyle/>
          <a:p>
            <a:r>
              <a:rPr sz="950" b="0" i="0">
                <a:solidFill>
                  <a:srgbClr val="5A6478"/>
                </a:solidFill>
                <a:latin typeface="Calibri"/>
                <a:ea typeface="Calibri"/>
                <a:cs typeface="Calibri"/>
              </a:rPr>
              <a:t>CNTT-KLCN142 — Đề xuất thực đơn dinh dưỡng cá nhân hóa bằng DBO/IDBO | Tổng hợp Tuần 8 – 9 – 10 – 11</a:t>
            </a:r>
          </a:p>
        </p:txBody>
      </p:sp>
      <p:sp>
        <p:nvSpPr>
          <p:cNvPr id="11" name="TextBox 10"/>
          <p:cNvSpPr txBox="1"/>
          <p:nvPr/>
        </p:nvSpPr>
        <p:spPr>
          <a:xfrm>
            <a:off x="9601200" y="6510528"/>
            <a:ext cx="2011680" cy="274320"/>
          </a:xfrm>
          <a:prstGeom prst="rect">
            <a:avLst/>
          </a:prstGeom>
          <a:noFill/>
        </p:spPr>
        <p:txBody>
          <a:bodyPr wrap="none">
            <a:spAutoFit/>
          </a:bodyPr>
          <a:lstStyle/>
          <a:p>
            <a:pPr algn="r"/>
            <a:r>
              <a:rPr sz="950" b="1" i="0">
                <a:solidFill>
                  <a:srgbClr val="5A6478"/>
                </a:solidFill>
                <a:latin typeface="Calibri"/>
                <a:ea typeface="Calibri"/>
                <a:cs typeface="Calibri"/>
              </a:rPr>
              <a:t>5 / 14</a:t>
            </a:r>
          </a:p>
        </p:txBody>
      </p:sp>
      <p:sp>
        <p:nvSpPr>
          <p:cNvPr id="12" name="Rounded Rectangle 11"/>
          <p:cNvSpPr/>
          <p:nvPr/>
        </p:nvSpPr>
        <p:spPr>
          <a:xfrm>
            <a:off x="594360" y="1417320"/>
            <a:ext cx="5257800" cy="4773168"/>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 y="1627632"/>
            <a:ext cx="64008" cy="438912"/>
          </a:xfrm>
          <a:prstGeom prst="rect">
            <a:avLst/>
          </a:prstGeom>
          <a:solidFill>
            <a:srgbClr val="1877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 y="1655064"/>
            <a:ext cx="4572000" cy="475488"/>
          </a:xfrm>
          <a:prstGeom prst="rect">
            <a:avLst/>
          </a:prstGeom>
          <a:noFill/>
        </p:spPr>
        <p:txBody>
          <a:bodyPr wrap="square" lIns="54864" tIns="27432">
            <a:spAutoFit/>
          </a:bodyPr>
          <a:lstStyle/>
          <a:p>
            <a:pPr>
              <a:defRPr sz="2000" b="1">
                <a:solidFill>
                  <a:srgbClr val="1C2C4C"/>
                </a:solidFill>
                <a:latin typeface="Arial"/>
              </a:defRPr>
            </a:pPr>
            <a:r>
              <a:t>THỰC ĐƠN 4 BỮA</a:t>
            </a:r>
          </a:p>
        </p:txBody>
      </p:sp>
      <p:sp>
        <p:nvSpPr>
          <p:cNvPr id="15" name="TextBox 14"/>
          <p:cNvSpPr txBox="1"/>
          <p:nvPr/>
        </p:nvSpPr>
        <p:spPr>
          <a:xfrm>
            <a:off x="932688" y="2148840"/>
            <a:ext cx="4681728" cy="502920"/>
          </a:xfrm>
          <a:prstGeom prst="rect">
            <a:avLst/>
          </a:prstGeom>
          <a:noFill/>
        </p:spPr>
        <p:txBody>
          <a:bodyPr wrap="square" lIns="54864" tIns="27432">
            <a:spAutoFit/>
          </a:bodyPr>
          <a:lstStyle/>
          <a:p>
            <a:pPr>
              <a:defRPr sz="1200" b="0">
                <a:solidFill>
                  <a:srgbClr val="536173"/>
                </a:solidFill>
                <a:latin typeface="Arial"/>
              </a:defRPr>
            </a:pPr>
            <a:r>
              <a:t>Ví dụ tối ưu · Profile P1 · seed 8003</a:t>
            </a:r>
          </a:p>
        </p:txBody>
      </p:sp>
      <p:sp>
        <p:nvSpPr>
          <p:cNvPr id="16" name="Rounded Rectangle 15"/>
          <p:cNvSpPr/>
          <p:nvPr/>
        </p:nvSpPr>
        <p:spPr>
          <a:xfrm>
            <a:off x="932688" y="2743200"/>
            <a:ext cx="4590288" cy="720090"/>
          </a:xfrm>
          <a:prstGeom prst="roundRect">
            <a:avLst/>
          </a:prstGeom>
          <a:solidFill>
            <a:srgbClr val="E8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5568" y="2816352"/>
            <a:ext cx="4206240" cy="310896"/>
          </a:xfrm>
          <a:prstGeom prst="rect">
            <a:avLst/>
          </a:prstGeom>
          <a:noFill/>
        </p:spPr>
        <p:txBody>
          <a:bodyPr wrap="square" lIns="54864" tIns="27432">
            <a:spAutoFit/>
          </a:bodyPr>
          <a:lstStyle/>
          <a:p>
            <a:pPr>
              <a:defRPr sz="1600" b="1">
                <a:solidFill>
                  <a:srgbClr val="187773"/>
                </a:solidFill>
                <a:latin typeface="Arial"/>
              </a:defRPr>
            </a:pPr>
            <a:r>
              <a:t>SÁNG · 2 MÓN</a:t>
            </a:r>
          </a:p>
        </p:txBody>
      </p:sp>
      <p:sp>
        <p:nvSpPr>
          <p:cNvPr id="18" name="TextBox 17"/>
          <p:cNvSpPr txBox="1"/>
          <p:nvPr/>
        </p:nvSpPr>
        <p:spPr>
          <a:xfrm>
            <a:off x="1115568" y="3172968"/>
            <a:ext cx="4206240" cy="320040"/>
          </a:xfrm>
          <a:prstGeom prst="rect">
            <a:avLst/>
          </a:prstGeom>
          <a:noFill/>
        </p:spPr>
        <p:txBody>
          <a:bodyPr wrap="square" lIns="54864" tIns="27432">
            <a:spAutoFit/>
          </a:bodyPr>
          <a:lstStyle/>
          <a:p>
            <a:pPr>
              <a:defRPr sz="1200" b="0">
                <a:solidFill>
                  <a:srgbClr val="536173"/>
                </a:solidFill>
                <a:latin typeface="Arial"/>
              </a:defRPr>
            </a:pPr>
            <a:r>
              <a:t>Bánh crepe táo và bánh mì</a:t>
            </a:r>
          </a:p>
        </p:txBody>
      </p:sp>
      <p:sp>
        <p:nvSpPr>
          <p:cNvPr id="19" name="Rounded Rectangle 18"/>
          <p:cNvSpPr/>
          <p:nvPr/>
        </p:nvSpPr>
        <p:spPr>
          <a:xfrm>
            <a:off x="932688" y="3582162"/>
            <a:ext cx="4590288" cy="720090"/>
          </a:xfrm>
          <a:prstGeom prst="roundRect">
            <a:avLst/>
          </a:prstGeom>
          <a:solidFill>
            <a:srgbClr val="E8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15568" y="3655314"/>
            <a:ext cx="4206240" cy="310896"/>
          </a:xfrm>
          <a:prstGeom prst="rect">
            <a:avLst/>
          </a:prstGeom>
          <a:noFill/>
        </p:spPr>
        <p:txBody>
          <a:bodyPr wrap="square" lIns="54864" tIns="27432">
            <a:spAutoFit/>
          </a:bodyPr>
          <a:lstStyle/>
          <a:p>
            <a:pPr>
              <a:defRPr sz="1600" b="1">
                <a:solidFill>
                  <a:srgbClr val="187773"/>
                </a:solidFill>
                <a:latin typeface="Arial"/>
              </a:defRPr>
            </a:pPr>
            <a:r>
              <a:t>TRƯA · 2 MÓN</a:t>
            </a:r>
          </a:p>
        </p:txBody>
      </p:sp>
      <p:sp>
        <p:nvSpPr>
          <p:cNvPr id="21" name="TextBox 20"/>
          <p:cNvSpPr txBox="1"/>
          <p:nvPr/>
        </p:nvSpPr>
        <p:spPr>
          <a:xfrm>
            <a:off x="1115568" y="4011930"/>
            <a:ext cx="4206240" cy="320040"/>
          </a:xfrm>
          <a:prstGeom prst="rect">
            <a:avLst/>
          </a:prstGeom>
          <a:noFill/>
        </p:spPr>
        <p:txBody>
          <a:bodyPr wrap="square" lIns="54864" tIns="27432">
            <a:spAutoFit/>
          </a:bodyPr>
          <a:lstStyle/>
          <a:p>
            <a:pPr>
              <a:defRPr sz="1200" b="0">
                <a:solidFill>
                  <a:srgbClr val="536173"/>
                </a:solidFill>
                <a:latin typeface="Arial"/>
              </a:defRPr>
            </a:pPr>
            <a:r>
              <a:t>Atisô và thịt gà</a:t>
            </a:r>
          </a:p>
        </p:txBody>
      </p:sp>
      <p:sp>
        <p:nvSpPr>
          <p:cNvPr id="22" name="Rounded Rectangle 21"/>
          <p:cNvSpPr/>
          <p:nvPr/>
        </p:nvSpPr>
        <p:spPr>
          <a:xfrm>
            <a:off x="932688" y="4421124"/>
            <a:ext cx="4590288" cy="720090"/>
          </a:xfrm>
          <a:prstGeom prst="roundRect">
            <a:avLst/>
          </a:prstGeom>
          <a:solidFill>
            <a:srgbClr val="E8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15568" y="4494276"/>
            <a:ext cx="4206240" cy="310896"/>
          </a:xfrm>
          <a:prstGeom prst="rect">
            <a:avLst/>
          </a:prstGeom>
          <a:noFill/>
        </p:spPr>
        <p:txBody>
          <a:bodyPr wrap="square" lIns="54864" tIns="27432">
            <a:spAutoFit/>
          </a:bodyPr>
          <a:lstStyle/>
          <a:p>
            <a:pPr>
              <a:defRPr sz="1600" b="1">
                <a:solidFill>
                  <a:srgbClr val="187773"/>
                </a:solidFill>
                <a:latin typeface="Arial"/>
              </a:defRPr>
            </a:pPr>
            <a:r>
              <a:t>TỐI · 2 MÓN</a:t>
            </a:r>
          </a:p>
        </p:txBody>
      </p:sp>
      <p:sp>
        <p:nvSpPr>
          <p:cNvPr id="24" name="TextBox 23"/>
          <p:cNvSpPr txBox="1"/>
          <p:nvPr/>
        </p:nvSpPr>
        <p:spPr>
          <a:xfrm>
            <a:off x="1115568" y="4850892"/>
            <a:ext cx="4206240" cy="320040"/>
          </a:xfrm>
          <a:prstGeom prst="rect">
            <a:avLst/>
          </a:prstGeom>
          <a:noFill/>
        </p:spPr>
        <p:txBody>
          <a:bodyPr wrap="square" lIns="54864" tIns="27432">
            <a:spAutoFit/>
          </a:bodyPr>
          <a:lstStyle/>
          <a:p>
            <a:pPr>
              <a:defRPr sz="1200" b="0">
                <a:solidFill>
                  <a:srgbClr val="536173"/>
                </a:solidFill>
                <a:latin typeface="Arial"/>
              </a:defRPr>
            </a:pPr>
            <a:r>
              <a:t>Thịt chim cút và cá ngừ</a:t>
            </a:r>
          </a:p>
        </p:txBody>
      </p:sp>
      <p:sp>
        <p:nvSpPr>
          <p:cNvPr id="25" name="Rounded Rectangle 24"/>
          <p:cNvSpPr/>
          <p:nvPr/>
        </p:nvSpPr>
        <p:spPr>
          <a:xfrm>
            <a:off x="932688" y="5260086"/>
            <a:ext cx="4590288" cy="720090"/>
          </a:xfrm>
          <a:prstGeom prst="roundRect">
            <a:avLst/>
          </a:prstGeom>
          <a:solidFill>
            <a:srgbClr val="E8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15568" y="5333238"/>
            <a:ext cx="4206240" cy="310896"/>
          </a:xfrm>
          <a:prstGeom prst="rect">
            <a:avLst/>
          </a:prstGeom>
          <a:noFill/>
        </p:spPr>
        <p:txBody>
          <a:bodyPr wrap="square" lIns="54864" tIns="27432">
            <a:spAutoFit/>
          </a:bodyPr>
          <a:lstStyle/>
          <a:p>
            <a:pPr>
              <a:defRPr sz="1600" b="1">
                <a:solidFill>
                  <a:srgbClr val="187773"/>
                </a:solidFill>
                <a:latin typeface="Arial"/>
              </a:defRPr>
            </a:pPr>
            <a:r>
              <a:t>PHỤ · 2 MÓN</a:t>
            </a:r>
          </a:p>
        </p:txBody>
      </p:sp>
      <p:sp>
        <p:nvSpPr>
          <p:cNvPr id="27" name="TextBox 26"/>
          <p:cNvSpPr txBox="1"/>
          <p:nvPr/>
        </p:nvSpPr>
        <p:spPr>
          <a:xfrm>
            <a:off x="1115568" y="5689853"/>
            <a:ext cx="4206240" cy="320040"/>
          </a:xfrm>
          <a:prstGeom prst="rect">
            <a:avLst/>
          </a:prstGeom>
          <a:noFill/>
        </p:spPr>
        <p:txBody>
          <a:bodyPr wrap="square" lIns="54864" tIns="27432">
            <a:spAutoFit/>
          </a:bodyPr>
          <a:lstStyle/>
          <a:p>
            <a:pPr>
              <a:defRPr sz="1200" b="0">
                <a:solidFill>
                  <a:srgbClr val="536173"/>
                </a:solidFill>
                <a:latin typeface="Arial"/>
              </a:defRPr>
            </a:pPr>
            <a:r>
              <a:t>Đồ uống xoài và tahini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274320"/>
          </a:xfrm>
          <a:prstGeom prst="rect">
            <a:avLst/>
          </a:prstGeom>
          <a:noFill/>
        </p:spPr>
        <p:txBody>
          <a:bodyPr wrap="square" lIns="0" tIns="0" rIns="0" bIns="0">
            <a:spAutoFit/>
          </a:bodyPr>
          <a:lstStyle/>
          <a:p>
            <a:r>
              <a:rPr sz="1100" b="1" i="0">
                <a:solidFill>
                  <a:srgbClr val="D9822B"/>
                </a:solidFill>
                <a:latin typeface="Calibri"/>
                <a:ea typeface="Calibri"/>
                <a:cs typeface="Calibri"/>
              </a:rPr>
              <a:t>KẾ HOẠCH DÀI HẠN (TUẦN 9)</a:t>
            </a:r>
          </a:p>
        </p:txBody>
      </p:sp>
      <p:sp>
        <p:nvSpPr>
          <p:cNvPr id="3" name="TextBox 2"/>
          <p:cNvSpPr txBox="1"/>
          <p:nvPr/>
        </p:nvSpPr>
        <p:spPr>
          <a:xfrm>
            <a:off x="548640" y="621792"/>
            <a:ext cx="11064240" cy="548640"/>
          </a:xfrm>
          <a:prstGeom prst="rect">
            <a:avLst/>
          </a:prstGeom>
          <a:noFill/>
        </p:spPr>
        <p:txBody>
          <a:bodyPr wrap="square" lIns="0" tIns="0" rIns="0" bIns="0">
            <a:spAutoFit/>
          </a:bodyPr>
          <a:lstStyle/>
          <a:p>
            <a:r>
              <a:rPr sz="2100" b="1" i="0">
                <a:solidFill>
                  <a:srgbClr val="1B2A4A"/>
                </a:solidFill>
                <a:latin typeface="Calibri"/>
                <a:ea typeface="Calibri"/>
                <a:cs typeface="Calibri"/>
              </a:rPr>
              <a:t>[Tuần 9] Lập Thực Đơn Chu Kỳ 7 Ngày &amp; Cơ Chế Diversity Penalty</a:t>
            </a:r>
          </a:p>
        </p:txBody>
      </p:sp>
      <p:sp>
        <p:nvSpPr>
          <p:cNvPr id="4" name="Rectangle 3"/>
          <p:cNvSpPr/>
          <p:nvPr/>
        </p:nvSpPr>
        <p:spPr>
          <a:xfrm>
            <a:off x="548640" y="1207008"/>
            <a:ext cx="11094415" cy="1905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heatmap_nutrition_7days.png"/>
          <p:cNvPicPr>
            <a:picLocks noChangeAspect="1"/>
          </p:cNvPicPr>
          <p:nvPr/>
        </p:nvPicPr>
        <p:blipFill>
          <a:blip r:embed="rId2"/>
          <a:stretch>
            <a:fillRect/>
          </a:stretch>
        </p:blipFill>
        <p:spPr>
          <a:xfrm>
            <a:off x="548640" y="1371600"/>
            <a:ext cx="6400800" cy="4042610"/>
          </a:xfrm>
          <a:prstGeom prst="rect">
            <a:avLst/>
          </a:prstGeom>
        </p:spPr>
      </p:pic>
      <p:sp>
        <p:nvSpPr>
          <p:cNvPr id="6" name="Rounded Rectangle 5"/>
          <p:cNvSpPr/>
          <p:nvPr/>
        </p:nvSpPr>
        <p:spPr>
          <a:xfrm>
            <a:off x="7132320" y="1371600"/>
            <a:ext cx="4480560" cy="49377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60920" y="1554480"/>
            <a:ext cx="4023360" cy="4572000"/>
          </a:xfrm>
          <a:prstGeom prst="rect">
            <a:avLst/>
          </a:prstGeom>
          <a:noFill/>
        </p:spPr>
        <p:txBody>
          <a:bodyPr wrap="square">
            <a:spAutoFit/>
          </a:bodyPr>
          <a:lstStyle/>
          <a:p>
            <a:r>
              <a:rPr sz="1600" b="1" i="0">
                <a:solidFill>
                  <a:srgbClr val="1B2A4A"/>
                </a:solidFill>
                <a:latin typeface="Calibri"/>
                <a:ea typeface="Calibri"/>
                <a:cs typeface="Calibri"/>
              </a:rPr>
              <a:t>Kỹ Thuật Thực Hiện (Tuần 9)</a:t>
            </a:r>
          </a:p>
          <a:p>
            <a:pPr>
              <a:spcBef>
                <a:spcPts val="700"/>
              </a:spcBef>
            </a:pPr>
            <a:r>
              <a:rPr sz="1150" b="1" i="0">
                <a:solidFill>
                  <a:srgbClr val="2D3E63"/>
                </a:solidFill>
                <a:latin typeface="Calibri"/>
                <a:ea typeface="Calibri"/>
                <a:cs typeface="Calibri"/>
              </a:rPr>
              <a:t>• Mục tiêu mở rộng: </a:t>
            </a:r>
            <a:r>
              <a:rPr sz="1050" b="0" i="0">
                <a:solidFill>
                  <a:srgbClr val="1E2430"/>
                </a:solidFill>
                <a:latin typeface="Calibri"/>
                <a:ea typeface="Calibri"/>
                <a:cs typeface="Calibri"/>
              </a:rPr>
              <a:t>Chuyển đổi từ đề xuất 1 ngày sang chu kỳ 7 ngày liên tục, giải quyết triệt để bài toán lặp món ăn gây nhàm chán.</a:t>
            </a:r>
          </a:p>
          <a:p>
            <a:pPr>
              <a:spcBef>
                <a:spcPts val="700"/>
              </a:spcBef>
            </a:pPr>
            <a:r>
              <a:rPr sz="1150" b="1" i="0">
                <a:solidFill>
                  <a:srgbClr val="2D3E63"/>
                </a:solidFill>
                <a:latin typeface="Calibri"/>
                <a:ea typeface="Calibri"/>
                <a:cs typeface="Calibri"/>
              </a:rPr>
              <a:t>• Cơ chế Diversity Penalty: </a:t>
            </a:r>
            <a:r>
              <a:rPr sz="1050" b="0" i="0">
                <a:solidFill>
                  <a:srgbClr val="1E2430"/>
                </a:solidFill>
                <a:latin typeface="Calibri"/>
                <a:ea typeface="Calibri"/>
                <a:cs typeface="Calibri"/>
              </a:rPr>
              <a:t>Tính toán tỷ lệ trùng lặp món chính giữa các ngày. Phạt nặng nếu tỷ lệ món chính độc nhất dưới ngưỡng 80%.</a:t>
            </a:r>
          </a:p>
          <a:p>
            <a:pPr>
              <a:spcBef>
                <a:spcPts val="700"/>
              </a:spcBef>
            </a:pPr>
            <a:r>
              <a:rPr sz="1150" b="1" i="0">
                <a:solidFill>
                  <a:srgbClr val="2D3E63"/>
                </a:solidFill>
                <a:latin typeface="Calibri"/>
                <a:ea typeface="Calibri"/>
                <a:cs typeface="Calibri"/>
              </a:rPr>
              <a:t>• Độ bao phủ thực nghiệm (W9-F1): </a:t>
            </a:r>
            <a:r>
              <a:rPr sz="1050" b="0" i="0">
                <a:solidFill>
                  <a:srgbClr val="1E2430"/>
                </a:solidFill>
                <a:latin typeface="Calibri"/>
                <a:ea typeface="Calibri"/>
                <a:cs typeface="Calibri"/>
              </a:rPr>
              <a:t>Heatmap 7 ngày x 6 dưỡng chất trên Profile P1 cho thấy Năng lượng bám sát mục tiêu hàng ngày (lệch chỉ 2.37%).</a:t>
            </a:r>
          </a:p>
          <a:p>
            <a:pPr>
              <a:spcBef>
                <a:spcPts val="700"/>
              </a:spcBef>
            </a:pPr>
            <a:r>
              <a:rPr sz="1150" b="1" i="0">
                <a:solidFill>
                  <a:srgbClr val="2D3E63"/>
                </a:solidFill>
                <a:latin typeface="Calibri"/>
                <a:ea typeface="Calibri"/>
                <a:cs typeface="Calibri"/>
              </a:rPr>
              <a:t>• Tối ưu hóa khẩu phần 5g: </a:t>
            </a:r>
            <a:r>
              <a:rPr sz="1050" b="0" i="0">
                <a:solidFill>
                  <a:srgbClr val="1E2430"/>
                </a:solidFill>
                <a:latin typeface="Calibri"/>
                <a:ea typeface="Calibri"/>
                <a:cs typeface="Calibri"/>
              </a:rPr>
              <a:t>Tất cả các món trong 7 ngày đều tuân thủ làm tròn khẩu phần bước 5g, dinh dưỡng được thẩm định sau khi làm tròn.</a:t>
            </a:r>
          </a:p>
          <a:p>
            <a:pPr>
              <a:spcBef>
                <a:spcPts val="700"/>
              </a:spcBef>
            </a:pPr>
            <a:r>
              <a:rPr sz="1150" b="1" i="0">
                <a:solidFill>
                  <a:srgbClr val="2D3E63"/>
                </a:solidFill>
                <a:latin typeface="Calibri"/>
                <a:ea typeface="Calibri"/>
                <a:cs typeface="Calibri"/>
              </a:rPr>
              <a:t>• Kết quả đạt được: </a:t>
            </a:r>
            <a:r>
              <a:rPr sz="1050" b="0" i="0">
                <a:solidFill>
                  <a:srgbClr val="1E2430"/>
                </a:solidFill>
                <a:latin typeface="Calibri"/>
                <a:ea typeface="Calibri"/>
                <a:cs typeface="Calibri"/>
              </a:rPr>
              <a:t>Tỷ lệ món chính độc nhất đạt 100% trên các phương án tối ưu, không có hiện tượng lặp món chính trong tuần.</a:t>
            </a:r>
          </a:p>
        </p:txBody>
      </p:sp>
      <p:sp>
        <p:nvSpPr>
          <p:cNvPr id="8" name="Rectangle 7"/>
          <p:cNvSpPr/>
          <p:nvPr/>
        </p:nvSpPr>
        <p:spPr>
          <a:xfrm>
            <a:off x="548640" y="6446520"/>
            <a:ext cx="11094415" cy="1270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510528"/>
            <a:ext cx="8686800" cy="274320"/>
          </a:xfrm>
          <a:prstGeom prst="rect">
            <a:avLst/>
          </a:prstGeom>
          <a:noFill/>
        </p:spPr>
        <p:txBody>
          <a:bodyPr wrap="none">
            <a:spAutoFit/>
          </a:bodyPr>
          <a:lstStyle/>
          <a:p>
            <a:r>
              <a:rPr sz="950" b="0" i="0">
                <a:solidFill>
                  <a:srgbClr val="5A6478"/>
                </a:solidFill>
                <a:latin typeface="Calibri"/>
                <a:ea typeface="Calibri"/>
                <a:cs typeface="Calibri"/>
              </a:rPr>
              <a:t>CNTT-KLCN142 — Đề xuất thực đơn dinh dưỡng cá nhân hóa bằng DBO/IDBO | Tổng hợp Tuần 8 – 9 – 10 – 11</a:t>
            </a:r>
          </a:p>
        </p:txBody>
      </p:sp>
      <p:sp>
        <p:nvSpPr>
          <p:cNvPr id="10" name="TextBox 9"/>
          <p:cNvSpPr txBox="1"/>
          <p:nvPr/>
        </p:nvSpPr>
        <p:spPr>
          <a:xfrm>
            <a:off x="9601200" y="6510528"/>
            <a:ext cx="2011680" cy="274320"/>
          </a:xfrm>
          <a:prstGeom prst="rect">
            <a:avLst/>
          </a:prstGeom>
          <a:noFill/>
        </p:spPr>
        <p:txBody>
          <a:bodyPr wrap="none">
            <a:spAutoFit/>
          </a:bodyPr>
          <a:lstStyle/>
          <a:p>
            <a:pPr algn="r"/>
            <a:r>
              <a:rPr sz="950" b="1" i="0">
                <a:solidFill>
                  <a:srgbClr val="5A6478"/>
                </a:solidFill>
                <a:latin typeface="Calibri"/>
                <a:ea typeface="Calibri"/>
                <a:cs typeface="Calibri"/>
              </a:rPr>
              <a:t>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274320"/>
          </a:xfrm>
          <a:prstGeom prst="rect">
            <a:avLst/>
          </a:prstGeom>
          <a:noFill/>
        </p:spPr>
        <p:txBody>
          <a:bodyPr wrap="square" lIns="0" tIns="0" rIns="0" bIns="0">
            <a:spAutoFit/>
          </a:bodyPr>
          <a:lstStyle/>
          <a:p>
            <a:r>
              <a:rPr sz="1100" b="1" i="0">
                <a:solidFill>
                  <a:srgbClr val="D9822B"/>
                </a:solidFill>
                <a:latin typeface="Calibri"/>
                <a:ea typeface="Calibri"/>
                <a:cs typeface="Calibri"/>
              </a:rPr>
              <a:t>ĐA DẠNG HÓA HỒ SƠ &amp; UX (TUẦN 9)</a:t>
            </a:r>
          </a:p>
        </p:txBody>
      </p:sp>
      <p:sp>
        <p:nvSpPr>
          <p:cNvPr id="3" name="TextBox 2"/>
          <p:cNvSpPr txBox="1"/>
          <p:nvPr/>
        </p:nvSpPr>
        <p:spPr>
          <a:xfrm>
            <a:off x="548640" y="621792"/>
            <a:ext cx="11064240" cy="548640"/>
          </a:xfrm>
          <a:prstGeom prst="rect">
            <a:avLst/>
          </a:prstGeom>
          <a:noFill/>
        </p:spPr>
        <p:txBody>
          <a:bodyPr wrap="square" lIns="0" tIns="0" rIns="0" bIns="0">
            <a:spAutoFit/>
          </a:bodyPr>
          <a:lstStyle/>
          <a:p>
            <a:r>
              <a:rPr sz="2100" b="1" i="0">
                <a:solidFill>
                  <a:srgbClr val="1B2A4A"/>
                </a:solidFill>
                <a:latin typeface="Calibri"/>
                <a:ea typeface="Calibri"/>
                <a:cs typeface="Calibri"/>
              </a:rPr>
              <a:t>[Tuần 9] Đánh Giá Trên 3 Hồ Sơ Bệnh Lý &amp; Trải Nghiệm Option A/B/C</a:t>
            </a:r>
          </a:p>
        </p:txBody>
      </p:sp>
      <p:sp>
        <p:nvSpPr>
          <p:cNvPr id="4" name="Rectangle 3"/>
          <p:cNvSpPr/>
          <p:nvPr/>
        </p:nvSpPr>
        <p:spPr>
          <a:xfrm>
            <a:off x="548640" y="1207008"/>
            <a:ext cx="11094415" cy="1905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barchart_profiles_p1_p2_p3.png"/>
          <p:cNvPicPr>
            <a:picLocks noChangeAspect="1"/>
          </p:cNvPicPr>
          <p:nvPr/>
        </p:nvPicPr>
        <p:blipFill>
          <a:blip r:embed="rId2"/>
          <a:stretch>
            <a:fillRect/>
          </a:stretch>
        </p:blipFill>
        <p:spPr>
          <a:xfrm>
            <a:off x="548640" y="1371600"/>
            <a:ext cx="3458094" cy="2377440"/>
          </a:xfrm>
          <a:prstGeom prst="rect">
            <a:avLst/>
          </a:prstGeom>
        </p:spPr>
      </p:pic>
      <p:pic>
        <p:nvPicPr>
          <p:cNvPr id="6" name="Picture 5" descr="fig_radar_options_abc.png"/>
          <p:cNvPicPr>
            <a:picLocks noChangeAspect="1"/>
          </p:cNvPicPr>
          <p:nvPr/>
        </p:nvPicPr>
        <p:blipFill>
          <a:blip r:embed="rId3"/>
          <a:stretch>
            <a:fillRect/>
          </a:stretch>
        </p:blipFill>
        <p:spPr>
          <a:xfrm>
            <a:off x="548640" y="3931920"/>
            <a:ext cx="2377440" cy="2377440"/>
          </a:xfrm>
          <a:prstGeom prst="rect">
            <a:avLst/>
          </a:prstGeom>
        </p:spPr>
      </p:pic>
      <p:sp>
        <p:nvSpPr>
          <p:cNvPr id="7" name="Rounded Rectangle 6"/>
          <p:cNvSpPr/>
          <p:nvPr/>
        </p:nvSpPr>
        <p:spPr>
          <a:xfrm>
            <a:off x="6217920" y="1371600"/>
            <a:ext cx="5394960" cy="49377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554480"/>
            <a:ext cx="4937760" cy="4572000"/>
          </a:xfrm>
          <a:prstGeom prst="rect">
            <a:avLst/>
          </a:prstGeom>
          <a:noFill/>
        </p:spPr>
        <p:txBody>
          <a:bodyPr wrap="square">
            <a:spAutoFit/>
          </a:bodyPr>
          <a:lstStyle/>
          <a:p>
            <a:r>
              <a:rPr sz="1600" b="1" i="0">
                <a:solidFill>
                  <a:srgbClr val="1B2A4A"/>
                </a:solidFill>
                <a:latin typeface="Calibri"/>
                <a:ea typeface="Calibri"/>
                <a:cs typeface="Calibri"/>
              </a:rPr>
              <a:t>Số Liệu Thực Nghiệm Tuần 9 (weekly_summary.csv)</a:t>
            </a:r>
          </a:p>
          <a:p>
            <a:pPr>
              <a:spcBef>
                <a:spcPts val="600"/>
              </a:spcBef>
            </a:pPr>
            <a:r>
              <a:rPr sz="1100" b="1" i="0">
                <a:solidFill>
                  <a:srgbClr val="1D6F6F"/>
                </a:solidFill>
                <a:latin typeface="Calibri"/>
                <a:ea typeface="Calibri"/>
                <a:cs typeface="Calibri"/>
              </a:rPr>
              <a:t>★ Mở rộng 3 hồ sơ bệnh lý thực tế:
  </a:t>
            </a:r>
            <a:r>
              <a:rPr sz="1050" b="0" i="0">
                <a:solidFill>
                  <a:srgbClr val="1E2430"/>
                </a:solidFill>
                <a:latin typeface="Calibri"/>
                <a:ea typeface="Calibri"/>
                <a:cs typeface="Calibri"/>
              </a:rPr>
              <a:t>P1 (Nam 22t, duy trì 2492 kcal) · P2 (Nữ 45t, thừa cân, tiểu đường mô phỏng 1838 kcal, giảm Carbs) · P3 (Nam 55t, tăng huyết áp mô phỏng 1836 kcal, kiểm soát Natri &lt;= 1500mg).</a:t>
            </a:r>
          </a:p>
          <a:p>
            <a:pPr>
              <a:spcBef>
                <a:spcPts val="600"/>
              </a:spcBef>
            </a:pPr>
            <a:r>
              <a:rPr sz="1100" b="1" i="0">
                <a:solidFill>
                  <a:srgbClr val="1D6F6F"/>
                </a:solidFill>
                <a:latin typeface="Calibri"/>
                <a:ea typeface="Calibri"/>
                <a:cs typeface="Calibri"/>
              </a:rPr>
              <a:t>★ Đối chuẩn hiệu năng 7 ngày (W9-F2):
  </a:t>
            </a:r>
            <a:r>
              <a:rPr sz="1050" b="0" i="0">
                <a:solidFill>
                  <a:srgbClr val="1E2430"/>
                </a:solidFill>
                <a:latin typeface="Calibri"/>
                <a:ea typeface="Calibri"/>
                <a:cs typeface="Calibri"/>
              </a:rPr>
              <a:t>• P1: Mean Fitness 90.68, lệch calo 2.37%, 0.43 vi phạm/ngày.
• P2: Mean Fitness 79.27, lệch calo 5.59%, 1.09 vi phạm/ngày.
• P3: Mean Fitness 88.09, lệch calo 1.84%, 0.60 vi phạm/ngày.</a:t>
            </a:r>
          </a:p>
          <a:p>
            <a:pPr>
              <a:spcBef>
                <a:spcPts val="600"/>
              </a:spcBef>
            </a:pPr>
            <a:r>
              <a:rPr sz="1100" b="1" i="0">
                <a:solidFill>
                  <a:srgbClr val="1D6F6F"/>
                </a:solidFill>
                <a:latin typeface="Calibri"/>
                <a:ea typeface="Calibri"/>
                <a:cs typeface="Calibri"/>
              </a:rPr>
              <a:t>★ Đa dạng hóa trải nghiệm người dùng (UX):
  </a:t>
            </a:r>
            <a:r>
              <a:rPr sz="1050" b="0" i="0">
                <a:solidFill>
                  <a:srgbClr val="1E2430"/>
                </a:solidFill>
                <a:latin typeface="Calibri"/>
                <a:ea typeface="Calibri"/>
                <a:cs typeface="Calibri"/>
              </a:rPr>
              <a:t>Xây dựng 3 phương án thực đơn A/B/C độc lập cho cùng hồ sơ:
• Option A (seed 9001): Fitness 90.67, lệch calo 42.3 kcal, 100% món độc nhất.
• Option B (seed 9002): Fitness 86.55, lệch calo 76.8 kcal, 85.7% món độc nhất.
• Option C (seed 9003): Fitness 91.35, lệch calo 14.7 kcal, 100% món độc nhất (tối ưu nhất).</a:t>
            </a:r>
          </a:p>
          <a:p>
            <a:pPr>
              <a:spcBef>
                <a:spcPts val="600"/>
              </a:spcBef>
            </a:pPr>
            <a:r>
              <a:rPr sz="1100" b="1" i="0">
                <a:solidFill>
                  <a:srgbClr val="1D6F6F"/>
                </a:solidFill>
                <a:latin typeface="Calibri"/>
                <a:ea typeface="Calibri"/>
                <a:cs typeface="Calibri"/>
              </a:rPr>
              <a:t>★ Trực quan hóa đa chiều (W9-F3):
  </a:t>
            </a:r>
            <a:r>
              <a:rPr sz="1050" b="0" i="0">
                <a:solidFill>
                  <a:srgbClr val="1E2430"/>
                </a:solidFill>
                <a:latin typeface="Calibri"/>
                <a:ea typeface="Calibri"/>
                <a:cs typeface="Calibri"/>
              </a:rPr>
              <a:t>Biểu đồ Radar so sánh trực tiếp độ cân bằng dinh dưỡng giữa 3 Option giúp người dùng dễ dàng lựa chọn theo sở thích.</a:t>
            </a:r>
          </a:p>
        </p:txBody>
      </p:sp>
      <p:sp>
        <p:nvSpPr>
          <p:cNvPr id="9" name="Rectangle 8"/>
          <p:cNvSpPr/>
          <p:nvPr/>
        </p:nvSpPr>
        <p:spPr>
          <a:xfrm>
            <a:off x="548640" y="6446520"/>
            <a:ext cx="11094415" cy="1270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10528"/>
            <a:ext cx="8686800" cy="274320"/>
          </a:xfrm>
          <a:prstGeom prst="rect">
            <a:avLst/>
          </a:prstGeom>
          <a:noFill/>
        </p:spPr>
        <p:txBody>
          <a:bodyPr wrap="none">
            <a:spAutoFit/>
          </a:bodyPr>
          <a:lstStyle/>
          <a:p>
            <a:r>
              <a:rPr sz="950" b="0" i="0">
                <a:solidFill>
                  <a:srgbClr val="5A6478"/>
                </a:solidFill>
                <a:latin typeface="Calibri"/>
                <a:ea typeface="Calibri"/>
                <a:cs typeface="Calibri"/>
              </a:rPr>
              <a:t>CNTT-KLCN142 — Đề xuất thực đơn dinh dưỡng cá nhân hóa bằng DBO/IDBO | Tổng hợp Tuần 8 – 9 – 10 – 11</a:t>
            </a:r>
          </a:p>
        </p:txBody>
      </p:sp>
      <p:sp>
        <p:nvSpPr>
          <p:cNvPr id="11" name="TextBox 10"/>
          <p:cNvSpPr txBox="1"/>
          <p:nvPr/>
        </p:nvSpPr>
        <p:spPr>
          <a:xfrm>
            <a:off x="9601200" y="6510528"/>
            <a:ext cx="2011680" cy="274320"/>
          </a:xfrm>
          <a:prstGeom prst="rect">
            <a:avLst/>
          </a:prstGeom>
          <a:noFill/>
        </p:spPr>
        <p:txBody>
          <a:bodyPr wrap="none">
            <a:spAutoFit/>
          </a:bodyPr>
          <a:lstStyle/>
          <a:p>
            <a:pPr algn="r"/>
            <a:r>
              <a:rPr sz="950" b="1" i="0">
                <a:solidFill>
                  <a:srgbClr val="5A6478"/>
                </a:solidFill>
                <a:latin typeface="Calibri"/>
                <a:ea typeface="Calibri"/>
                <a:cs typeface="Calibri"/>
              </a:rP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274320"/>
          </a:xfrm>
          <a:prstGeom prst="rect">
            <a:avLst/>
          </a:prstGeom>
          <a:noFill/>
        </p:spPr>
        <p:txBody>
          <a:bodyPr wrap="square" lIns="0" tIns="0" rIns="0" bIns="0">
            <a:spAutoFit/>
          </a:bodyPr>
          <a:lstStyle/>
          <a:p>
            <a:r>
              <a:rPr sz="1100" b="1" i="0">
                <a:solidFill>
                  <a:srgbClr val="D9822B"/>
                </a:solidFill>
                <a:latin typeface="Calibri"/>
                <a:ea typeface="Calibri"/>
                <a:cs typeface="Calibri"/>
              </a:rPr>
              <a:t>NỀN TẢNG TRIỂN KHAI (TUẦN 10)</a:t>
            </a:r>
          </a:p>
        </p:txBody>
      </p:sp>
      <p:sp>
        <p:nvSpPr>
          <p:cNvPr id="3" name="TextBox 2"/>
          <p:cNvSpPr txBox="1"/>
          <p:nvPr/>
        </p:nvSpPr>
        <p:spPr>
          <a:xfrm>
            <a:off x="548640" y="621792"/>
            <a:ext cx="11064240" cy="548640"/>
          </a:xfrm>
          <a:prstGeom prst="rect">
            <a:avLst/>
          </a:prstGeom>
          <a:noFill/>
        </p:spPr>
        <p:txBody>
          <a:bodyPr wrap="square" lIns="0" tIns="0" rIns="0" bIns="0">
            <a:spAutoFit/>
          </a:bodyPr>
          <a:lstStyle/>
          <a:p>
            <a:r>
              <a:rPr sz="2100" b="1" i="0">
                <a:solidFill>
                  <a:srgbClr val="1B2A4A"/>
                </a:solidFill>
                <a:latin typeface="Calibri"/>
                <a:ea typeface="Calibri"/>
                <a:cs typeface="Calibri"/>
              </a:rPr>
              <a:t>[Tuần 10] Nghiệm Thu Hệ Thống Web API &amp; Giao Diện Người Dùng</a:t>
            </a:r>
          </a:p>
        </p:txBody>
      </p:sp>
      <p:sp>
        <p:nvSpPr>
          <p:cNvPr id="4" name="Rectangle 3"/>
          <p:cNvSpPr/>
          <p:nvPr/>
        </p:nvSpPr>
        <p:spPr>
          <a:xfrm>
            <a:off x="548640" y="1207008"/>
            <a:ext cx="11094415" cy="1905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0" y="1371600"/>
            <a:ext cx="4297680" cy="49377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54480"/>
            <a:ext cx="3840480" cy="4572000"/>
          </a:xfrm>
          <a:prstGeom prst="rect">
            <a:avLst/>
          </a:prstGeom>
          <a:noFill/>
        </p:spPr>
        <p:txBody>
          <a:bodyPr wrap="square">
            <a:spAutoFit/>
          </a:bodyPr>
          <a:lstStyle/>
          <a:p>
            <a:r>
              <a:rPr sz="1600" b="1" i="0">
                <a:solidFill>
                  <a:srgbClr val="1B2A4A"/>
                </a:solidFill>
                <a:latin typeface="Calibri"/>
                <a:ea typeface="Calibri"/>
                <a:cs typeface="Calibri"/>
              </a:rPr>
              <a:t>Nghiệm Thu Kỹ Thuật (PR #28)</a:t>
            </a:r>
          </a:p>
          <a:p>
            <a:pPr>
              <a:spcBef>
                <a:spcPts val="600"/>
              </a:spcBef>
            </a:pPr>
            <a:r>
              <a:rPr sz="1150" b="1" i="0">
                <a:solidFill>
                  <a:srgbClr val="2D3E63"/>
                </a:solidFill>
                <a:latin typeface="Calibri"/>
                <a:ea typeface="Calibri"/>
                <a:cs typeface="Calibri"/>
              </a:rPr>
              <a:t>• Công nghệ sử dụng: </a:t>
            </a:r>
            <a:r>
              <a:rPr sz="1050" b="0" i="0">
                <a:solidFill>
                  <a:srgbClr val="1E2430"/>
                </a:solidFill>
                <a:latin typeface="Calibri"/>
                <a:ea typeface="Calibri"/>
                <a:cs typeface="Calibri"/>
              </a:rPr>
              <a:t>FastAPI, Pydantic v2, Uvicorn server, Chart.js, Vanilla HTML5/CSS3/ES6 (Dark Theme Glassmorphism).</a:t>
            </a:r>
          </a:p>
          <a:p>
            <a:pPr>
              <a:spcBef>
                <a:spcPts val="600"/>
              </a:spcBef>
            </a:pPr>
            <a:r>
              <a:rPr sz="1150" b="1" i="0">
                <a:solidFill>
                  <a:srgbClr val="2D3E63"/>
                </a:solidFill>
                <a:latin typeface="Calibri"/>
                <a:ea typeface="Calibri"/>
                <a:cs typeface="Calibri"/>
              </a:rPr>
              <a:t>• Kiến trúc Single-Port: </a:t>
            </a:r>
            <a:r>
              <a:rPr sz="1050" b="0" i="0">
                <a:solidFill>
                  <a:srgbClr val="1E2430"/>
                </a:solidFill>
                <a:latin typeface="Calibri"/>
                <a:ea typeface="Calibri"/>
                <a:cs typeface="Calibri"/>
              </a:rPr>
              <a:t>Phục vụ đồng thời REST API (/api/*) và static frontend trên cổng 8000, loại bỏ hoàn toàn lỗi CORS và cấu hình proxy.</a:t>
            </a:r>
          </a:p>
          <a:p>
            <a:pPr>
              <a:spcBef>
                <a:spcPts val="600"/>
              </a:spcBef>
            </a:pPr>
            <a:r>
              <a:rPr sz="1150" b="1" i="0">
                <a:solidFill>
                  <a:srgbClr val="2D3E63"/>
                </a:solidFill>
                <a:latin typeface="Calibri"/>
                <a:ea typeface="Calibri"/>
                <a:cs typeface="Calibri"/>
              </a:rPr>
              <a:t>• 6 Endpoints chuẩn hóa: </a:t>
            </a:r>
            <a:r>
              <a:rPr sz="1050" b="0" i="0">
                <a:solidFill>
                  <a:srgbClr val="1E2430"/>
                </a:solidFill>
                <a:latin typeface="Calibri"/>
                <a:ea typeface="Calibri"/>
                <a:cs typeface="Calibri"/>
              </a:rPr>
              <a:t>GET /health, GET /profiles, POST /targets (tính BMR/TDEE), POST /menu/generate (chạy IDBO 2 tầng), GET /foods, POST /menu/swap (stub 501 minh bạch).</a:t>
            </a:r>
          </a:p>
          <a:p>
            <a:pPr>
              <a:spcBef>
                <a:spcPts val="600"/>
              </a:spcBef>
            </a:pPr>
            <a:r>
              <a:rPr sz="1150" b="1" i="0">
                <a:solidFill>
                  <a:srgbClr val="2D3E63"/>
                </a:solidFill>
                <a:latin typeface="Calibri"/>
                <a:ea typeface="Calibri"/>
                <a:cs typeface="Calibri"/>
              </a:rPr>
              <a:t>• Xử lý phi nghẽn: </a:t>
            </a:r>
            <a:r>
              <a:rPr sz="1050" b="0" i="0">
                <a:solidFill>
                  <a:srgbClr val="1E2430"/>
                </a:solidFill>
                <a:latin typeface="Calibri"/>
                <a:ea typeface="Calibri"/>
                <a:cs typeface="Calibri"/>
              </a:rPr>
              <a:t>two_tier_optimize() bọc qua asyncio.to_thread, Event Loop không bị nghẽn khi tối ưu.</a:t>
            </a:r>
          </a:p>
          <a:p>
            <a:pPr>
              <a:spcBef>
                <a:spcPts val="600"/>
              </a:spcBef>
            </a:pPr>
            <a:r>
              <a:rPr sz="1150" b="1" i="0">
                <a:solidFill>
                  <a:srgbClr val="2D3E63"/>
                </a:solidFill>
                <a:latin typeface="Calibri"/>
                <a:ea typeface="Calibri"/>
                <a:cs typeface="Calibri"/>
              </a:rPr>
              <a:t>• Quy chuẩn khẩu phần 5g: </a:t>
            </a:r>
            <a:r>
              <a:rPr sz="1050" b="0" i="0">
                <a:solidFill>
                  <a:srgbClr val="1E2430"/>
                </a:solidFill>
                <a:latin typeface="Calibri"/>
                <a:ea typeface="Calibri"/>
                <a:cs typeface="Calibri"/>
              </a:rPr>
              <a:t>Bảng thực đơn hiển thị minh bạch Gram gốc và Gram làm tròn 5g (portion_g_rounded), tính lại dinh dưỡng chuẩn.</a:t>
            </a:r>
          </a:p>
          <a:p>
            <a:pPr>
              <a:spcBef>
                <a:spcPts val="600"/>
              </a:spcBef>
            </a:pPr>
            <a:r>
              <a:rPr sz="1150" b="1" i="0">
                <a:solidFill>
                  <a:srgbClr val="2D3E63"/>
                </a:solidFill>
                <a:latin typeface="Calibri"/>
                <a:ea typeface="Calibri"/>
                <a:cs typeface="Calibri"/>
              </a:rPr>
              <a:t>• Trực quan hóa đa chiều: </a:t>
            </a:r>
            <a:r>
              <a:rPr sz="1050" b="0" i="0">
                <a:solidFill>
                  <a:srgbClr val="1E2430"/>
                </a:solidFill>
                <a:latin typeface="Calibri"/>
                <a:ea typeface="Calibri"/>
                <a:cs typeface="Calibri"/>
              </a:rPr>
              <a:t>Biểu đồ Radar 6 trục dinh dưỡng và thanh tiến độ theo dải dung sai chuẩn (80%–120%).</a:t>
            </a:r>
          </a:p>
        </p:txBody>
      </p:sp>
      <p:sp>
        <p:nvSpPr>
          <p:cNvPr id="7" name="Rectangle 6"/>
          <p:cNvSpPr/>
          <p:nvPr/>
        </p:nvSpPr>
        <p:spPr>
          <a:xfrm>
            <a:off x="548640" y="6446520"/>
            <a:ext cx="11094415" cy="1270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10528"/>
            <a:ext cx="8686800" cy="274320"/>
          </a:xfrm>
          <a:prstGeom prst="rect">
            <a:avLst/>
          </a:prstGeom>
          <a:noFill/>
        </p:spPr>
        <p:txBody>
          <a:bodyPr wrap="none">
            <a:spAutoFit/>
          </a:bodyPr>
          <a:lstStyle/>
          <a:p>
            <a:r>
              <a:rPr sz="950" b="0" i="0">
                <a:solidFill>
                  <a:srgbClr val="5A6478"/>
                </a:solidFill>
                <a:latin typeface="Calibri"/>
                <a:ea typeface="Calibri"/>
                <a:cs typeface="Calibri"/>
              </a:rPr>
              <a:t>CNTT-KLCN142 — Đề xuất thực đơn dinh dưỡng cá nhân hóa bằng DBO/IDBO | Tổng hợp Tuần 8 – 9 – 10 – 11</a:t>
            </a:r>
          </a:p>
        </p:txBody>
      </p:sp>
      <p:sp>
        <p:nvSpPr>
          <p:cNvPr id="9" name="TextBox 8"/>
          <p:cNvSpPr txBox="1"/>
          <p:nvPr/>
        </p:nvSpPr>
        <p:spPr>
          <a:xfrm>
            <a:off x="9601200" y="6510528"/>
            <a:ext cx="2011680" cy="274320"/>
          </a:xfrm>
          <a:prstGeom prst="rect">
            <a:avLst/>
          </a:prstGeom>
          <a:noFill/>
        </p:spPr>
        <p:txBody>
          <a:bodyPr wrap="none">
            <a:spAutoFit/>
          </a:bodyPr>
          <a:lstStyle/>
          <a:p>
            <a:pPr algn="r"/>
            <a:r>
              <a:rPr sz="950" b="1" i="0">
                <a:solidFill>
                  <a:srgbClr val="5A6478"/>
                </a:solidFill>
                <a:latin typeface="Calibri"/>
                <a:ea typeface="Calibri"/>
                <a:cs typeface="Calibri"/>
              </a:rPr>
              <a:t>8 / 14</a:t>
            </a:r>
          </a:p>
        </p:txBody>
      </p:sp>
      <p:sp>
        <p:nvSpPr>
          <p:cNvPr id="10" name="Rounded Rectangle 9"/>
          <p:cNvSpPr/>
          <p:nvPr/>
        </p:nvSpPr>
        <p:spPr>
          <a:xfrm>
            <a:off x="594360" y="1417320"/>
            <a:ext cx="5257800" cy="4773168"/>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672" y="1627632"/>
            <a:ext cx="64008" cy="438912"/>
          </a:xfrm>
          <a:prstGeom prst="rect">
            <a:avLst/>
          </a:prstGeom>
          <a:solidFill>
            <a:srgbClr val="1877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1655064"/>
            <a:ext cx="4572000" cy="475488"/>
          </a:xfrm>
          <a:prstGeom prst="rect">
            <a:avLst/>
          </a:prstGeom>
          <a:noFill/>
        </p:spPr>
        <p:txBody>
          <a:bodyPr wrap="square" lIns="54864" tIns="27432">
            <a:spAutoFit/>
          </a:bodyPr>
          <a:lstStyle/>
          <a:p>
            <a:pPr>
              <a:defRPr sz="2000" b="1">
                <a:solidFill>
                  <a:srgbClr val="1C2C4C"/>
                </a:solidFill>
                <a:latin typeface="Arial"/>
              </a:defRPr>
            </a:pPr>
            <a:r>
              <a:t>KIẾN TRÚC HỆ THỐNG</a:t>
            </a:r>
          </a:p>
        </p:txBody>
      </p:sp>
      <p:sp>
        <p:nvSpPr>
          <p:cNvPr id="13" name="TextBox 12"/>
          <p:cNvSpPr txBox="1"/>
          <p:nvPr/>
        </p:nvSpPr>
        <p:spPr>
          <a:xfrm>
            <a:off x="932688" y="2148840"/>
            <a:ext cx="4681728" cy="502920"/>
          </a:xfrm>
          <a:prstGeom prst="rect">
            <a:avLst/>
          </a:prstGeom>
          <a:noFill/>
        </p:spPr>
        <p:txBody>
          <a:bodyPr wrap="square" lIns="54864" tIns="27432">
            <a:spAutoFit/>
          </a:bodyPr>
          <a:lstStyle/>
          <a:p>
            <a:pPr>
              <a:defRPr sz="1200" b="0">
                <a:solidFill>
                  <a:srgbClr val="536173"/>
                </a:solidFill>
                <a:latin typeface="Arial"/>
              </a:defRPr>
            </a:pPr>
            <a:r>
              <a:t>Luồng xử lý theo nội dung báo cáo</a:t>
            </a:r>
          </a:p>
        </p:txBody>
      </p:sp>
      <p:sp>
        <p:nvSpPr>
          <p:cNvPr id="14" name="Rounded Rectangle 13"/>
          <p:cNvSpPr/>
          <p:nvPr/>
        </p:nvSpPr>
        <p:spPr>
          <a:xfrm>
            <a:off x="932688" y="2743200"/>
            <a:ext cx="4590288" cy="999744"/>
          </a:xfrm>
          <a:prstGeom prst="roundRect">
            <a:avLst/>
          </a:prstGeom>
          <a:solidFill>
            <a:srgbClr val="E8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15568" y="2816352"/>
            <a:ext cx="4206240" cy="310896"/>
          </a:xfrm>
          <a:prstGeom prst="rect">
            <a:avLst/>
          </a:prstGeom>
          <a:noFill/>
        </p:spPr>
        <p:txBody>
          <a:bodyPr wrap="square" lIns="54864" tIns="27432">
            <a:spAutoFit/>
          </a:bodyPr>
          <a:lstStyle/>
          <a:p>
            <a:pPr>
              <a:defRPr sz="1600" b="1">
                <a:solidFill>
                  <a:srgbClr val="187773"/>
                </a:solidFill>
                <a:latin typeface="Arial"/>
              </a:defRPr>
            </a:pPr>
            <a:r>
              <a:t>GIAO DIỆN WEB</a:t>
            </a:r>
          </a:p>
        </p:txBody>
      </p:sp>
      <p:sp>
        <p:nvSpPr>
          <p:cNvPr id="16" name="TextBox 15"/>
          <p:cNvSpPr txBox="1"/>
          <p:nvPr/>
        </p:nvSpPr>
        <p:spPr>
          <a:xfrm>
            <a:off x="1115568" y="3172968"/>
            <a:ext cx="4206240" cy="551688"/>
          </a:xfrm>
          <a:prstGeom prst="rect">
            <a:avLst/>
          </a:prstGeom>
          <a:noFill/>
        </p:spPr>
        <p:txBody>
          <a:bodyPr wrap="square" lIns="54864" tIns="27432">
            <a:spAutoFit/>
          </a:bodyPr>
          <a:lstStyle/>
          <a:p>
            <a:pPr>
              <a:defRPr sz="1200" b="0">
                <a:solidFill>
                  <a:srgbClr val="536173"/>
                </a:solidFill>
                <a:latin typeface="Arial"/>
              </a:defRPr>
            </a:pPr>
            <a:r>
              <a:t>HTML/CSS/JavaScript · Chart.js</a:t>
            </a:r>
          </a:p>
        </p:txBody>
      </p:sp>
      <p:sp>
        <p:nvSpPr>
          <p:cNvPr id="17" name="Rounded Rectangle 16"/>
          <p:cNvSpPr/>
          <p:nvPr/>
        </p:nvSpPr>
        <p:spPr>
          <a:xfrm>
            <a:off x="932688" y="3861816"/>
            <a:ext cx="4590288" cy="999744"/>
          </a:xfrm>
          <a:prstGeom prst="roundRect">
            <a:avLst/>
          </a:prstGeom>
          <a:solidFill>
            <a:srgbClr val="E8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15568" y="3934968"/>
            <a:ext cx="4206240" cy="310896"/>
          </a:xfrm>
          <a:prstGeom prst="rect">
            <a:avLst/>
          </a:prstGeom>
          <a:noFill/>
        </p:spPr>
        <p:txBody>
          <a:bodyPr wrap="square" lIns="54864" tIns="27432">
            <a:spAutoFit/>
          </a:bodyPr>
          <a:lstStyle/>
          <a:p>
            <a:pPr>
              <a:defRPr sz="1600" b="1">
                <a:solidFill>
                  <a:srgbClr val="187773"/>
                </a:solidFill>
                <a:latin typeface="Arial"/>
              </a:defRPr>
            </a:pPr>
            <a:r>
              <a:t>FASTAPI</a:t>
            </a:r>
          </a:p>
        </p:txBody>
      </p:sp>
      <p:sp>
        <p:nvSpPr>
          <p:cNvPr id="19" name="TextBox 18"/>
          <p:cNvSpPr txBox="1"/>
          <p:nvPr/>
        </p:nvSpPr>
        <p:spPr>
          <a:xfrm>
            <a:off x="1115568" y="4291584"/>
            <a:ext cx="4206240" cy="551688"/>
          </a:xfrm>
          <a:prstGeom prst="rect">
            <a:avLst/>
          </a:prstGeom>
          <a:noFill/>
        </p:spPr>
        <p:txBody>
          <a:bodyPr wrap="square" lIns="54864" tIns="27432">
            <a:spAutoFit/>
          </a:bodyPr>
          <a:lstStyle/>
          <a:p>
            <a:pPr>
              <a:defRPr sz="1200" b="0">
                <a:solidFill>
                  <a:srgbClr val="536173"/>
                </a:solidFill>
                <a:latin typeface="Arial"/>
              </a:defRPr>
            </a:pPr>
            <a:r>
              <a:t>REST API và frontend cùng cổng 8000</a:t>
            </a:r>
          </a:p>
        </p:txBody>
      </p:sp>
      <p:sp>
        <p:nvSpPr>
          <p:cNvPr id="20" name="Rounded Rectangle 19"/>
          <p:cNvSpPr/>
          <p:nvPr/>
        </p:nvSpPr>
        <p:spPr>
          <a:xfrm>
            <a:off x="932688" y="4980432"/>
            <a:ext cx="4590288" cy="999744"/>
          </a:xfrm>
          <a:prstGeom prst="roundRect">
            <a:avLst/>
          </a:prstGeom>
          <a:solidFill>
            <a:srgbClr val="E8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15568" y="5053584"/>
            <a:ext cx="4206240" cy="310896"/>
          </a:xfrm>
          <a:prstGeom prst="rect">
            <a:avLst/>
          </a:prstGeom>
          <a:noFill/>
        </p:spPr>
        <p:txBody>
          <a:bodyPr wrap="square" lIns="54864" tIns="27432">
            <a:spAutoFit/>
          </a:bodyPr>
          <a:lstStyle/>
          <a:p>
            <a:pPr>
              <a:defRPr sz="1600" b="1">
                <a:solidFill>
                  <a:srgbClr val="187773"/>
                </a:solidFill>
                <a:latin typeface="Arial"/>
              </a:defRPr>
            </a:pPr>
            <a:r>
              <a:t>BỘ GIẢI 2 TẦNG</a:t>
            </a:r>
          </a:p>
        </p:txBody>
      </p:sp>
      <p:sp>
        <p:nvSpPr>
          <p:cNvPr id="22" name="TextBox 21"/>
          <p:cNvSpPr txBox="1"/>
          <p:nvPr/>
        </p:nvSpPr>
        <p:spPr>
          <a:xfrm>
            <a:off x="1115568" y="5410200"/>
            <a:ext cx="4206240" cy="551688"/>
          </a:xfrm>
          <a:prstGeom prst="rect">
            <a:avLst/>
          </a:prstGeom>
          <a:noFill/>
        </p:spPr>
        <p:txBody>
          <a:bodyPr wrap="square" lIns="54864" tIns="27432">
            <a:spAutoFit/>
          </a:bodyPr>
          <a:lstStyle/>
          <a:p>
            <a:pPr>
              <a:defRPr sz="1200" b="0">
                <a:solidFill>
                  <a:srgbClr val="536173"/>
                </a:solidFill>
                <a:latin typeface="Arial"/>
              </a:defRPr>
            </a:pPr>
            <a:r>
              <a:t>Tạo thực đơn theo hồ sơ và mục tiêu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274320"/>
          </a:xfrm>
          <a:prstGeom prst="rect">
            <a:avLst/>
          </a:prstGeom>
          <a:noFill/>
        </p:spPr>
        <p:txBody>
          <a:bodyPr wrap="square" lIns="0" tIns="0" rIns="0" bIns="0">
            <a:spAutoFit/>
          </a:bodyPr>
          <a:lstStyle/>
          <a:p>
            <a:r>
              <a:rPr sz="1100" b="1" i="0">
                <a:solidFill>
                  <a:srgbClr val="D9822B"/>
                </a:solidFill>
                <a:latin typeface="Calibri"/>
                <a:ea typeface="Calibri"/>
                <a:cs typeface="Calibri"/>
              </a:rPr>
              <a:t>CHUẨN HÓA DỮ LIỆU (TUẦN 11)</a:t>
            </a:r>
          </a:p>
        </p:txBody>
      </p:sp>
      <p:sp>
        <p:nvSpPr>
          <p:cNvPr id="3" name="TextBox 2"/>
          <p:cNvSpPr txBox="1"/>
          <p:nvPr/>
        </p:nvSpPr>
        <p:spPr>
          <a:xfrm>
            <a:off x="548640" y="621792"/>
            <a:ext cx="11064240" cy="548640"/>
          </a:xfrm>
          <a:prstGeom prst="rect">
            <a:avLst/>
          </a:prstGeom>
          <a:noFill/>
        </p:spPr>
        <p:txBody>
          <a:bodyPr wrap="square" lIns="0" tIns="0" rIns="0" bIns="0">
            <a:spAutoFit/>
          </a:bodyPr>
          <a:lstStyle/>
          <a:p>
            <a:r>
              <a:rPr sz="2100" b="1" i="0">
                <a:solidFill>
                  <a:srgbClr val="1B2A4A"/>
                </a:solidFill>
                <a:latin typeface="Calibri"/>
                <a:ea typeface="Calibri"/>
                <a:cs typeface="Calibri"/>
              </a:rPr>
              <a:t>[Tuần 11] Thực Nghiệm Đối Đầu DBO vs IDBO Trên Tập Độc Lập</a:t>
            </a:r>
          </a:p>
        </p:txBody>
      </p:sp>
      <p:sp>
        <p:nvSpPr>
          <p:cNvPr id="4" name="Rectangle 3"/>
          <p:cNvSpPr/>
          <p:nvPr/>
        </p:nvSpPr>
        <p:spPr>
          <a:xfrm>
            <a:off x="548640" y="1207008"/>
            <a:ext cx="11094415" cy="1905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675120" y="1371600"/>
            <a:ext cx="4937760" cy="49377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03720" y="1554480"/>
            <a:ext cx="4480560" cy="4572000"/>
          </a:xfrm>
          <a:prstGeom prst="rect">
            <a:avLst/>
          </a:prstGeom>
          <a:noFill/>
        </p:spPr>
        <p:txBody>
          <a:bodyPr wrap="square">
            <a:spAutoFit/>
          </a:bodyPr>
          <a:lstStyle/>
          <a:p>
            <a:r>
              <a:rPr sz="1600" b="1" i="0">
                <a:solidFill>
                  <a:srgbClr val="1B2A4A"/>
                </a:solidFill>
                <a:latin typeface="Calibri"/>
                <a:ea typeface="Calibri"/>
                <a:cs typeface="Calibri"/>
              </a:rPr>
              <a:t>Số Liệu Thực Nghiệm (Ngưỡng 0.28)</a:t>
            </a:r>
          </a:p>
          <a:p>
            <a:pPr>
              <a:spcBef>
                <a:spcPts val="800"/>
              </a:spcBef>
            </a:pPr>
            <a:r>
              <a:rPr sz="1200" b="1" i="0">
                <a:solidFill>
                  <a:srgbClr val="2D3E63"/>
                </a:solidFill>
                <a:latin typeface="Calibri"/>
                <a:ea typeface="Calibri"/>
                <a:cs typeface="Calibri"/>
              </a:rPr>
              <a:t>• Dữ liệu thử nghiệm: </a:t>
            </a:r>
            <a:r>
              <a:rPr sz="1100" b="0" i="0">
                <a:solidFill>
                  <a:srgbClr val="1E2430"/>
                </a:solidFill>
                <a:latin typeface="Calibri"/>
                <a:ea typeface="Calibri"/>
                <a:cs typeface="Calibri"/>
              </a:rPr>
              <a:t>Tập đánh giá độc lập gồm 8 hạt giống (seed 8003–8010), cấu hình chuẩn 100 vòng ngoài, 50 vòng trong, quần thể 20/15 cá thể.</a:t>
            </a:r>
          </a:p>
          <a:p>
            <a:pPr>
              <a:spcBef>
                <a:spcPts val="800"/>
              </a:spcBef>
            </a:pPr>
            <a:r>
              <a:rPr sz="1200" b="1" i="0">
                <a:solidFill>
                  <a:srgbClr val="2D3E63"/>
                </a:solidFill>
                <a:latin typeface="Calibri"/>
                <a:ea typeface="Calibri"/>
                <a:cs typeface="Calibri"/>
              </a:rPr>
              <a:t>• Tỷ lệ đối đầu: </a:t>
            </a:r>
            <a:r>
              <a:rPr sz="1100" b="0" i="0">
                <a:solidFill>
                  <a:srgbClr val="1E2430"/>
                </a:solidFill>
                <a:latin typeface="Calibri"/>
                <a:ea typeface="Calibri"/>
                <a:cs typeface="Calibri"/>
              </a:rPr>
              <a:t>IDBO Thắng 5/8 hạt giống (62.5%), DBO Thắng 3/8 hạt giống (37.5%).</a:t>
            </a:r>
          </a:p>
          <a:p>
            <a:pPr>
              <a:spcBef>
                <a:spcPts val="800"/>
              </a:spcBef>
            </a:pPr>
            <a:r>
              <a:rPr sz="1200" b="1" i="0">
                <a:solidFill>
                  <a:srgbClr val="2D3E63"/>
                </a:solidFill>
                <a:latin typeface="Calibri"/>
                <a:ea typeface="Calibri"/>
                <a:cs typeface="Calibri"/>
              </a:rPr>
              <a:t>• Điểm Fitness trung bình: </a:t>
            </a:r>
            <a:r>
              <a:rPr sz="1100" b="0" i="0">
                <a:solidFill>
                  <a:srgbClr val="1E2430"/>
                </a:solidFill>
                <a:latin typeface="Calibri"/>
                <a:ea typeface="Calibri"/>
                <a:cs typeface="Calibri"/>
              </a:rPr>
              <a:t>DBO: 98.9931 ± 0.7918 | IDBO: 99.1590 ± 0.6851. IDBO cải thiện nhẹ trung bình +0.1659 điểm.</a:t>
            </a:r>
          </a:p>
          <a:p>
            <a:pPr>
              <a:spcBef>
                <a:spcPts val="800"/>
              </a:spcBef>
            </a:pPr>
            <a:r>
              <a:rPr sz="1200" b="1" i="0">
                <a:solidFill>
                  <a:srgbClr val="2D3E63"/>
                </a:solidFill>
                <a:latin typeface="Calibri"/>
                <a:ea typeface="Calibri"/>
                <a:cs typeface="Calibri"/>
              </a:rPr>
              <a:t>• Kiểm định Wilcoxon Signed-Rank: </a:t>
            </a:r>
            <a:r>
              <a:rPr sz="1100" b="0" i="0">
                <a:solidFill>
                  <a:srgbClr val="1E2430"/>
                </a:solidFill>
                <a:latin typeface="Calibri"/>
                <a:ea typeface="Calibri"/>
                <a:cs typeface="Calibri"/>
              </a:rPr>
              <a:t>Trị thống kê W = 14.0 &gt; W_critical = 3 (n=8, alpha=0.05). Sự khác biệt chưa có ý nghĩa thống kê (p &gt; 0.05).</a:t>
            </a:r>
          </a:p>
          <a:p>
            <a:pPr>
              <a:spcBef>
                <a:spcPts val="800"/>
              </a:spcBef>
            </a:pPr>
            <a:r>
              <a:rPr sz="1200" b="1" i="0">
                <a:solidFill>
                  <a:srgbClr val="2D3E63"/>
                </a:solidFill>
                <a:latin typeface="Calibri"/>
                <a:ea typeface="Calibri"/>
                <a:cs typeface="Calibri"/>
              </a:rPr>
              <a:t>• Phân định tập dữ liệu: </a:t>
            </a:r>
            <a:r>
              <a:rPr sz="1100" b="0" i="0">
                <a:solidFill>
                  <a:srgbClr val="1E2430"/>
                </a:solidFill>
                <a:latin typeface="Calibri"/>
                <a:ea typeface="Calibri"/>
                <a:cs typeface="Calibri"/>
              </a:rPr>
              <a:t>Tập hiệu chỉnh (Calibration seed 8001–8002: IDBO thắng 1, DBO thắng 1) được tách riêng, không gộp vào tập đánh giá độc lập để tránh thiên lệch chọn mẫu.</a:t>
            </a:r>
          </a:p>
        </p:txBody>
      </p:sp>
      <p:sp>
        <p:nvSpPr>
          <p:cNvPr id="7" name="Rectangle 6"/>
          <p:cNvSpPr/>
          <p:nvPr/>
        </p:nvSpPr>
        <p:spPr>
          <a:xfrm>
            <a:off x="548640" y="6446520"/>
            <a:ext cx="11094415" cy="1270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10528"/>
            <a:ext cx="8686800" cy="274320"/>
          </a:xfrm>
          <a:prstGeom prst="rect">
            <a:avLst/>
          </a:prstGeom>
          <a:noFill/>
        </p:spPr>
        <p:txBody>
          <a:bodyPr wrap="none">
            <a:spAutoFit/>
          </a:bodyPr>
          <a:lstStyle/>
          <a:p>
            <a:r>
              <a:rPr sz="950" b="0" i="0">
                <a:solidFill>
                  <a:srgbClr val="5A6478"/>
                </a:solidFill>
                <a:latin typeface="Calibri"/>
                <a:ea typeface="Calibri"/>
                <a:cs typeface="Calibri"/>
              </a:rPr>
              <a:t>CNTT-KLCN142 — Đề xuất thực đơn dinh dưỡng cá nhân hóa bằng DBO/IDBO | Tổng hợp Tuần 8 – 9 – 10 – 11</a:t>
            </a:r>
          </a:p>
        </p:txBody>
      </p:sp>
      <p:sp>
        <p:nvSpPr>
          <p:cNvPr id="9" name="TextBox 8"/>
          <p:cNvSpPr txBox="1"/>
          <p:nvPr/>
        </p:nvSpPr>
        <p:spPr>
          <a:xfrm>
            <a:off x="9601200" y="6510528"/>
            <a:ext cx="2011680" cy="274320"/>
          </a:xfrm>
          <a:prstGeom prst="rect">
            <a:avLst/>
          </a:prstGeom>
          <a:noFill/>
        </p:spPr>
        <p:txBody>
          <a:bodyPr wrap="none">
            <a:spAutoFit/>
          </a:bodyPr>
          <a:lstStyle/>
          <a:p>
            <a:pPr algn="r"/>
            <a:r>
              <a:rPr sz="950" b="1" i="0">
                <a:solidFill>
                  <a:srgbClr val="5A6478"/>
                </a:solidFill>
                <a:latin typeface="Calibri"/>
                <a:ea typeface="Calibri"/>
                <a:cs typeface="Calibri"/>
              </a:rPr>
              <a:t>9 / 14</a:t>
            </a:r>
          </a:p>
        </p:txBody>
      </p:sp>
      <p:sp>
        <p:nvSpPr>
          <p:cNvPr id="10" name="Rounded Rectangle 9"/>
          <p:cNvSpPr/>
          <p:nvPr/>
        </p:nvSpPr>
        <p:spPr>
          <a:xfrm>
            <a:off x="594360" y="1417320"/>
            <a:ext cx="5257800" cy="4773168"/>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672" y="1627632"/>
            <a:ext cx="64008" cy="438912"/>
          </a:xfrm>
          <a:prstGeom prst="rect">
            <a:avLst/>
          </a:prstGeom>
          <a:solidFill>
            <a:srgbClr val="1877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1655064"/>
            <a:ext cx="4572000" cy="475488"/>
          </a:xfrm>
          <a:prstGeom prst="rect">
            <a:avLst/>
          </a:prstGeom>
          <a:noFill/>
        </p:spPr>
        <p:txBody>
          <a:bodyPr wrap="square" lIns="54864" tIns="27432">
            <a:spAutoFit/>
          </a:bodyPr>
          <a:lstStyle/>
          <a:p>
            <a:pPr>
              <a:defRPr sz="2000" b="1">
                <a:solidFill>
                  <a:srgbClr val="1C2C4C"/>
                </a:solidFill>
                <a:latin typeface="Arial"/>
              </a:defRPr>
            </a:pPr>
            <a:r>
              <a:t>ĐỐI CHUẨN ĐỘC LẬP</a:t>
            </a:r>
          </a:p>
        </p:txBody>
      </p:sp>
      <p:sp>
        <p:nvSpPr>
          <p:cNvPr id="13" name="TextBox 12"/>
          <p:cNvSpPr txBox="1"/>
          <p:nvPr/>
        </p:nvSpPr>
        <p:spPr>
          <a:xfrm>
            <a:off x="932688" y="2148840"/>
            <a:ext cx="4681728" cy="502920"/>
          </a:xfrm>
          <a:prstGeom prst="rect">
            <a:avLst/>
          </a:prstGeom>
          <a:noFill/>
        </p:spPr>
        <p:txBody>
          <a:bodyPr wrap="square" lIns="54864" tIns="27432">
            <a:spAutoFit/>
          </a:bodyPr>
          <a:lstStyle/>
          <a:p>
            <a:pPr>
              <a:defRPr sz="1200" b="0">
                <a:solidFill>
                  <a:srgbClr val="536173"/>
                </a:solidFill>
                <a:latin typeface="Arial"/>
              </a:defRPr>
            </a:pPr>
            <a:r>
              <a:t>Tuần 11 · Ngưỡng đa dạng 0,28</a:t>
            </a:r>
          </a:p>
        </p:txBody>
      </p:sp>
      <p:sp>
        <p:nvSpPr>
          <p:cNvPr id="14" name="Rounded Rectangle 13"/>
          <p:cNvSpPr/>
          <p:nvPr/>
        </p:nvSpPr>
        <p:spPr>
          <a:xfrm>
            <a:off x="932688" y="2743200"/>
            <a:ext cx="4590288" cy="999744"/>
          </a:xfrm>
          <a:prstGeom prst="roundRect">
            <a:avLst/>
          </a:prstGeom>
          <a:solidFill>
            <a:srgbClr val="E8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15568" y="2816352"/>
            <a:ext cx="4206240" cy="310896"/>
          </a:xfrm>
          <a:prstGeom prst="rect">
            <a:avLst/>
          </a:prstGeom>
          <a:noFill/>
        </p:spPr>
        <p:txBody>
          <a:bodyPr wrap="square" lIns="54864" tIns="27432">
            <a:spAutoFit/>
          </a:bodyPr>
          <a:lstStyle/>
          <a:p>
            <a:pPr>
              <a:defRPr sz="1600" b="1">
                <a:solidFill>
                  <a:srgbClr val="187773"/>
                </a:solidFill>
                <a:latin typeface="Arial"/>
              </a:defRPr>
            </a:pPr>
            <a:r>
              <a:t>IDBO · 5/8 SEED</a:t>
            </a:r>
          </a:p>
        </p:txBody>
      </p:sp>
      <p:sp>
        <p:nvSpPr>
          <p:cNvPr id="16" name="TextBox 15"/>
          <p:cNvSpPr txBox="1"/>
          <p:nvPr/>
        </p:nvSpPr>
        <p:spPr>
          <a:xfrm>
            <a:off x="1115568" y="3172968"/>
            <a:ext cx="4206240" cy="551688"/>
          </a:xfrm>
          <a:prstGeom prst="rect">
            <a:avLst/>
          </a:prstGeom>
          <a:noFill/>
        </p:spPr>
        <p:txBody>
          <a:bodyPr wrap="square" lIns="54864" tIns="27432">
            <a:spAutoFit/>
          </a:bodyPr>
          <a:lstStyle/>
          <a:p>
            <a:pPr>
              <a:defRPr sz="1200" b="0">
                <a:solidFill>
                  <a:srgbClr val="536173"/>
                </a:solidFill>
                <a:latin typeface="Arial"/>
              </a:defRPr>
            </a:pPr>
            <a:r>
              <a:t>Thắng 62,5% số hạt giống</a:t>
            </a:r>
          </a:p>
        </p:txBody>
      </p:sp>
      <p:sp>
        <p:nvSpPr>
          <p:cNvPr id="17" name="Rounded Rectangle 16"/>
          <p:cNvSpPr/>
          <p:nvPr/>
        </p:nvSpPr>
        <p:spPr>
          <a:xfrm>
            <a:off x="932688" y="3861816"/>
            <a:ext cx="4590288" cy="999744"/>
          </a:xfrm>
          <a:prstGeom prst="roundRect">
            <a:avLst/>
          </a:prstGeom>
          <a:solidFill>
            <a:srgbClr val="E8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15568" y="3934968"/>
            <a:ext cx="4206240" cy="310896"/>
          </a:xfrm>
          <a:prstGeom prst="rect">
            <a:avLst/>
          </a:prstGeom>
          <a:noFill/>
        </p:spPr>
        <p:txBody>
          <a:bodyPr wrap="square" lIns="54864" tIns="27432">
            <a:spAutoFit/>
          </a:bodyPr>
          <a:lstStyle/>
          <a:p>
            <a:pPr>
              <a:defRPr sz="1600" b="1">
                <a:solidFill>
                  <a:srgbClr val="187773"/>
                </a:solidFill>
                <a:latin typeface="Arial"/>
              </a:defRPr>
            </a:pPr>
            <a:r>
              <a:t>DBO · 3/8 SEED</a:t>
            </a:r>
          </a:p>
        </p:txBody>
      </p:sp>
      <p:sp>
        <p:nvSpPr>
          <p:cNvPr id="19" name="TextBox 18"/>
          <p:cNvSpPr txBox="1"/>
          <p:nvPr/>
        </p:nvSpPr>
        <p:spPr>
          <a:xfrm>
            <a:off x="1115568" y="4291584"/>
            <a:ext cx="4206240" cy="551688"/>
          </a:xfrm>
          <a:prstGeom prst="rect">
            <a:avLst/>
          </a:prstGeom>
          <a:noFill/>
        </p:spPr>
        <p:txBody>
          <a:bodyPr wrap="square" lIns="54864" tIns="27432">
            <a:spAutoFit/>
          </a:bodyPr>
          <a:lstStyle/>
          <a:p>
            <a:pPr>
              <a:defRPr sz="1200" b="0">
                <a:solidFill>
                  <a:srgbClr val="536173"/>
                </a:solidFill>
                <a:latin typeface="Arial"/>
              </a:defRPr>
            </a:pPr>
            <a:r>
              <a:t>Thắng 37,5% số hạt giống</a:t>
            </a:r>
          </a:p>
        </p:txBody>
      </p:sp>
      <p:sp>
        <p:nvSpPr>
          <p:cNvPr id="20" name="Rounded Rectangle 19"/>
          <p:cNvSpPr/>
          <p:nvPr/>
        </p:nvSpPr>
        <p:spPr>
          <a:xfrm>
            <a:off x="932688" y="4980432"/>
            <a:ext cx="4590288" cy="999744"/>
          </a:xfrm>
          <a:prstGeom prst="roundRect">
            <a:avLst/>
          </a:prstGeom>
          <a:solidFill>
            <a:srgbClr val="E8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15568" y="5053584"/>
            <a:ext cx="4206240" cy="310896"/>
          </a:xfrm>
          <a:prstGeom prst="rect">
            <a:avLst/>
          </a:prstGeom>
          <a:noFill/>
        </p:spPr>
        <p:txBody>
          <a:bodyPr wrap="square" lIns="54864" tIns="27432">
            <a:spAutoFit/>
          </a:bodyPr>
          <a:lstStyle/>
          <a:p>
            <a:pPr>
              <a:defRPr sz="1600" b="1">
                <a:solidFill>
                  <a:srgbClr val="187773"/>
                </a:solidFill>
                <a:latin typeface="Arial"/>
              </a:defRPr>
            </a:pPr>
            <a:r>
              <a:t>+0,1659 FITNESS</a:t>
            </a:r>
          </a:p>
        </p:txBody>
      </p:sp>
      <p:sp>
        <p:nvSpPr>
          <p:cNvPr id="22" name="TextBox 21"/>
          <p:cNvSpPr txBox="1"/>
          <p:nvPr/>
        </p:nvSpPr>
        <p:spPr>
          <a:xfrm>
            <a:off x="1115568" y="5410200"/>
            <a:ext cx="4206240" cy="551688"/>
          </a:xfrm>
          <a:prstGeom prst="rect">
            <a:avLst/>
          </a:prstGeom>
          <a:noFill/>
        </p:spPr>
        <p:txBody>
          <a:bodyPr wrap="square" lIns="54864" tIns="27432">
            <a:spAutoFit/>
          </a:bodyPr>
          <a:lstStyle/>
          <a:p>
            <a:pPr>
              <a:defRPr sz="1200" b="0">
                <a:solidFill>
                  <a:srgbClr val="536173"/>
                </a:solidFill>
                <a:latin typeface="Arial"/>
              </a:defRPr>
            </a:pPr>
            <a:r>
              <a:t>Mức cải thiện trung bình được báo cáo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274320"/>
          </a:xfrm>
          <a:prstGeom prst="rect">
            <a:avLst/>
          </a:prstGeom>
          <a:noFill/>
        </p:spPr>
        <p:txBody>
          <a:bodyPr wrap="square" lIns="0" tIns="0" rIns="0" bIns="0">
            <a:spAutoFit/>
          </a:bodyPr>
          <a:lstStyle/>
          <a:p>
            <a:r>
              <a:rPr sz="1100" b="1" i="0">
                <a:solidFill>
                  <a:srgbClr val="D9822B"/>
                </a:solidFill>
                <a:latin typeface="Calibri"/>
                <a:ea typeface="Calibri"/>
                <a:cs typeface="Calibri"/>
              </a:rPr>
              <a:t>PHÂN TÍCH CHI PHÍ (TUẦN 11)</a:t>
            </a:r>
          </a:p>
        </p:txBody>
      </p:sp>
      <p:sp>
        <p:nvSpPr>
          <p:cNvPr id="3" name="TextBox 2"/>
          <p:cNvSpPr txBox="1"/>
          <p:nvPr/>
        </p:nvSpPr>
        <p:spPr>
          <a:xfrm>
            <a:off x="548640" y="621792"/>
            <a:ext cx="11064240" cy="548640"/>
          </a:xfrm>
          <a:prstGeom prst="rect">
            <a:avLst/>
          </a:prstGeom>
          <a:noFill/>
        </p:spPr>
        <p:txBody>
          <a:bodyPr wrap="square" lIns="0" tIns="0" rIns="0" bIns="0">
            <a:spAutoFit/>
          </a:bodyPr>
          <a:lstStyle/>
          <a:p>
            <a:r>
              <a:rPr sz="2100" b="1" i="0">
                <a:solidFill>
                  <a:srgbClr val="1B2A4A"/>
                </a:solidFill>
                <a:latin typeface="Calibri"/>
                <a:ea typeface="Calibri"/>
                <a:cs typeface="Calibri"/>
              </a:rPr>
              <a:t>[Tuần 11] Đánh Đổi Tài Nguyên Tính Toán: Số Evaluations &amp; Thời Gian Chạy</a:t>
            </a:r>
          </a:p>
        </p:txBody>
      </p:sp>
      <p:sp>
        <p:nvSpPr>
          <p:cNvPr id="4" name="Rectangle 3"/>
          <p:cNvSpPr/>
          <p:nvPr/>
        </p:nvSpPr>
        <p:spPr>
          <a:xfrm>
            <a:off x="548640" y="1207008"/>
            <a:ext cx="11094415" cy="1905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0" y="1371600"/>
            <a:ext cx="4297680" cy="49377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54480"/>
            <a:ext cx="3840480" cy="4572000"/>
          </a:xfrm>
          <a:prstGeom prst="rect">
            <a:avLst/>
          </a:prstGeom>
          <a:noFill/>
        </p:spPr>
        <p:txBody>
          <a:bodyPr wrap="square">
            <a:spAutoFit/>
          </a:bodyPr>
          <a:lstStyle/>
          <a:p>
            <a:r>
              <a:rPr sz="1600" b="1" i="0">
                <a:solidFill>
                  <a:srgbClr val="1B2A4A"/>
                </a:solidFill>
                <a:latin typeface="Calibri"/>
                <a:ea typeface="Calibri"/>
                <a:cs typeface="Calibri"/>
              </a:rPr>
              <a:t>Phân Tích Chi Phí Tính Toán</a:t>
            </a:r>
          </a:p>
          <a:p>
            <a:pPr>
              <a:spcBef>
                <a:spcPts val="800"/>
              </a:spcBef>
            </a:pPr>
            <a:r>
              <a:rPr sz="1200" b="1" i="0">
                <a:solidFill>
                  <a:srgbClr val="D9822B"/>
                </a:solidFill>
                <a:latin typeface="Calibri"/>
                <a:ea typeface="Calibri"/>
                <a:cs typeface="Calibri"/>
              </a:rPr>
              <a:t>▲ Số lượt tính hàm mục tiêu: </a:t>
            </a:r>
            <a:r>
              <a:rPr sz="1100" b="0" i="0">
                <a:solidFill>
                  <a:srgbClr val="1E2430"/>
                </a:solidFill>
                <a:latin typeface="Calibri"/>
                <a:ea typeface="Calibri"/>
                <a:cs typeface="Calibri"/>
              </a:rPr>
              <a:t>DBO cố định ở mức 263.870 lượt. IDBO dao động từ 293.826 đến 337.808 lượt (trung bình 313.005 lượt, tăng +18.6%).</a:t>
            </a:r>
          </a:p>
          <a:p>
            <a:pPr>
              <a:spcBef>
                <a:spcPts val="800"/>
              </a:spcBef>
            </a:pPr>
            <a:r>
              <a:rPr sz="1200" b="1" i="0">
                <a:solidFill>
                  <a:srgbClr val="D9822B"/>
                </a:solidFill>
                <a:latin typeface="Calibri"/>
                <a:ea typeface="Calibri"/>
                <a:cs typeface="Calibri"/>
              </a:rPr>
              <a:t>▲ Thời gian thực thi: </a:t>
            </a:r>
            <a:r>
              <a:rPr sz="1100" b="0" i="0">
                <a:solidFill>
                  <a:srgbClr val="1E2430"/>
                </a:solidFill>
                <a:latin typeface="Calibri"/>
                <a:ea typeface="Calibri"/>
                <a:cs typeface="Calibri"/>
              </a:rPr>
              <a:t>DBO trung bình 49.39s. IDBO trung bình 56.61s (tăng +14.6% thời gian xử lý).</a:t>
            </a:r>
          </a:p>
          <a:p>
            <a:pPr>
              <a:spcBef>
                <a:spcPts val="800"/>
              </a:spcBef>
            </a:pPr>
            <a:r>
              <a:rPr sz="1200" b="1" i="0">
                <a:solidFill>
                  <a:srgbClr val="D9822B"/>
                </a:solidFill>
                <a:latin typeface="Calibri"/>
                <a:ea typeface="Calibri"/>
                <a:cs typeface="Calibri"/>
              </a:rPr>
              <a:t>▲ Bản chất chi phí phụ trội: </a:t>
            </a:r>
            <a:r>
              <a:rPr sz="1100" b="0" i="0">
                <a:solidFill>
                  <a:srgbClr val="1E2430"/>
                </a:solidFill>
                <a:latin typeface="Calibri"/>
                <a:ea typeface="Calibri"/>
                <a:cs typeface="Calibri"/>
              </a:rPr>
              <a:t>Phát sinh từ các đợt đánh giá ứng viên đa dạng (candidate diversity evaluation), đột biến Cauchy và tái khởi động quần thể khi đình trệ.</a:t>
            </a:r>
          </a:p>
          <a:p>
            <a:pPr>
              <a:spcBef>
                <a:spcPts val="800"/>
              </a:spcBef>
            </a:pPr>
            <a:r>
              <a:rPr sz="1200" b="1" i="0">
                <a:solidFill>
                  <a:srgbClr val="D9822B"/>
                </a:solidFill>
                <a:latin typeface="Calibri"/>
                <a:ea typeface="Calibri"/>
                <a:cs typeface="Calibri"/>
              </a:rPr>
              <a:t>▲ Hệ quả khoa học: </a:t>
            </a:r>
            <a:r>
              <a:rPr sz="1100" b="0" i="0">
                <a:solidFill>
                  <a:srgbClr val="1E2430"/>
                </a:solidFill>
                <a:latin typeface="Calibri"/>
                <a:ea typeface="Calibri"/>
                <a:cs typeface="Calibri"/>
              </a:rPr>
              <a:t>IDBO có điểm số tốt hơn một phần do được cấp thêm ngân sách tính toán. Cần thiết phải triển khai so sánh Budget-Matched (cố định số lần tính hàm mục tiêu).</a:t>
            </a:r>
          </a:p>
        </p:txBody>
      </p:sp>
      <p:sp>
        <p:nvSpPr>
          <p:cNvPr id="7" name="Rectangle 6"/>
          <p:cNvSpPr/>
          <p:nvPr/>
        </p:nvSpPr>
        <p:spPr>
          <a:xfrm>
            <a:off x="548640" y="6446520"/>
            <a:ext cx="11094415" cy="1270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10528"/>
            <a:ext cx="8686800" cy="274320"/>
          </a:xfrm>
          <a:prstGeom prst="rect">
            <a:avLst/>
          </a:prstGeom>
          <a:noFill/>
        </p:spPr>
        <p:txBody>
          <a:bodyPr wrap="none">
            <a:spAutoFit/>
          </a:bodyPr>
          <a:lstStyle/>
          <a:p>
            <a:r>
              <a:rPr sz="950" b="0" i="0">
                <a:solidFill>
                  <a:srgbClr val="5A6478"/>
                </a:solidFill>
                <a:latin typeface="Calibri"/>
                <a:ea typeface="Calibri"/>
                <a:cs typeface="Calibri"/>
              </a:rPr>
              <a:t>CNTT-KLCN142 — Đề xuất thực đơn dinh dưỡng cá nhân hóa bằng DBO/IDBO | Tổng hợp Tuần 8 – 9 – 10 – 11</a:t>
            </a:r>
          </a:p>
        </p:txBody>
      </p:sp>
      <p:sp>
        <p:nvSpPr>
          <p:cNvPr id="9" name="TextBox 8"/>
          <p:cNvSpPr txBox="1"/>
          <p:nvPr/>
        </p:nvSpPr>
        <p:spPr>
          <a:xfrm>
            <a:off x="9601200" y="6510528"/>
            <a:ext cx="2011680" cy="274320"/>
          </a:xfrm>
          <a:prstGeom prst="rect">
            <a:avLst/>
          </a:prstGeom>
          <a:noFill/>
        </p:spPr>
        <p:txBody>
          <a:bodyPr wrap="none">
            <a:spAutoFit/>
          </a:bodyPr>
          <a:lstStyle/>
          <a:p>
            <a:pPr algn="r"/>
            <a:r>
              <a:rPr sz="950" b="1" i="0">
                <a:solidFill>
                  <a:srgbClr val="5A6478"/>
                </a:solidFill>
                <a:latin typeface="Calibri"/>
                <a:ea typeface="Calibri"/>
                <a:cs typeface="Calibri"/>
              </a:rPr>
              <a:t>10 / 14</a:t>
            </a:r>
          </a:p>
        </p:txBody>
      </p:sp>
      <p:sp>
        <p:nvSpPr>
          <p:cNvPr id="10" name="Rounded Rectangle 9"/>
          <p:cNvSpPr/>
          <p:nvPr/>
        </p:nvSpPr>
        <p:spPr>
          <a:xfrm>
            <a:off x="594360" y="1417320"/>
            <a:ext cx="5257800" cy="4773168"/>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672" y="1627632"/>
            <a:ext cx="64008" cy="438912"/>
          </a:xfrm>
          <a:prstGeom prst="rect">
            <a:avLst/>
          </a:prstGeom>
          <a:solidFill>
            <a:srgbClr val="1877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1655064"/>
            <a:ext cx="4572000" cy="475488"/>
          </a:xfrm>
          <a:prstGeom prst="rect">
            <a:avLst/>
          </a:prstGeom>
          <a:noFill/>
        </p:spPr>
        <p:txBody>
          <a:bodyPr wrap="square" lIns="54864" tIns="27432">
            <a:spAutoFit/>
          </a:bodyPr>
          <a:lstStyle/>
          <a:p>
            <a:pPr>
              <a:defRPr sz="2000" b="1">
                <a:solidFill>
                  <a:srgbClr val="1C2C4C"/>
                </a:solidFill>
                <a:latin typeface="Arial"/>
              </a:defRPr>
            </a:pPr>
            <a:r>
              <a:t>ĐÁNH ĐỔI HIỆU NĂNG</a:t>
            </a:r>
          </a:p>
        </p:txBody>
      </p:sp>
      <p:sp>
        <p:nvSpPr>
          <p:cNvPr id="13" name="TextBox 12"/>
          <p:cNvSpPr txBox="1"/>
          <p:nvPr/>
        </p:nvSpPr>
        <p:spPr>
          <a:xfrm>
            <a:off x="932688" y="2148840"/>
            <a:ext cx="4681728" cy="502920"/>
          </a:xfrm>
          <a:prstGeom prst="rect">
            <a:avLst/>
          </a:prstGeom>
          <a:noFill/>
        </p:spPr>
        <p:txBody>
          <a:bodyPr wrap="square" lIns="54864" tIns="27432">
            <a:spAutoFit/>
          </a:bodyPr>
          <a:lstStyle/>
          <a:p>
            <a:pPr>
              <a:defRPr sz="1200" b="0">
                <a:solidFill>
                  <a:srgbClr val="536173"/>
                </a:solidFill>
                <a:latin typeface="Arial"/>
              </a:defRPr>
            </a:pPr>
            <a:r>
              <a:t>So sánh chi phí tính toán</a:t>
            </a:r>
          </a:p>
        </p:txBody>
      </p:sp>
      <p:sp>
        <p:nvSpPr>
          <p:cNvPr id="14" name="Rounded Rectangle 13"/>
          <p:cNvSpPr/>
          <p:nvPr/>
        </p:nvSpPr>
        <p:spPr>
          <a:xfrm>
            <a:off x="932688" y="2743200"/>
            <a:ext cx="4590288" cy="999744"/>
          </a:xfrm>
          <a:prstGeom prst="roundRect">
            <a:avLst/>
          </a:prstGeom>
          <a:solidFill>
            <a:srgbClr val="E8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15568" y="2816352"/>
            <a:ext cx="4206240" cy="310896"/>
          </a:xfrm>
          <a:prstGeom prst="rect">
            <a:avLst/>
          </a:prstGeom>
          <a:noFill/>
        </p:spPr>
        <p:txBody>
          <a:bodyPr wrap="square" lIns="54864" tIns="27432">
            <a:spAutoFit/>
          </a:bodyPr>
          <a:lstStyle/>
          <a:p>
            <a:pPr>
              <a:defRPr sz="1600" b="1">
                <a:solidFill>
                  <a:srgbClr val="187773"/>
                </a:solidFill>
                <a:latin typeface="Arial"/>
              </a:defRPr>
            </a:pPr>
            <a:r>
              <a:t>DBO · 263.870</a:t>
            </a:r>
          </a:p>
        </p:txBody>
      </p:sp>
      <p:sp>
        <p:nvSpPr>
          <p:cNvPr id="16" name="TextBox 15"/>
          <p:cNvSpPr txBox="1"/>
          <p:nvPr/>
        </p:nvSpPr>
        <p:spPr>
          <a:xfrm>
            <a:off x="1115568" y="3172968"/>
            <a:ext cx="4206240" cy="551688"/>
          </a:xfrm>
          <a:prstGeom prst="rect">
            <a:avLst/>
          </a:prstGeom>
          <a:noFill/>
        </p:spPr>
        <p:txBody>
          <a:bodyPr wrap="square" lIns="54864" tIns="27432">
            <a:spAutoFit/>
          </a:bodyPr>
          <a:lstStyle/>
          <a:p>
            <a:pPr>
              <a:defRPr sz="1200" b="0">
                <a:solidFill>
                  <a:srgbClr val="536173"/>
                </a:solidFill>
                <a:latin typeface="Arial"/>
              </a:defRPr>
            </a:pPr>
            <a:r>
              <a:t>Lượt đánh giá hàm mục tiêu</a:t>
            </a:r>
          </a:p>
        </p:txBody>
      </p:sp>
      <p:sp>
        <p:nvSpPr>
          <p:cNvPr id="17" name="Rounded Rectangle 16"/>
          <p:cNvSpPr/>
          <p:nvPr/>
        </p:nvSpPr>
        <p:spPr>
          <a:xfrm>
            <a:off x="932688" y="3861816"/>
            <a:ext cx="4590288" cy="999744"/>
          </a:xfrm>
          <a:prstGeom prst="roundRect">
            <a:avLst/>
          </a:prstGeom>
          <a:solidFill>
            <a:srgbClr val="E8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15568" y="3934968"/>
            <a:ext cx="4206240" cy="310896"/>
          </a:xfrm>
          <a:prstGeom prst="rect">
            <a:avLst/>
          </a:prstGeom>
          <a:noFill/>
        </p:spPr>
        <p:txBody>
          <a:bodyPr wrap="square" lIns="54864" tIns="27432">
            <a:spAutoFit/>
          </a:bodyPr>
          <a:lstStyle/>
          <a:p>
            <a:pPr>
              <a:defRPr sz="1600" b="1">
                <a:solidFill>
                  <a:srgbClr val="187773"/>
                </a:solidFill>
                <a:latin typeface="Arial"/>
              </a:defRPr>
            </a:pPr>
            <a:r>
              <a:t>IDBO · 313.005</a:t>
            </a:r>
          </a:p>
        </p:txBody>
      </p:sp>
      <p:sp>
        <p:nvSpPr>
          <p:cNvPr id="19" name="TextBox 18"/>
          <p:cNvSpPr txBox="1"/>
          <p:nvPr/>
        </p:nvSpPr>
        <p:spPr>
          <a:xfrm>
            <a:off x="1115568" y="4291584"/>
            <a:ext cx="4206240" cy="551688"/>
          </a:xfrm>
          <a:prstGeom prst="rect">
            <a:avLst/>
          </a:prstGeom>
          <a:noFill/>
        </p:spPr>
        <p:txBody>
          <a:bodyPr wrap="square" lIns="54864" tIns="27432">
            <a:spAutoFit/>
          </a:bodyPr>
          <a:lstStyle/>
          <a:p>
            <a:pPr>
              <a:defRPr sz="1200" b="0">
                <a:solidFill>
                  <a:srgbClr val="536173"/>
                </a:solidFill>
                <a:latin typeface="Arial"/>
              </a:defRPr>
            </a:pPr>
            <a:r>
              <a:t>Lượt đánh giá trung bình</a:t>
            </a:r>
          </a:p>
        </p:txBody>
      </p:sp>
      <p:sp>
        <p:nvSpPr>
          <p:cNvPr id="20" name="Rounded Rectangle 19"/>
          <p:cNvSpPr/>
          <p:nvPr/>
        </p:nvSpPr>
        <p:spPr>
          <a:xfrm>
            <a:off x="932688" y="4980432"/>
            <a:ext cx="4590288" cy="999744"/>
          </a:xfrm>
          <a:prstGeom prst="roundRect">
            <a:avLst/>
          </a:prstGeom>
          <a:solidFill>
            <a:srgbClr val="E8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15568" y="5053584"/>
            <a:ext cx="4206240" cy="310896"/>
          </a:xfrm>
          <a:prstGeom prst="rect">
            <a:avLst/>
          </a:prstGeom>
          <a:noFill/>
        </p:spPr>
        <p:txBody>
          <a:bodyPr wrap="square" lIns="54864" tIns="27432">
            <a:spAutoFit/>
          </a:bodyPr>
          <a:lstStyle/>
          <a:p>
            <a:pPr>
              <a:defRPr sz="1600" b="1">
                <a:solidFill>
                  <a:srgbClr val="187773"/>
                </a:solidFill>
                <a:latin typeface="Arial"/>
              </a:defRPr>
            </a:pPr>
            <a:r>
              <a:t>+18,6% EVALUATIONS</a:t>
            </a:r>
          </a:p>
        </p:txBody>
      </p:sp>
      <p:sp>
        <p:nvSpPr>
          <p:cNvPr id="22" name="TextBox 21"/>
          <p:cNvSpPr txBox="1"/>
          <p:nvPr/>
        </p:nvSpPr>
        <p:spPr>
          <a:xfrm>
            <a:off x="1115568" y="5410200"/>
            <a:ext cx="4206240" cy="551688"/>
          </a:xfrm>
          <a:prstGeom prst="rect">
            <a:avLst/>
          </a:prstGeom>
          <a:noFill/>
        </p:spPr>
        <p:txBody>
          <a:bodyPr wrap="square" lIns="54864" tIns="27432">
            <a:spAutoFit/>
          </a:bodyPr>
          <a:lstStyle/>
          <a:p>
            <a:pPr>
              <a:defRPr sz="1200" b="0">
                <a:solidFill>
                  <a:srgbClr val="536173"/>
                </a:solidFill>
                <a:latin typeface="Arial"/>
              </a:defRPr>
            </a:pPr>
            <a:r>
              <a:t>Thời gian IDBO tăng 14,6%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274320"/>
          </a:xfrm>
          <a:prstGeom prst="rect">
            <a:avLst/>
          </a:prstGeom>
          <a:noFill/>
        </p:spPr>
        <p:txBody>
          <a:bodyPr wrap="square" lIns="0" tIns="0" rIns="0" bIns="0">
            <a:spAutoFit/>
          </a:bodyPr>
          <a:lstStyle/>
          <a:p>
            <a:r>
              <a:rPr sz="1100" b="1" i="0">
                <a:solidFill>
                  <a:srgbClr val="D9822B"/>
                </a:solidFill>
                <a:latin typeface="Calibri"/>
                <a:ea typeface="Calibri"/>
                <a:cs typeface="Calibri"/>
              </a:rPr>
              <a:t>CƠ CHẾ IDBO (TUẦN 11)</a:t>
            </a:r>
          </a:p>
        </p:txBody>
      </p:sp>
      <p:sp>
        <p:nvSpPr>
          <p:cNvPr id="3" name="TextBox 2"/>
          <p:cNvSpPr txBox="1"/>
          <p:nvPr/>
        </p:nvSpPr>
        <p:spPr>
          <a:xfrm>
            <a:off x="548640" y="621792"/>
            <a:ext cx="11064240" cy="548640"/>
          </a:xfrm>
          <a:prstGeom prst="rect">
            <a:avLst/>
          </a:prstGeom>
          <a:noFill/>
        </p:spPr>
        <p:txBody>
          <a:bodyPr wrap="square" lIns="0" tIns="0" rIns="0" bIns="0">
            <a:spAutoFit/>
          </a:bodyPr>
          <a:lstStyle/>
          <a:p>
            <a:r>
              <a:rPr sz="2100" b="1" i="0">
                <a:solidFill>
                  <a:srgbClr val="1B2A4A"/>
                </a:solidFill>
                <a:latin typeface="Calibri"/>
                <a:ea typeface="Calibri"/>
                <a:cs typeface="Calibri"/>
              </a:rPr>
              <a:t>[Tuần 11] Giải Mã Telemetry: Hoạt Động Tầng Ngoài vs Tầng Trong</a:t>
            </a:r>
          </a:p>
        </p:txBody>
      </p:sp>
      <p:sp>
        <p:nvSpPr>
          <p:cNvPr id="4" name="Rectangle 3"/>
          <p:cNvSpPr/>
          <p:nvPr/>
        </p:nvSpPr>
        <p:spPr>
          <a:xfrm>
            <a:off x="548640" y="1207008"/>
            <a:ext cx="11094415" cy="1905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0" y="1371600"/>
            <a:ext cx="4297680" cy="49377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554480"/>
            <a:ext cx="3840480" cy="4572000"/>
          </a:xfrm>
          <a:prstGeom prst="rect">
            <a:avLst/>
          </a:prstGeom>
          <a:noFill/>
        </p:spPr>
        <p:txBody>
          <a:bodyPr wrap="square">
            <a:spAutoFit/>
          </a:bodyPr>
          <a:lstStyle/>
          <a:p>
            <a:r>
              <a:rPr sz="1600" b="1" i="0">
                <a:solidFill>
                  <a:srgbClr val="1B2A4A"/>
                </a:solidFill>
                <a:latin typeface="Calibri"/>
                <a:ea typeface="Calibri"/>
                <a:cs typeface="Calibri"/>
              </a:rPr>
              <a:t>Giải Mã Tác Động Từng Tầng</a:t>
            </a:r>
          </a:p>
          <a:p>
            <a:pPr>
              <a:spcBef>
                <a:spcPts val="800"/>
              </a:spcBef>
            </a:pPr>
            <a:r>
              <a:rPr sz="1200" b="1" i="0">
                <a:solidFill>
                  <a:srgbClr val="1D6F6F"/>
                </a:solidFill>
                <a:latin typeface="Calibri"/>
                <a:ea typeface="Calibri"/>
                <a:cs typeface="Calibri"/>
              </a:rPr>
              <a:t>★ Tầng ngoài (Chọn tổ hợp món): </a:t>
            </a:r>
            <a:r>
              <a:rPr sz="1100" b="0" i="0">
                <a:solidFill>
                  <a:srgbClr val="1E2430"/>
                </a:solidFill>
                <a:latin typeface="Calibri"/>
                <a:ea typeface="Calibri"/>
                <a:cs typeface="Calibri"/>
              </a:rPr>
              <a:t>Kích hoạt trung bình 29.5 lần đột biến và 2.9 lần restart. Giúp quần thể thoát bế tắc ở các seed phức tạp như 8005 (69 lần) và 8009 (58 lần).</a:t>
            </a:r>
          </a:p>
          <a:p>
            <a:pPr>
              <a:spcBef>
                <a:spcPts val="800"/>
              </a:spcBef>
            </a:pPr>
            <a:r>
              <a:rPr sz="1200" b="1" i="0">
                <a:solidFill>
                  <a:srgbClr val="1D6F6F"/>
                </a:solidFill>
                <a:latin typeface="Calibri"/>
                <a:ea typeface="Calibri"/>
                <a:cs typeface="Calibri"/>
              </a:rPr>
              <a:t>★ Tầng trong (Khẩu phần gram): </a:t>
            </a:r>
            <a:r>
              <a:rPr sz="1100" b="0" i="0">
                <a:solidFill>
                  <a:srgbClr val="1E2430"/>
                </a:solidFill>
                <a:latin typeface="Calibri"/>
                <a:ea typeface="Calibri"/>
                <a:cs typeface="Calibri"/>
              </a:rPr>
              <a:t>Kích hoạt cực kỳ tích cực với trung bình ~16.000 lần đột biến và 103 lần restart trên mỗi lần tối ưu hoàn chỉnh.</a:t>
            </a:r>
          </a:p>
          <a:p>
            <a:pPr>
              <a:spcBef>
                <a:spcPts val="800"/>
              </a:spcBef>
            </a:pPr>
            <a:r>
              <a:rPr sz="1200" b="1" i="0">
                <a:solidFill>
                  <a:srgbClr val="1D6F6F"/>
                </a:solidFill>
                <a:latin typeface="Calibri"/>
                <a:ea typeface="Calibri"/>
                <a:cs typeface="Calibri"/>
              </a:rPr>
              <a:t>★ Hiện tượng Seed 8007 &amp; 8008: </a:t>
            </a:r>
            <a:r>
              <a:rPr sz="1100" b="0" i="0">
                <a:solidFill>
                  <a:srgbClr val="1E2430"/>
                </a:solidFill>
                <a:latin typeface="Calibri"/>
                <a:ea typeface="Calibri"/>
                <a:cs typeface="Calibri"/>
              </a:rPr>
              <a:t>Tầng ngoài hoàn toàn không kích hoạt (0 đột biến, 0 restart) nhưng IDBO vẫn cho kết quả khác biệt DBO nhờ các cơ chế phụ trợ hoạt động hiệu quả tại tầng trong.</a:t>
            </a:r>
          </a:p>
          <a:p>
            <a:pPr>
              <a:spcBef>
                <a:spcPts val="800"/>
              </a:spcBef>
            </a:pPr>
            <a:r>
              <a:rPr sz="1200" b="1" i="0">
                <a:solidFill>
                  <a:srgbClr val="1D6F6F"/>
                </a:solidFill>
                <a:latin typeface="Calibri"/>
                <a:ea typeface="Calibri"/>
                <a:cs typeface="Calibri"/>
              </a:rPr>
              <a:t>★ Kết luận: </a:t>
            </a:r>
            <a:r>
              <a:rPr sz="1100" b="0" i="0">
                <a:solidFill>
                  <a:srgbClr val="1E2430"/>
                </a:solidFill>
                <a:latin typeface="Calibri"/>
                <a:ea typeface="Calibri"/>
                <a:cs typeface="Calibri"/>
              </a:rPr>
              <a:t>Cải thiện của IDBO không chỉ đến từ việc chọn món mà còn đến từ khả năng tinh chỉnh khẩu phần gram liên tục ở tầng trong.</a:t>
            </a:r>
          </a:p>
        </p:txBody>
      </p:sp>
      <p:sp>
        <p:nvSpPr>
          <p:cNvPr id="7" name="Rectangle 6"/>
          <p:cNvSpPr/>
          <p:nvPr/>
        </p:nvSpPr>
        <p:spPr>
          <a:xfrm>
            <a:off x="548640" y="6446520"/>
            <a:ext cx="11094415" cy="1270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10528"/>
            <a:ext cx="8686800" cy="274320"/>
          </a:xfrm>
          <a:prstGeom prst="rect">
            <a:avLst/>
          </a:prstGeom>
          <a:noFill/>
        </p:spPr>
        <p:txBody>
          <a:bodyPr wrap="none">
            <a:spAutoFit/>
          </a:bodyPr>
          <a:lstStyle/>
          <a:p>
            <a:r>
              <a:rPr sz="950" b="0" i="0">
                <a:solidFill>
                  <a:srgbClr val="5A6478"/>
                </a:solidFill>
                <a:latin typeface="Calibri"/>
                <a:ea typeface="Calibri"/>
                <a:cs typeface="Calibri"/>
              </a:rPr>
              <a:t>CNTT-KLCN142 — Đề xuất thực đơn dinh dưỡng cá nhân hóa bằng DBO/IDBO | Tổng hợp Tuần 8 – 9 – 10 – 11</a:t>
            </a:r>
          </a:p>
        </p:txBody>
      </p:sp>
      <p:sp>
        <p:nvSpPr>
          <p:cNvPr id="9" name="TextBox 8"/>
          <p:cNvSpPr txBox="1"/>
          <p:nvPr/>
        </p:nvSpPr>
        <p:spPr>
          <a:xfrm>
            <a:off x="9601200" y="6510528"/>
            <a:ext cx="2011680" cy="274320"/>
          </a:xfrm>
          <a:prstGeom prst="rect">
            <a:avLst/>
          </a:prstGeom>
          <a:noFill/>
        </p:spPr>
        <p:txBody>
          <a:bodyPr wrap="none">
            <a:spAutoFit/>
          </a:bodyPr>
          <a:lstStyle/>
          <a:p>
            <a:pPr algn="r"/>
            <a:r>
              <a:rPr sz="950" b="1" i="0">
                <a:solidFill>
                  <a:srgbClr val="5A6478"/>
                </a:solidFill>
                <a:latin typeface="Calibri"/>
                <a:ea typeface="Calibri"/>
                <a:cs typeface="Calibri"/>
              </a:rPr>
              <a:t>11 / 14</a:t>
            </a:r>
          </a:p>
        </p:txBody>
      </p:sp>
      <p:sp>
        <p:nvSpPr>
          <p:cNvPr id="10" name="Rounded Rectangle 9"/>
          <p:cNvSpPr/>
          <p:nvPr/>
        </p:nvSpPr>
        <p:spPr>
          <a:xfrm>
            <a:off x="594360" y="1417320"/>
            <a:ext cx="5257800" cy="4773168"/>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672" y="1627632"/>
            <a:ext cx="64008" cy="438912"/>
          </a:xfrm>
          <a:prstGeom prst="rect">
            <a:avLst/>
          </a:prstGeom>
          <a:solidFill>
            <a:srgbClr val="1877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1655064"/>
            <a:ext cx="4572000" cy="475488"/>
          </a:xfrm>
          <a:prstGeom prst="rect">
            <a:avLst/>
          </a:prstGeom>
          <a:noFill/>
        </p:spPr>
        <p:txBody>
          <a:bodyPr wrap="square" lIns="54864" tIns="27432">
            <a:spAutoFit/>
          </a:bodyPr>
          <a:lstStyle/>
          <a:p>
            <a:pPr>
              <a:defRPr sz="2000" b="1">
                <a:solidFill>
                  <a:srgbClr val="1C2C4C"/>
                </a:solidFill>
                <a:latin typeface="Arial"/>
              </a:defRPr>
            </a:pPr>
            <a:r>
              <a:t>CƠ CHẾ THÍCH NGHI IDBO</a:t>
            </a:r>
          </a:p>
        </p:txBody>
      </p:sp>
      <p:sp>
        <p:nvSpPr>
          <p:cNvPr id="13" name="TextBox 12"/>
          <p:cNvSpPr txBox="1"/>
          <p:nvPr/>
        </p:nvSpPr>
        <p:spPr>
          <a:xfrm>
            <a:off x="932688" y="2148840"/>
            <a:ext cx="4681728" cy="502920"/>
          </a:xfrm>
          <a:prstGeom prst="rect">
            <a:avLst/>
          </a:prstGeom>
          <a:noFill/>
        </p:spPr>
        <p:txBody>
          <a:bodyPr wrap="square" lIns="54864" tIns="27432">
            <a:spAutoFit/>
          </a:bodyPr>
          <a:lstStyle/>
          <a:p>
            <a:pPr>
              <a:defRPr sz="1200" b="0">
                <a:solidFill>
                  <a:srgbClr val="536173"/>
                </a:solidFill>
                <a:latin typeface="Arial"/>
              </a:defRPr>
            </a:pPr>
            <a:r>
              <a:t>Telemetry phân tách theo tầng</a:t>
            </a:r>
          </a:p>
        </p:txBody>
      </p:sp>
      <p:sp>
        <p:nvSpPr>
          <p:cNvPr id="14" name="Rounded Rectangle 13"/>
          <p:cNvSpPr/>
          <p:nvPr/>
        </p:nvSpPr>
        <p:spPr>
          <a:xfrm>
            <a:off x="932688" y="2743200"/>
            <a:ext cx="4590288" cy="999744"/>
          </a:xfrm>
          <a:prstGeom prst="roundRect">
            <a:avLst/>
          </a:prstGeom>
          <a:solidFill>
            <a:srgbClr val="E8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15568" y="2816352"/>
            <a:ext cx="4206240" cy="310896"/>
          </a:xfrm>
          <a:prstGeom prst="rect">
            <a:avLst/>
          </a:prstGeom>
          <a:noFill/>
        </p:spPr>
        <p:txBody>
          <a:bodyPr wrap="square" lIns="54864" tIns="27432">
            <a:spAutoFit/>
          </a:bodyPr>
          <a:lstStyle/>
          <a:p>
            <a:pPr>
              <a:defRPr sz="1600" b="1">
                <a:solidFill>
                  <a:srgbClr val="187773"/>
                </a:solidFill>
                <a:latin typeface="Arial"/>
              </a:defRPr>
            </a:pPr>
            <a:r>
              <a:t>TẦNG NGOÀI</a:t>
            </a:r>
          </a:p>
        </p:txBody>
      </p:sp>
      <p:sp>
        <p:nvSpPr>
          <p:cNvPr id="16" name="TextBox 15"/>
          <p:cNvSpPr txBox="1"/>
          <p:nvPr/>
        </p:nvSpPr>
        <p:spPr>
          <a:xfrm>
            <a:off x="1115568" y="3172968"/>
            <a:ext cx="4206240" cy="551688"/>
          </a:xfrm>
          <a:prstGeom prst="rect">
            <a:avLst/>
          </a:prstGeom>
          <a:noFill/>
        </p:spPr>
        <p:txBody>
          <a:bodyPr wrap="square" lIns="54864" tIns="27432">
            <a:spAutoFit/>
          </a:bodyPr>
          <a:lstStyle/>
          <a:p>
            <a:pPr>
              <a:defRPr sz="1200" b="0">
                <a:solidFill>
                  <a:srgbClr val="536173"/>
                </a:solidFill>
                <a:latin typeface="Arial"/>
              </a:defRPr>
            </a:pPr>
            <a:r>
              <a:t>Chọn tổ hợp món · 29,5 đột biến trung bình</a:t>
            </a:r>
          </a:p>
        </p:txBody>
      </p:sp>
      <p:sp>
        <p:nvSpPr>
          <p:cNvPr id="17" name="Rounded Rectangle 16"/>
          <p:cNvSpPr/>
          <p:nvPr/>
        </p:nvSpPr>
        <p:spPr>
          <a:xfrm>
            <a:off x="932688" y="3861816"/>
            <a:ext cx="4590288" cy="999744"/>
          </a:xfrm>
          <a:prstGeom prst="roundRect">
            <a:avLst/>
          </a:prstGeom>
          <a:solidFill>
            <a:srgbClr val="E8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15568" y="3934968"/>
            <a:ext cx="4206240" cy="310896"/>
          </a:xfrm>
          <a:prstGeom prst="rect">
            <a:avLst/>
          </a:prstGeom>
          <a:noFill/>
        </p:spPr>
        <p:txBody>
          <a:bodyPr wrap="square" lIns="54864" tIns="27432">
            <a:spAutoFit/>
          </a:bodyPr>
          <a:lstStyle/>
          <a:p>
            <a:pPr>
              <a:defRPr sz="1600" b="1">
                <a:solidFill>
                  <a:srgbClr val="187773"/>
                </a:solidFill>
                <a:latin typeface="Arial"/>
              </a:defRPr>
            </a:pPr>
            <a:r>
              <a:t>TẦNG TRONG</a:t>
            </a:r>
          </a:p>
        </p:txBody>
      </p:sp>
      <p:sp>
        <p:nvSpPr>
          <p:cNvPr id="19" name="TextBox 18"/>
          <p:cNvSpPr txBox="1"/>
          <p:nvPr/>
        </p:nvSpPr>
        <p:spPr>
          <a:xfrm>
            <a:off x="1115568" y="4291584"/>
            <a:ext cx="4206240" cy="551688"/>
          </a:xfrm>
          <a:prstGeom prst="rect">
            <a:avLst/>
          </a:prstGeom>
          <a:noFill/>
        </p:spPr>
        <p:txBody>
          <a:bodyPr wrap="square" lIns="54864" tIns="27432">
            <a:spAutoFit/>
          </a:bodyPr>
          <a:lstStyle/>
          <a:p>
            <a:pPr>
              <a:defRPr sz="1200" b="0">
                <a:solidFill>
                  <a:srgbClr val="536173"/>
                </a:solidFill>
                <a:latin typeface="Arial"/>
              </a:defRPr>
            </a:pPr>
            <a:r>
              <a:t>Tối ưu gram · khoảng 16.000 đột biến</a:t>
            </a:r>
          </a:p>
        </p:txBody>
      </p:sp>
      <p:sp>
        <p:nvSpPr>
          <p:cNvPr id="20" name="Rounded Rectangle 19"/>
          <p:cNvSpPr/>
          <p:nvPr/>
        </p:nvSpPr>
        <p:spPr>
          <a:xfrm>
            <a:off x="932688" y="4980432"/>
            <a:ext cx="4590288" cy="999744"/>
          </a:xfrm>
          <a:prstGeom prst="roundRect">
            <a:avLst/>
          </a:prstGeom>
          <a:solidFill>
            <a:srgbClr val="E8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15568" y="5053584"/>
            <a:ext cx="4206240" cy="310896"/>
          </a:xfrm>
          <a:prstGeom prst="rect">
            <a:avLst/>
          </a:prstGeom>
          <a:noFill/>
        </p:spPr>
        <p:txBody>
          <a:bodyPr wrap="square" lIns="54864" tIns="27432">
            <a:spAutoFit/>
          </a:bodyPr>
          <a:lstStyle/>
          <a:p>
            <a:pPr>
              <a:defRPr sz="1600" b="1">
                <a:solidFill>
                  <a:srgbClr val="187773"/>
                </a:solidFill>
                <a:latin typeface="Arial"/>
              </a:defRPr>
            </a:pPr>
            <a:r>
              <a:t>ĐỘT BIẾN / RESTART</a:t>
            </a:r>
          </a:p>
        </p:txBody>
      </p:sp>
      <p:sp>
        <p:nvSpPr>
          <p:cNvPr id="22" name="TextBox 21"/>
          <p:cNvSpPr txBox="1"/>
          <p:nvPr/>
        </p:nvSpPr>
        <p:spPr>
          <a:xfrm>
            <a:off x="1115568" y="5410200"/>
            <a:ext cx="4206240" cy="551688"/>
          </a:xfrm>
          <a:prstGeom prst="rect">
            <a:avLst/>
          </a:prstGeom>
          <a:noFill/>
        </p:spPr>
        <p:txBody>
          <a:bodyPr wrap="square" lIns="54864" tIns="27432">
            <a:spAutoFit/>
          </a:bodyPr>
          <a:lstStyle/>
          <a:p>
            <a:pPr>
              <a:defRPr sz="1200" b="0">
                <a:solidFill>
                  <a:srgbClr val="536173"/>
                </a:solidFill>
                <a:latin typeface="Arial"/>
              </a:defRPr>
            </a:pPr>
            <a:r>
              <a:t>Hỗ trợ đa dạng quần thể khi đình trệ</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274320"/>
          </a:xfrm>
          <a:prstGeom prst="rect">
            <a:avLst/>
          </a:prstGeom>
          <a:noFill/>
        </p:spPr>
        <p:txBody>
          <a:bodyPr wrap="square" lIns="0" tIns="0" rIns="0" bIns="0">
            <a:spAutoFit/>
          </a:bodyPr>
          <a:lstStyle/>
          <a:p>
            <a:r>
              <a:rPr sz="1100" b="1" i="0">
                <a:solidFill>
                  <a:srgbClr val="D9822B"/>
                </a:solidFill>
                <a:latin typeface="Calibri"/>
                <a:ea typeface="Calibri"/>
                <a:cs typeface="Calibri"/>
              </a:rPr>
              <a:t>BUDGET-MATCHED BENCHMARK (TUẦN 11)</a:t>
            </a:r>
          </a:p>
        </p:txBody>
      </p:sp>
      <p:sp>
        <p:nvSpPr>
          <p:cNvPr id="3" name="TextBox 2"/>
          <p:cNvSpPr txBox="1"/>
          <p:nvPr/>
        </p:nvSpPr>
        <p:spPr>
          <a:xfrm>
            <a:off x="548640" y="621792"/>
            <a:ext cx="11064240" cy="548640"/>
          </a:xfrm>
          <a:prstGeom prst="rect">
            <a:avLst/>
          </a:prstGeom>
          <a:noFill/>
        </p:spPr>
        <p:txBody>
          <a:bodyPr wrap="square" lIns="0" tIns="0" rIns="0" bIns="0">
            <a:spAutoFit/>
          </a:bodyPr>
          <a:lstStyle/>
          <a:p>
            <a:r>
              <a:rPr sz="2100" b="1" i="0">
                <a:solidFill>
                  <a:srgbClr val="1B2A4A"/>
                </a:solidFill>
                <a:latin typeface="Calibri"/>
                <a:ea typeface="Calibri"/>
                <a:cs typeface="Calibri"/>
              </a:rPr>
              <a:t>[Tuần 11] Kiểm Soát Tính Công Bằng Theo Ngân Sách Tính Toán</a:t>
            </a:r>
          </a:p>
        </p:txBody>
      </p:sp>
      <p:sp>
        <p:nvSpPr>
          <p:cNvPr id="4" name="Rectangle 3"/>
          <p:cNvSpPr/>
          <p:nvPr/>
        </p:nvSpPr>
        <p:spPr>
          <a:xfrm>
            <a:off x="548640" y="1207008"/>
            <a:ext cx="11094415" cy="1905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675120" y="1371600"/>
            <a:ext cx="4937760" cy="49377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03720" y="1554480"/>
            <a:ext cx="4480560" cy="4572000"/>
          </a:xfrm>
          <a:prstGeom prst="rect">
            <a:avLst/>
          </a:prstGeom>
          <a:noFill/>
        </p:spPr>
        <p:txBody>
          <a:bodyPr wrap="square">
            <a:spAutoFit/>
          </a:bodyPr>
          <a:lstStyle/>
          <a:p>
            <a:r>
              <a:rPr sz="1600" b="1" i="0">
                <a:solidFill>
                  <a:srgbClr val="1B2A4A"/>
                </a:solidFill>
                <a:latin typeface="Calibri"/>
                <a:ea typeface="Calibri"/>
                <a:cs typeface="Calibri"/>
              </a:rPr>
              <a:t>Triển Khai &amp; Kiểm Chứng (PR #30)</a:t>
            </a:r>
          </a:p>
          <a:p>
            <a:pPr>
              <a:spcBef>
                <a:spcPts val="800"/>
              </a:spcBef>
            </a:pPr>
            <a:r>
              <a:rPr sz="1200" b="1" i="0">
                <a:solidFill>
                  <a:srgbClr val="217A4B"/>
                </a:solidFill>
                <a:latin typeface="Calibri"/>
                <a:ea typeface="Calibri"/>
                <a:cs typeface="Calibri"/>
              </a:rPr>
              <a:t>✓ Mục tiêu kỹ thuật: </a:t>
            </a:r>
            <a:r>
              <a:rPr sz="1100" b="0" i="0">
                <a:solidFill>
                  <a:srgbClr val="1E2430"/>
                </a:solidFill>
                <a:latin typeface="Calibri"/>
                <a:ea typeface="Calibri"/>
                <a:cs typeface="Calibri"/>
              </a:rPr>
              <a:t>Áp đặt giới hạn trên max_evaluations dùng chung cho cả DBO và IDBO. Dừng bộ giải ngay khi chạm trần ngân sách.</a:t>
            </a:r>
          </a:p>
          <a:p>
            <a:pPr>
              <a:spcBef>
                <a:spcPts val="800"/>
              </a:spcBef>
            </a:pPr>
            <a:r>
              <a:rPr sz="1200" b="1" i="0">
                <a:solidFill>
                  <a:srgbClr val="217A4B"/>
                </a:solidFill>
                <a:latin typeface="Calibri"/>
                <a:ea typeface="Calibri"/>
                <a:cs typeface="Calibri"/>
              </a:rPr>
              <a:t>✓ Cơ chế theo dõi xuyên suốt: </a:t>
            </a:r>
            <a:r>
              <a:rPr sz="1100" b="0" i="0">
                <a:solidFill>
                  <a:srgbClr val="1E2430"/>
                </a:solidFill>
                <a:latin typeface="Calibri"/>
                <a:ea typeface="Calibri"/>
                <a:cs typeface="Calibri"/>
              </a:rPr>
              <a:t>Biến _budget_remaining kiểm soát chặt chẽ từ tầng ngoài, các vòng lặp tầng trong đến bước tối ưu cuối cùng (Final Inner).</a:t>
            </a:r>
          </a:p>
          <a:p>
            <a:pPr>
              <a:spcBef>
                <a:spcPts val="800"/>
              </a:spcBef>
            </a:pPr>
            <a:r>
              <a:rPr sz="1200" b="1" i="0">
                <a:solidFill>
                  <a:srgbClr val="217A4B"/>
                </a:solidFill>
                <a:latin typeface="Calibri"/>
                <a:ea typeface="Calibri"/>
                <a:cs typeface="Calibri"/>
              </a:rPr>
              <a:t>✓ Khóa cấu hình &amp; Truy vết Git: </a:t>
            </a:r>
            <a:r>
              <a:rPr sz="1100" b="0" i="0">
                <a:solidFill>
                  <a:srgbClr val="1E2430"/>
                </a:solidFill>
                <a:latin typeface="Calibri"/>
                <a:ea typeface="Calibri"/>
                <a:cs typeface="Calibri"/>
              </a:rPr>
              <a:t>Script experiment_week11_budget.py tự động khóa mã băm config_hash và Git commit hash vào config_locked.json.</a:t>
            </a:r>
          </a:p>
          <a:p>
            <a:pPr>
              <a:spcBef>
                <a:spcPts val="800"/>
              </a:spcBef>
            </a:pPr>
            <a:r>
              <a:rPr sz="1200" b="1" i="0">
                <a:solidFill>
                  <a:srgbClr val="217A4B"/>
                </a:solidFill>
                <a:latin typeface="Calibri"/>
                <a:ea typeface="Calibri"/>
                <a:cs typeface="Calibri"/>
              </a:rPr>
              <a:t>✓ Kết quả Smoke Test (W11-F4): </a:t>
            </a:r>
            <a:r>
              <a:rPr sz="1100" b="0" i="0">
                <a:solidFill>
                  <a:srgbClr val="1E2430"/>
                </a:solidFill>
                <a:latin typeface="Calibri"/>
                <a:ea typeface="Calibri"/>
                <a:cs typeface="Calibri"/>
              </a:rPr>
              <a:t>Thử nghiệm ngân sách 150 evaluations trên seed 8001 và 8002 cho thấy cả DBO và IDBO đều dừng chính xác ở 150/150 lượt, budget_exceeded = False.</a:t>
            </a:r>
          </a:p>
          <a:p>
            <a:pPr>
              <a:spcBef>
                <a:spcPts val="800"/>
              </a:spcBef>
            </a:pPr>
            <a:r>
              <a:rPr sz="1200" b="1" i="0">
                <a:solidFill>
                  <a:srgbClr val="217A4B"/>
                </a:solidFill>
                <a:latin typeface="Calibri"/>
                <a:ea typeface="Calibri"/>
                <a:cs typeface="Calibri"/>
              </a:rPr>
              <a:t>✓ Tính sẵn sàng: </a:t>
            </a:r>
            <a:r>
              <a:rPr sz="1100" b="0" i="0">
                <a:solidFill>
                  <a:srgbClr val="1E2430"/>
                </a:solidFill>
                <a:latin typeface="Calibri"/>
                <a:ea typeface="Calibri"/>
                <a:cs typeface="Calibri"/>
              </a:rPr>
              <a:t>Sẵn sàng chạy thực nghiệm toàn diện trên tập độc lập với ngân sách chung ở Tuần 12.</a:t>
            </a:r>
          </a:p>
        </p:txBody>
      </p:sp>
      <p:sp>
        <p:nvSpPr>
          <p:cNvPr id="7" name="Rectangle 6"/>
          <p:cNvSpPr/>
          <p:nvPr/>
        </p:nvSpPr>
        <p:spPr>
          <a:xfrm>
            <a:off x="548640" y="6446520"/>
            <a:ext cx="11094415" cy="1270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10528"/>
            <a:ext cx="8686800" cy="274320"/>
          </a:xfrm>
          <a:prstGeom prst="rect">
            <a:avLst/>
          </a:prstGeom>
          <a:noFill/>
        </p:spPr>
        <p:txBody>
          <a:bodyPr wrap="none">
            <a:spAutoFit/>
          </a:bodyPr>
          <a:lstStyle/>
          <a:p>
            <a:r>
              <a:rPr sz="950" b="0" i="0">
                <a:solidFill>
                  <a:srgbClr val="5A6478"/>
                </a:solidFill>
                <a:latin typeface="Calibri"/>
                <a:ea typeface="Calibri"/>
                <a:cs typeface="Calibri"/>
              </a:rPr>
              <a:t>CNTT-KLCN142 — Đề xuất thực đơn dinh dưỡng cá nhân hóa bằng DBO/IDBO | Tổng hợp Tuần 8 – 9 – 10 – 11</a:t>
            </a:r>
          </a:p>
        </p:txBody>
      </p:sp>
      <p:sp>
        <p:nvSpPr>
          <p:cNvPr id="9" name="TextBox 8"/>
          <p:cNvSpPr txBox="1"/>
          <p:nvPr/>
        </p:nvSpPr>
        <p:spPr>
          <a:xfrm>
            <a:off x="9601200" y="6510528"/>
            <a:ext cx="2011680" cy="274320"/>
          </a:xfrm>
          <a:prstGeom prst="rect">
            <a:avLst/>
          </a:prstGeom>
          <a:noFill/>
        </p:spPr>
        <p:txBody>
          <a:bodyPr wrap="none">
            <a:spAutoFit/>
          </a:bodyPr>
          <a:lstStyle/>
          <a:p>
            <a:pPr algn="r"/>
            <a:r>
              <a:rPr sz="950" b="1" i="0">
                <a:solidFill>
                  <a:srgbClr val="5A6478"/>
                </a:solidFill>
                <a:latin typeface="Calibri"/>
                <a:ea typeface="Calibri"/>
                <a:cs typeface="Calibri"/>
              </a:rPr>
              <a:t>12 / 14</a:t>
            </a:r>
          </a:p>
        </p:txBody>
      </p:sp>
      <p:sp>
        <p:nvSpPr>
          <p:cNvPr id="10" name="Rounded Rectangle 9"/>
          <p:cNvSpPr/>
          <p:nvPr/>
        </p:nvSpPr>
        <p:spPr>
          <a:xfrm>
            <a:off x="594360" y="1417320"/>
            <a:ext cx="5257800" cy="4773168"/>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672" y="1627632"/>
            <a:ext cx="64008" cy="438912"/>
          </a:xfrm>
          <a:prstGeom prst="rect">
            <a:avLst/>
          </a:prstGeom>
          <a:solidFill>
            <a:srgbClr val="1877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1655064"/>
            <a:ext cx="4572000" cy="475488"/>
          </a:xfrm>
          <a:prstGeom prst="rect">
            <a:avLst/>
          </a:prstGeom>
          <a:noFill/>
        </p:spPr>
        <p:txBody>
          <a:bodyPr wrap="square" lIns="54864" tIns="27432">
            <a:spAutoFit/>
          </a:bodyPr>
          <a:lstStyle/>
          <a:p>
            <a:pPr>
              <a:defRPr sz="2000" b="1">
                <a:solidFill>
                  <a:srgbClr val="1C2C4C"/>
                </a:solidFill>
                <a:latin typeface="Arial"/>
              </a:defRPr>
            </a:pPr>
            <a:r>
              <a:t>NGÂN SÁCH CHUNG</a:t>
            </a:r>
          </a:p>
        </p:txBody>
      </p:sp>
      <p:sp>
        <p:nvSpPr>
          <p:cNvPr id="13" name="TextBox 12"/>
          <p:cNvSpPr txBox="1"/>
          <p:nvPr/>
        </p:nvSpPr>
        <p:spPr>
          <a:xfrm>
            <a:off x="932688" y="2148840"/>
            <a:ext cx="4681728" cy="502920"/>
          </a:xfrm>
          <a:prstGeom prst="rect">
            <a:avLst/>
          </a:prstGeom>
          <a:noFill/>
        </p:spPr>
        <p:txBody>
          <a:bodyPr wrap="square" lIns="54864" tIns="27432">
            <a:spAutoFit/>
          </a:bodyPr>
          <a:lstStyle/>
          <a:p>
            <a:pPr>
              <a:defRPr sz="1200" b="0">
                <a:solidFill>
                  <a:srgbClr val="536173"/>
                </a:solidFill>
                <a:latin typeface="Arial"/>
              </a:defRPr>
            </a:pPr>
            <a:r>
              <a:t>Nguyên tắc so sánh công bằng</a:t>
            </a:r>
          </a:p>
        </p:txBody>
      </p:sp>
      <p:sp>
        <p:nvSpPr>
          <p:cNvPr id="14" name="Rounded Rectangle 13"/>
          <p:cNvSpPr/>
          <p:nvPr/>
        </p:nvSpPr>
        <p:spPr>
          <a:xfrm>
            <a:off x="932688" y="2743200"/>
            <a:ext cx="4590288" cy="999744"/>
          </a:xfrm>
          <a:prstGeom prst="roundRect">
            <a:avLst/>
          </a:prstGeom>
          <a:solidFill>
            <a:srgbClr val="E8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15568" y="2816352"/>
            <a:ext cx="4206240" cy="310896"/>
          </a:xfrm>
          <a:prstGeom prst="rect">
            <a:avLst/>
          </a:prstGeom>
          <a:noFill/>
        </p:spPr>
        <p:txBody>
          <a:bodyPr wrap="square" lIns="54864" tIns="27432">
            <a:spAutoFit/>
          </a:bodyPr>
          <a:lstStyle/>
          <a:p>
            <a:pPr>
              <a:defRPr sz="1600" b="1">
                <a:solidFill>
                  <a:srgbClr val="187773"/>
                </a:solidFill>
                <a:latin typeface="Arial"/>
              </a:defRPr>
            </a:pPr>
            <a:r>
              <a:t>01 · GIỚI HẠN</a:t>
            </a:r>
          </a:p>
        </p:txBody>
      </p:sp>
      <p:sp>
        <p:nvSpPr>
          <p:cNvPr id="16" name="TextBox 15"/>
          <p:cNvSpPr txBox="1"/>
          <p:nvPr/>
        </p:nvSpPr>
        <p:spPr>
          <a:xfrm>
            <a:off x="1115568" y="3172968"/>
            <a:ext cx="4206240" cy="551688"/>
          </a:xfrm>
          <a:prstGeom prst="rect">
            <a:avLst/>
          </a:prstGeom>
          <a:noFill/>
        </p:spPr>
        <p:txBody>
          <a:bodyPr wrap="square" lIns="54864" tIns="27432">
            <a:spAutoFit/>
          </a:bodyPr>
          <a:lstStyle/>
          <a:p>
            <a:pPr>
              <a:defRPr sz="1200" b="0">
                <a:solidFill>
                  <a:srgbClr val="536173"/>
                </a:solidFill>
                <a:latin typeface="Arial"/>
              </a:defRPr>
            </a:pPr>
            <a:r>
              <a:t>Cùng max_evaluations cho DBO và IDBO</a:t>
            </a:r>
          </a:p>
        </p:txBody>
      </p:sp>
      <p:sp>
        <p:nvSpPr>
          <p:cNvPr id="17" name="Rounded Rectangle 16"/>
          <p:cNvSpPr/>
          <p:nvPr/>
        </p:nvSpPr>
        <p:spPr>
          <a:xfrm>
            <a:off x="932688" y="3861816"/>
            <a:ext cx="4590288" cy="999744"/>
          </a:xfrm>
          <a:prstGeom prst="roundRect">
            <a:avLst/>
          </a:prstGeom>
          <a:solidFill>
            <a:srgbClr val="E8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15568" y="3934968"/>
            <a:ext cx="4206240" cy="310896"/>
          </a:xfrm>
          <a:prstGeom prst="rect">
            <a:avLst/>
          </a:prstGeom>
          <a:noFill/>
        </p:spPr>
        <p:txBody>
          <a:bodyPr wrap="square" lIns="54864" tIns="27432">
            <a:spAutoFit/>
          </a:bodyPr>
          <a:lstStyle/>
          <a:p>
            <a:pPr>
              <a:defRPr sz="1600" b="1">
                <a:solidFill>
                  <a:srgbClr val="187773"/>
                </a:solidFill>
                <a:latin typeface="Arial"/>
              </a:defRPr>
            </a:pPr>
            <a:r>
              <a:t>02 · THEO DÕI</a:t>
            </a:r>
          </a:p>
        </p:txBody>
      </p:sp>
      <p:sp>
        <p:nvSpPr>
          <p:cNvPr id="19" name="TextBox 18"/>
          <p:cNvSpPr txBox="1"/>
          <p:nvPr/>
        </p:nvSpPr>
        <p:spPr>
          <a:xfrm>
            <a:off x="1115568" y="4291584"/>
            <a:ext cx="4206240" cy="551688"/>
          </a:xfrm>
          <a:prstGeom prst="rect">
            <a:avLst/>
          </a:prstGeom>
          <a:noFill/>
        </p:spPr>
        <p:txBody>
          <a:bodyPr wrap="square" lIns="54864" tIns="27432">
            <a:spAutoFit/>
          </a:bodyPr>
          <a:lstStyle/>
          <a:p>
            <a:pPr>
              <a:defRPr sz="1200" b="0">
                <a:solidFill>
                  <a:srgbClr val="536173"/>
                </a:solidFill>
                <a:latin typeface="Arial"/>
              </a:defRPr>
            </a:pPr>
            <a:r>
              <a:t>Trừ ngân sách qua Outer, Inner và Final Inner</a:t>
            </a:r>
          </a:p>
        </p:txBody>
      </p:sp>
      <p:sp>
        <p:nvSpPr>
          <p:cNvPr id="20" name="Rounded Rectangle 19"/>
          <p:cNvSpPr/>
          <p:nvPr/>
        </p:nvSpPr>
        <p:spPr>
          <a:xfrm>
            <a:off x="932688" y="4980432"/>
            <a:ext cx="4590288" cy="999744"/>
          </a:xfrm>
          <a:prstGeom prst="roundRect">
            <a:avLst/>
          </a:prstGeom>
          <a:solidFill>
            <a:srgbClr val="E8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15568" y="5053584"/>
            <a:ext cx="4206240" cy="310896"/>
          </a:xfrm>
          <a:prstGeom prst="rect">
            <a:avLst/>
          </a:prstGeom>
          <a:noFill/>
        </p:spPr>
        <p:txBody>
          <a:bodyPr wrap="square" lIns="54864" tIns="27432">
            <a:spAutoFit/>
          </a:bodyPr>
          <a:lstStyle/>
          <a:p>
            <a:pPr>
              <a:defRPr sz="1600" b="1">
                <a:solidFill>
                  <a:srgbClr val="187773"/>
                </a:solidFill>
                <a:latin typeface="Arial"/>
              </a:defRPr>
            </a:pPr>
            <a:r>
              <a:t>03 · TÁI LẬP</a:t>
            </a:r>
          </a:p>
        </p:txBody>
      </p:sp>
      <p:sp>
        <p:nvSpPr>
          <p:cNvPr id="22" name="TextBox 21"/>
          <p:cNvSpPr txBox="1"/>
          <p:nvPr/>
        </p:nvSpPr>
        <p:spPr>
          <a:xfrm>
            <a:off x="1115568" y="5410200"/>
            <a:ext cx="4206240" cy="551688"/>
          </a:xfrm>
          <a:prstGeom prst="rect">
            <a:avLst/>
          </a:prstGeom>
          <a:noFill/>
        </p:spPr>
        <p:txBody>
          <a:bodyPr wrap="square" lIns="54864" tIns="27432">
            <a:spAutoFit/>
          </a:bodyPr>
          <a:lstStyle/>
          <a:p>
            <a:pPr>
              <a:defRPr sz="1200" b="0">
                <a:solidFill>
                  <a:srgbClr val="536173"/>
                </a:solidFill>
                <a:latin typeface="Arial"/>
              </a:defRPr>
            </a:pPr>
            <a:r>
              <a:t>Lưu config_hash và Git commit hash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274320"/>
          </a:xfrm>
          <a:prstGeom prst="rect">
            <a:avLst/>
          </a:prstGeom>
          <a:noFill/>
        </p:spPr>
        <p:txBody>
          <a:bodyPr wrap="square" lIns="0" tIns="0" rIns="0" bIns="0">
            <a:spAutoFit/>
          </a:bodyPr>
          <a:lstStyle/>
          <a:p>
            <a:r>
              <a:rPr sz="1100" b="1" i="0">
                <a:solidFill>
                  <a:srgbClr val="D9822B"/>
                </a:solidFill>
                <a:latin typeface="Calibri"/>
                <a:ea typeface="Calibri"/>
                <a:cs typeface="Calibri"/>
              </a:rPr>
              <a:t>HOÀN THIỆN KIẾN TRÚC &amp; KIỂM THỬ</a:t>
            </a:r>
          </a:p>
        </p:txBody>
      </p:sp>
      <p:sp>
        <p:nvSpPr>
          <p:cNvPr id="3" name="TextBox 2"/>
          <p:cNvSpPr txBox="1"/>
          <p:nvPr/>
        </p:nvSpPr>
        <p:spPr>
          <a:xfrm>
            <a:off x="548640" y="621792"/>
            <a:ext cx="11064240" cy="548640"/>
          </a:xfrm>
          <a:prstGeom prst="rect">
            <a:avLst/>
          </a:prstGeom>
          <a:noFill/>
        </p:spPr>
        <p:txBody>
          <a:bodyPr wrap="square" lIns="0" tIns="0" rIns="0" bIns="0">
            <a:spAutoFit/>
          </a:bodyPr>
          <a:lstStyle/>
          <a:p>
            <a:r>
              <a:rPr sz="2100" b="1" i="0">
                <a:solidFill>
                  <a:srgbClr val="1B2A4A"/>
                </a:solidFill>
                <a:latin typeface="Calibri"/>
                <a:ea typeface="Calibri"/>
                <a:cs typeface="Calibri"/>
              </a:rPr>
              <a:t>[Tuần 11] Kiến Trúc Ngưỡng Kép &amp; Nghiệm Thu Chất Lượng Phần Mềm</a:t>
            </a:r>
          </a:p>
        </p:txBody>
      </p:sp>
      <p:sp>
        <p:nvSpPr>
          <p:cNvPr id="4" name="Rectangle 3"/>
          <p:cNvSpPr/>
          <p:nvPr/>
        </p:nvSpPr>
        <p:spPr>
          <a:xfrm>
            <a:off x="548640" y="1207008"/>
            <a:ext cx="11094415" cy="1905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371600"/>
            <a:ext cx="5394960" cy="49377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554480"/>
            <a:ext cx="4937760" cy="4572000"/>
          </a:xfrm>
          <a:prstGeom prst="rect">
            <a:avLst/>
          </a:prstGeom>
          <a:noFill/>
        </p:spPr>
        <p:txBody>
          <a:bodyPr wrap="square">
            <a:spAutoFit/>
          </a:bodyPr>
          <a:lstStyle/>
          <a:p>
            <a:r>
              <a:rPr sz="1600" b="1" i="0">
                <a:solidFill>
                  <a:srgbClr val="1B2A4A"/>
                </a:solidFill>
                <a:latin typeface="Calibri"/>
                <a:ea typeface="Calibri"/>
                <a:cs typeface="Calibri"/>
              </a:rPr>
              <a:t>Kiến Trúc Ngưỡng Kép (Dual Threshold)</a:t>
            </a:r>
          </a:p>
          <a:p>
            <a:pPr>
              <a:spcBef>
                <a:spcPts val="700"/>
              </a:spcBef>
            </a:pPr>
            <a:r>
              <a:rPr sz="1150" b="1" i="0">
                <a:solidFill>
                  <a:srgbClr val="1D6F6F"/>
                </a:solidFill>
                <a:latin typeface="Calibri"/>
                <a:ea typeface="Calibri"/>
                <a:cs typeface="Calibri"/>
              </a:rPr>
              <a:t>★ Phân tách bản chất không gian:
  </a:t>
            </a:r>
            <a:r>
              <a:rPr sz="1050" b="0" i="0">
                <a:solidFill>
                  <a:srgbClr val="1E2430"/>
                </a:solidFill>
                <a:latin typeface="Calibri"/>
                <a:ea typeface="Calibri"/>
                <a:cs typeface="Calibri"/>
              </a:rPr>
              <a:t>Tầng ngoài hoạt động trên không gian nhị phân/rời rạc (chọn món); tầng trong hoạt động trên không gian liên tục (chọn số gram khẩu phần).</a:t>
            </a:r>
          </a:p>
          <a:p>
            <a:pPr>
              <a:spcBef>
                <a:spcPts val="700"/>
              </a:spcBef>
            </a:pPr>
            <a:r>
              <a:rPr sz="1150" b="1" i="0">
                <a:solidFill>
                  <a:srgbClr val="1D6F6F"/>
                </a:solidFill>
                <a:latin typeface="Calibri"/>
                <a:ea typeface="Calibri"/>
                <a:cs typeface="Calibri"/>
              </a:rPr>
              <a:t>★ Cấu trúc TwoTierConfig mới:
  </a:t>
            </a:r>
            <a:r>
              <a:rPr sz="1050" b="0" i="0">
                <a:solidFill>
                  <a:srgbClr val="1E2430"/>
                </a:solidFill>
                <a:latin typeface="Calibri"/>
                <a:ea typeface="Calibri"/>
                <a:cs typeface="Calibri"/>
              </a:rPr>
              <a:t>• outer_diversity_threshold = 0.28 (cố định sau kiểm định độc lập).
• inner_diversity_threshold = None (chưa tự ý gán khi chưa đo lường).</a:t>
            </a:r>
          </a:p>
          <a:p>
            <a:pPr>
              <a:spcBef>
                <a:spcPts val="700"/>
              </a:spcBef>
            </a:pPr>
            <a:r>
              <a:rPr sz="1150" b="1" i="0">
                <a:solidFill>
                  <a:srgbClr val="1D6F6F"/>
                </a:solidFill>
                <a:latin typeface="Calibri"/>
                <a:ea typeface="Calibri"/>
                <a:cs typeface="Calibri"/>
              </a:rPr>
              <a:t>★ Telemetry đo lường tầng trong:
  </a:t>
            </a:r>
            <a:r>
              <a:rPr sz="1050" b="0" i="0">
                <a:solidFill>
                  <a:srgbClr val="1E2430"/>
                </a:solidFill>
                <a:latin typeface="Calibri"/>
                <a:ea typeface="Calibri"/>
                <a:cs typeface="Calibri"/>
              </a:rPr>
              <a:t>Thu thập inner_diversity_min_observed và inner_diversity_mean_observed làm cơ sở hiệu chỉnh.</a:t>
            </a:r>
          </a:p>
          <a:p>
            <a:pPr>
              <a:spcBef>
                <a:spcPts val="700"/>
              </a:spcBef>
            </a:pPr>
            <a:r>
              <a:rPr sz="1150" b="1" i="0">
                <a:solidFill>
                  <a:srgbClr val="1D6F6F"/>
                </a:solidFill>
                <a:latin typeface="Calibri"/>
                <a:ea typeface="Calibri"/>
                <a:cs typeface="Calibri"/>
              </a:rPr>
              <a:t>★ Bảo đảm backward compatibility:
  </a:t>
            </a:r>
            <a:r>
              <a:rPr sz="1050" b="0" i="0">
                <a:solidFill>
                  <a:srgbClr val="1E2430"/>
                </a:solidFill>
                <a:latin typeface="Calibri"/>
                <a:ea typeface="Calibri"/>
                <a:cs typeface="Calibri"/>
              </a:rPr>
              <a:t>Unit test xác nhận solver tương thích hoàn toàn khi chạy độc lập từng ngưỡng.</a:t>
            </a:r>
          </a:p>
        </p:txBody>
      </p:sp>
      <p:sp>
        <p:nvSpPr>
          <p:cNvPr id="7" name="Rounded Rectangle 6"/>
          <p:cNvSpPr/>
          <p:nvPr/>
        </p:nvSpPr>
        <p:spPr>
          <a:xfrm>
            <a:off x="6217920" y="1371600"/>
            <a:ext cx="5394960" cy="49377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554480"/>
            <a:ext cx="4937760" cy="4572000"/>
          </a:xfrm>
          <a:prstGeom prst="rect">
            <a:avLst/>
          </a:prstGeom>
          <a:noFill/>
        </p:spPr>
        <p:txBody>
          <a:bodyPr wrap="square">
            <a:spAutoFit/>
          </a:bodyPr>
          <a:lstStyle/>
          <a:p>
            <a:r>
              <a:rPr sz="1600" b="1" i="0">
                <a:solidFill>
                  <a:srgbClr val="1B2A4A"/>
                </a:solidFill>
                <a:latin typeface="Calibri"/>
                <a:ea typeface="Calibri"/>
                <a:cs typeface="Calibri"/>
              </a:rPr>
              <a:t>Đảm Bảo Chất Lượng (253/253 Tests PASS)</a:t>
            </a:r>
          </a:p>
          <a:p>
            <a:pPr>
              <a:spcBef>
                <a:spcPts val="700"/>
              </a:spcBef>
            </a:pPr>
            <a:r>
              <a:rPr sz="1150" b="1" i="0">
                <a:solidFill>
                  <a:srgbClr val="217A4B"/>
                </a:solidFill>
                <a:latin typeface="Calibri"/>
                <a:ea typeface="Calibri"/>
                <a:cs typeface="Calibri"/>
              </a:rPr>
              <a:t>🛡 Kiểm thử tự động 100% PASS:
  </a:t>
            </a:r>
            <a:r>
              <a:rPr sz="1050" b="0" i="0">
                <a:solidFill>
                  <a:srgbClr val="1E2430"/>
                </a:solidFill>
                <a:latin typeface="Calibri"/>
                <a:ea typeface="Calibri"/>
                <a:cs typeface="Calibri"/>
              </a:rPr>
              <a:t>253/253 tests PASSED trong 39.08s (pytest v9.1.1, Python 3.12). Phủ kín Core Solver (82), Constraints (45), Realism (36), Schemas (42), Budget (27), API (21).</a:t>
            </a:r>
          </a:p>
          <a:p>
            <a:pPr>
              <a:spcBef>
                <a:spcPts val="700"/>
              </a:spcBef>
            </a:pPr>
            <a:r>
              <a:rPr sz="1150" b="1" i="0">
                <a:solidFill>
                  <a:srgbClr val="217A4B"/>
                </a:solidFill>
                <a:latin typeface="Calibri"/>
                <a:ea typeface="Calibri"/>
                <a:cs typeface="Calibri"/>
              </a:rPr>
              <a:t>🛡 Tính tái lập tuyệt đối (Deterministic):
  </a:t>
            </a:r>
            <a:r>
              <a:rPr sz="1050" b="0" i="0">
                <a:solidFill>
                  <a:srgbClr val="1E2430"/>
                </a:solidFill>
                <a:latin typeface="Calibri"/>
                <a:ea typeface="Calibri"/>
                <a:cs typeface="Calibri"/>
              </a:rPr>
              <a:t>Mọi hàm ngẫu nhiên đều nhận seed tường minh, RNG cục bộ (np.random.default_rng(seed)).</a:t>
            </a:r>
          </a:p>
          <a:p>
            <a:pPr>
              <a:spcBef>
                <a:spcPts val="700"/>
              </a:spcBef>
            </a:pPr>
            <a:r>
              <a:rPr sz="1150" b="1" i="0">
                <a:solidFill>
                  <a:srgbClr val="217A4B"/>
                </a:solidFill>
                <a:latin typeface="Calibri"/>
                <a:ea typeface="Calibri"/>
                <a:cs typeface="Calibri"/>
              </a:rPr>
              <a:t>🛡 Làm tròn khẩu phần 5g minh bạch:
  </a:t>
            </a:r>
            <a:r>
              <a:rPr sz="1050" b="0" i="0">
                <a:solidFill>
                  <a:srgbClr val="1E2430"/>
                </a:solidFill>
                <a:latin typeface="Calibri"/>
                <a:ea typeface="Calibri"/>
                <a:cs typeface="Calibri"/>
              </a:rPr>
              <a:t>Nghiệm liên tục -&gt; Làm tròn 5g -&gt; Giải mã -&gt; Tính lại dinh dưỡng -&gt; Thẩm định validate_menu().</a:t>
            </a:r>
          </a:p>
          <a:p>
            <a:pPr>
              <a:spcBef>
                <a:spcPts val="700"/>
              </a:spcBef>
            </a:pPr>
            <a:r>
              <a:rPr sz="1150" b="1" i="0">
                <a:solidFill>
                  <a:srgbClr val="217A4B"/>
                </a:solidFill>
                <a:latin typeface="Calibri"/>
                <a:ea typeface="Calibri"/>
                <a:cs typeface="Calibri"/>
              </a:rPr>
              <a:t>🛡 Tuân thủ giới hạn y tế (AGENTS.md):
  </a:t>
            </a:r>
            <a:r>
              <a:rPr sz="1050" b="0" i="0">
                <a:solidFill>
                  <a:srgbClr val="1E2430"/>
                </a:solidFill>
                <a:latin typeface="Calibri"/>
                <a:ea typeface="Calibri"/>
                <a:cs typeface="Calibri"/>
              </a:rPr>
              <a:t>Không phát ngôn 'an toàn tuyệt đối', phân định rõ ràng số liệu đo đạc và ước tính (sugar_g_estimated).</a:t>
            </a:r>
          </a:p>
        </p:txBody>
      </p:sp>
      <p:sp>
        <p:nvSpPr>
          <p:cNvPr id="9" name="Rectangle 8"/>
          <p:cNvSpPr/>
          <p:nvPr/>
        </p:nvSpPr>
        <p:spPr>
          <a:xfrm>
            <a:off x="548640" y="6446520"/>
            <a:ext cx="11094415" cy="1270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10528"/>
            <a:ext cx="8686800" cy="274320"/>
          </a:xfrm>
          <a:prstGeom prst="rect">
            <a:avLst/>
          </a:prstGeom>
          <a:noFill/>
        </p:spPr>
        <p:txBody>
          <a:bodyPr wrap="none">
            <a:spAutoFit/>
          </a:bodyPr>
          <a:lstStyle/>
          <a:p>
            <a:r>
              <a:rPr sz="950" b="0" i="0">
                <a:solidFill>
                  <a:srgbClr val="5A6478"/>
                </a:solidFill>
                <a:latin typeface="Calibri"/>
                <a:ea typeface="Calibri"/>
                <a:cs typeface="Calibri"/>
              </a:rPr>
              <a:t>CNTT-KLCN142 — Đề xuất thực đơn dinh dưỡng cá nhân hóa bằng DBO/IDBO | Tổng hợp Tuần 8 – 9 – 10 – 11</a:t>
            </a:r>
          </a:p>
        </p:txBody>
      </p:sp>
      <p:sp>
        <p:nvSpPr>
          <p:cNvPr id="11" name="TextBox 10"/>
          <p:cNvSpPr txBox="1"/>
          <p:nvPr/>
        </p:nvSpPr>
        <p:spPr>
          <a:xfrm>
            <a:off x="9601200" y="6510528"/>
            <a:ext cx="2011680" cy="274320"/>
          </a:xfrm>
          <a:prstGeom prst="rect">
            <a:avLst/>
          </a:prstGeom>
          <a:noFill/>
        </p:spPr>
        <p:txBody>
          <a:bodyPr wrap="none">
            <a:spAutoFit/>
          </a:bodyPr>
          <a:lstStyle/>
          <a:p>
            <a:pPr algn="r"/>
            <a:r>
              <a:rPr sz="950" b="1" i="0">
                <a:solidFill>
                  <a:srgbClr val="5A6478"/>
                </a:solidFill>
                <a:latin typeface="Calibri"/>
                <a:ea typeface="Calibri"/>
                <a:cs typeface="Calibri"/>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274320"/>
          </a:xfrm>
          <a:prstGeom prst="rect">
            <a:avLst/>
          </a:prstGeom>
          <a:noFill/>
        </p:spPr>
        <p:txBody>
          <a:bodyPr wrap="square" lIns="0" tIns="0" rIns="0" bIns="0">
            <a:spAutoFit/>
          </a:bodyPr>
          <a:lstStyle/>
          <a:p>
            <a:r>
              <a:rPr sz="1100" b="1" i="0">
                <a:solidFill>
                  <a:srgbClr val="D9822B"/>
                </a:solidFill>
                <a:latin typeface="Calibri"/>
                <a:ea typeface="Calibri"/>
                <a:cs typeface="Calibri"/>
              </a:rPr>
              <a:t>TỔNG KẾT &amp; ĐỊNH HƯỚNG</a:t>
            </a:r>
          </a:p>
        </p:txBody>
      </p:sp>
      <p:sp>
        <p:nvSpPr>
          <p:cNvPr id="3" name="TextBox 2"/>
          <p:cNvSpPr txBox="1"/>
          <p:nvPr/>
        </p:nvSpPr>
        <p:spPr>
          <a:xfrm>
            <a:off x="548640" y="621792"/>
            <a:ext cx="11064240" cy="548640"/>
          </a:xfrm>
          <a:prstGeom prst="rect">
            <a:avLst/>
          </a:prstGeom>
          <a:noFill/>
        </p:spPr>
        <p:txBody>
          <a:bodyPr wrap="square" lIns="0" tIns="0" rIns="0" bIns="0">
            <a:spAutoFit/>
          </a:bodyPr>
          <a:lstStyle/>
          <a:p>
            <a:r>
              <a:rPr sz="2100" b="1" i="0">
                <a:solidFill>
                  <a:srgbClr val="1B2A4A"/>
                </a:solidFill>
                <a:latin typeface="Calibri"/>
                <a:ea typeface="Calibri"/>
                <a:cs typeface="Calibri"/>
              </a:rPr>
              <a:t>Tổng Kết Toàn Diện Giai Đoạn Tuần 8–11 &amp; Kế Hoạch Tuần 12</a:t>
            </a:r>
          </a:p>
        </p:txBody>
      </p:sp>
      <p:sp>
        <p:nvSpPr>
          <p:cNvPr id="4" name="Rectangle 3"/>
          <p:cNvSpPr/>
          <p:nvPr/>
        </p:nvSpPr>
        <p:spPr>
          <a:xfrm>
            <a:off x="548640" y="1207008"/>
            <a:ext cx="11094415" cy="1905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371600"/>
            <a:ext cx="5394960" cy="49377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554480"/>
            <a:ext cx="4937760" cy="4572000"/>
          </a:xfrm>
          <a:prstGeom prst="rect">
            <a:avLst/>
          </a:prstGeom>
          <a:noFill/>
        </p:spPr>
        <p:txBody>
          <a:bodyPr wrap="square">
            <a:spAutoFit/>
          </a:bodyPr>
          <a:lstStyle/>
          <a:p>
            <a:r>
              <a:rPr sz="1600" b="1" i="0">
                <a:solidFill>
                  <a:srgbClr val="1B2A4A"/>
                </a:solidFill>
                <a:latin typeface="Calibri"/>
                <a:ea typeface="Calibri"/>
                <a:cs typeface="Calibri"/>
              </a:rPr>
              <a:t>Chuỗi Thành Quả Giai Đoạn Tuần 8 – 11</a:t>
            </a:r>
          </a:p>
          <a:p>
            <a:pPr>
              <a:spcBef>
                <a:spcPts val="700"/>
              </a:spcBef>
            </a:pPr>
            <a:r>
              <a:rPr sz="1100" b="1" i="0">
                <a:solidFill>
                  <a:srgbClr val="217A4B"/>
                </a:solidFill>
                <a:latin typeface="Calibri"/>
                <a:ea typeface="Calibri"/>
                <a:cs typeface="Calibri"/>
              </a:rPr>
              <a:t>✓ Tuần 8 — Two-Tier Solver &amp; Khẩu phần 5g:
  </a:t>
            </a:r>
            <a:r>
              <a:rPr sz="1000" b="0" i="0">
                <a:solidFill>
                  <a:srgbClr val="1E2430"/>
                </a:solidFill>
                <a:latin typeface="Calibri"/>
                <a:ea typeface="Calibri"/>
                <a:cs typeface="Calibri"/>
              </a:rPr>
              <a:t>Xây dựng thành công bộ giải 2 tầng kết hợp chọn món rời rạc từ 15.929 món và tối ưu gram liên tục, quy chuẩn làm tròn 5g thực tế chế biến.</a:t>
            </a:r>
          </a:p>
          <a:p>
            <a:pPr>
              <a:spcBef>
                <a:spcPts val="700"/>
              </a:spcBef>
            </a:pPr>
            <a:r>
              <a:rPr sz="1100" b="1" i="0">
                <a:solidFill>
                  <a:srgbClr val="217A4B"/>
                </a:solidFill>
                <a:latin typeface="Calibri"/>
                <a:ea typeface="Calibri"/>
                <a:cs typeface="Calibri"/>
              </a:rPr>
              <a:t>✓ Tuần 9 — Lập thực đơn 7 ngày đa hồ sơ:
  </a:t>
            </a:r>
            <a:r>
              <a:rPr sz="1000" b="0" i="0">
                <a:solidFill>
                  <a:srgbClr val="1E2430"/>
                </a:solidFill>
                <a:latin typeface="Calibri"/>
                <a:ea typeface="Calibri"/>
                <a:cs typeface="Calibri"/>
              </a:rPr>
              <a:t>Triển khai chu kỳ 7 ngày trên 3 hồ sơ bệnh lý (P1, P2, P3), tích hợp cơ chế Diversity Penalty đạt 100% món chính độc nhất, cung cấp 3 Option UX A/B/C.</a:t>
            </a:r>
          </a:p>
          <a:p>
            <a:pPr>
              <a:spcBef>
                <a:spcPts val="700"/>
              </a:spcBef>
            </a:pPr>
            <a:r>
              <a:rPr sz="1100" b="1" i="0">
                <a:solidFill>
                  <a:srgbClr val="217A4B"/>
                </a:solidFill>
                <a:latin typeface="Calibri"/>
                <a:ea typeface="Calibri"/>
                <a:cs typeface="Calibri"/>
              </a:rPr>
              <a:t>✓ Tuần 10 — Hệ thống Web API &amp; UI:
  </a:t>
            </a:r>
            <a:r>
              <a:rPr sz="1000" b="0" i="0">
                <a:solidFill>
                  <a:srgbClr val="1E2430"/>
                </a:solidFill>
                <a:latin typeface="Calibri"/>
                <a:ea typeface="Calibri"/>
                <a:cs typeface="Calibri"/>
              </a:rPr>
              <a:t>Đưa solver lên nền tảng Web với kiến trúc Single-port FastAPI, 6 REST endpoints, giao diện Dark Glassmorphism, Radar chart 6 trục và bảng thực đơn 5g.</a:t>
            </a:r>
          </a:p>
          <a:p>
            <a:pPr>
              <a:spcBef>
                <a:spcPts val="700"/>
              </a:spcBef>
            </a:pPr>
            <a:r>
              <a:rPr sz="1100" b="1" i="0">
                <a:solidFill>
                  <a:srgbClr val="217A4B"/>
                </a:solidFill>
                <a:latin typeface="Calibri"/>
                <a:ea typeface="Calibri"/>
                <a:cs typeface="Calibri"/>
              </a:rPr>
              <a:t>✓ Tuần 11 — Chuẩn hóa độc lập &amp; Budget-Matched:
  </a:t>
            </a:r>
            <a:r>
              <a:rPr sz="1000" b="0" i="0">
                <a:solidFill>
                  <a:srgbClr val="1E2430"/>
                </a:solidFill>
                <a:latin typeface="Calibri"/>
                <a:ea typeface="Calibri"/>
                <a:cs typeface="Calibri"/>
              </a:rPr>
              <a:t>Phân định minh bạch tập độc lập (seed 8003–8010), kiểm định Wilcoxon, phân tích chi phí Evals, kiến trúc Dual Threshold, cài đặt Budget-Matched, 253/253 tests pass.</a:t>
            </a:r>
          </a:p>
        </p:txBody>
      </p:sp>
      <p:sp>
        <p:nvSpPr>
          <p:cNvPr id="7" name="Rounded Rectangle 6"/>
          <p:cNvSpPr/>
          <p:nvPr/>
        </p:nvSpPr>
        <p:spPr>
          <a:xfrm>
            <a:off x="6217920" y="1371600"/>
            <a:ext cx="5394960" cy="493776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554480"/>
            <a:ext cx="4937760" cy="4572000"/>
          </a:xfrm>
          <a:prstGeom prst="rect">
            <a:avLst/>
          </a:prstGeom>
          <a:noFill/>
        </p:spPr>
        <p:txBody>
          <a:bodyPr wrap="square">
            <a:spAutoFit/>
          </a:bodyPr>
          <a:lstStyle/>
          <a:p>
            <a:r>
              <a:rPr sz="1600" b="1" i="0">
                <a:solidFill>
                  <a:srgbClr val="1B2A4A"/>
                </a:solidFill>
                <a:latin typeface="Calibri"/>
                <a:ea typeface="Calibri"/>
                <a:cs typeface="Calibri"/>
              </a:rPr>
              <a:t>Kế Hoạch Nghiên Cứu Trọng Tâm Tuần 12</a:t>
            </a:r>
          </a:p>
          <a:p>
            <a:pPr>
              <a:spcBef>
                <a:spcPts val="700"/>
              </a:spcBef>
            </a:pPr>
            <a:r>
              <a:rPr sz="1100" b="1" i="0">
                <a:solidFill>
                  <a:srgbClr val="D9822B"/>
                </a:solidFill>
                <a:latin typeface="Calibri"/>
                <a:ea typeface="Calibri"/>
                <a:cs typeface="Calibri"/>
              </a:rPr>
              <a:t>★ 1. Benchmark Budget-Matched Đầy Đủ:
  </a:t>
            </a:r>
            <a:r>
              <a:rPr sz="1000" b="0" i="0">
                <a:solidFill>
                  <a:srgbClr val="1E2430"/>
                </a:solidFill>
                <a:latin typeface="Calibri"/>
                <a:ea typeface="Calibri"/>
                <a:cs typeface="Calibri"/>
              </a:rPr>
              <a:t>Chạy benchmark toàn diện trên tập seed độc lập với ngân sách chung (ví dụ 260.000 evaluations) để trả lời dứt điểm câu hỏi về tính công bằng tài nguyên giữa DBO và IDBO.</a:t>
            </a:r>
          </a:p>
          <a:p>
            <a:pPr>
              <a:spcBef>
                <a:spcPts val="700"/>
              </a:spcBef>
            </a:pPr>
            <a:r>
              <a:rPr sz="1100" b="1" i="0">
                <a:solidFill>
                  <a:srgbClr val="D9822B"/>
                </a:solidFill>
                <a:latin typeface="Calibri"/>
                <a:ea typeface="Calibri"/>
                <a:cs typeface="Calibri"/>
              </a:rPr>
              <a:t>★ 2. Hiệu Chỉnh Ngưỡng Đa Dạng Tầng Trong:
  </a:t>
            </a:r>
            <a:r>
              <a:rPr sz="1000" b="0" i="0">
                <a:solidFill>
                  <a:srgbClr val="1E2430"/>
                </a:solidFill>
                <a:latin typeface="Calibri"/>
                <a:ea typeface="Calibri"/>
                <a:cs typeface="Calibri"/>
              </a:rPr>
              <a:t>Sử dụng dữ liệu quan sát inner_diversity_mean để thiết lập và thử nghiệm ngưỡng inner_diversity_threshold phù hợp.</a:t>
            </a:r>
          </a:p>
          <a:p>
            <a:pPr>
              <a:spcBef>
                <a:spcPts val="700"/>
              </a:spcBef>
            </a:pPr>
            <a:r>
              <a:rPr sz="1100" b="1" i="0">
                <a:solidFill>
                  <a:srgbClr val="D9822B"/>
                </a:solidFill>
                <a:latin typeface="Calibri"/>
                <a:ea typeface="Calibri"/>
                <a:cs typeface="Calibri"/>
              </a:rPr>
              <a:t>★ 3. Kiểm Thử Đầu Cuối (E2E Web Test):
  </a:t>
            </a:r>
            <a:r>
              <a:rPr sz="1000" b="0" i="0">
                <a:solidFill>
                  <a:srgbClr val="1E2430"/>
                </a:solidFill>
                <a:latin typeface="Calibri"/>
                <a:ea typeface="Calibri"/>
                <a:cs typeface="Calibri"/>
              </a:rPr>
              <a:t>Thực hiện tự động hóa kiểm thử luồng Người dùng -&gt; UI Web -&gt; API -&gt; Two-Tier Solver -&gt; Hiển thị thực đơn.</a:t>
            </a:r>
          </a:p>
          <a:p>
            <a:pPr>
              <a:spcBef>
                <a:spcPts val="700"/>
              </a:spcBef>
            </a:pPr>
            <a:r>
              <a:rPr sz="1100" b="1" i="0">
                <a:solidFill>
                  <a:srgbClr val="D9822B"/>
                </a:solidFill>
                <a:latin typeface="Calibri"/>
                <a:ea typeface="Calibri"/>
                <a:cs typeface="Calibri"/>
              </a:rPr>
              <a:t>★ 4. Hoàn Thiện Bản Thảo Khóa Luận Tốt Nghiệp:
  </a:t>
            </a:r>
            <a:r>
              <a:rPr sz="1000" b="0" i="0">
                <a:solidFill>
                  <a:srgbClr val="1E2430"/>
                </a:solidFill>
                <a:latin typeface="Calibri"/>
                <a:ea typeface="Calibri"/>
                <a:cs typeface="Calibri"/>
              </a:rPr>
              <a:t>Tổng hợp toàn bộ các kết quả thực nghiệm từ Tuần 1 đến Tuần 12 vào báo cáo Word chính thức của đề tài.</a:t>
            </a:r>
          </a:p>
        </p:txBody>
      </p:sp>
      <p:sp>
        <p:nvSpPr>
          <p:cNvPr id="9" name="Rectangle 8"/>
          <p:cNvSpPr/>
          <p:nvPr/>
        </p:nvSpPr>
        <p:spPr>
          <a:xfrm>
            <a:off x="548640" y="6446520"/>
            <a:ext cx="11094415" cy="12700"/>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10528"/>
            <a:ext cx="8686800" cy="274320"/>
          </a:xfrm>
          <a:prstGeom prst="rect">
            <a:avLst/>
          </a:prstGeom>
          <a:noFill/>
        </p:spPr>
        <p:txBody>
          <a:bodyPr wrap="none">
            <a:spAutoFit/>
          </a:bodyPr>
          <a:lstStyle/>
          <a:p>
            <a:r>
              <a:rPr sz="950" b="0" i="0">
                <a:solidFill>
                  <a:srgbClr val="5A6478"/>
                </a:solidFill>
                <a:latin typeface="Calibri"/>
                <a:ea typeface="Calibri"/>
                <a:cs typeface="Calibri"/>
              </a:rPr>
              <a:t>CNTT-KLCN142 — Đề xuất thực đơn dinh dưỡng cá nhân hóa bằng DBO/IDBO | Tổng hợp Tuần 8 – 9 – 10 – 11</a:t>
            </a:r>
          </a:p>
        </p:txBody>
      </p:sp>
      <p:sp>
        <p:nvSpPr>
          <p:cNvPr id="11" name="TextBox 10"/>
          <p:cNvSpPr txBox="1"/>
          <p:nvPr/>
        </p:nvSpPr>
        <p:spPr>
          <a:xfrm>
            <a:off x="9601200" y="6510528"/>
            <a:ext cx="2011680" cy="274320"/>
          </a:xfrm>
          <a:prstGeom prst="rect">
            <a:avLst/>
          </a:prstGeom>
          <a:noFill/>
        </p:spPr>
        <p:txBody>
          <a:bodyPr wrap="none">
            <a:spAutoFit/>
          </a:bodyPr>
          <a:lstStyle/>
          <a:p>
            <a:pPr algn="r"/>
            <a:r>
              <a:rPr sz="950" b="1" i="0">
                <a:solidFill>
                  <a:srgbClr val="5A6478"/>
                </a:solidFill>
                <a:latin typeface="Calibri"/>
                <a:ea typeface="Calibri"/>
                <a:cs typeface="Calibri"/>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