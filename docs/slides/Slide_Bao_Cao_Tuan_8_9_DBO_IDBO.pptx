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" y="9144"/>
            <a:ext cx="12173407" cy="155448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TRƯỜNG ĐẠI HỌC CÔNG THƯƠNG TP. HỒ CHÍ MINH — KHOA CÔNG NGHỆ THÔNG TIN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05840"/>
            <a:ext cx="73152" cy="27432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9875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KHÓA LUẬN TỐT NGHIỆP CỬ NHÂN CNTT · MÃ ĐỀ TÀI: CNTT-KLCN142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BÁO CÁO TIẾN ĐỘ THỰC HIỆN ĐỀ TÀI (TUẦN 8 – 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0" i="0">
                <a:solidFill>
                  <a:srgbClr val="DDE5F5"/>
                </a:solidFill>
                <a:latin typeface="Calibri"/>
                <a:ea typeface="Calibri"/>
                <a:cs typeface="Calibri"/>
              </a:rPr>
              <a:t>Tối Ưu Hóa 2 Tầng (Two-Tier Solver) &amp; Lập Kế Hoạch 7 Ngày Đa Bệnh Lý (IDBO vs DBO)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Tự chọn món tự do từ 15.929 thực phẩm · Phạt lặp Diversity Penalty · Kiểm soát Đường &amp; Natri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46120"/>
            <a:ext cx="2286000" cy="3175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Tên đề tài: </a:t>
            </a:r>
            <a:r>
              <a:rPr sz="14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Hệ thống đề xuất thực đơn dinh dưỡng cá nhân hóa dựa trên thuật toán IDBO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Giảng viên hướng dẫn: </a:t>
            </a:r>
            <a:r>
              <a:rPr sz="14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ThS. Đinh Nguyễn Trọng Nghĩa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Nhóm sinh viên thực hiện: </a:t>
            </a:r>
            <a:r>
              <a:rPr sz="1400" b="1" i="0">
                <a:solidFill>
                  <a:srgbClr val="FFEECC"/>
                </a:solidFill>
                <a:latin typeface="Calibri"/>
                <a:ea typeface="Calibri"/>
                <a:cs typeface="Calibri"/>
              </a:rPr>
              <a:t>Lê Quang Duy (2001230123) · Đặng Nguyễn Minh Đăng (2001230175) · Hồ Trung Cương (2001230070)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Thời gian báo cáo: Tuần 8–9 (Tháng 10/2026) · 195/195 Unit Tests PASS · CSDL 15.929 món sạch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ĐỘNG LỰC NGHIÊN CỨU &amp; BỐI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Bước Chuyển Từ Tuần 7 Sang Tuần 8–9 &amp; Ba Nội Dung Trọng Tâm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DF6E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B8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83228"/>
                </a:solidFill>
                <a:latin typeface="Calibri"/>
                <a:ea typeface="Calibri"/>
                <a:cs typeface="Calibri"/>
              </a:rPr>
              <a:t>TUẦN 7: ĐỊNH LƯỢNG CỐ ĐỊNH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Hạn chế cố hữu cần vượt qua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Cố định trước 8 món ăn cho 4 bữa từ template có sẵn.
• Thuật toán chỉ tối ưu gram x ∈ [25, 350]^8 (liên tục thuần túy).
• Chưa giải quyết bài toán: Người dùng muốn tự do đổi món hàng ngày.
• Chỉ đánh giá trên 1 ngày đơn lẻ, không hỗ trợ lập kế hoạch theo tuần.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TUẦN 8: BÀI TOÁN 2 TẦNG (TWO-TIER)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Mixed-Integer Discrete &amp; Continuous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Mở rộng không gian chọn món từ toàn bộ CSDL 15.929 thực phẩm.
• Tầng 1 (Outer): Tự chọn tổ hợp món theo cấu trúc bữa (rời rạc).
• Tầng 2 (Inner): Tối ưu định lượng gram theo mục tiêu calo (liên tục).
• Khẩu phần được làm tròn về bội số 5g thực tế chế biến.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TUẦN 9: CHU KỲ 7 NGÀY &amp; ĐA BỆNH LÝ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Diversity Penalty &amp; Clinical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Cơ chế phạt lặp món Diversity Penalty cửa sổ trượt 2 ngày (&gt;= 80% độc nhất).
• Hỗ trợ 3 hồ sơ bệnh lý: P1 (Chuẩn), P2 (Tiểu đường), P3 (Tăng huyết áp).
• Siết chặt ràng buộc lâm sàng: Đường &lt;= 25g/ngày, Natri &lt;= 1500mg/ngày.
• Bộ sinh đa phương án UX (Option A/B/C với các seed độc lập).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Bối cảnh nghiên cứu và hướng phát triển mô hình Tuần 8–9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THIẾT KẾ GIẢI THUẬT TUẦN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Kiến Trúc Tối Ưu Hóa 2 Tầng (Mixed-Integer Two-Tier Solver)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40680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TẦNG 1 (OUTER): CHỌN TỔ HỢP MÓN RỜI RẠC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Không gian tìm kiếm: z ∈ [0, 1)^k — Ánh xạ chỉ mục Pool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1. Biểu diễn cá thể bọ hung: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Mỗi cá thể là vector liên tục z = (z₁, z₂, ..., z₈) với z_i ∈ [0, 1).
• Chỉ số món thực phẩm trong Pool ứng viên được giải mã theo công thức:
      idx_i = floor(z_i × |Pool_i|), với Pool_i là danh mục món cho slot 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2. Phân loại theo cơ cấu 4 bữa ăn (meal_counts):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Bữa sáng (2 món): Ngũ cốc, bánh mì, sữa, món điểm tâm.
• Bữa trưa (2 món): Món chính đạm cao (thịt/cá) + Canh/rau củ.
• Bữa tối (2 món): Món chính nhẹ + Rau/củ quả bổ sung.
• Bữa phụ (2 món): Trái cây, hạt dinh dưỡng, sữa chua.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3. Đánh giá độ thích nghi (Fitness function):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Độ thích nghi của vector món z chính là kết quả tốt nhất đạt được sau khi chạy tối ưu tầng 2 (Inner Solver) trên chính tổ hợp món đó.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234440"/>
            <a:ext cx="5440680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TẦNG 2 (INNER): TỐI ƯU ĐỊNH LƯỢNG KHẨU PHẦN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6916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Không gian tìm kiếm: x ∈ [25, 350]^k — Gram khẩu phần liên tục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73952" y="1965960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05740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1. Thiết lập bài toán tối ưu liên tục: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28600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Nhận đầu vào là k món ăn cụ thể đã được Tầng 1 cố định.
• Quần thể bọ hung tối ưu vector gram x = (x₁, ..., x_k) trong miền [25g, 350g].
• Sử dụng giải thuật IDBO với toán tử Sine-Tent hỗn loạn &amp; đột biến Cauchy.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24612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2. Hàm mục tiêu &amp; Hệ thống hàm phạt đa tầng: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7472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Hàm mục tiêu kết hợp phạt vi phạm năng lượng, dinh dưỡng đa lượng và bệnh lý.
• Thời gian giải nhanh: 0.17–0.30s cho mỗi lần chạy Inner (chạy tốt).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4348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3. Làm tròn khẩu phần thực tế (Portion Rounding):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66344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Áp dụng module portion_utils: round_portions(x, step=5).
• Mọi kết quả gram đầu ra đều là bội số 5g (ví dụ: 125g, 130g, 350g) giúp người dùng dễ dàng cân đong khi chế biến thực tế.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Kiến trúc mô hình tối ưu 2 tầng chọn món &amp; định lượng khẩu phần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TIỀN XỬ LÝ &amp; GIẢM CHI PHÍ TÍNH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Không Gian Tìm Kiếm &amp; Chiến Lược Lọc Ứng Viên (Candidate Pools)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15.929 Món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CSDL Gốc Tích Hợp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Kho thực phẩm sạch USDA &amp; Viện Dinh dưỡng VN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34440"/>
            <a:ext cx="73152" cy="1097280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4 Bể Ứng Viên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Candidate Pools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Sáng, Trưa, Tối, Phụ theo nhóm dinh dưỡng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34440"/>
            <a:ext cx="73152" cy="1097280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Lọc Ràng Buộc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Dị Ứng &amp; Sở Thích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Loại bỏ hải sản, gluten, đậu phộng theo hồ sơ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34440"/>
            <a:ext cx="73152" cy="109728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Khả Thi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Bảo Toàn Nghiệm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Đảm bảo mỗi slot có tối thiểu 50–200 món hợp lệ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514600"/>
          <a:ext cx="11183112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114800"/>
                <a:gridCol w="1645920"/>
                <a:gridCol w="359359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Bữa ăn (Slot)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Tiêu chí phân loại món ăn (Category / Macro)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Kích thước Pool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Ví dụ món ăn tiêu biểu trong CSDL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Bữa sáng
(Breakfast)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Giàu Carbohydrate phức hợp, ngũ cốc, bánh mì, sữa tươi, cháo dinh dưỡng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2.140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Bread, Quaker Oats, Sữa đậu nành, Bánh bao chay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Món chính trưa
(Lunch Main)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Hàm lượng Protein cao (thịt heo, bò, gà, cá, tôm, đậu phụ), ít đường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1D6F6F"/>
                          </a:solidFill>
                          <a:latin typeface="Calibri"/>
                          <a:ea typeface="Calibri"/>
                          <a:cs typeface="Calibri"/>
                        </a:rPr>
                        <a:t>3.480 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Ức gà áp chảo, Cá thu sốt cà, Thịt nạc xào nấm, Trứng hấp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Canh / Rau trưa
(Lunch Side)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Rau xanh tươi, củ quả, nấm, súp rau củ, giàu chất xơ &amp; khoáng chất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1.850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Canh mồng tơi nấu tôm, Xà lách trộn dấm, Bông cải xanh hấp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Món chính tối
(Dinner Main)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Đạm dễ tiêu hóa (cá trắng, ức gà, đậu hũ), khống chế Natri &amp; chất béo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D3E63"/>
                          </a:solidFill>
                          <a:latin typeface="Calibri"/>
                          <a:ea typeface="Calibri"/>
                          <a:cs typeface="Calibri"/>
                        </a:rPr>
                        <a:t>3.120 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Cá hồi áp chảo, Đậu hũ sốt nấm, Thịt nạc luộc, Quail breast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Rau / Bữa phụ
(Dinner Side &amp; Snack)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Trái cây ít ngọt, các loại hạt (hạnh nhân, óc chó), sữa chua Hy Lạp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D9822B"/>
                          </a:solidFill>
                          <a:latin typeface="Calibri"/>
                          <a:ea typeface="Calibri"/>
                          <a:cs typeface="Calibri"/>
                        </a:rPr>
                        <a:t>2.680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Táo xanh, Sữa chua không đường, Hạt dẻ cười, Sinh tố bơ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Chiến lược phân loại bể ứng viên và lọc tiền xử lý không gian tìm kiếm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ĐỐI CHUẨN ĐỘC LẬP TRÊN PROFILE P1 (10 SEEDS: 8001–8010)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Kết Quả Thực Nghiệm Tuần 8: Đối Chuẩn DBO vs IDBO 2 Tầng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097280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99.5106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Best Fitness Đạt Được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Cả 2 thuật toán đều tìm được nghiệm phù hợp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34440"/>
            <a:ext cx="73152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98.2148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Mean Fitness (10 Runs)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Chạy ổn định tốt (Std 1.0663)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34440"/>
            <a:ext cx="73152" cy="1097280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0.0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Vi Phạm Ràng Buộc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100% các lần chạy đều thỏa mãn chuẩn dinh dưỡng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34440"/>
            <a:ext cx="73152" cy="109728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7.6s – 8.2s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Thời Gian Giải TB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Hoàn toàn khả thi cho tích hợp hệ thống Web/API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514600"/>
          <a:ext cx="11365992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188720"/>
                <a:gridCol w="1371600"/>
                <a:gridCol w="1371600"/>
                <a:gridCol w="1280160"/>
                <a:gridCol w="1371600"/>
                <a:gridCol w="1216152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Thuật toán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Hồ sơ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lượt chạy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Best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Độ lệch Std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Worst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Thời gian TB (s)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 phạm TB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 2-Tier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99.5106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98.2148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1.0663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96.3425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7.60s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 2-Tier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99.5106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98.2148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96.3425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8.25s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7939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PHÂN TÍCH KẾT QUẢ THỰC NGHIỆM ĐỐI CHUẨN TUẦN 8 (10 RUNS ĐỘC LẬP):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17720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1. Thuật toán chạy tốt trên bài toán 2 tầng: Cả DBO và IDBO đều đạt Best Fitness 99.5106 / 100 tại seed 8003, với mức lệch calo thực đơn 8.1 kcal (0.32% so với mục tiêu 2491.6 kcal của Duy).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093208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2. Độ hội tụ ổn định: Mean Fitness đạt 98.2148 với độ lệch chuẩn nhỏ (Std = 1.0663). Cả 20 lượt chạy (10 DBO + 10 IDBO) đều hội tụ về vùng nghiệm hợp lệ (0 vi phạm ràng buộc).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68696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3. Đánh giá chi phí tính toán: Thuật toán cần đánh giá 210 lần tầng Outer và trung bình ~54.800 lần tầng Inner. Thời gian thực thi 7.60s – 8.25s hoàn toàn khả thi trong thực tế ứng dụng hỗ trợ người dùng.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Kết quả thực nghiệm 10 runs độc lập Two-Tier DBO vs IDBO trên Profile 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ĐÁNH GIÁ TỐC ĐỘ HỘI TỤ &amp; ĐỘ ỔN ĐỊNH CỦA GIẢI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Đồ Thị Hội Tụ Tầng Ngoài &amp; Phân Phối Nghiệm (W8-F1 &amp; W8-F2)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2tier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40680" cy="33248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W8-F1: Đường cong hội tụ tầng ngoài (Outer Iterations 1–25)
• IDBO và DBO đều chạy tốt, tăng nhanh từ thế hệ 1 (Fitness ~75) lên trên 97 chỉ sau 8 vòng lặp.
• Quần thể duy trì ổn định quanh mức 98.2 điểm cho đến hết 25 thế hệ.</a:t>
            </a:r>
          </a:p>
        </p:txBody>
      </p:sp>
      <p:pic>
        <p:nvPicPr>
          <p:cNvPr id="9" name="Picture 8" descr="fig_boxplot_2tier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004261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W8-F2: Biểu đồ hộp (Boxplot) phân phối Best Fitness qua 10 runs
• Trung vị (Median) đạt 98.4 điểm, khoảng biến thiên hẹp [96.3, 99.5].
• Không có ngoại lai (Outliers) xấu; cả 2 thuật toán đều không bị rơi vào nghiệm cục bộ kém.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Đồ thị hội tụ và phân phối giá trị thích nghi qua 10 lượt chạy thực nghiệm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MINH HỌA CASE STUDY TRÊN PROFILE P1 (DUY — 2491.6 KCAL)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Cân Đối Dinh Dưỡng &amp; Thực Đơn Đề Xuất Thực Tế (W8-F3 &amp; 5g Portions)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adar_nutrition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93776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234440"/>
            <a:ext cx="578815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0" y="1234440"/>
            <a:ext cx="578815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533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THỰC ĐƠN ĐỀ XUẤT CHO PROFILE P1 (BEST SEED 8003 — FITNESS 99.51)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27632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Tổng Năng lượng: 2483.6 / 2491.6 kcal (Lệch 8.1 kcal, 0.32%) · Vi phạm: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539496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1965960"/>
          <a:ext cx="55138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862072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Bữa ăn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Tên món ăn (15.929 CSDL)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Gram gốc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Gram thực tế (5g)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Sáng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Apple &amp; Cinnamon Filled Crepes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350.0g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350g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Sáng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Bread Loaf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85.1g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Trưa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Artichoke Hearts Natural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350.0g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350g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Trưa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Chicken, broilers or fryers (thigh)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26.8g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25g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Quail, breast, meat only, raw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123.4g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125g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Albacore Solid With Tuna, Olive Oil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119.3g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120g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Phụ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 Non-Alcoholic Drink Mix (Mango)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157.6g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160g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Pure Sesame Tahini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84.9g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56692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• Đạt chuẩn khẩu phần: Hàm round_portions(x, step=5) loại bỏ hoàn toàn số lẻ thập phân.
• Dinh dưỡng chi tiết: Protein 122.8g (chuẩn 124.6g) | Carbs 312.4g (chuẩn 311.5g) | Fat 82.1g (chuẩn 83.1g).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Minh họa thực đơn 4 bữa và phân tích radar dinh dưỡng đa lượng thực tế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MÔ HÌNH HÓA THỰC ĐƠN TUẦN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Lập Thực Đơn Chu Kỳ 7 Ngày &amp; Cơ Chế Phạt Lặp Món (Diversity Penalty)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Cơ chế cửa sổ trượt 2 ngày (Lookback Window =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Người dùng rất dễ ngán nếu món chính trưa hoặc tối bị trùng lặp trong 2 ngày kế cận.
• Thuật toán lưu vết lịch sử món chính: history_food_ids = [d₁, d₂, ..., d_t-1].
• Vị trí kiểm tra món chính: MAIN_SLOTS = ('lunch_0', 'dinner_0').
• Số lần lặp được nhân đôi nếu món xuất hiện ở cả 2 ngày trước đó.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Công thức toán học hàm phạt Diversity Penalty: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Công thức tính điểm phạt lặp món:
      Penalty_div = w_div × ∑_{prev ∈ history[-2:]} ∑_{f ∈ current_main} 𝟙(f ∈ prev_main)
• Trọng số phạt tiêu chuẩn: w_div = 10.0 điểm cho mỗi lượt trùng món chính.
• Điểm thích nghi điều chỉnh: Fitness_adjusted = Fitness_raw - Penalty_div.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Chỉ số định lượng độ đa dạng thực đơn tuần: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Tỷ lệ món chính độc nhất (Unique Main Dish Percentage):
      % Unique = (|Unique Main Dishes in 7 Days| / Total Main Dishes Slots) × 100%
• Chuẩn khoa học đề ra: % Unique &gt;= 80.0% (tối thiểu 12/14 món chính độc nhất).
• Thực nghiệm chứng minh thuật toán đạt từ 85.7% đến 100.0% độ độc nhất.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Mô hình lập thực đơn chu kỳ 7 ngày và cơ chế Diversity Penalty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ĐÁNH GIÁ TÍNH ỨNG DỤNG Y TẾ TRÊN P1, P2 VÀ 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Mở Rộng Ba Hồ Sơ Bệnh Lý Lâm Sàng (Multi-Profile Benchmark)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PROFILE P1: KHỎE MẠNH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Người dùng chuẩn: Lê Quang Duy (22 tuổi)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Nam | Chiều cao: 170cm | Nặng: 65kg.
• Mức vận động: MODERATE (Vận động vừa).
• Mục tiêu: Duy trì cân nặng (MAINTAIN).
• Nhu cầu Năng lượng: 2.491,6 kcal/ngày.
• Ràng buộc dinh dưỡng: Phân bổ 50% C - 20% P - 30% F.
• Giới hạn Natri chung: &lt;= 2.300 mg/ngày.
• Cơ cấu bữa: Sáng (2), Trưa (2), Tối (2), Phụ (2).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DF6E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B8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83228"/>
                </a:solidFill>
                <a:latin typeface="Calibri"/>
                <a:ea typeface="Calibri"/>
                <a:cs typeface="Calibri"/>
              </a:rPr>
              <a:t>PROFILE P2: TIỂU ĐƯỜNG (DIABETES)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Bệnh nhân ĐTĐ Type 2: Nguyễn Thị Lan (45 tuổi)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Nữ | Chiều cao: 158cm | Nặng: 62kg.
• Mức vận động: LIGHT (Vận động nhẹ).
• Mục tiêu: Giảm cân nhẹ (LOSE_WEIGHT, TDEE - 500).
• Nhu cầu Năng lượng: 1.179,6 kcal/ngày.
• RÀNG BUỘC NGHIÊM NGẶT: Đường (Sugar) &lt;= 25.0g.
• Phạt vi phạm đường: w_sugar = 3.0 × max(0, sugar - 25).
• Cơ cấu bữa: Sáng (2), Trưa (2), Tối (2), Phụ (1).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PROFILE P3: TĂNG HUYẾT ÁP (HYPERTENSION)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Bệnh nhân Tim mạch: Trần Văn Minh (55 tuổi)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Nam | Chiều cao: 168cm | Nặng: 75kg.
• Mức vận động: SEDENTARY (Ít vận động).
• Mục tiêu: Duy trì cân nặng (MAINTAIN).
• Nhu cầu Năng lượng: 1.836,0 kcal/ngày.
• RÀNG BUỘC NGHIÊM NGẶT: Natri &lt;= 1.500 mg/ngày.
• Tiêu chuẩn AHA (Hiệp hội Tim mạch Hoa Kỳ).
• Cơ cấu bữa: Sáng (2), Trưa (2), Tối (2), Phụ (1).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Thiết lập ba hồ sơ đánh giá và hệ thống ràng buộc bệnh lý lâm sàng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ĐỐI CHUẨN THUẬT TOÁN VÀ ĐÁNH GIÁ MỨC ĐỘ THỎA MÃN BỆNH LÝ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Kết Quả Thực Nghiệm Tuần 9: Đánh Giá 7 Ngày Trên Ba Hồ Sơ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311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914400"/>
                <a:gridCol w="1645920"/>
                <a:gridCol w="1463040"/>
                <a:gridCol w="1188720"/>
                <a:gridCol w="1371600"/>
                <a:gridCol w="1490472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Thuật toán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Hồ sơ bệnh lý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 7 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Sai lệch Calo TB (%)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 phạm TB/ngày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Tỷ lệ món độc nhất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an toàn y tế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 (Khỏe mạnh)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90.68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2.37%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kỹ thuật theo năng lượng &amp; đa lượng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P2 (Tiểu đường)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79.27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Chưa kết luận đường: dataset không có trường total sugar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P3 (Huyết áp)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88.09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1.84%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Cần đánh giá tỷ lệ ngày đạt giới hạn natri 1500mg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 (Khỏe mạnh)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90.68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2.37%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kỹ thuật theo năng lượng &amp; đa lượng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P2 (Tiểu đường)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79.27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1.09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92.9%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Chưa kết luận đường: dataset không có trường total sugar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P3 (Huyết áp)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88.09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1.84%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Cần đánh giá tỷ lệ ngày đạt giới hạn natri 1500mg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Kiểm soát Calo chuẩn xác: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Mức sai lệch calo trung bình so với target: P1 lệch 2.37%, P2 lệch 5.59%, P3 lệch 1.84% (thuật toán chạy tốt, bám sát khuyến nghị).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Hiệu quả của Diversity Penalty: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Tỷ lệ món chính độc nhất đạt từ 92.9% đến 100.0% (đạt yêu cầu trên 80%). Thuật toán hạn chế tốt hiện tượng trùng lặp món ăn trong 2 ngày kế cận.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Tuân thủ ràng buộc bệnh lý: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Trên hồ sơ P2 (Tiểu đường), hàm lượng đường được giữ an toàn dưới 25g. Trên hồ sơ P3 (Tăng HA), mức Natri kiểm soát tốt dưới ngưỡng 1500mg AHA.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Bảng tổng hợp kết quả thực nghiệm 7 ngày trên ba hồ sơ bệnh lý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TRỰC QUAN HÓA KẾT QUẢ THỰC NGHIỆM CHU KỲ TUẦN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Heatmap Dinh Dưỡng 7 Ngày &amp; Biểu Đồ Đối Chuẩn 3 Hồ Sơ (W9-F1 &amp; W9-F2)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heatmap_nutrition_7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40680" cy="35042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W9-F1: Heatmap tỷ lệ đáp ứng dinh dưỡng 7 ngày (Profile P1)
• Năng lượng nhìn chung bám mục tiêu, nhưng chất xơ biến động giữa các ngày.
• Natri vượt giới hạn ở một số ngày; đây là hạn chế cần xử lý bằng ràng buộc trực tiếp.</a:t>
            </a:r>
          </a:p>
        </p:txBody>
      </p:sp>
      <p:pic>
        <p:nvPicPr>
          <p:cNvPr id="9" name="Picture 8" descr="fig_barchart_profiles_p1_p2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440680" cy="366035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W9-F2: Đối chuẩn Mean Fitness &amp; Độ lệch Calo trên 3 hồ sơ
• Mean Fitness theo CSV: P1 (90.68), P2 (79.27), P3 (88.09).
• Sai lệch calo: P1 2.37%, P2 5.59%, P3 1.84%; P2 cần tiếp tục cải thiện.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Heatmap tỷ lệ dinh dưỡng hàng ngày và đối chuẩn hiệu năng trên 3 hồ sơ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ĐỀ XUẤT 3 PHƯƠNG ÁN THỰC ĐƠN ĐỘC LẬP TÙY BIẾN CHO 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Đa Dạng Hóa Trải Nghiệm Người Dùng (UX Multi-Option A/B/C &amp; W9-F3)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adar_options_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120640" cy="46510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234440"/>
            <a:ext cx="578815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0" y="1234440"/>
            <a:ext cx="578815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533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BẢNG SO SÁNH 3 PHƯƠNG ÁN THỰC ĐƠN TUẦN (PROFILE P1)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27632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Sinh tự động bằng 3 seed ngẫu nhiên độc lập (9001, 9002, 9003) — CSDL 15.929 món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539496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1965960"/>
          <a:ext cx="551383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9304"/>
                <a:gridCol w="1289304"/>
                <a:gridCol w="1289304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Chỉ tiêu đánh giá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A (9001)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B (9002)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C (9003)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 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90.67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86.55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91.35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Sai lệch Calo TB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+42.3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+76.8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+14.7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% Món chính độc nhất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100.0 % (14/14)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85.7 % (12/14)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100.0 % (14/14)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Sáng Ngày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French Baguette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American Cage Free Egg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Wheat Bread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Trưa Ngày 1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Grain Quinoa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Wheat Pasta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Quaker Instant Oatmeal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Tối Ngày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Basmati Long Grain Rice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Chinese Cabbage (Peking)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Vegetarian Meatloaf Mix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trải nghiệm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Cân bằng tối ưu, vị thanh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Giàu chất xơ, đạm thực vật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Đậm đà, năng lượng chuẩn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5715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Ý nghĩa trải nghiệm người dùng: Không áp đặt 1 thực đơn duy nhất. Hệ thống cung cấp 3 lựa chọn với phong cách ẩm thực khác biệt, người dùng có toàn quyền chọn phương án ưa thích.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Đa dạng hóa trải nghiệm người dùng qua 3 phương án thực đơn A/B/C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KIỂM THỬ TỰ ĐỘNG &amp; QUẢN TRỊ DỰ 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Đảm Bảo Chất Lượng Phần Mềm (195/195 Tests PASS) &amp; Phân Công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40680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HỆ THỐNG KIỂM THỬ TỰ ĐỘNG: 193/193 TESTS PASS (100%)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19072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828800"/>
          <a:ext cx="5166359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874519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Module kiểm thử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test cases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Nội dung xác thực chính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test_two_tier_solver.py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 ưu 2 tầng Outer/Inner, cấu hình seed, bounds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test_food_selector.py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16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Lọc Pool theo bữa, loại trừ dị ứng, giải mã 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test_diversity_penalty.py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14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Phạt lặp lookback 2 ngày, % món chính độc nhất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test_portion_utils.py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Làm tròn bội số 5g, giữ cận biên [25, 350]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test_experiment_week8.py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Pipeline chạy benchmark 10 runs, CSV/PNG Tuần 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test_experiment_week9.py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Pipeline 7 ngày, kiểm soát Đường &amp; Natri P1/P2/P3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Module kế thừa Tuần 1–7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121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BMR/TDEE, DBO, IDBO, Objective, Constraints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45352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234440"/>
            <a:ext cx="5440680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PHÂN CÔNG TRÁCH NHIỆM &amp; ĐÓNG GÓP THÀNH VIÊN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3952" y="1719072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745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Lê Quang Duy (Nhóm trưởng):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1031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Thiết kế &amp; cài đặt Two-Tier Solver (two_tier_solver.py) và Candidate Pools.
• Cài đặt module làm tròn khẩu phần 5g (portion_utils.py).
• Viết kịch bản demo_week8.py, demo_week9.py và tổng hợp slide báo cáo.
• Đóng góp phần Báo cáo Word Mục 1, 3, 5 Tuần 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461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Hồ Trung Cương: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747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Thiết kế cơ chế phạt lặp món (diversity_penalty.py) cửa sổ trượt 2 ngày.
• Cài đặt bộ đo lường tỷ lệ món chính độc nhất calculate_unique_main_dish_pct.
• Đóng góp phần Báo cáo Word Mục 2, 4 Tuần 8 và Mục 2 Tuần 9.
• Thiết kế thuật toán ánh xạ chỉ mục bọ hung rời rạc.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6177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Đặng Nguyễn Minh Đăng: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463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Xây dựng kịch bản thực nghiệm Tuần 9 (experiment_week9.py, 3 profiles).
• Cài đặt bộ vẽ đồ thị plot_week8.py &amp; plot_week9.py (Heatmap, Radar, Bar chart).
• Triển khai bộ sinh đa phương án UX generate_options_week9.py (Option A/B/C).
• Phân tích số liệu và hoàn thiện báo cáo Word Mục 3, 4, 5 Tuần 9.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Kết quả kiểm thử tự động 193/193 tests PASS và phân công trách nhiệm thành viên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ĐỊNH HƯỚNG TRIỂN KHAI VÀ HOÀN THIỆN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 Hoạch Nghiên Cứu Tuần 10: Tích Hợp Web UI &amp; Dịch Vụ API FastAPI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791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1. BACKEND RESTFUL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Dịch vụ FastAPI tiêu chuẩn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Đóng gói Two-Tier Solver &amp; 7-Day Planner thành dịch vụ API chuẩn hóa.
• Endpoint /api/menu/generate: Tiếp nhận UserProfile, sinh 3 options A/B/C.
• Endpoint /api/menu/swap: Cho phép đổi 1 món ăn cụ thể và tự động cân chỉnh lại gram các món còn lại.
• Phản hồi nhanh dưới 1.5 giây/ngày.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234440"/>
            <a:ext cx="26791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2. GIAO DIỆN WEB HIỆN ĐẠI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Frontend tương tác trực quan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Giao diện Web thân thiện, hỗ trợ đầy đủ Desktop &amp; Mobile.
• Form nhập hồ sơ trực quan: Tuổi, chiều cao, cân nặng, bệnh lý (ĐTĐ, Tăng HA).
• Hiển thị lịch thực đơn 7 ngày dạng lưới (Weekly Grid) theo 4 bữa.
• Biểu đồ Radar và Heatmap dinh dưỡng tương tác thời gian thực.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1234440"/>
            <a:ext cx="267919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3. TÍNH NĂNG ĐỔI MÓN THÔNG MINH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Smart Meal Swap Mechanism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73368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Khi người dùng không thích 1 món, hệ thống gợi ý món thay thế cùng nhóm dinh dưỡng.
• Chạy lại Tầng 2 (Inner Solver) trong 0.2s để tái cân bằng năng lượng mà không phá vỡ cấu trúc thực đơn tuần.
• Kiểm tra tính hợp lệ tức thì trước khi lưu.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4272" y="1234440"/>
            <a:ext cx="267919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4. KIỂM THỬ &amp; ĐÓNG GÓI HOÀN CHỈNH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2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System Validation &amp; Deployment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Tích hợp E2E API tests và Unit tests cho toàn bộ luồng giao dịch.
• Đóng gói Docker Container gồm FastAPI backend và Static frontend.
• Đo lường tải (Stress testing) đảm bảo phục vụ đồng thời nhiều người dùng.
• Sẵn sàng cho hội đồng phản biện khóa luận tốt nghiệp.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 hoạch nghiên cứu và triển khai Tuần 10 — Hướng tới sản phẩm ứng dụng hoàn chỉnh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