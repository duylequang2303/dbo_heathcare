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4" name="Rectangle 3"/>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6" name="TextBox 5"/>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7" name="TextBox 6"/>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8" name="TextBox 7"/>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9" name="Rectangle 8"/>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1" name="TextBox 10"/>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205/205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các giới hạn dinh dưỡng có dữ liệu hỗ trợ.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5440680"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4160520"/>
            <a:ext cx="73152" cy="20574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9392"/>
            <a:ext cx="5120640" cy="256032"/>
          </a:xfrm>
          <a:prstGeom prst="rect">
            <a:avLst/>
          </a:prstGeom>
          <a:noFill/>
        </p:spPr>
        <p:txBody>
          <a:bodyPr wrap="square" anchor="t" lIns="0" rIns="0" tIns="0" bIns="0">
            <a:spAutoFit/>
          </a:bodyPr>
          <a:lstStyle/>
          <a:p>
            <a:pPr algn="l">
              <a:lnSpc>
                <a:spcPct val="100000"/>
              </a:lnSpc>
              <a:spcAft>
                <a:spcPts val="0"/>
              </a:spcAft>
            </a:pPr>
            <a:r>
              <a:rPr sz="1050" b="1" i="0">
                <a:solidFill>
                  <a:srgbClr val="1B2A4A"/>
                </a:solidFill>
                <a:latin typeface="Calibri"/>
                <a:ea typeface="Calibri"/>
                <a:cs typeface="Calibri"/>
              </a:rPr>
              <a:t>PHÂN TÍCH ĐỐI CHUẨN TUẦN 8 (10 RUNS ĐỘC LẬP):</a:t>
            </a:r>
          </a:p>
        </p:txBody>
      </p:sp>
      <p:sp>
        <p:nvSpPr>
          <p:cNvPr id="30" name="TextBox 29"/>
          <p:cNvSpPr txBox="1"/>
          <p:nvPr/>
        </p:nvSpPr>
        <p:spPr>
          <a:xfrm>
            <a:off x="685800" y="4590288"/>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Hiệu năng 2 tầng: Cả DBO và IDBO đạt Best Fitness 99.5106 tại seed 8003; mức lệch calo 8.1 kcal (0.32% so với mục tiêu 2491.6 kcal của Duy).</a:t>
            </a:r>
          </a:p>
        </p:txBody>
      </p:sp>
      <p:sp>
        <p:nvSpPr>
          <p:cNvPr id="31" name="TextBox 30"/>
          <p:cNvSpPr txBox="1"/>
          <p:nvPr/>
        </p:nvSpPr>
        <p:spPr>
          <a:xfrm>
            <a:off x="685800" y="5084064"/>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Chi phí tính toán: ~210 lần tầng Outer, ~54.800 lần tầng Inner; thời gian 7.6s–8.2s (cần tối ưu cache/xử lý nền khi tích hợp API thực tế).</a:t>
            </a:r>
          </a:p>
        </p:txBody>
      </p:sp>
      <p:sp>
        <p:nvSpPr>
          <p:cNvPr id="32" name="TextBox 31"/>
          <p:cNvSpPr txBox="1"/>
          <p:nvPr/>
        </p:nvSpPr>
        <p:spPr>
          <a:xfrm>
            <a:off x="685800" y="5577840"/>
            <a:ext cx="5120640" cy="457200"/>
          </a:xfrm>
          <a:prstGeom prst="rect">
            <a:avLst/>
          </a:prstGeom>
          <a:noFill/>
        </p:spPr>
        <p:txBody>
          <a:bodyPr wrap="square" anchor="t" lIns="0" rIns="0" tIns="0" bIns="0">
            <a:spAutoFit/>
          </a:bodyPr>
          <a:lstStyle/>
          <a:p>
            <a:pPr algn="l">
              <a:lnSpc>
                <a:spcPct val="112000"/>
              </a:lnSpc>
              <a:spcAft>
                <a:spcPts val="0"/>
              </a:spcAft>
            </a:pPr>
            <a:r>
              <a:rPr sz="919" b="0" i="0">
                <a:solidFill>
                  <a:srgbClr val="1E2430"/>
                </a:solidFill>
                <a:latin typeface="Calibri"/>
                <a:ea typeface="Calibri"/>
                <a:cs typeface="Calibri"/>
              </a:rPr>
              <a:t>• Tính hợp lệ: 100% lượt chạy đạt 0 vi phạm ràng buộc kỹ thuật; DBO và IDBO cho kết quả đồng nhất trên toàn bộ 10 seed.</a:t>
            </a:r>
          </a:p>
        </p:txBody>
      </p:sp>
      <p:sp>
        <p:nvSpPr>
          <p:cNvPr id="33" name="Rounded Rectangle 32"/>
          <p:cNvSpPr/>
          <p:nvPr/>
        </p:nvSpPr>
        <p:spPr>
          <a:xfrm>
            <a:off x="6245352" y="4160520"/>
            <a:ext cx="5440680"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160520"/>
            <a:ext cx="73152" cy="205740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28232" y="4279392"/>
            <a:ext cx="5120640" cy="256032"/>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KIỂM TRA KÍCH HOẠT CƠ CHẾ IDBO (ABLATION DIAGNOSTIC):</a:t>
            </a:r>
          </a:p>
        </p:txBody>
      </p:sp>
      <p:sp>
        <p:nvSpPr>
          <p:cNvPr id="36" name="TextBox 35"/>
          <p:cNvSpPr txBox="1"/>
          <p:nvPr/>
        </p:nvSpPr>
        <p:spPr>
          <a:xfrm>
            <a:off x="6428232" y="4590288"/>
            <a:ext cx="5120640" cy="365760"/>
          </a:xfrm>
          <a:prstGeom prst="rect">
            <a:avLst/>
          </a:prstGeom>
          <a:noFill/>
        </p:spPr>
        <p:txBody>
          <a:bodyPr wrap="square" anchor="t" lIns="0" rIns="0" tIns="0" bIns="0">
            <a:spAutoFit/>
          </a:bodyPr>
          <a:lstStyle/>
          <a:p>
            <a:pPr algn="l">
              <a:lnSpc>
                <a:spcPct val="110000"/>
              </a:lnSpc>
              <a:spcAft>
                <a:spcPts val="0"/>
              </a:spcAft>
            </a:pPr>
            <a:r>
              <a:rPr sz="860" b="0" i="0">
                <a:solidFill>
                  <a:srgbClr val="1E2430"/>
                </a:solidFill>
                <a:latin typeface="Calibri"/>
                <a:ea typeface="Calibri"/>
                <a:cs typeface="Calibri"/>
              </a:rPr>
              <a:t>• Baseline 25 vòng: DBO Mean 98.2148 | IDBO Mean 98.2148 | Perturbations: 0 | Restarts: 0</a:t>
            </a:r>
          </a:p>
        </p:txBody>
      </p:sp>
      <p:sp>
        <p:nvSpPr>
          <p:cNvPr id="37" name="TextBox 36"/>
          <p:cNvSpPr txBox="1"/>
          <p:nvPr/>
        </p:nvSpPr>
        <p:spPr>
          <a:xfrm>
            <a:off x="6428232" y="4974336"/>
            <a:ext cx="5120640" cy="365760"/>
          </a:xfrm>
          <a:prstGeom prst="rect">
            <a:avLst/>
          </a:prstGeom>
          <a:noFill/>
        </p:spPr>
        <p:txBody>
          <a:bodyPr wrap="square" anchor="t" lIns="0" rIns="0" tIns="0" bIns="0">
            <a:spAutoFit/>
          </a:bodyPr>
          <a:lstStyle/>
          <a:p>
            <a:pPr algn="l">
              <a:lnSpc>
                <a:spcPct val="110000"/>
              </a:lnSpc>
              <a:spcAft>
                <a:spcPts val="0"/>
              </a:spcAft>
            </a:pPr>
            <a:r>
              <a:rPr sz="860" b="0" i="0">
                <a:solidFill>
                  <a:srgbClr val="1E2430"/>
                </a:solidFill>
                <a:latin typeface="Calibri"/>
                <a:ea typeface="Calibri"/>
                <a:cs typeface="Calibri"/>
              </a:rPr>
              <a:t>• Chẩn đoán 100 vòng: DBO Mean 97.9821 | IDBO Mean 97.9821 | Perturbations: 0 | Restarts: 0</a:t>
            </a:r>
          </a:p>
        </p:txBody>
      </p:sp>
      <p:sp>
        <p:nvSpPr>
          <p:cNvPr id="38" name="TextBox 37"/>
          <p:cNvSpPr txBox="1"/>
          <p:nvPr/>
        </p:nvSpPr>
        <p:spPr>
          <a:xfrm>
            <a:off x="6428232" y="5358383"/>
            <a:ext cx="5120640" cy="365760"/>
          </a:xfrm>
          <a:prstGeom prst="rect">
            <a:avLst/>
          </a:prstGeom>
          <a:noFill/>
        </p:spPr>
        <p:txBody>
          <a:bodyPr wrap="square" anchor="t" lIns="0" rIns="0" tIns="0" bIns="0">
            <a:spAutoFit/>
          </a:bodyPr>
          <a:lstStyle/>
          <a:p>
            <a:pPr algn="l">
              <a:lnSpc>
                <a:spcPct val="110000"/>
              </a:lnSpc>
              <a:spcAft>
                <a:spcPts val="0"/>
              </a:spcAft>
            </a:pPr>
            <a:r>
              <a:rPr sz="860" b="0" i="0">
                <a:solidFill>
                  <a:srgbClr val="1E2430"/>
                </a:solidFill>
                <a:latin typeface="Calibri"/>
                <a:ea typeface="Calibri"/>
                <a:cs typeface="Calibri"/>
              </a:rPr>
              <a:t>• Kết luận thực nghiệm: Chưa ghi nhận IDBO vượt trội hơn DBO trong 3 cấu hình thử nghiệm do telemetry đo được min_diversity = 0.246 &gt; threshold (0.001–0.05). Thử nghiệm Controlled Activation (threshold=0.5) chứng minh pipeline IDBO kích hoạt bình thường khi điều kiện thỏa mãn.</a:t>
            </a:r>
          </a:p>
        </p:txBody>
      </p:sp>
      <p:sp>
        <p:nvSpPr>
          <p:cNvPr id="39" name="TextBox 38"/>
          <p:cNvSpPr txBox="1"/>
          <p:nvPr/>
        </p:nvSpPr>
        <p:spPr>
          <a:xfrm>
            <a:off x="6428232" y="5742431"/>
            <a:ext cx="5120640" cy="365760"/>
          </a:xfrm>
          <a:prstGeom prst="rect">
            <a:avLst/>
          </a:prstGeom>
          <a:noFill/>
        </p:spPr>
        <p:txBody>
          <a:bodyPr wrap="square" anchor="t" lIns="0" rIns="0" tIns="0" bIns="0">
            <a:spAutoFit/>
          </a:bodyPr>
          <a:lstStyle/>
          <a:p>
            <a:pPr algn="l">
              <a:lnSpc>
                <a:spcPct val="110000"/>
              </a:lnSpc>
              <a:spcAft>
                <a:spcPts val="0"/>
              </a:spcAft>
            </a:pPr>
            <a:r>
              <a:rPr sz="860" b="0" i="0">
                <a:solidFill>
                  <a:srgbClr val="1E2430"/>
                </a:solidFill>
                <a:latin typeface="Calibri"/>
                <a:ea typeface="Calibri"/>
                <a:cs typeface="Calibri"/>
              </a:rPr>
              <a:t>  (Chi tiết paired runs, controlled activation &amp; telemetry lưu tại experiments/ablation_dbo_idbo/README.md)</a:t>
            </a:r>
          </a:p>
        </p:txBody>
      </p:sp>
      <p:sp>
        <p:nvSpPr>
          <p:cNvPr id="40" name="Rectangle 3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42" name="TextBox 4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DBO và IDBO cho đường hội tụ gần như trùng nhau trong cấu hình 25 vòng lặp.
• Cơ chế perturbation/restart chưa kích hoạt đáng kể; chưa thể kết luận IDBO tốt hơn 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Hàm round_portions(x, step=5) loại bỏ hoàn toàn số lẻ thập phân.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RÀNG BUỘC DINH DƯỠNG THEO HỒ SƠ</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188720"/>
          <a:ext cx="11183112" cy="2304288"/>
        </p:xfrm>
        <a:graphic>
          <a:graphicData uri="http://schemas.openxmlformats.org/drawingml/2006/table">
            <a:tbl>
              <a:tblPr firstRow="1" bandRow="1">
                <a:tableStyleId>{5C22544A-7EE6-4342-B048-85BDC9FD1C3A}</a:tableStyleId>
              </a:tblPr>
              <a:tblGrid>
                <a:gridCol w="822960"/>
                <a:gridCol w="1554480"/>
                <a:gridCol w="777240"/>
                <a:gridCol w="1280160"/>
                <a:gridCol w="1097280"/>
                <a:gridCol w="1005840"/>
                <a:gridCol w="1188720"/>
                <a:gridCol w="345643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dinh dưỡng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P2 (Giảm Carbs)</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320040">
                <a:tc>
                  <a:txBody>
                    <a:bodyPr/>
                    <a:lstStyle/>
                    <a:p>
                      <a:pPr algn="ctr"/>
                      <a:r>
                        <a:rPr sz="85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P3 (Giới hạn Natri)</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3794760"/>
            <a:ext cx="3593592" cy="24231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904487"/>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178808"/>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279392"/>
            <a:ext cx="3227832" cy="1828800"/>
          </a:xfrm>
          <a:prstGeom prst="rect">
            <a:avLst/>
          </a:prstGeom>
          <a:noFill/>
        </p:spPr>
        <p:txBody>
          <a:bodyPr wrap="square" anchor="t" lIns="0" rIns="0" tIns="0" bIns="0">
            <a:spAutoFit/>
          </a:bodyPr>
          <a:lstStyle/>
          <a:p>
            <a:pPr algn="l">
              <a:lnSpc>
                <a:spcPct val="118000"/>
              </a:lnSpc>
              <a:spcAft>
                <a:spcPts val="0"/>
              </a:spcAft>
            </a:pPr>
            <a:r>
              <a:rPr sz="919"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theo CSV: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(205/205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205/205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3236976"/>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Module kiểm thử</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356616">
                <a:tc>
                  <a:txBody>
                    <a:bodyPr/>
                    <a:lstStyle/>
                    <a:p>
                      <a:pPr algn="l"/>
                      <a:r>
                        <a:rPr sz="760" b="1" i="0">
                          <a:solidFill>
                            <a:srgbClr val="1E2430"/>
                          </a:solidFill>
                          <a:latin typeface="Calibri"/>
                          <a:ea typeface="Calibri"/>
                          <a:cs typeface="Calibri"/>
                        </a:rPr>
                        <a:t>test_two_tier_solver.py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15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Tối ưu 2 tầng Outer/Inner, IDBO telemetry, bounds</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test_food_selector.py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test_diversity_penalty.py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test_portion_utils.py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test_experiment_week8.py</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Pipeline chạy benchmark 10 runs, CSV/PNG Tuần 8</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test_experiment_week9.py</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Pipeline 7 ngày, Carbs proxy minh bạch &amp; Natri P1/P2/P3</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r h="356616">
                <a:tc>
                  <a:txBody>
                    <a:bodyPr/>
                    <a:lstStyle/>
                    <a:p>
                      <a:pPr algn="l"/>
                      <a:r>
                        <a:rPr sz="760" b="1" i="0">
                          <a:solidFill>
                            <a:srgbClr val="1E2430"/>
                          </a:solidFill>
                          <a:latin typeface="Calibri"/>
                          <a:ea typeface="Calibri"/>
                          <a:cs typeface="Calibri"/>
                        </a:rPr>
                        <a:t>Data, Culinary &amp; Constraints</a:t>
                      </a:r>
                    </a:p>
                  </a:txBody>
                  <a:tcPr marL="73152" marR="73152" marT="27432" marB="27432" anchor="ctr">
                    <a:solidFill>
                      <a:srgbClr val="F5F7FB"/>
                    </a:solidFill>
                  </a:tcPr>
                </a:tc>
                <a:tc>
                  <a:txBody>
                    <a:bodyPr/>
                    <a:lstStyle/>
                    <a:p>
                      <a:pPr algn="ctr"/>
                      <a:r>
                        <a:rPr sz="76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760" b="0" i="0">
                          <a:solidFill>
                            <a:srgbClr val="1E2430"/>
                          </a:solidFill>
                          <a:latin typeface="Calibri"/>
                          <a:ea typeface="Calibri"/>
                          <a:cs typeface="Calibri"/>
                        </a:rPr>
                        <a:t>Schema dữ liệu, ẩm thực Slot &amp; Natri huyết áp</a:t>
                      </a:r>
                    </a:p>
                  </a:txBody>
                  <a:tcPr marL="73152" marR="73152" marT="27432" marB="27432" anchor="ctr">
                    <a:solidFill>
                      <a:srgbClr val="F5F7FB"/>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5F7FB"/>
                    </a:solidFill>
                  </a:tcPr>
                </a:tc>
              </a:tr>
              <a:tr h="356616">
                <a:tc>
                  <a:txBody>
                    <a:bodyPr/>
                    <a:lstStyle/>
                    <a:p>
                      <a:pPr algn="l"/>
                      <a:r>
                        <a:rPr sz="760" b="1" i="0">
                          <a:solidFill>
                            <a:srgbClr val="1E2430"/>
                          </a:solidFill>
                          <a:latin typeface="Calibri"/>
                          <a:ea typeface="Calibri"/>
                          <a:cs typeface="Calibri"/>
                        </a:rPr>
                        <a:t>Module kế thừa Tuần 1–7</a:t>
                      </a:r>
                    </a:p>
                  </a:txBody>
                  <a:tcPr marL="73152" marR="73152" marT="27432" marB="27432" anchor="ctr">
                    <a:solidFill>
                      <a:srgbClr val="FFFFFF"/>
                    </a:solidFill>
                  </a:tcPr>
                </a:tc>
                <a:tc>
                  <a:txBody>
                    <a:bodyPr/>
                    <a:lstStyle/>
                    <a:p>
                      <a:pPr algn="ctr"/>
                      <a:r>
                        <a:rPr sz="76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76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76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Two-Tier Solver (two_tier_solver.py) và Candidate Pools.
• Cài đặt module làm tròn khẩu phần 5g (portion_utils.py).
• Viết kịch bản demo_week8.py, demo_week9.py và tổng hợp slide báo cáo.
• Đóng góp phần Báo cáo Word Mục 1, 3, 5 Tuần 8.</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(diversity_penalty.py) cửa sổ trượt 2 ngày.
• Cài đặt bộ đo lường tỷ lệ món chính độc nhất calculate_unique_main_dish_pct.
• Đóng góp phần Báo cáo Word Mục 2, 4 Tuần 8 và Mục 2 Tuần 9.
• Thiết kế thuật toán ánh xạ chỉ mục bọ hung rời rạc.</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(experiment_week9.py, 3 profiles).
• Cài đặt bộ vẽ đồ thị plot_week8.py &amp; plot_week9.py (Heatmap, Radar, Bar chart).
• Triển khai bộ sinh đa phương án UX generate_options_week9.py (Option A/B/C).
• Phân tích số liệu và hoàn thiện báo cáo Word Mục 3, 4, 5 Tuần 9.</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205/205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candidate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