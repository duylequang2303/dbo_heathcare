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Rectangle 1"/>
          <p:cNvSpPr/>
          <p:nvPr/>
        </p:nvSpPr>
        <p:spPr>
          <a:xfrm>
            <a:off x="9144" y="9144"/>
            <a:ext cx="12173407" cy="155448"/>
          </a:xfrm>
          <a:prstGeom prst="rect">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94360"/>
            <a:ext cx="10515600" cy="320040"/>
          </a:xfrm>
          <a:prstGeom prst="rect">
            <a:avLst/>
          </a:prstGeom>
          <a:noFill/>
        </p:spPr>
        <p:txBody>
          <a:bodyPr wrap="square" anchor="t" lIns="0" rIns="0" tIns="0" bIns="0">
            <a:spAutoFit/>
          </a:bodyPr>
          <a:lstStyle/>
          <a:p>
            <a:pPr algn="l">
              <a:lnSpc>
                <a:spcPct val="100000"/>
              </a:lnSpc>
              <a:spcAft>
                <a:spcPts val="0"/>
              </a:spcAft>
            </a:pPr>
            <a:r>
              <a:rPr sz="1300" b="1" i="0">
                <a:solidFill>
                  <a:srgbClr val="9FB0CE"/>
                </a:solidFill>
                <a:latin typeface="Calibri"/>
                <a:ea typeface="Calibri"/>
                <a:cs typeface="Calibri"/>
              </a:rPr>
              <a:t>TRƯỜNG ĐẠI HỌC CÔNG THƯƠNG TP. HỒ CHÍ MINH — KHOA CÔNG NGHỆ THÔNG TIN</a:t>
            </a:r>
          </a:p>
        </p:txBody>
      </p:sp>
      <p:sp>
        <p:nvSpPr>
          <p:cNvPr id="4" name="Rectangle 3"/>
          <p:cNvSpPr/>
          <p:nvPr/>
        </p:nvSpPr>
        <p:spPr>
          <a:xfrm>
            <a:off x="822960" y="1005840"/>
            <a:ext cx="73152" cy="274320"/>
          </a:xfrm>
          <a:prstGeom prst="rect">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987552"/>
            <a:ext cx="10058400" cy="274320"/>
          </a:xfrm>
          <a:prstGeom prst="rect">
            <a:avLst/>
          </a:prstGeom>
          <a:noFill/>
        </p:spPr>
        <p:txBody>
          <a:bodyPr wrap="square" anchor="t" lIns="0" rIns="0" tIns="0" bIns="0">
            <a:spAutoFit/>
          </a:bodyPr>
          <a:lstStyle/>
          <a:p>
            <a:pPr algn="l">
              <a:lnSpc>
                <a:spcPct val="100000"/>
              </a:lnSpc>
              <a:spcAft>
                <a:spcPts val="0"/>
              </a:spcAft>
            </a:pPr>
            <a:r>
              <a:rPr sz="1250" b="1" i="0">
                <a:solidFill>
                  <a:srgbClr val="D9822B"/>
                </a:solidFill>
                <a:latin typeface="Calibri"/>
                <a:ea typeface="Calibri"/>
                <a:cs typeface="Calibri"/>
              </a:rPr>
              <a:t>KHÓA LUẬN TỐT NGHIỆP CỬ NHÂN CNTT · MÃ ĐỀ TÀI: CNTT-KLCN142</a:t>
            </a:r>
          </a:p>
        </p:txBody>
      </p:sp>
      <p:sp>
        <p:nvSpPr>
          <p:cNvPr id="6" name="TextBox 5"/>
          <p:cNvSpPr txBox="1"/>
          <p:nvPr/>
        </p:nvSpPr>
        <p:spPr>
          <a:xfrm>
            <a:off x="822960" y="1417320"/>
            <a:ext cx="10515600" cy="868680"/>
          </a:xfrm>
          <a:prstGeom prst="rect">
            <a:avLst/>
          </a:prstGeom>
          <a:noFill/>
        </p:spPr>
        <p:txBody>
          <a:bodyPr wrap="square" anchor="t" lIns="0" rIns="0" tIns="0" bIns="0">
            <a:spAutoFit/>
          </a:bodyPr>
          <a:lstStyle/>
          <a:p>
            <a:pPr algn="l">
              <a:lnSpc>
                <a:spcPct val="100000"/>
              </a:lnSpc>
              <a:spcAft>
                <a:spcPts val="0"/>
              </a:spcAft>
            </a:pPr>
            <a:r>
              <a:rPr sz="2800" b="1" i="0">
                <a:solidFill>
                  <a:srgbClr val="FFFFFF"/>
                </a:solidFill>
                <a:latin typeface="Calibri"/>
                <a:ea typeface="Calibri"/>
                <a:cs typeface="Calibri"/>
              </a:rPr>
              <a:t>BÁO CÁO TIẾN ĐỘ THỰC HIỆN ĐỀ TÀI (TUẦN 8 – 9)</a:t>
            </a:r>
          </a:p>
        </p:txBody>
      </p:sp>
      <p:sp>
        <p:nvSpPr>
          <p:cNvPr id="7" name="TextBox 6"/>
          <p:cNvSpPr txBox="1"/>
          <p:nvPr/>
        </p:nvSpPr>
        <p:spPr>
          <a:xfrm>
            <a:off x="822960" y="2331720"/>
            <a:ext cx="10515600" cy="365760"/>
          </a:xfrm>
          <a:prstGeom prst="rect">
            <a:avLst/>
          </a:prstGeom>
          <a:noFill/>
        </p:spPr>
        <p:txBody>
          <a:bodyPr wrap="square" anchor="t" lIns="0" rIns="0" tIns="0" bIns="0">
            <a:spAutoFit/>
          </a:bodyPr>
          <a:lstStyle/>
          <a:p>
            <a:pPr algn="l">
              <a:lnSpc>
                <a:spcPct val="100000"/>
              </a:lnSpc>
              <a:spcAft>
                <a:spcPts val="0"/>
              </a:spcAft>
            </a:pPr>
            <a:r>
              <a:rPr sz="1750" b="0" i="0">
                <a:solidFill>
                  <a:srgbClr val="DDE5F5"/>
                </a:solidFill>
                <a:latin typeface="Calibri"/>
                <a:ea typeface="Calibri"/>
                <a:cs typeface="Calibri"/>
              </a:rPr>
              <a:t>Tối Ưu Hóa 2 Tầng (Two-Tier Solver) &amp; Lập Kế Hoạch 7 Ngày Đa Bệnh Lý (IDBO vs DBO)</a:t>
            </a:r>
          </a:p>
        </p:txBody>
      </p:sp>
      <p:sp>
        <p:nvSpPr>
          <p:cNvPr id="8" name="TextBox 7"/>
          <p:cNvSpPr txBox="1"/>
          <p:nvPr/>
        </p:nvSpPr>
        <p:spPr>
          <a:xfrm>
            <a:off x="822960" y="2788920"/>
            <a:ext cx="10515600" cy="320040"/>
          </a:xfrm>
          <a:prstGeom prst="rect">
            <a:avLst/>
          </a:prstGeom>
          <a:noFill/>
        </p:spPr>
        <p:txBody>
          <a:bodyPr wrap="square" anchor="t" lIns="0" rIns="0" tIns="0" bIns="0">
            <a:spAutoFit/>
          </a:bodyPr>
          <a:lstStyle/>
          <a:p>
            <a:pPr algn="l">
              <a:lnSpc>
                <a:spcPct val="100000"/>
              </a:lnSpc>
              <a:spcAft>
                <a:spcPts val="0"/>
              </a:spcAft>
            </a:pPr>
            <a:r>
              <a:rPr sz="1350" b="0" i="0">
                <a:solidFill>
                  <a:srgbClr val="C9D5EA"/>
                </a:solidFill>
                <a:latin typeface="Calibri"/>
                <a:ea typeface="Calibri"/>
                <a:cs typeface="Calibri"/>
              </a:rPr>
              <a:t>Tự chọn món tự do từ 15.929 thực phẩm · Phạt lặp Diversity Penalty · Đánh giá Carbohydrate &amp; Kiểm soát Natri</a:t>
            </a:r>
          </a:p>
        </p:txBody>
      </p:sp>
      <p:sp>
        <p:nvSpPr>
          <p:cNvPr id="9" name="Rectangle 8"/>
          <p:cNvSpPr/>
          <p:nvPr/>
        </p:nvSpPr>
        <p:spPr>
          <a:xfrm>
            <a:off x="822960" y="3246120"/>
            <a:ext cx="2286000" cy="31750"/>
          </a:xfrm>
          <a:prstGeom prst="rect">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657600"/>
            <a:ext cx="10515600" cy="1463040"/>
          </a:xfrm>
          <a:prstGeom prst="rect">
            <a:avLst/>
          </a:prstGeom>
          <a:noFill/>
        </p:spPr>
        <p:txBody>
          <a:bodyPr wrap="square" anchor="t" lIns="0" rIns="0" tIns="0" bIns="0">
            <a:spAutoFit/>
          </a:bodyPr>
          <a:lstStyle/>
          <a:p>
            <a:pPr algn="l">
              <a:lnSpc>
                <a:spcPct val="128000"/>
              </a:lnSpc>
              <a:spcAft>
                <a:spcPts val="0"/>
              </a:spcAft>
            </a:pPr>
            <a:r>
              <a:rPr sz="1400" b="1" i="0">
                <a:solidFill>
                  <a:srgbClr val="FFFFFF"/>
                </a:solidFill>
                <a:latin typeface="Calibri"/>
                <a:ea typeface="Calibri"/>
                <a:cs typeface="Calibri"/>
              </a:rPr>
              <a:t>Tên đề tài: </a:t>
            </a:r>
            <a:r>
              <a:rPr sz="1400" b="0" i="0">
                <a:solidFill>
                  <a:srgbClr val="C9D5EA"/>
                </a:solidFill>
                <a:latin typeface="Calibri"/>
                <a:ea typeface="Calibri"/>
                <a:cs typeface="Calibri"/>
              </a:rPr>
              <a:t>Hệ thống đề xuất thực đơn dinh dưỡng cá nhân hóa dựa trên thuật toán IDBO</a:t>
            </a:r>
          </a:p>
          <a:p>
            <a:pPr algn="l">
              <a:lnSpc>
                <a:spcPct val="128000"/>
              </a:lnSpc>
              <a:spcAft>
                <a:spcPts val="0"/>
              </a:spcAft>
            </a:pPr>
            <a:r>
              <a:rPr sz="1400" b="1" i="0">
                <a:solidFill>
                  <a:srgbClr val="FFFFFF"/>
                </a:solidFill>
                <a:latin typeface="Calibri"/>
                <a:ea typeface="Calibri"/>
                <a:cs typeface="Calibri"/>
              </a:rPr>
              <a:t>Giảng viên hướng dẫn: </a:t>
            </a:r>
            <a:r>
              <a:rPr sz="1400" b="0" i="0">
                <a:solidFill>
                  <a:srgbClr val="C9D5EA"/>
                </a:solidFill>
                <a:latin typeface="Calibri"/>
                <a:ea typeface="Calibri"/>
                <a:cs typeface="Calibri"/>
              </a:rPr>
              <a:t>ThS. Đinh Nguyễn Trọng Nghĩa</a:t>
            </a:r>
          </a:p>
          <a:p>
            <a:pPr algn="l">
              <a:lnSpc>
                <a:spcPct val="128000"/>
              </a:lnSpc>
              <a:spcAft>
                <a:spcPts val="0"/>
              </a:spcAft>
            </a:pPr>
            <a:r>
              <a:rPr sz="1400" b="1" i="0">
                <a:solidFill>
                  <a:srgbClr val="FFFFFF"/>
                </a:solidFill>
                <a:latin typeface="Calibri"/>
                <a:ea typeface="Calibri"/>
                <a:cs typeface="Calibri"/>
              </a:rPr>
              <a:t>Nhóm sinh viên thực hiện: </a:t>
            </a:r>
            <a:r>
              <a:rPr sz="1400" b="1" i="0">
                <a:solidFill>
                  <a:srgbClr val="FFEECC"/>
                </a:solidFill>
                <a:latin typeface="Calibri"/>
                <a:ea typeface="Calibri"/>
                <a:cs typeface="Calibri"/>
              </a:rPr>
              <a:t>Lê Quang Duy (2001230123) · Đặng Nguyễn Minh Đăng (2001230175) · Hồ Trung Cương (2001230070)</a:t>
            </a:r>
          </a:p>
        </p:txBody>
      </p:sp>
      <p:sp>
        <p:nvSpPr>
          <p:cNvPr id="11" name="TextBox 10"/>
          <p:cNvSpPr txBox="1"/>
          <p:nvPr/>
        </p:nvSpPr>
        <p:spPr>
          <a:xfrm>
            <a:off x="822960" y="6080760"/>
            <a:ext cx="10515600" cy="365760"/>
          </a:xfrm>
          <a:prstGeom prst="rect">
            <a:avLst/>
          </a:prstGeom>
          <a:noFill/>
        </p:spPr>
        <p:txBody>
          <a:bodyPr wrap="square" anchor="t" lIns="0" rIns="0" tIns="0" bIns="0">
            <a:spAutoFit/>
          </a:bodyPr>
          <a:lstStyle/>
          <a:p>
            <a:pPr algn="l">
              <a:lnSpc>
                <a:spcPct val="100000"/>
              </a:lnSpc>
              <a:spcAft>
                <a:spcPts val="0"/>
              </a:spcAft>
            </a:pPr>
            <a:r>
              <a:rPr sz="1200" b="0" i="0">
                <a:solidFill>
                  <a:srgbClr val="9FB0CE"/>
                </a:solidFill>
                <a:latin typeface="Calibri"/>
                <a:ea typeface="Calibri"/>
                <a:cs typeface="Calibri"/>
              </a:rPr>
              <a:t>Thời gian báo cáo: Tuần 8–9 (Tháng 10/2026) · 205/205 Unit Tests PASS · CSDL 15.929 món tích hợp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183112" cy="237744"/>
          </a:xfrm>
          <a:prstGeom prst="rect">
            <a:avLst/>
          </a:prstGeom>
          <a:noFill/>
        </p:spPr>
        <p:txBody>
          <a:bodyPr wrap="square" anchor="t" lIns="0" rIns="0" tIns="0" bIns="0">
            <a:spAutoFit/>
          </a:bodyPr>
          <a:lstStyle/>
          <a:p>
            <a:pPr algn="l">
              <a:lnSpc>
                <a:spcPct val="100000"/>
              </a:lnSpc>
              <a:spcAft>
                <a:spcPts val="0"/>
              </a:spcAft>
            </a:pPr>
            <a:r>
              <a:rPr sz="1150" b="1" i="0">
                <a:solidFill>
                  <a:srgbClr val="1B2A4A"/>
                </a:solidFill>
                <a:latin typeface="Calibri"/>
                <a:ea typeface="Calibri"/>
                <a:cs typeface="Calibri"/>
              </a:rPr>
              <a:t>ĐỘNG LỰC NGHIÊN CỨU &amp; BỐI CẢNH</a:t>
            </a:r>
          </a:p>
        </p:txBody>
      </p:sp>
      <p:sp>
        <p:nvSpPr>
          <p:cNvPr id="4" name="TextBox 3"/>
          <p:cNvSpPr txBox="1"/>
          <p:nvPr/>
        </p:nvSpPr>
        <p:spPr>
          <a:xfrm>
            <a:off x="502920" y="530352"/>
            <a:ext cx="11183112" cy="475488"/>
          </a:xfrm>
          <a:prstGeom prst="rect">
            <a:avLst/>
          </a:prstGeom>
          <a:noFill/>
        </p:spPr>
        <p:txBody>
          <a:bodyPr wrap="square" anchor="t" lIns="0" rIns="0" tIns="0" bIns="0">
            <a:spAutoFit/>
          </a:bodyPr>
          <a:lstStyle/>
          <a:p>
            <a:pPr algn="l">
              <a:lnSpc>
                <a:spcPct val="100000"/>
              </a:lnSpc>
              <a:spcAft>
                <a:spcPts val="0"/>
              </a:spcAft>
            </a:pPr>
            <a:r>
              <a:rPr sz="2300" b="1" i="0">
                <a:solidFill>
                  <a:srgbClr val="1B2A4A"/>
                </a:solidFill>
                <a:latin typeface="Calibri"/>
                <a:ea typeface="Calibri"/>
                <a:cs typeface="Calibri"/>
              </a:rPr>
              <a:t>Bước Chuyển Từ Tuần 7 Sang Tuần 8–9 &amp; Ba Nội Dung Trọng Tâm</a:t>
            </a:r>
          </a:p>
        </p:txBody>
      </p:sp>
      <p:sp>
        <p:nvSpPr>
          <p:cNvPr id="5" name="Rectangle 4"/>
          <p:cNvSpPr/>
          <p:nvPr/>
        </p:nvSpPr>
        <p:spPr>
          <a:xfrm>
            <a:off x="502920" y="1042415"/>
            <a:ext cx="11183112" cy="1524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234440"/>
            <a:ext cx="3593592" cy="4983480"/>
          </a:xfrm>
          <a:prstGeom prst="roundRect">
            <a:avLst/>
          </a:prstGeom>
          <a:solidFill>
            <a:srgbClr val="FDF6EB"/>
          </a:solidFill>
          <a:ln w="12700">
            <a:solidFill>
              <a:srgbClr val="D3DB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234440"/>
            <a:ext cx="3593592" cy="73152"/>
          </a:xfrm>
          <a:prstGeom prst="rect">
            <a:avLst/>
          </a:prstGeom>
          <a:solidFill>
            <a:srgbClr val="B832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371600"/>
            <a:ext cx="3227832" cy="320040"/>
          </a:xfrm>
          <a:prstGeom prst="rect">
            <a:avLst/>
          </a:prstGeom>
          <a:noFill/>
        </p:spPr>
        <p:txBody>
          <a:bodyPr wrap="square" anchor="t" lIns="0" rIns="0" tIns="0" bIns="0">
            <a:spAutoFit/>
          </a:bodyPr>
          <a:lstStyle/>
          <a:p>
            <a:pPr algn="l">
              <a:lnSpc>
                <a:spcPct val="100000"/>
              </a:lnSpc>
              <a:spcAft>
                <a:spcPts val="0"/>
              </a:spcAft>
            </a:pPr>
            <a:r>
              <a:rPr sz="1300" b="1" i="0">
                <a:solidFill>
                  <a:srgbClr val="B83228"/>
                </a:solidFill>
                <a:latin typeface="Calibri"/>
                <a:ea typeface="Calibri"/>
                <a:cs typeface="Calibri"/>
              </a:rPr>
              <a:t>TUẦN 7: ĐỊNH LƯỢNG CỐ ĐỊNH</a:t>
            </a:r>
          </a:p>
        </p:txBody>
      </p:sp>
      <p:sp>
        <p:nvSpPr>
          <p:cNvPr id="9" name="TextBox 8"/>
          <p:cNvSpPr txBox="1"/>
          <p:nvPr/>
        </p:nvSpPr>
        <p:spPr>
          <a:xfrm>
            <a:off x="685800" y="1719072"/>
            <a:ext cx="3227832" cy="228600"/>
          </a:xfrm>
          <a:prstGeom prst="rect">
            <a:avLst/>
          </a:prstGeom>
          <a:noFill/>
        </p:spPr>
        <p:txBody>
          <a:bodyPr wrap="square" anchor="t" lIns="0" rIns="0" tIns="0" bIns="0">
            <a:spAutoFit/>
          </a:bodyPr>
          <a:lstStyle/>
          <a:p>
            <a:pPr algn="l">
              <a:lnSpc>
                <a:spcPct val="100000"/>
              </a:lnSpc>
              <a:spcAft>
                <a:spcPts val="0"/>
              </a:spcAft>
            </a:pPr>
            <a:r>
              <a:rPr sz="1050" b="1" i="0">
                <a:solidFill>
                  <a:srgbClr val="1E2430"/>
                </a:solidFill>
                <a:latin typeface="Calibri"/>
                <a:ea typeface="Calibri"/>
                <a:cs typeface="Calibri"/>
              </a:rPr>
              <a:t>Hạn chế cố hữu cần vượt qua</a:t>
            </a:r>
          </a:p>
        </p:txBody>
      </p:sp>
      <p:sp>
        <p:nvSpPr>
          <p:cNvPr id="10" name="Rectangle 9"/>
          <p:cNvSpPr/>
          <p:nvPr/>
        </p:nvSpPr>
        <p:spPr>
          <a:xfrm>
            <a:off x="685800" y="1993392"/>
            <a:ext cx="3227832" cy="1270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103120"/>
            <a:ext cx="3227832" cy="3931920"/>
          </a:xfrm>
          <a:prstGeom prst="rect">
            <a:avLst/>
          </a:prstGeom>
          <a:noFill/>
        </p:spPr>
        <p:txBody>
          <a:bodyPr wrap="square" anchor="t" lIns="0" rIns="0" tIns="0" bIns="0">
            <a:spAutoFit/>
          </a:bodyPr>
          <a:lstStyle/>
          <a:p>
            <a:pPr algn="l">
              <a:lnSpc>
                <a:spcPct val="125000"/>
              </a:lnSpc>
              <a:spcAft>
                <a:spcPts val="0"/>
              </a:spcAft>
            </a:pPr>
            <a:r>
              <a:rPr sz="1050" b="0" i="0">
                <a:solidFill>
                  <a:srgbClr val="1E2430"/>
                </a:solidFill>
                <a:latin typeface="Calibri"/>
                <a:ea typeface="Calibri"/>
                <a:cs typeface="Calibri"/>
              </a:rPr>
              <a:t>• Cố định trước 8 món ăn cho 4 bữa từ template có sẵn.
• Thuật toán chỉ tối ưu gram x ∈ [25, 350]^8 (liên tục thuần túy).
• Chưa giải quyết bài toán: Người dùng muốn tự do đổi món hàng ngày.
• Chỉ đánh giá trên 1 ngày đơn lẻ, không hỗ trợ lập kế hoạch theo tuần.</a:t>
            </a:r>
          </a:p>
        </p:txBody>
      </p:sp>
      <p:sp>
        <p:nvSpPr>
          <p:cNvPr id="12" name="Rounded Rectangle 11"/>
          <p:cNvSpPr/>
          <p:nvPr/>
        </p:nvSpPr>
        <p:spPr>
          <a:xfrm>
            <a:off x="4297680" y="1234440"/>
            <a:ext cx="3593592" cy="4983480"/>
          </a:xfrm>
          <a:prstGeom prst="roundRect">
            <a:avLst/>
          </a:prstGeom>
          <a:solidFill>
            <a:srgbClr val="F5F7FB"/>
          </a:solidFill>
          <a:ln w="12700">
            <a:solidFill>
              <a:srgbClr val="D3DB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97680" y="1234440"/>
            <a:ext cx="3593592" cy="73152"/>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80560" y="1371600"/>
            <a:ext cx="3227832" cy="320040"/>
          </a:xfrm>
          <a:prstGeom prst="rect">
            <a:avLst/>
          </a:prstGeom>
          <a:noFill/>
        </p:spPr>
        <p:txBody>
          <a:bodyPr wrap="square" anchor="t" lIns="0" rIns="0" tIns="0" bIns="0">
            <a:spAutoFit/>
          </a:bodyPr>
          <a:lstStyle/>
          <a:p>
            <a:pPr algn="l">
              <a:lnSpc>
                <a:spcPct val="100000"/>
              </a:lnSpc>
              <a:spcAft>
                <a:spcPts val="0"/>
              </a:spcAft>
            </a:pPr>
            <a:r>
              <a:rPr sz="1300" b="1" i="0">
                <a:solidFill>
                  <a:srgbClr val="1B2A4A"/>
                </a:solidFill>
                <a:latin typeface="Calibri"/>
                <a:ea typeface="Calibri"/>
                <a:cs typeface="Calibri"/>
              </a:rPr>
              <a:t>TUẦN 8: BÀI TOÁN 2 TẦNG (TWO-TIER)</a:t>
            </a:r>
          </a:p>
        </p:txBody>
      </p:sp>
      <p:sp>
        <p:nvSpPr>
          <p:cNvPr id="15" name="TextBox 14"/>
          <p:cNvSpPr txBox="1"/>
          <p:nvPr/>
        </p:nvSpPr>
        <p:spPr>
          <a:xfrm>
            <a:off x="4480560" y="1719072"/>
            <a:ext cx="3227832" cy="228600"/>
          </a:xfrm>
          <a:prstGeom prst="rect">
            <a:avLst/>
          </a:prstGeom>
          <a:noFill/>
        </p:spPr>
        <p:txBody>
          <a:bodyPr wrap="square" anchor="t" lIns="0" rIns="0" tIns="0" bIns="0">
            <a:spAutoFit/>
          </a:bodyPr>
          <a:lstStyle/>
          <a:p>
            <a:pPr algn="l">
              <a:lnSpc>
                <a:spcPct val="100000"/>
              </a:lnSpc>
              <a:spcAft>
                <a:spcPts val="0"/>
              </a:spcAft>
            </a:pPr>
            <a:r>
              <a:rPr sz="1050" b="1" i="0">
                <a:solidFill>
                  <a:srgbClr val="1E2430"/>
                </a:solidFill>
                <a:latin typeface="Calibri"/>
                <a:ea typeface="Calibri"/>
                <a:cs typeface="Calibri"/>
              </a:rPr>
              <a:t>Mixed-Integer Discrete &amp; Continuous</a:t>
            </a:r>
          </a:p>
        </p:txBody>
      </p:sp>
      <p:sp>
        <p:nvSpPr>
          <p:cNvPr id="16" name="Rectangle 15"/>
          <p:cNvSpPr/>
          <p:nvPr/>
        </p:nvSpPr>
        <p:spPr>
          <a:xfrm>
            <a:off x="4480560" y="1993392"/>
            <a:ext cx="3227832" cy="1270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80560" y="2103120"/>
            <a:ext cx="3227832" cy="3931920"/>
          </a:xfrm>
          <a:prstGeom prst="rect">
            <a:avLst/>
          </a:prstGeom>
          <a:noFill/>
        </p:spPr>
        <p:txBody>
          <a:bodyPr wrap="square" anchor="t" lIns="0" rIns="0" tIns="0" bIns="0">
            <a:spAutoFit/>
          </a:bodyPr>
          <a:lstStyle/>
          <a:p>
            <a:pPr algn="l">
              <a:lnSpc>
                <a:spcPct val="125000"/>
              </a:lnSpc>
              <a:spcAft>
                <a:spcPts val="0"/>
              </a:spcAft>
            </a:pPr>
            <a:r>
              <a:rPr sz="1050" b="0" i="0">
                <a:solidFill>
                  <a:srgbClr val="1E2430"/>
                </a:solidFill>
                <a:latin typeface="Calibri"/>
                <a:ea typeface="Calibri"/>
                <a:cs typeface="Calibri"/>
              </a:rPr>
              <a:t>• Mở rộng không gian chọn món từ toàn bộ CSDL 15.929 thực phẩm.
• Tầng 1 (Outer): Tự chọn tổ hợp món theo cấu trúc bữa (rời rạc).
• Tầng 2 (Inner): Tối ưu định lượng gram theo mục tiêu calo (liên tục).
• Khẩu phần được làm tròn về bội số 5g thực tế chế biến.</a:t>
            </a:r>
          </a:p>
        </p:txBody>
      </p:sp>
      <p:sp>
        <p:nvSpPr>
          <p:cNvPr id="18" name="Rounded Rectangle 17"/>
          <p:cNvSpPr/>
          <p:nvPr/>
        </p:nvSpPr>
        <p:spPr>
          <a:xfrm>
            <a:off x="8092440" y="1234440"/>
            <a:ext cx="3593592" cy="4983480"/>
          </a:xfrm>
          <a:prstGeom prst="roundRect">
            <a:avLst/>
          </a:prstGeom>
          <a:solidFill>
            <a:srgbClr val="F5F7FB"/>
          </a:solidFill>
          <a:ln w="12700">
            <a:solidFill>
              <a:srgbClr val="D3DB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92440" y="1234440"/>
            <a:ext cx="3593592" cy="73152"/>
          </a:xfrm>
          <a:prstGeom prst="rect">
            <a:avLst/>
          </a:prstGeom>
          <a:solidFill>
            <a:srgbClr val="21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5320" y="1371600"/>
            <a:ext cx="3227832" cy="320040"/>
          </a:xfrm>
          <a:prstGeom prst="rect">
            <a:avLst/>
          </a:prstGeom>
          <a:noFill/>
        </p:spPr>
        <p:txBody>
          <a:bodyPr wrap="square" anchor="t" lIns="0" rIns="0" tIns="0" bIns="0">
            <a:spAutoFit/>
          </a:bodyPr>
          <a:lstStyle/>
          <a:p>
            <a:pPr algn="l">
              <a:lnSpc>
                <a:spcPct val="100000"/>
              </a:lnSpc>
              <a:spcAft>
                <a:spcPts val="0"/>
              </a:spcAft>
            </a:pPr>
            <a:r>
              <a:rPr sz="1300" b="1" i="0">
                <a:solidFill>
                  <a:srgbClr val="217A4B"/>
                </a:solidFill>
                <a:latin typeface="Calibri"/>
                <a:ea typeface="Calibri"/>
                <a:cs typeface="Calibri"/>
              </a:rPr>
              <a:t>TUẦN 9: CHU KỲ 7 NGÀY &amp; ĐA BỆNH LÝ</a:t>
            </a:r>
          </a:p>
        </p:txBody>
      </p:sp>
      <p:sp>
        <p:nvSpPr>
          <p:cNvPr id="21" name="TextBox 20"/>
          <p:cNvSpPr txBox="1"/>
          <p:nvPr/>
        </p:nvSpPr>
        <p:spPr>
          <a:xfrm>
            <a:off x="8275320" y="1719072"/>
            <a:ext cx="3227832" cy="228600"/>
          </a:xfrm>
          <a:prstGeom prst="rect">
            <a:avLst/>
          </a:prstGeom>
          <a:noFill/>
        </p:spPr>
        <p:txBody>
          <a:bodyPr wrap="square" anchor="t" lIns="0" rIns="0" tIns="0" bIns="0">
            <a:spAutoFit/>
          </a:bodyPr>
          <a:lstStyle/>
          <a:p>
            <a:pPr algn="l">
              <a:lnSpc>
                <a:spcPct val="100000"/>
              </a:lnSpc>
              <a:spcAft>
                <a:spcPts val="0"/>
              </a:spcAft>
            </a:pPr>
            <a:r>
              <a:rPr sz="1050" b="1" i="0">
                <a:solidFill>
                  <a:srgbClr val="1E2430"/>
                </a:solidFill>
                <a:latin typeface="Calibri"/>
                <a:ea typeface="Calibri"/>
                <a:cs typeface="Calibri"/>
              </a:rPr>
              <a:t>Diversity Penalty &amp; Profile-Specific Nutrition Constraints</a:t>
            </a:r>
          </a:p>
        </p:txBody>
      </p:sp>
      <p:sp>
        <p:nvSpPr>
          <p:cNvPr id="22" name="Rectangle 21"/>
          <p:cNvSpPr/>
          <p:nvPr/>
        </p:nvSpPr>
        <p:spPr>
          <a:xfrm>
            <a:off x="8275320" y="1993392"/>
            <a:ext cx="3227832" cy="1270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75320" y="2103120"/>
            <a:ext cx="3227832" cy="3931920"/>
          </a:xfrm>
          <a:prstGeom prst="rect">
            <a:avLst/>
          </a:prstGeom>
          <a:noFill/>
        </p:spPr>
        <p:txBody>
          <a:bodyPr wrap="square" anchor="t" lIns="0" rIns="0" tIns="0" bIns="0">
            <a:spAutoFit/>
          </a:bodyPr>
          <a:lstStyle/>
          <a:p>
            <a:pPr algn="l">
              <a:lnSpc>
                <a:spcPct val="125000"/>
              </a:lnSpc>
              <a:spcAft>
                <a:spcPts val="0"/>
              </a:spcAft>
            </a:pPr>
            <a:r>
              <a:rPr sz="1050" b="0" i="0">
                <a:solidFill>
                  <a:srgbClr val="1E2430"/>
                </a:solidFill>
                <a:latin typeface="Calibri"/>
                <a:ea typeface="Calibri"/>
                <a:cs typeface="Calibri"/>
              </a:rPr>
              <a:t>• Cơ chế phạt lặp món Diversity Penalty cửa sổ trượt 2 ngày (&gt;= 80% độc nhất).
• Hỗ trợ 3 hồ sơ dinh dưỡng mô phỏng: P1 (Chuẩn), P2 (giảm tải Carbs), P3 (kiểm soát Natri).
• Ràng buộc thực nghiệm: Giảm tải Carbs cho P2; Natri &lt;= 1500mg/ngày cho P3.
• Bộ sinh đa phương án UX (Option A/B/C với các seed độc lập).</a:t>
            </a:r>
          </a:p>
        </p:txBody>
      </p:sp>
      <p:sp>
        <p:nvSpPr>
          <p:cNvPr id="24" name="Rectangle 23"/>
          <p:cNvSpPr/>
          <p:nvPr/>
        </p:nvSpPr>
        <p:spPr>
          <a:xfrm>
            <a:off x="502920" y="6437376"/>
            <a:ext cx="11183112" cy="1270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2920" y="6501384"/>
            <a:ext cx="8686800" cy="274320"/>
          </a:xfrm>
          <a:prstGeom prst="rect">
            <a:avLst/>
          </a:prstGeom>
          <a:noFill/>
        </p:spPr>
        <p:txBody>
          <a:bodyPr wrap="square" anchor="t" lIns="0" rIns="0" tIns="0" bIns="0">
            <a:spAutoFit/>
          </a:bodyPr>
          <a:lstStyle/>
          <a:p>
            <a:pPr algn="l">
              <a:lnSpc>
                <a:spcPct val="100000"/>
              </a:lnSpc>
              <a:spcAft>
                <a:spcPts val="0"/>
              </a:spcAft>
            </a:pPr>
            <a:r>
              <a:rPr sz="950" b="0" i="0">
                <a:solidFill>
                  <a:srgbClr val="5A6478"/>
                </a:solidFill>
                <a:latin typeface="Calibri"/>
                <a:ea typeface="Calibri"/>
                <a:cs typeface="Calibri"/>
              </a:rPr>
              <a:t>Bối cảnh nghiên cứu và hướng phát triển mô hình Tuần 8–9</a:t>
            </a:r>
          </a:p>
        </p:txBody>
      </p:sp>
      <p:sp>
        <p:nvSpPr>
          <p:cNvPr id="26" name="TextBox 25"/>
          <p:cNvSpPr txBox="1"/>
          <p:nvPr/>
        </p:nvSpPr>
        <p:spPr>
          <a:xfrm>
            <a:off x="9601200" y="6501384"/>
            <a:ext cx="2084831" cy="274320"/>
          </a:xfrm>
          <a:prstGeom prst="rect">
            <a:avLst/>
          </a:prstGeom>
          <a:noFill/>
        </p:spPr>
        <p:txBody>
          <a:bodyPr wrap="square" anchor="t" lIns="0" rIns="0" tIns="0" bIns="0">
            <a:spAutoFit/>
          </a:bodyPr>
          <a:lstStyle/>
          <a:p>
            <a:pPr algn="r">
              <a:lnSpc>
                <a:spcPct val="100000"/>
              </a:lnSpc>
              <a:spcAft>
                <a:spcPts val="0"/>
              </a:spcAft>
            </a:pPr>
            <a:r>
              <a:rPr sz="950" b="1" i="0">
                <a:solidFill>
                  <a:srgbClr val="5A6478"/>
                </a:solidFill>
                <a:latin typeface="Calibri"/>
                <a:ea typeface="Calibri"/>
                <a:cs typeface="Calibri"/>
              </a:rPr>
              <a:t>2 / 14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183112" cy="237744"/>
          </a:xfrm>
          <a:prstGeom prst="rect">
            <a:avLst/>
          </a:prstGeom>
          <a:noFill/>
        </p:spPr>
        <p:txBody>
          <a:bodyPr wrap="square" anchor="t" lIns="0" rIns="0" tIns="0" bIns="0">
            <a:spAutoFit/>
          </a:bodyPr>
          <a:lstStyle/>
          <a:p>
            <a:pPr algn="l">
              <a:lnSpc>
                <a:spcPct val="100000"/>
              </a:lnSpc>
              <a:spcAft>
                <a:spcPts val="0"/>
              </a:spcAft>
            </a:pPr>
            <a:r>
              <a:rPr sz="1150" b="1" i="0">
                <a:solidFill>
                  <a:srgbClr val="1B2A4A"/>
                </a:solidFill>
                <a:latin typeface="Calibri"/>
                <a:ea typeface="Calibri"/>
                <a:cs typeface="Calibri"/>
              </a:rPr>
              <a:t>THIẾT KẾ GIẢI THUẬT TUẦN 8</a:t>
            </a:r>
          </a:p>
        </p:txBody>
      </p:sp>
      <p:sp>
        <p:nvSpPr>
          <p:cNvPr id="4" name="TextBox 3"/>
          <p:cNvSpPr txBox="1"/>
          <p:nvPr/>
        </p:nvSpPr>
        <p:spPr>
          <a:xfrm>
            <a:off x="502920" y="530352"/>
            <a:ext cx="11183112" cy="475488"/>
          </a:xfrm>
          <a:prstGeom prst="rect">
            <a:avLst/>
          </a:prstGeom>
          <a:noFill/>
        </p:spPr>
        <p:txBody>
          <a:bodyPr wrap="square" anchor="t" lIns="0" rIns="0" tIns="0" bIns="0">
            <a:spAutoFit/>
          </a:bodyPr>
          <a:lstStyle/>
          <a:p>
            <a:pPr algn="l">
              <a:lnSpc>
                <a:spcPct val="100000"/>
              </a:lnSpc>
              <a:spcAft>
                <a:spcPts val="0"/>
              </a:spcAft>
            </a:pPr>
            <a:r>
              <a:rPr sz="2300" b="1" i="0">
                <a:solidFill>
                  <a:srgbClr val="1B2A4A"/>
                </a:solidFill>
                <a:latin typeface="Calibri"/>
                <a:ea typeface="Calibri"/>
                <a:cs typeface="Calibri"/>
              </a:rPr>
              <a:t>Kiến Trúc Tối Ưu Hóa 2 Tầng (Mixed-Integer Two-Tier Solver)</a:t>
            </a:r>
          </a:p>
        </p:txBody>
      </p:sp>
      <p:sp>
        <p:nvSpPr>
          <p:cNvPr id="5" name="Rectangle 4"/>
          <p:cNvSpPr/>
          <p:nvPr/>
        </p:nvSpPr>
        <p:spPr>
          <a:xfrm>
            <a:off x="502920" y="1042415"/>
            <a:ext cx="11183112" cy="1524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234440"/>
            <a:ext cx="5440680" cy="4983480"/>
          </a:xfrm>
          <a:prstGeom prst="roundRect">
            <a:avLst/>
          </a:prstGeom>
          <a:solidFill>
            <a:srgbClr val="F5F7FB"/>
          </a:solidFill>
          <a:ln w="12700">
            <a:solidFill>
              <a:srgbClr val="D3DB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234440"/>
            <a:ext cx="5440680" cy="73152"/>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371600"/>
            <a:ext cx="4983480" cy="320040"/>
          </a:xfrm>
          <a:prstGeom prst="rect">
            <a:avLst/>
          </a:prstGeom>
          <a:noFill/>
        </p:spPr>
        <p:txBody>
          <a:bodyPr wrap="square" anchor="t" lIns="0" rIns="0" tIns="0" bIns="0">
            <a:spAutoFit/>
          </a:bodyPr>
          <a:lstStyle/>
          <a:p>
            <a:pPr algn="l">
              <a:lnSpc>
                <a:spcPct val="100000"/>
              </a:lnSpc>
              <a:spcAft>
                <a:spcPts val="0"/>
              </a:spcAft>
            </a:pPr>
            <a:r>
              <a:rPr sz="1350" b="1" i="0">
                <a:solidFill>
                  <a:srgbClr val="1B2A4A"/>
                </a:solidFill>
                <a:latin typeface="Calibri"/>
                <a:ea typeface="Calibri"/>
                <a:cs typeface="Calibri"/>
              </a:rPr>
              <a:t>TẦNG 1 (OUTER): CHỌN TỔ HỢP MÓN RỜI RẠC</a:t>
            </a:r>
          </a:p>
        </p:txBody>
      </p:sp>
      <p:sp>
        <p:nvSpPr>
          <p:cNvPr id="9" name="TextBox 8"/>
          <p:cNvSpPr txBox="1"/>
          <p:nvPr/>
        </p:nvSpPr>
        <p:spPr>
          <a:xfrm>
            <a:off x="731520" y="1691640"/>
            <a:ext cx="4983480" cy="228600"/>
          </a:xfrm>
          <a:prstGeom prst="rect">
            <a:avLst/>
          </a:prstGeom>
          <a:noFill/>
        </p:spPr>
        <p:txBody>
          <a:bodyPr wrap="square" anchor="t" lIns="0" rIns="0" tIns="0" bIns="0">
            <a:spAutoFit/>
          </a:bodyPr>
          <a:lstStyle/>
          <a:p>
            <a:pPr algn="l">
              <a:lnSpc>
                <a:spcPct val="100000"/>
              </a:lnSpc>
              <a:spcAft>
                <a:spcPts val="0"/>
              </a:spcAft>
            </a:pPr>
            <a:r>
              <a:rPr sz="1050" b="1" i="0">
                <a:solidFill>
                  <a:srgbClr val="D9822B"/>
                </a:solidFill>
                <a:latin typeface="Calibri"/>
                <a:ea typeface="Calibri"/>
                <a:cs typeface="Calibri"/>
              </a:rPr>
              <a:t>Không gian tìm kiếm: z ∈ [0, 1)^k — Ánh xạ chỉ mục Pool</a:t>
            </a:r>
          </a:p>
        </p:txBody>
      </p:sp>
      <p:sp>
        <p:nvSpPr>
          <p:cNvPr id="10" name="Rectangle 9"/>
          <p:cNvSpPr/>
          <p:nvPr/>
        </p:nvSpPr>
        <p:spPr>
          <a:xfrm>
            <a:off x="731520" y="1965960"/>
            <a:ext cx="4983480" cy="1270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057400"/>
            <a:ext cx="4983480" cy="228600"/>
          </a:xfrm>
          <a:prstGeom prst="rect">
            <a:avLst/>
          </a:prstGeom>
          <a:noFill/>
        </p:spPr>
        <p:txBody>
          <a:bodyPr wrap="square" anchor="t" lIns="0" rIns="0" tIns="0" bIns="0">
            <a:spAutoFit/>
          </a:bodyPr>
          <a:lstStyle/>
          <a:p>
            <a:pPr algn="l">
              <a:lnSpc>
                <a:spcPct val="100000"/>
              </a:lnSpc>
              <a:spcAft>
                <a:spcPts val="0"/>
              </a:spcAft>
            </a:pPr>
            <a:r>
              <a:rPr sz="1100" b="1" i="0">
                <a:solidFill>
                  <a:srgbClr val="1B2A4A"/>
                </a:solidFill>
                <a:latin typeface="Calibri"/>
                <a:ea typeface="Calibri"/>
                <a:cs typeface="Calibri"/>
              </a:rPr>
              <a:t>1. Biểu diễn cá thể bọ hung:</a:t>
            </a:r>
          </a:p>
        </p:txBody>
      </p:sp>
      <p:sp>
        <p:nvSpPr>
          <p:cNvPr id="12" name="TextBox 11"/>
          <p:cNvSpPr txBox="1"/>
          <p:nvPr/>
        </p:nvSpPr>
        <p:spPr>
          <a:xfrm>
            <a:off x="731520" y="2286000"/>
            <a:ext cx="4983480" cy="914400"/>
          </a:xfrm>
          <a:prstGeom prst="rect">
            <a:avLst/>
          </a:prstGeom>
          <a:noFill/>
        </p:spPr>
        <p:txBody>
          <a:bodyPr wrap="square" anchor="t" lIns="0" rIns="0" tIns="0" bIns="0">
            <a:spAutoFit/>
          </a:bodyPr>
          <a:lstStyle/>
          <a:p>
            <a:pPr algn="l">
              <a:lnSpc>
                <a:spcPct val="118000"/>
              </a:lnSpc>
              <a:spcAft>
                <a:spcPts val="0"/>
              </a:spcAft>
            </a:pPr>
            <a:r>
              <a:rPr sz="1019" b="0" i="0">
                <a:solidFill>
                  <a:srgbClr val="1E2430"/>
                </a:solidFill>
                <a:latin typeface="Calibri"/>
                <a:ea typeface="Calibri"/>
                <a:cs typeface="Calibri"/>
              </a:rPr>
              <a:t>• Mỗi cá thể là vector liên tục z = (z₁, z₂, ..., z₈) với z_i ∈ [0, 1).
• Chỉ số món thực phẩm trong Pool ứng viên được giải mã theo công thức:
      idx_i = floor(z_i × |Pool_i|), với Pool_i là danh mục món cho slot i.</a:t>
            </a:r>
          </a:p>
        </p:txBody>
      </p:sp>
      <p:sp>
        <p:nvSpPr>
          <p:cNvPr id="13" name="TextBox 12"/>
          <p:cNvSpPr txBox="1"/>
          <p:nvPr/>
        </p:nvSpPr>
        <p:spPr>
          <a:xfrm>
            <a:off x="731520" y="3246120"/>
            <a:ext cx="4983480" cy="228600"/>
          </a:xfrm>
          <a:prstGeom prst="rect">
            <a:avLst/>
          </a:prstGeom>
          <a:noFill/>
        </p:spPr>
        <p:txBody>
          <a:bodyPr wrap="square" anchor="t" lIns="0" rIns="0" tIns="0" bIns="0">
            <a:spAutoFit/>
          </a:bodyPr>
          <a:lstStyle/>
          <a:p>
            <a:pPr algn="l">
              <a:lnSpc>
                <a:spcPct val="100000"/>
              </a:lnSpc>
              <a:spcAft>
                <a:spcPts val="0"/>
              </a:spcAft>
            </a:pPr>
            <a:r>
              <a:rPr sz="1100" b="1" i="0">
                <a:solidFill>
                  <a:srgbClr val="1B2A4A"/>
                </a:solidFill>
                <a:latin typeface="Calibri"/>
                <a:ea typeface="Calibri"/>
                <a:cs typeface="Calibri"/>
              </a:rPr>
              <a:t>2. Phân loại theo cơ cấu 4 bữa ăn (meal_counts):</a:t>
            </a:r>
          </a:p>
        </p:txBody>
      </p:sp>
      <p:sp>
        <p:nvSpPr>
          <p:cNvPr id="14" name="TextBox 13"/>
          <p:cNvSpPr txBox="1"/>
          <p:nvPr/>
        </p:nvSpPr>
        <p:spPr>
          <a:xfrm>
            <a:off x="731520" y="3474720"/>
            <a:ext cx="4983480" cy="914400"/>
          </a:xfrm>
          <a:prstGeom prst="rect">
            <a:avLst/>
          </a:prstGeom>
          <a:noFill/>
        </p:spPr>
        <p:txBody>
          <a:bodyPr wrap="square" anchor="t" lIns="0" rIns="0" tIns="0" bIns="0">
            <a:spAutoFit/>
          </a:bodyPr>
          <a:lstStyle/>
          <a:p>
            <a:pPr algn="l">
              <a:lnSpc>
                <a:spcPct val="118000"/>
              </a:lnSpc>
              <a:spcAft>
                <a:spcPts val="0"/>
              </a:spcAft>
            </a:pPr>
            <a:r>
              <a:rPr sz="1019" b="0" i="0">
                <a:solidFill>
                  <a:srgbClr val="1E2430"/>
                </a:solidFill>
                <a:latin typeface="Calibri"/>
                <a:ea typeface="Calibri"/>
                <a:cs typeface="Calibri"/>
              </a:rPr>
              <a:t>• Bữa sáng (2 món): Ngũ cốc, bánh mì, sữa, món điểm tâm.
• Bữa trưa (2 món): Món chính đạm cao (thịt/cá) + Canh/rau củ.
• Bữa tối (2 món): Món chính nhẹ + Rau/củ quả bổ sung.
• Bữa phụ (2 món): Trái cây, hạt dinh dưỡng, sữa chua.</a:t>
            </a:r>
          </a:p>
        </p:txBody>
      </p:sp>
      <p:sp>
        <p:nvSpPr>
          <p:cNvPr id="15" name="TextBox 14"/>
          <p:cNvSpPr txBox="1"/>
          <p:nvPr/>
        </p:nvSpPr>
        <p:spPr>
          <a:xfrm>
            <a:off x="731520" y="4434840"/>
            <a:ext cx="4983480" cy="228600"/>
          </a:xfrm>
          <a:prstGeom prst="rect">
            <a:avLst/>
          </a:prstGeom>
          <a:noFill/>
        </p:spPr>
        <p:txBody>
          <a:bodyPr wrap="square" anchor="t" lIns="0" rIns="0" tIns="0" bIns="0">
            <a:spAutoFit/>
          </a:bodyPr>
          <a:lstStyle/>
          <a:p>
            <a:pPr algn="l">
              <a:lnSpc>
                <a:spcPct val="100000"/>
              </a:lnSpc>
              <a:spcAft>
                <a:spcPts val="0"/>
              </a:spcAft>
            </a:pPr>
            <a:r>
              <a:rPr sz="1100" b="1" i="0">
                <a:solidFill>
                  <a:srgbClr val="1B2A4A"/>
                </a:solidFill>
                <a:latin typeface="Calibri"/>
                <a:ea typeface="Calibri"/>
                <a:cs typeface="Calibri"/>
              </a:rPr>
              <a:t>3. Đánh giá độ thích nghi (Fitness function):</a:t>
            </a:r>
          </a:p>
        </p:txBody>
      </p:sp>
      <p:sp>
        <p:nvSpPr>
          <p:cNvPr id="16" name="TextBox 15"/>
          <p:cNvSpPr txBox="1"/>
          <p:nvPr/>
        </p:nvSpPr>
        <p:spPr>
          <a:xfrm>
            <a:off x="731520" y="4663440"/>
            <a:ext cx="4983480" cy="914400"/>
          </a:xfrm>
          <a:prstGeom prst="rect">
            <a:avLst/>
          </a:prstGeom>
          <a:noFill/>
        </p:spPr>
        <p:txBody>
          <a:bodyPr wrap="square" anchor="t" lIns="0" rIns="0" tIns="0" bIns="0">
            <a:spAutoFit/>
          </a:bodyPr>
          <a:lstStyle/>
          <a:p>
            <a:pPr algn="l">
              <a:lnSpc>
                <a:spcPct val="118000"/>
              </a:lnSpc>
              <a:spcAft>
                <a:spcPts val="0"/>
              </a:spcAft>
            </a:pPr>
            <a:r>
              <a:rPr sz="1019" b="0" i="0">
                <a:solidFill>
                  <a:srgbClr val="1E2430"/>
                </a:solidFill>
                <a:latin typeface="Calibri"/>
                <a:ea typeface="Calibri"/>
                <a:cs typeface="Calibri"/>
              </a:rPr>
              <a:t>• Độ thích nghi của vector món z chính là kết quả tốt nhất đạt được sau khi chạy tối ưu tầng 2 (Inner Solver) trên chính tổ hợp món đó.</a:t>
            </a:r>
          </a:p>
        </p:txBody>
      </p:sp>
      <p:sp>
        <p:nvSpPr>
          <p:cNvPr id="17" name="Rounded Rectangle 16"/>
          <p:cNvSpPr/>
          <p:nvPr/>
        </p:nvSpPr>
        <p:spPr>
          <a:xfrm>
            <a:off x="6245352" y="1234440"/>
            <a:ext cx="5440680" cy="4983480"/>
          </a:xfrm>
          <a:prstGeom prst="roundRect">
            <a:avLst/>
          </a:prstGeom>
          <a:solidFill>
            <a:srgbClr val="F5F7FB"/>
          </a:solidFill>
          <a:ln w="12700">
            <a:solidFill>
              <a:srgbClr val="D3DB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45352" y="1234440"/>
            <a:ext cx="5440680" cy="73152"/>
          </a:xfrm>
          <a:prstGeom prst="rect">
            <a:avLst/>
          </a:prstGeom>
          <a:solidFill>
            <a:srgbClr val="1D6F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73952" y="1371600"/>
            <a:ext cx="4983480" cy="320040"/>
          </a:xfrm>
          <a:prstGeom prst="rect">
            <a:avLst/>
          </a:prstGeom>
          <a:noFill/>
        </p:spPr>
        <p:txBody>
          <a:bodyPr wrap="square" anchor="t" lIns="0" rIns="0" tIns="0" bIns="0">
            <a:spAutoFit/>
          </a:bodyPr>
          <a:lstStyle/>
          <a:p>
            <a:pPr algn="l">
              <a:lnSpc>
                <a:spcPct val="100000"/>
              </a:lnSpc>
              <a:spcAft>
                <a:spcPts val="0"/>
              </a:spcAft>
            </a:pPr>
            <a:r>
              <a:rPr sz="1350" b="1" i="0">
                <a:solidFill>
                  <a:srgbClr val="1D6F6F"/>
                </a:solidFill>
                <a:latin typeface="Calibri"/>
                <a:ea typeface="Calibri"/>
                <a:cs typeface="Calibri"/>
              </a:rPr>
              <a:t>TẦNG 2 (INNER): TỐI ƯU ĐỊNH LƯỢNG KHẨU PHẦN</a:t>
            </a:r>
          </a:p>
        </p:txBody>
      </p:sp>
      <p:sp>
        <p:nvSpPr>
          <p:cNvPr id="20" name="TextBox 19"/>
          <p:cNvSpPr txBox="1"/>
          <p:nvPr/>
        </p:nvSpPr>
        <p:spPr>
          <a:xfrm>
            <a:off x="6473952" y="1691640"/>
            <a:ext cx="4983480" cy="228600"/>
          </a:xfrm>
          <a:prstGeom prst="rect">
            <a:avLst/>
          </a:prstGeom>
          <a:noFill/>
        </p:spPr>
        <p:txBody>
          <a:bodyPr wrap="square" anchor="t" lIns="0" rIns="0" tIns="0" bIns="0">
            <a:spAutoFit/>
          </a:bodyPr>
          <a:lstStyle/>
          <a:p>
            <a:pPr algn="l">
              <a:lnSpc>
                <a:spcPct val="100000"/>
              </a:lnSpc>
              <a:spcAft>
                <a:spcPts val="0"/>
              </a:spcAft>
            </a:pPr>
            <a:r>
              <a:rPr sz="1050" b="1" i="0">
                <a:solidFill>
                  <a:srgbClr val="217A4B"/>
                </a:solidFill>
                <a:latin typeface="Calibri"/>
                <a:ea typeface="Calibri"/>
                <a:cs typeface="Calibri"/>
              </a:rPr>
              <a:t>Không gian tìm kiếm: x ∈ [25, 350]^k — Gram khẩu phần liên tục</a:t>
            </a:r>
          </a:p>
        </p:txBody>
      </p:sp>
      <p:sp>
        <p:nvSpPr>
          <p:cNvPr id="21" name="Rectangle 20"/>
          <p:cNvSpPr/>
          <p:nvPr/>
        </p:nvSpPr>
        <p:spPr>
          <a:xfrm>
            <a:off x="6473952" y="1965960"/>
            <a:ext cx="4983480" cy="1270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73952" y="2057400"/>
            <a:ext cx="4983480" cy="228600"/>
          </a:xfrm>
          <a:prstGeom prst="rect">
            <a:avLst/>
          </a:prstGeom>
          <a:noFill/>
        </p:spPr>
        <p:txBody>
          <a:bodyPr wrap="square" anchor="t" lIns="0" rIns="0" tIns="0" bIns="0">
            <a:spAutoFit/>
          </a:bodyPr>
          <a:lstStyle/>
          <a:p>
            <a:pPr algn="l">
              <a:lnSpc>
                <a:spcPct val="100000"/>
              </a:lnSpc>
              <a:spcAft>
                <a:spcPts val="0"/>
              </a:spcAft>
            </a:pPr>
            <a:r>
              <a:rPr sz="1100" b="1" i="0">
                <a:solidFill>
                  <a:srgbClr val="1D6F6F"/>
                </a:solidFill>
                <a:latin typeface="Calibri"/>
                <a:ea typeface="Calibri"/>
                <a:cs typeface="Calibri"/>
              </a:rPr>
              <a:t>1. Thiết lập bài toán tối ưu liên tục:</a:t>
            </a:r>
          </a:p>
        </p:txBody>
      </p:sp>
      <p:sp>
        <p:nvSpPr>
          <p:cNvPr id="23" name="TextBox 22"/>
          <p:cNvSpPr txBox="1"/>
          <p:nvPr/>
        </p:nvSpPr>
        <p:spPr>
          <a:xfrm>
            <a:off x="6473952" y="2286000"/>
            <a:ext cx="4983480" cy="914400"/>
          </a:xfrm>
          <a:prstGeom prst="rect">
            <a:avLst/>
          </a:prstGeom>
          <a:noFill/>
        </p:spPr>
        <p:txBody>
          <a:bodyPr wrap="square" anchor="t" lIns="0" rIns="0" tIns="0" bIns="0">
            <a:spAutoFit/>
          </a:bodyPr>
          <a:lstStyle/>
          <a:p>
            <a:pPr algn="l">
              <a:lnSpc>
                <a:spcPct val="118000"/>
              </a:lnSpc>
              <a:spcAft>
                <a:spcPts val="0"/>
              </a:spcAft>
            </a:pPr>
            <a:r>
              <a:rPr sz="1019" b="0" i="0">
                <a:solidFill>
                  <a:srgbClr val="1E2430"/>
                </a:solidFill>
                <a:latin typeface="Calibri"/>
                <a:ea typeface="Calibri"/>
                <a:cs typeface="Calibri"/>
              </a:rPr>
              <a:t>• Nhận đầu vào là k món ăn cụ thể đã được Tầng 1 cố định.
• Quần thể bọ hung tối ưu vector gram x = (x₁, ..., x_k) trong miền [25g, 350g].
• Sử dụng giải thuật IDBO với toán tử Sine-Tent hỗn loạn &amp; đột biến Cauchy.</a:t>
            </a:r>
          </a:p>
        </p:txBody>
      </p:sp>
      <p:sp>
        <p:nvSpPr>
          <p:cNvPr id="24" name="TextBox 23"/>
          <p:cNvSpPr txBox="1"/>
          <p:nvPr/>
        </p:nvSpPr>
        <p:spPr>
          <a:xfrm>
            <a:off x="6473952" y="3246120"/>
            <a:ext cx="4983480" cy="228600"/>
          </a:xfrm>
          <a:prstGeom prst="rect">
            <a:avLst/>
          </a:prstGeom>
          <a:noFill/>
        </p:spPr>
        <p:txBody>
          <a:bodyPr wrap="square" anchor="t" lIns="0" rIns="0" tIns="0" bIns="0">
            <a:spAutoFit/>
          </a:bodyPr>
          <a:lstStyle/>
          <a:p>
            <a:pPr algn="l">
              <a:lnSpc>
                <a:spcPct val="100000"/>
              </a:lnSpc>
              <a:spcAft>
                <a:spcPts val="0"/>
              </a:spcAft>
            </a:pPr>
            <a:r>
              <a:rPr sz="1100" b="1" i="0">
                <a:solidFill>
                  <a:srgbClr val="1D6F6F"/>
                </a:solidFill>
                <a:latin typeface="Calibri"/>
                <a:ea typeface="Calibri"/>
                <a:cs typeface="Calibri"/>
              </a:rPr>
              <a:t>2. Hàm mục tiêu &amp; Hệ thống hàm phạt đa tầng:</a:t>
            </a:r>
          </a:p>
        </p:txBody>
      </p:sp>
      <p:sp>
        <p:nvSpPr>
          <p:cNvPr id="25" name="TextBox 24"/>
          <p:cNvSpPr txBox="1"/>
          <p:nvPr/>
        </p:nvSpPr>
        <p:spPr>
          <a:xfrm>
            <a:off x="6473952" y="3474720"/>
            <a:ext cx="4983480" cy="914400"/>
          </a:xfrm>
          <a:prstGeom prst="rect">
            <a:avLst/>
          </a:prstGeom>
          <a:noFill/>
        </p:spPr>
        <p:txBody>
          <a:bodyPr wrap="square" anchor="t" lIns="0" rIns="0" tIns="0" bIns="0">
            <a:spAutoFit/>
          </a:bodyPr>
          <a:lstStyle/>
          <a:p>
            <a:pPr algn="l">
              <a:lnSpc>
                <a:spcPct val="118000"/>
              </a:lnSpc>
              <a:spcAft>
                <a:spcPts val="0"/>
              </a:spcAft>
            </a:pPr>
            <a:r>
              <a:rPr sz="1019" b="0" i="0">
                <a:solidFill>
                  <a:srgbClr val="1E2430"/>
                </a:solidFill>
                <a:latin typeface="Calibri"/>
                <a:ea typeface="Calibri"/>
                <a:cs typeface="Calibri"/>
              </a:rPr>
              <a:t>• Hàm mục tiêu kết hợp phạt vi phạm năng lượng, dinh dưỡng đa lượng và các giới hạn dinh dưỡng có dữ liệu hỗ trợ.
• Thời gian giải nhanh: 0.17–0.30s cho mỗi lần chạy Inner (chạy tốt).</a:t>
            </a:r>
          </a:p>
        </p:txBody>
      </p:sp>
      <p:sp>
        <p:nvSpPr>
          <p:cNvPr id="26" name="TextBox 25"/>
          <p:cNvSpPr txBox="1"/>
          <p:nvPr/>
        </p:nvSpPr>
        <p:spPr>
          <a:xfrm>
            <a:off x="6473952" y="4434840"/>
            <a:ext cx="4983480" cy="228600"/>
          </a:xfrm>
          <a:prstGeom prst="rect">
            <a:avLst/>
          </a:prstGeom>
          <a:noFill/>
        </p:spPr>
        <p:txBody>
          <a:bodyPr wrap="square" anchor="t" lIns="0" rIns="0" tIns="0" bIns="0">
            <a:spAutoFit/>
          </a:bodyPr>
          <a:lstStyle/>
          <a:p>
            <a:pPr algn="l">
              <a:lnSpc>
                <a:spcPct val="100000"/>
              </a:lnSpc>
              <a:spcAft>
                <a:spcPts val="0"/>
              </a:spcAft>
            </a:pPr>
            <a:r>
              <a:rPr sz="1100" b="1" i="0">
                <a:solidFill>
                  <a:srgbClr val="1D6F6F"/>
                </a:solidFill>
                <a:latin typeface="Calibri"/>
                <a:ea typeface="Calibri"/>
                <a:cs typeface="Calibri"/>
              </a:rPr>
              <a:t>3. Làm tròn khẩu phần thực tế (Portion Rounding):</a:t>
            </a:r>
          </a:p>
        </p:txBody>
      </p:sp>
      <p:sp>
        <p:nvSpPr>
          <p:cNvPr id="27" name="TextBox 26"/>
          <p:cNvSpPr txBox="1"/>
          <p:nvPr/>
        </p:nvSpPr>
        <p:spPr>
          <a:xfrm>
            <a:off x="6473952" y="4663440"/>
            <a:ext cx="4983480" cy="914400"/>
          </a:xfrm>
          <a:prstGeom prst="rect">
            <a:avLst/>
          </a:prstGeom>
          <a:noFill/>
        </p:spPr>
        <p:txBody>
          <a:bodyPr wrap="square" anchor="t" lIns="0" rIns="0" tIns="0" bIns="0">
            <a:spAutoFit/>
          </a:bodyPr>
          <a:lstStyle/>
          <a:p>
            <a:pPr algn="l">
              <a:lnSpc>
                <a:spcPct val="118000"/>
              </a:lnSpc>
              <a:spcAft>
                <a:spcPts val="0"/>
              </a:spcAft>
            </a:pPr>
            <a:r>
              <a:rPr sz="1019" b="0" i="0">
                <a:solidFill>
                  <a:srgbClr val="1E2430"/>
                </a:solidFill>
                <a:latin typeface="Calibri"/>
                <a:ea typeface="Calibri"/>
                <a:cs typeface="Calibri"/>
              </a:rPr>
              <a:t>• Áp dụng module portion_utils: round_portions(x, step=5).
• Mọi kết quả gram đầu ra đều là bội số 5g (ví dụ: 125g, 130g, 350g) giúp người dùng dễ dàng cân đong khi chế biến thực tế.</a:t>
            </a:r>
          </a:p>
        </p:txBody>
      </p:sp>
      <p:sp>
        <p:nvSpPr>
          <p:cNvPr id="28" name="Rectangle 27"/>
          <p:cNvSpPr/>
          <p:nvPr/>
        </p:nvSpPr>
        <p:spPr>
          <a:xfrm>
            <a:off x="502920" y="6437376"/>
            <a:ext cx="11183112" cy="1270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02920" y="6501384"/>
            <a:ext cx="8686800" cy="274320"/>
          </a:xfrm>
          <a:prstGeom prst="rect">
            <a:avLst/>
          </a:prstGeom>
          <a:noFill/>
        </p:spPr>
        <p:txBody>
          <a:bodyPr wrap="square" anchor="t" lIns="0" rIns="0" tIns="0" bIns="0">
            <a:spAutoFit/>
          </a:bodyPr>
          <a:lstStyle/>
          <a:p>
            <a:pPr algn="l">
              <a:lnSpc>
                <a:spcPct val="100000"/>
              </a:lnSpc>
              <a:spcAft>
                <a:spcPts val="0"/>
              </a:spcAft>
            </a:pPr>
            <a:r>
              <a:rPr sz="950" b="0" i="0">
                <a:solidFill>
                  <a:srgbClr val="5A6478"/>
                </a:solidFill>
                <a:latin typeface="Calibri"/>
                <a:ea typeface="Calibri"/>
                <a:cs typeface="Calibri"/>
              </a:rPr>
              <a:t>Kiến trúc mô hình tối ưu 2 tầng chọn món &amp; định lượng khẩu phần</a:t>
            </a:r>
          </a:p>
        </p:txBody>
      </p:sp>
      <p:sp>
        <p:nvSpPr>
          <p:cNvPr id="30" name="TextBox 29"/>
          <p:cNvSpPr txBox="1"/>
          <p:nvPr/>
        </p:nvSpPr>
        <p:spPr>
          <a:xfrm>
            <a:off x="9601200" y="6501384"/>
            <a:ext cx="2084831" cy="274320"/>
          </a:xfrm>
          <a:prstGeom prst="rect">
            <a:avLst/>
          </a:prstGeom>
          <a:noFill/>
        </p:spPr>
        <p:txBody>
          <a:bodyPr wrap="square" anchor="t" lIns="0" rIns="0" tIns="0" bIns="0">
            <a:spAutoFit/>
          </a:bodyPr>
          <a:lstStyle/>
          <a:p>
            <a:pPr algn="r">
              <a:lnSpc>
                <a:spcPct val="100000"/>
              </a:lnSpc>
              <a:spcAft>
                <a:spcPts val="0"/>
              </a:spcAft>
            </a:pPr>
            <a:r>
              <a:rPr sz="950" b="1" i="0">
                <a:solidFill>
                  <a:srgbClr val="5A6478"/>
                </a:solidFill>
                <a:latin typeface="Calibri"/>
                <a:ea typeface="Calibri"/>
                <a:cs typeface="Calibri"/>
              </a:rPr>
              <a:t>3 / 14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183112" cy="237744"/>
          </a:xfrm>
          <a:prstGeom prst="rect">
            <a:avLst/>
          </a:prstGeom>
          <a:noFill/>
        </p:spPr>
        <p:txBody>
          <a:bodyPr wrap="square" anchor="t" lIns="0" rIns="0" tIns="0" bIns="0">
            <a:spAutoFit/>
          </a:bodyPr>
          <a:lstStyle/>
          <a:p>
            <a:pPr algn="l">
              <a:lnSpc>
                <a:spcPct val="100000"/>
              </a:lnSpc>
              <a:spcAft>
                <a:spcPts val="0"/>
              </a:spcAft>
            </a:pPr>
            <a:r>
              <a:rPr sz="1150" b="1" i="0">
                <a:solidFill>
                  <a:srgbClr val="1B2A4A"/>
                </a:solidFill>
                <a:latin typeface="Calibri"/>
                <a:ea typeface="Calibri"/>
                <a:cs typeface="Calibri"/>
              </a:rPr>
              <a:t>TIỀN XỬ LÝ &amp; GIẢM CHI PHÍ TÍNH TOÁN</a:t>
            </a:r>
          </a:p>
        </p:txBody>
      </p:sp>
      <p:sp>
        <p:nvSpPr>
          <p:cNvPr id="4" name="TextBox 3"/>
          <p:cNvSpPr txBox="1"/>
          <p:nvPr/>
        </p:nvSpPr>
        <p:spPr>
          <a:xfrm>
            <a:off x="502920" y="530352"/>
            <a:ext cx="11183112" cy="475488"/>
          </a:xfrm>
          <a:prstGeom prst="rect">
            <a:avLst/>
          </a:prstGeom>
          <a:noFill/>
        </p:spPr>
        <p:txBody>
          <a:bodyPr wrap="square" anchor="t" lIns="0" rIns="0" tIns="0" bIns="0">
            <a:spAutoFit/>
          </a:bodyPr>
          <a:lstStyle/>
          <a:p>
            <a:pPr algn="l">
              <a:lnSpc>
                <a:spcPct val="100000"/>
              </a:lnSpc>
              <a:spcAft>
                <a:spcPts val="0"/>
              </a:spcAft>
            </a:pPr>
            <a:r>
              <a:rPr sz="2300" b="1" i="0">
                <a:solidFill>
                  <a:srgbClr val="1B2A4A"/>
                </a:solidFill>
                <a:latin typeface="Calibri"/>
                <a:ea typeface="Calibri"/>
                <a:cs typeface="Calibri"/>
              </a:rPr>
              <a:t>Không Gian Tìm Kiếm &amp; Chiến Lược Lọc Ứng Viên (Candidate Pools)</a:t>
            </a:r>
          </a:p>
        </p:txBody>
      </p:sp>
      <p:sp>
        <p:nvSpPr>
          <p:cNvPr id="5" name="Rectangle 4"/>
          <p:cNvSpPr/>
          <p:nvPr/>
        </p:nvSpPr>
        <p:spPr>
          <a:xfrm>
            <a:off x="502920" y="1042415"/>
            <a:ext cx="11183112" cy="1524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234440"/>
            <a:ext cx="2679192" cy="1097280"/>
          </a:xfrm>
          <a:prstGeom prst="roundRect">
            <a:avLst/>
          </a:prstGeom>
          <a:solidFill>
            <a:srgbClr val="F5F7FB"/>
          </a:solidFill>
          <a:ln w="12700">
            <a:solidFill>
              <a:srgbClr val="D3DB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234440"/>
            <a:ext cx="73152" cy="109728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325880"/>
            <a:ext cx="2423160" cy="347472"/>
          </a:xfrm>
          <a:prstGeom prst="rect">
            <a:avLst/>
          </a:prstGeom>
          <a:noFill/>
        </p:spPr>
        <p:txBody>
          <a:bodyPr wrap="square" anchor="t" lIns="0" rIns="0" tIns="0" bIns="0">
            <a:spAutoFit/>
          </a:bodyPr>
          <a:lstStyle/>
          <a:p>
            <a:pPr algn="l">
              <a:lnSpc>
                <a:spcPct val="100000"/>
              </a:lnSpc>
              <a:spcAft>
                <a:spcPts val="0"/>
              </a:spcAft>
            </a:pPr>
            <a:r>
              <a:rPr sz="2100" b="1" i="0">
                <a:solidFill>
                  <a:srgbClr val="1B2A4A"/>
                </a:solidFill>
                <a:latin typeface="Calibri"/>
                <a:ea typeface="Calibri"/>
                <a:cs typeface="Calibri"/>
              </a:rPr>
              <a:t>15.929 Món</a:t>
            </a:r>
          </a:p>
        </p:txBody>
      </p:sp>
      <p:sp>
        <p:nvSpPr>
          <p:cNvPr id="9" name="TextBox 8"/>
          <p:cNvSpPr txBox="1"/>
          <p:nvPr/>
        </p:nvSpPr>
        <p:spPr>
          <a:xfrm>
            <a:off x="685800" y="1719072"/>
            <a:ext cx="2423160" cy="228600"/>
          </a:xfrm>
          <a:prstGeom prst="rect">
            <a:avLst/>
          </a:prstGeom>
          <a:noFill/>
        </p:spPr>
        <p:txBody>
          <a:bodyPr wrap="square" anchor="t" lIns="0" rIns="0" tIns="0" bIns="0">
            <a:spAutoFit/>
          </a:bodyPr>
          <a:lstStyle/>
          <a:p>
            <a:pPr algn="l">
              <a:lnSpc>
                <a:spcPct val="100000"/>
              </a:lnSpc>
              <a:spcAft>
                <a:spcPts val="0"/>
              </a:spcAft>
            </a:pPr>
            <a:r>
              <a:rPr sz="1150" b="1" i="0">
                <a:solidFill>
                  <a:srgbClr val="1E2430"/>
                </a:solidFill>
                <a:latin typeface="Calibri"/>
                <a:ea typeface="Calibri"/>
                <a:cs typeface="Calibri"/>
              </a:rPr>
              <a:t>CSDL Gốc Tích Hợp</a:t>
            </a:r>
          </a:p>
        </p:txBody>
      </p:sp>
      <p:sp>
        <p:nvSpPr>
          <p:cNvPr id="10" name="TextBox 9"/>
          <p:cNvSpPr txBox="1"/>
          <p:nvPr/>
        </p:nvSpPr>
        <p:spPr>
          <a:xfrm>
            <a:off x="685800" y="1947672"/>
            <a:ext cx="2423160" cy="320040"/>
          </a:xfrm>
          <a:prstGeom prst="rect">
            <a:avLst/>
          </a:prstGeom>
          <a:noFill/>
        </p:spPr>
        <p:txBody>
          <a:bodyPr wrap="square" anchor="t" lIns="0" rIns="0" tIns="0" bIns="0">
            <a:spAutoFit/>
          </a:bodyPr>
          <a:lstStyle/>
          <a:p>
            <a:pPr algn="l">
              <a:lnSpc>
                <a:spcPct val="100000"/>
              </a:lnSpc>
              <a:spcAft>
                <a:spcPts val="0"/>
              </a:spcAft>
            </a:pPr>
            <a:r>
              <a:rPr sz="950" b="0" i="0">
                <a:solidFill>
                  <a:srgbClr val="5A6478"/>
                </a:solidFill>
                <a:latin typeface="Calibri"/>
                <a:ea typeface="Calibri"/>
                <a:cs typeface="Calibri"/>
              </a:rPr>
              <a:t>Kho thực phẩm sạch USDA &amp; Viện Dinh dưỡng VN</a:t>
            </a:r>
          </a:p>
        </p:txBody>
      </p:sp>
      <p:sp>
        <p:nvSpPr>
          <p:cNvPr id="11" name="Rounded Rectangle 10"/>
          <p:cNvSpPr/>
          <p:nvPr/>
        </p:nvSpPr>
        <p:spPr>
          <a:xfrm>
            <a:off x="3346704" y="1234440"/>
            <a:ext cx="2679192" cy="1097280"/>
          </a:xfrm>
          <a:prstGeom prst="roundRect">
            <a:avLst/>
          </a:prstGeom>
          <a:solidFill>
            <a:srgbClr val="F5F7FB"/>
          </a:solidFill>
          <a:ln w="12700">
            <a:solidFill>
              <a:srgbClr val="D3DB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346704" y="1234440"/>
            <a:ext cx="73152" cy="1097280"/>
          </a:xfrm>
          <a:prstGeom prst="rect">
            <a:avLst/>
          </a:prstGeom>
          <a:solidFill>
            <a:srgbClr val="1D6F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29584" y="1325880"/>
            <a:ext cx="2423160" cy="347472"/>
          </a:xfrm>
          <a:prstGeom prst="rect">
            <a:avLst/>
          </a:prstGeom>
          <a:noFill/>
        </p:spPr>
        <p:txBody>
          <a:bodyPr wrap="square" anchor="t" lIns="0" rIns="0" tIns="0" bIns="0">
            <a:spAutoFit/>
          </a:bodyPr>
          <a:lstStyle/>
          <a:p>
            <a:pPr algn="l">
              <a:lnSpc>
                <a:spcPct val="100000"/>
              </a:lnSpc>
              <a:spcAft>
                <a:spcPts val="0"/>
              </a:spcAft>
            </a:pPr>
            <a:r>
              <a:rPr sz="2100" b="1" i="0">
                <a:solidFill>
                  <a:srgbClr val="1D6F6F"/>
                </a:solidFill>
                <a:latin typeface="Calibri"/>
                <a:ea typeface="Calibri"/>
                <a:cs typeface="Calibri"/>
              </a:rPr>
              <a:t>4 Bể Ứng Viên</a:t>
            </a:r>
          </a:p>
        </p:txBody>
      </p:sp>
      <p:sp>
        <p:nvSpPr>
          <p:cNvPr id="14" name="TextBox 13"/>
          <p:cNvSpPr txBox="1"/>
          <p:nvPr/>
        </p:nvSpPr>
        <p:spPr>
          <a:xfrm>
            <a:off x="3529584" y="1719072"/>
            <a:ext cx="2423160" cy="228600"/>
          </a:xfrm>
          <a:prstGeom prst="rect">
            <a:avLst/>
          </a:prstGeom>
          <a:noFill/>
        </p:spPr>
        <p:txBody>
          <a:bodyPr wrap="square" anchor="t" lIns="0" rIns="0" tIns="0" bIns="0">
            <a:spAutoFit/>
          </a:bodyPr>
          <a:lstStyle/>
          <a:p>
            <a:pPr algn="l">
              <a:lnSpc>
                <a:spcPct val="100000"/>
              </a:lnSpc>
              <a:spcAft>
                <a:spcPts val="0"/>
              </a:spcAft>
            </a:pPr>
            <a:r>
              <a:rPr sz="1150" b="1" i="0">
                <a:solidFill>
                  <a:srgbClr val="1E2430"/>
                </a:solidFill>
                <a:latin typeface="Calibri"/>
                <a:ea typeface="Calibri"/>
                <a:cs typeface="Calibri"/>
              </a:rPr>
              <a:t>Candidate Pools</a:t>
            </a:r>
          </a:p>
        </p:txBody>
      </p:sp>
      <p:sp>
        <p:nvSpPr>
          <p:cNvPr id="15" name="TextBox 14"/>
          <p:cNvSpPr txBox="1"/>
          <p:nvPr/>
        </p:nvSpPr>
        <p:spPr>
          <a:xfrm>
            <a:off x="3529584" y="1947672"/>
            <a:ext cx="2423160" cy="320040"/>
          </a:xfrm>
          <a:prstGeom prst="rect">
            <a:avLst/>
          </a:prstGeom>
          <a:noFill/>
        </p:spPr>
        <p:txBody>
          <a:bodyPr wrap="square" anchor="t" lIns="0" rIns="0" tIns="0" bIns="0">
            <a:spAutoFit/>
          </a:bodyPr>
          <a:lstStyle/>
          <a:p>
            <a:pPr algn="l">
              <a:lnSpc>
                <a:spcPct val="100000"/>
              </a:lnSpc>
              <a:spcAft>
                <a:spcPts val="0"/>
              </a:spcAft>
            </a:pPr>
            <a:r>
              <a:rPr sz="950" b="0" i="0">
                <a:solidFill>
                  <a:srgbClr val="5A6478"/>
                </a:solidFill>
                <a:latin typeface="Calibri"/>
                <a:ea typeface="Calibri"/>
                <a:cs typeface="Calibri"/>
              </a:rPr>
              <a:t>Sáng, Trưa, Tối, Phụ theo nhóm dinh dưỡng</a:t>
            </a:r>
          </a:p>
        </p:txBody>
      </p:sp>
      <p:sp>
        <p:nvSpPr>
          <p:cNvPr id="16" name="Rounded Rectangle 15"/>
          <p:cNvSpPr/>
          <p:nvPr/>
        </p:nvSpPr>
        <p:spPr>
          <a:xfrm>
            <a:off x="6190488" y="1234440"/>
            <a:ext cx="2679192" cy="1097280"/>
          </a:xfrm>
          <a:prstGeom prst="roundRect">
            <a:avLst/>
          </a:prstGeom>
          <a:solidFill>
            <a:srgbClr val="F5F7FB"/>
          </a:solidFill>
          <a:ln w="12700">
            <a:solidFill>
              <a:srgbClr val="D3DB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90488" y="1234440"/>
            <a:ext cx="73152" cy="1097280"/>
          </a:xfrm>
          <a:prstGeom prst="rect">
            <a:avLst/>
          </a:prstGeom>
          <a:solidFill>
            <a:srgbClr val="21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73368" y="1325880"/>
            <a:ext cx="2423160" cy="347472"/>
          </a:xfrm>
          <a:prstGeom prst="rect">
            <a:avLst/>
          </a:prstGeom>
          <a:noFill/>
        </p:spPr>
        <p:txBody>
          <a:bodyPr wrap="square" anchor="t" lIns="0" rIns="0" tIns="0" bIns="0">
            <a:spAutoFit/>
          </a:bodyPr>
          <a:lstStyle/>
          <a:p>
            <a:pPr algn="l">
              <a:lnSpc>
                <a:spcPct val="100000"/>
              </a:lnSpc>
              <a:spcAft>
                <a:spcPts val="0"/>
              </a:spcAft>
            </a:pPr>
            <a:r>
              <a:rPr sz="2100" b="1" i="0">
                <a:solidFill>
                  <a:srgbClr val="217A4B"/>
                </a:solidFill>
                <a:latin typeface="Calibri"/>
                <a:ea typeface="Calibri"/>
                <a:cs typeface="Calibri"/>
              </a:rPr>
              <a:t>Lọc Ràng Buộc</a:t>
            </a:r>
          </a:p>
        </p:txBody>
      </p:sp>
      <p:sp>
        <p:nvSpPr>
          <p:cNvPr id="19" name="TextBox 18"/>
          <p:cNvSpPr txBox="1"/>
          <p:nvPr/>
        </p:nvSpPr>
        <p:spPr>
          <a:xfrm>
            <a:off x="6373368" y="1719072"/>
            <a:ext cx="2423160" cy="228600"/>
          </a:xfrm>
          <a:prstGeom prst="rect">
            <a:avLst/>
          </a:prstGeom>
          <a:noFill/>
        </p:spPr>
        <p:txBody>
          <a:bodyPr wrap="square" anchor="t" lIns="0" rIns="0" tIns="0" bIns="0">
            <a:spAutoFit/>
          </a:bodyPr>
          <a:lstStyle/>
          <a:p>
            <a:pPr algn="l">
              <a:lnSpc>
                <a:spcPct val="100000"/>
              </a:lnSpc>
              <a:spcAft>
                <a:spcPts val="0"/>
              </a:spcAft>
            </a:pPr>
            <a:r>
              <a:rPr sz="1150" b="1" i="0">
                <a:solidFill>
                  <a:srgbClr val="1E2430"/>
                </a:solidFill>
                <a:latin typeface="Calibri"/>
                <a:ea typeface="Calibri"/>
                <a:cs typeface="Calibri"/>
              </a:rPr>
              <a:t>Dị Ứng &amp; Sở Thích</a:t>
            </a:r>
          </a:p>
        </p:txBody>
      </p:sp>
      <p:sp>
        <p:nvSpPr>
          <p:cNvPr id="20" name="TextBox 19"/>
          <p:cNvSpPr txBox="1"/>
          <p:nvPr/>
        </p:nvSpPr>
        <p:spPr>
          <a:xfrm>
            <a:off x="6373368" y="1947672"/>
            <a:ext cx="2423160" cy="320040"/>
          </a:xfrm>
          <a:prstGeom prst="rect">
            <a:avLst/>
          </a:prstGeom>
          <a:noFill/>
        </p:spPr>
        <p:txBody>
          <a:bodyPr wrap="square" anchor="t" lIns="0" rIns="0" tIns="0" bIns="0">
            <a:spAutoFit/>
          </a:bodyPr>
          <a:lstStyle/>
          <a:p>
            <a:pPr algn="l">
              <a:lnSpc>
                <a:spcPct val="100000"/>
              </a:lnSpc>
              <a:spcAft>
                <a:spcPts val="0"/>
              </a:spcAft>
            </a:pPr>
            <a:r>
              <a:rPr sz="950" b="0" i="0">
                <a:solidFill>
                  <a:srgbClr val="5A6478"/>
                </a:solidFill>
                <a:latin typeface="Calibri"/>
                <a:ea typeface="Calibri"/>
                <a:cs typeface="Calibri"/>
              </a:rPr>
              <a:t>Loại bỏ hải sản, gluten, đậu phộng theo hồ sơ</a:t>
            </a:r>
          </a:p>
        </p:txBody>
      </p:sp>
      <p:sp>
        <p:nvSpPr>
          <p:cNvPr id="21" name="Rounded Rectangle 20"/>
          <p:cNvSpPr/>
          <p:nvPr/>
        </p:nvSpPr>
        <p:spPr>
          <a:xfrm>
            <a:off x="9034272" y="1234440"/>
            <a:ext cx="2679192" cy="1097280"/>
          </a:xfrm>
          <a:prstGeom prst="roundRect">
            <a:avLst/>
          </a:prstGeom>
          <a:solidFill>
            <a:srgbClr val="F5F7FB"/>
          </a:solidFill>
          <a:ln w="12700">
            <a:solidFill>
              <a:srgbClr val="D3DB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034272" y="1234440"/>
            <a:ext cx="73152" cy="1097280"/>
          </a:xfrm>
          <a:prstGeom prst="rect">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217152" y="1325880"/>
            <a:ext cx="2423160" cy="347472"/>
          </a:xfrm>
          <a:prstGeom prst="rect">
            <a:avLst/>
          </a:prstGeom>
          <a:noFill/>
        </p:spPr>
        <p:txBody>
          <a:bodyPr wrap="square" anchor="t" lIns="0" rIns="0" tIns="0" bIns="0">
            <a:spAutoFit/>
          </a:bodyPr>
          <a:lstStyle/>
          <a:p>
            <a:pPr algn="l">
              <a:lnSpc>
                <a:spcPct val="100000"/>
              </a:lnSpc>
              <a:spcAft>
                <a:spcPts val="0"/>
              </a:spcAft>
            </a:pPr>
            <a:r>
              <a:rPr sz="2100" b="1" i="0">
                <a:solidFill>
                  <a:srgbClr val="D9822B"/>
                </a:solidFill>
                <a:latin typeface="Calibri"/>
                <a:ea typeface="Calibri"/>
                <a:cs typeface="Calibri"/>
              </a:rPr>
              <a:t>Khả Thi 100%</a:t>
            </a:r>
          </a:p>
        </p:txBody>
      </p:sp>
      <p:sp>
        <p:nvSpPr>
          <p:cNvPr id="24" name="TextBox 23"/>
          <p:cNvSpPr txBox="1"/>
          <p:nvPr/>
        </p:nvSpPr>
        <p:spPr>
          <a:xfrm>
            <a:off x="9217152" y="1719072"/>
            <a:ext cx="2423160" cy="228600"/>
          </a:xfrm>
          <a:prstGeom prst="rect">
            <a:avLst/>
          </a:prstGeom>
          <a:noFill/>
        </p:spPr>
        <p:txBody>
          <a:bodyPr wrap="square" anchor="t" lIns="0" rIns="0" tIns="0" bIns="0">
            <a:spAutoFit/>
          </a:bodyPr>
          <a:lstStyle/>
          <a:p>
            <a:pPr algn="l">
              <a:lnSpc>
                <a:spcPct val="100000"/>
              </a:lnSpc>
              <a:spcAft>
                <a:spcPts val="0"/>
              </a:spcAft>
            </a:pPr>
            <a:r>
              <a:rPr sz="1150" b="1" i="0">
                <a:solidFill>
                  <a:srgbClr val="1E2430"/>
                </a:solidFill>
                <a:latin typeface="Calibri"/>
                <a:ea typeface="Calibri"/>
                <a:cs typeface="Calibri"/>
              </a:rPr>
              <a:t>Bảo Toàn Nghiệm</a:t>
            </a:r>
          </a:p>
        </p:txBody>
      </p:sp>
      <p:sp>
        <p:nvSpPr>
          <p:cNvPr id="25" name="TextBox 24"/>
          <p:cNvSpPr txBox="1"/>
          <p:nvPr/>
        </p:nvSpPr>
        <p:spPr>
          <a:xfrm>
            <a:off x="9217152" y="1947672"/>
            <a:ext cx="2423160" cy="320040"/>
          </a:xfrm>
          <a:prstGeom prst="rect">
            <a:avLst/>
          </a:prstGeom>
          <a:noFill/>
        </p:spPr>
        <p:txBody>
          <a:bodyPr wrap="square" anchor="t" lIns="0" rIns="0" tIns="0" bIns="0">
            <a:spAutoFit/>
          </a:bodyPr>
          <a:lstStyle/>
          <a:p>
            <a:pPr algn="l">
              <a:lnSpc>
                <a:spcPct val="100000"/>
              </a:lnSpc>
              <a:spcAft>
                <a:spcPts val="0"/>
              </a:spcAft>
            </a:pPr>
            <a:r>
              <a:rPr sz="950" b="0" i="0">
                <a:solidFill>
                  <a:srgbClr val="5A6478"/>
                </a:solidFill>
                <a:latin typeface="Calibri"/>
                <a:ea typeface="Calibri"/>
                <a:cs typeface="Calibri"/>
              </a:rPr>
              <a:t>Đảm bảo mỗi slot có tối thiểu 50–200 món hợp lệ</a:t>
            </a:r>
          </a:p>
        </p:txBody>
      </p:sp>
      <p:graphicFrame>
        <p:nvGraphicFramePr>
          <p:cNvPr id="26" name="Table 25"/>
          <p:cNvGraphicFramePr>
            <a:graphicFrameLocks noGrp="1"/>
          </p:cNvGraphicFramePr>
          <p:nvPr/>
        </p:nvGraphicFramePr>
        <p:xfrm>
          <a:off x="502920" y="2514600"/>
          <a:ext cx="11183112" cy="3127248"/>
        </p:xfrm>
        <a:graphic>
          <a:graphicData uri="http://schemas.openxmlformats.org/drawingml/2006/table">
            <a:tbl>
              <a:tblPr firstRow="1" bandRow="1">
                <a:tableStyleId>{5C22544A-7EE6-4342-B048-85BDC9FD1C3A}</a:tableStyleId>
              </a:tblPr>
              <a:tblGrid>
                <a:gridCol w="1828800"/>
                <a:gridCol w="4114800"/>
                <a:gridCol w="1645920"/>
                <a:gridCol w="3593592"/>
              </a:tblGrid>
              <a:tr h="384048">
                <a:tc>
                  <a:txBody>
                    <a:bodyPr/>
                    <a:lstStyle/>
                    <a:p>
                      <a:pPr algn="l"/>
                      <a:r>
                        <a:rPr sz="1150" b="1" i="0">
                          <a:solidFill>
                            <a:srgbClr val="FFFFFF"/>
                          </a:solidFill>
                          <a:latin typeface="Calibri"/>
                          <a:ea typeface="Calibri"/>
                          <a:cs typeface="Calibri"/>
                        </a:rPr>
                        <a:t>Bữa ăn (Slot)</a:t>
                      </a:r>
                    </a:p>
                  </a:txBody>
                  <a:tcPr marL="73152" marR="73152" marT="27432" marB="27432" anchor="ctr">
                    <a:solidFill>
                      <a:srgbClr val="1B2A4A"/>
                    </a:solidFill>
                  </a:tcPr>
                </a:tc>
                <a:tc>
                  <a:txBody>
                    <a:bodyPr/>
                    <a:lstStyle/>
                    <a:p>
                      <a:pPr algn="l"/>
                      <a:r>
                        <a:rPr sz="1150" b="1" i="0">
                          <a:solidFill>
                            <a:srgbClr val="FFFFFF"/>
                          </a:solidFill>
                          <a:latin typeface="Calibri"/>
                          <a:ea typeface="Calibri"/>
                          <a:cs typeface="Calibri"/>
                        </a:rPr>
                        <a:t>Tiêu chí phân loại món ăn (Category / Macro)</a:t>
                      </a:r>
                    </a:p>
                  </a:txBody>
                  <a:tcPr marL="73152" marR="73152" marT="27432" marB="27432" anchor="ctr">
                    <a:solidFill>
                      <a:srgbClr val="1B2A4A"/>
                    </a:solidFill>
                  </a:tcPr>
                </a:tc>
                <a:tc>
                  <a:txBody>
                    <a:bodyPr/>
                    <a:lstStyle/>
                    <a:p>
                      <a:pPr algn="ctr"/>
                      <a:r>
                        <a:rPr sz="1150" b="1" i="0">
                          <a:solidFill>
                            <a:srgbClr val="FFFFFF"/>
                          </a:solidFill>
                          <a:latin typeface="Calibri"/>
                          <a:ea typeface="Calibri"/>
                          <a:cs typeface="Calibri"/>
                        </a:rPr>
                        <a:t>Kích thước Pool</a:t>
                      </a:r>
                    </a:p>
                  </a:txBody>
                  <a:tcPr marL="73152" marR="73152" marT="27432" marB="27432" anchor="ctr">
                    <a:solidFill>
                      <a:srgbClr val="1B2A4A"/>
                    </a:solidFill>
                  </a:tcPr>
                </a:tc>
                <a:tc>
                  <a:txBody>
                    <a:bodyPr/>
                    <a:lstStyle/>
                    <a:p>
                      <a:pPr algn="l"/>
                      <a:r>
                        <a:rPr sz="1150" b="1" i="0">
                          <a:solidFill>
                            <a:srgbClr val="FFFFFF"/>
                          </a:solidFill>
                          <a:latin typeface="Calibri"/>
                          <a:ea typeface="Calibri"/>
                          <a:cs typeface="Calibri"/>
                        </a:rPr>
                        <a:t>Ví dụ món ăn tiêu biểu trong CSDL</a:t>
                      </a:r>
                    </a:p>
                  </a:txBody>
                  <a:tcPr marL="73152" marR="73152" marT="27432" marB="27432" anchor="ctr">
                    <a:solidFill>
                      <a:srgbClr val="1B2A4A"/>
                    </a:solidFill>
                  </a:tcPr>
                </a:tc>
              </a:tr>
              <a:tr h="548640">
                <a:tc>
                  <a:txBody>
                    <a:bodyPr/>
                    <a:lstStyle/>
                    <a:p>
                      <a:pPr algn="l"/>
                      <a:r>
                        <a:rPr sz="1000" b="1" i="0">
                          <a:solidFill>
                            <a:srgbClr val="1E2430"/>
                          </a:solidFill>
                          <a:latin typeface="Calibri"/>
                          <a:ea typeface="Calibri"/>
                          <a:cs typeface="Calibri"/>
                        </a:rPr>
                        <a:t>Bữa sáng
(Breakfast)</a:t>
                      </a:r>
                    </a:p>
                  </a:txBody>
                  <a:tcPr marL="73152" marR="73152" marT="27432" marB="27432" anchor="ctr">
                    <a:solidFill>
                      <a:srgbClr val="F5F7FB"/>
                    </a:solidFill>
                  </a:tcPr>
                </a:tc>
                <a:tc>
                  <a:txBody>
                    <a:bodyPr/>
                    <a:lstStyle/>
                    <a:p>
                      <a:pPr algn="l"/>
                      <a:r>
                        <a:rPr sz="1000" b="0" i="0">
                          <a:solidFill>
                            <a:srgbClr val="1E2430"/>
                          </a:solidFill>
                          <a:latin typeface="Calibri"/>
                          <a:ea typeface="Calibri"/>
                          <a:cs typeface="Calibri"/>
                        </a:rPr>
                        <a:t>Giàu Carbohydrate phức hợp, ngũ cốc, bánh mì, sữa tươi, cháo dinh dưỡng</a:t>
                      </a:r>
                    </a:p>
                  </a:txBody>
                  <a:tcPr marL="73152" marR="73152" marT="27432" marB="27432" anchor="ctr">
                    <a:solidFill>
                      <a:srgbClr val="F5F7FB"/>
                    </a:solidFill>
                  </a:tcPr>
                </a:tc>
                <a:tc>
                  <a:txBody>
                    <a:bodyPr/>
                    <a:lstStyle/>
                    <a:p>
                      <a:pPr algn="ctr"/>
                      <a:r>
                        <a:rPr sz="1000" b="1" i="0">
                          <a:solidFill>
                            <a:srgbClr val="1B2A4A"/>
                          </a:solidFill>
                          <a:latin typeface="Calibri"/>
                          <a:ea typeface="Calibri"/>
                          <a:cs typeface="Calibri"/>
                        </a:rPr>
                        <a:t>2.140 món</a:t>
                      </a:r>
                    </a:p>
                  </a:txBody>
                  <a:tcPr marL="73152" marR="73152" marT="27432" marB="27432" anchor="ctr">
                    <a:solidFill>
                      <a:srgbClr val="F5F7FB"/>
                    </a:solidFill>
                  </a:tcPr>
                </a:tc>
                <a:tc>
                  <a:txBody>
                    <a:bodyPr/>
                    <a:lstStyle/>
                    <a:p>
                      <a:pPr algn="l"/>
                      <a:r>
                        <a:rPr sz="1000" b="0" i="0">
                          <a:solidFill>
                            <a:srgbClr val="1E2430"/>
                          </a:solidFill>
                          <a:latin typeface="Calibri"/>
                          <a:ea typeface="Calibri"/>
                          <a:cs typeface="Calibri"/>
                        </a:rPr>
                        <a:t>Artisan Bread, Quaker Oats, Sữa đậu nành, Bánh bao chay</a:t>
                      </a:r>
                    </a:p>
                  </a:txBody>
                  <a:tcPr marL="73152" marR="73152" marT="27432" marB="27432" anchor="ctr">
                    <a:solidFill>
                      <a:srgbClr val="F5F7FB"/>
                    </a:solidFill>
                  </a:tcPr>
                </a:tc>
              </a:tr>
              <a:tr h="548640">
                <a:tc>
                  <a:txBody>
                    <a:bodyPr/>
                    <a:lstStyle/>
                    <a:p>
                      <a:pPr algn="l"/>
                      <a:r>
                        <a:rPr sz="1000" b="1" i="0">
                          <a:solidFill>
                            <a:srgbClr val="1E2430"/>
                          </a:solidFill>
                          <a:latin typeface="Calibri"/>
                          <a:ea typeface="Calibri"/>
                          <a:cs typeface="Calibri"/>
                        </a:rPr>
                        <a:t>Món chính trưa
(Lunch Main)</a:t>
                      </a:r>
                    </a:p>
                  </a:txBody>
                  <a:tcPr marL="73152" marR="73152" marT="27432" marB="27432" anchor="ctr">
                    <a:solidFill>
                      <a:srgbClr val="FFFFFF"/>
                    </a:solidFill>
                  </a:tcPr>
                </a:tc>
                <a:tc>
                  <a:txBody>
                    <a:bodyPr/>
                    <a:lstStyle/>
                    <a:p>
                      <a:pPr algn="l"/>
                      <a:r>
                        <a:rPr sz="1000" b="0" i="0">
                          <a:solidFill>
                            <a:srgbClr val="1E2430"/>
                          </a:solidFill>
                          <a:latin typeface="Calibri"/>
                          <a:ea typeface="Calibri"/>
                          <a:cs typeface="Calibri"/>
                        </a:rPr>
                        <a:t>Hàm lượng Protein cao (thịt heo, bò, gà, cá, tôm, đậu phụ), ít đường</a:t>
                      </a:r>
                    </a:p>
                  </a:txBody>
                  <a:tcPr marL="73152" marR="73152" marT="27432" marB="27432" anchor="ctr">
                    <a:solidFill>
                      <a:srgbClr val="FFFFFF"/>
                    </a:solidFill>
                  </a:tcPr>
                </a:tc>
                <a:tc>
                  <a:txBody>
                    <a:bodyPr/>
                    <a:lstStyle/>
                    <a:p>
                      <a:pPr algn="ctr"/>
                      <a:r>
                        <a:rPr sz="1000" b="1" i="0">
                          <a:solidFill>
                            <a:srgbClr val="1D6F6F"/>
                          </a:solidFill>
                          <a:latin typeface="Calibri"/>
                          <a:ea typeface="Calibri"/>
                          <a:cs typeface="Calibri"/>
                        </a:rPr>
                        <a:t>3.480 món</a:t>
                      </a:r>
                    </a:p>
                  </a:txBody>
                  <a:tcPr marL="73152" marR="73152" marT="27432" marB="27432" anchor="ctr">
                    <a:solidFill>
                      <a:srgbClr val="FFFFFF"/>
                    </a:solidFill>
                  </a:tcPr>
                </a:tc>
                <a:tc>
                  <a:txBody>
                    <a:bodyPr/>
                    <a:lstStyle/>
                    <a:p>
                      <a:pPr algn="l"/>
                      <a:r>
                        <a:rPr sz="1000" b="0" i="0">
                          <a:solidFill>
                            <a:srgbClr val="1E2430"/>
                          </a:solidFill>
                          <a:latin typeface="Calibri"/>
                          <a:ea typeface="Calibri"/>
                          <a:cs typeface="Calibri"/>
                        </a:rPr>
                        <a:t>Ức gà áp chảo, Cá thu sốt cà, Thịt nạc xào nấm, Trứng hấp</a:t>
                      </a:r>
                    </a:p>
                  </a:txBody>
                  <a:tcPr marL="73152" marR="73152" marT="27432" marB="27432" anchor="ctr">
                    <a:solidFill>
                      <a:srgbClr val="FFFFFF"/>
                    </a:solidFill>
                  </a:tcPr>
                </a:tc>
              </a:tr>
              <a:tr h="548640">
                <a:tc>
                  <a:txBody>
                    <a:bodyPr/>
                    <a:lstStyle/>
                    <a:p>
                      <a:pPr algn="l"/>
                      <a:r>
                        <a:rPr sz="1000" b="1" i="0">
                          <a:solidFill>
                            <a:srgbClr val="1E2430"/>
                          </a:solidFill>
                          <a:latin typeface="Calibri"/>
                          <a:ea typeface="Calibri"/>
                          <a:cs typeface="Calibri"/>
                        </a:rPr>
                        <a:t>Canh / Rau trưa
(Lunch Side)</a:t>
                      </a:r>
                    </a:p>
                  </a:txBody>
                  <a:tcPr marL="73152" marR="73152" marT="27432" marB="27432" anchor="ctr">
                    <a:solidFill>
                      <a:srgbClr val="F5F7FB"/>
                    </a:solidFill>
                  </a:tcPr>
                </a:tc>
                <a:tc>
                  <a:txBody>
                    <a:bodyPr/>
                    <a:lstStyle/>
                    <a:p>
                      <a:pPr algn="l"/>
                      <a:r>
                        <a:rPr sz="1000" b="0" i="0">
                          <a:solidFill>
                            <a:srgbClr val="1E2430"/>
                          </a:solidFill>
                          <a:latin typeface="Calibri"/>
                          <a:ea typeface="Calibri"/>
                          <a:cs typeface="Calibri"/>
                        </a:rPr>
                        <a:t>Rau xanh tươi, củ quả, nấm, súp rau củ, giàu chất xơ &amp; khoáng chất</a:t>
                      </a:r>
                    </a:p>
                  </a:txBody>
                  <a:tcPr marL="73152" marR="73152" marT="27432" marB="27432" anchor="ctr">
                    <a:solidFill>
                      <a:srgbClr val="F5F7FB"/>
                    </a:solidFill>
                  </a:tcPr>
                </a:tc>
                <a:tc>
                  <a:txBody>
                    <a:bodyPr/>
                    <a:lstStyle/>
                    <a:p>
                      <a:pPr algn="ctr"/>
                      <a:r>
                        <a:rPr sz="1000" b="1" i="0">
                          <a:solidFill>
                            <a:srgbClr val="217A4B"/>
                          </a:solidFill>
                          <a:latin typeface="Calibri"/>
                          <a:ea typeface="Calibri"/>
                          <a:cs typeface="Calibri"/>
                        </a:rPr>
                        <a:t>1.850 món</a:t>
                      </a:r>
                    </a:p>
                  </a:txBody>
                  <a:tcPr marL="73152" marR="73152" marT="27432" marB="27432" anchor="ctr">
                    <a:solidFill>
                      <a:srgbClr val="F5F7FB"/>
                    </a:solidFill>
                  </a:tcPr>
                </a:tc>
                <a:tc>
                  <a:txBody>
                    <a:bodyPr/>
                    <a:lstStyle/>
                    <a:p>
                      <a:pPr algn="l"/>
                      <a:r>
                        <a:rPr sz="1000" b="0" i="0">
                          <a:solidFill>
                            <a:srgbClr val="1E2430"/>
                          </a:solidFill>
                          <a:latin typeface="Calibri"/>
                          <a:ea typeface="Calibri"/>
                          <a:cs typeface="Calibri"/>
                        </a:rPr>
                        <a:t>Canh mồng tơi nấu tôm, Xà lách trộn dấm, Bông cải xanh hấp</a:t>
                      </a:r>
                    </a:p>
                  </a:txBody>
                  <a:tcPr marL="73152" marR="73152" marT="27432" marB="27432" anchor="ctr">
                    <a:solidFill>
                      <a:srgbClr val="F5F7FB"/>
                    </a:solidFill>
                  </a:tcPr>
                </a:tc>
              </a:tr>
              <a:tr h="548640">
                <a:tc>
                  <a:txBody>
                    <a:bodyPr/>
                    <a:lstStyle/>
                    <a:p>
                      <a:pPr algn="l"/>
                      <a:r>
                        <a:rPr sz="1000" b="1" i="0">
                          <a:solidFill>
                            <a:srgbClr val="1E2430"/>
                          </a:solidFill>
                          <a:latin typeface="Calibri"/>
                          <a:ea typeface="Calibri"/>
                          <a:cs typeface="Calibri"/>
                        </a:rPr>
                        <a:t>Món chính tối
(Dinner Main)</a:t>
                      </a:r>
                    </a:p>
                  </a:txBody>
                  <a:tcPr marL="73152" marR="73152" marT="27432" marB="27432" anchor="ctr">
                    <a:solidFill>
                      <a:srgbClr val="FFFFFF"/>
                    </a:solidFill>
                  </a:tcPr>
                </a:tc>
                <a:tc>
                  <a:txBody>
                    <a:bodyPr/>
                    <a:lstStyle/>
                    <a:p>
                      <a:pPr algn="l"/>
                      <a:r>
                        <a:rPr sz="1000" b="0" i="0">
                          <a:solidFill>
                            <a:srgbClr val="1E2430"/>
                          </a:solidFill>
                          <a:latin typeface="Calibri"/>
                          <a:ea typeface="Calibri"/>
                          <a:cs typeface="Calibri"/>
                        </a:rPr>
                        <a:t>Đạm dễ tiêu hóa (cá trắng, ức gà, đậu hũ), khống chế Natri &amp; chất béo</a:t>
                      </a:r>
                    </a:p>
                  </a:txBody>
                  <a:tcPr marL="73152" marR="73152" marT="27432" marB="27432" anchor="ctr">
                    <a:solidFill>
                      <a:srgbClr val="FFFFFF"/>
                    </a:solidFill>
                  </a:tcPr>
                </a:tc>
                <a:tc>
                  <a:txBody>
                    <a:bodyPr/>
                    <a:lstStyle/>
                    <a:p>
                      <a:pPr algn="ctr"/>
                      <a:r>
                        <a:rPr sz="1000" b="1" i="0">
                          <a:solidFill>
                            <a:srgbClr val="2D3E63"/>
                          </a:solidFill>
                          <a:latin typeface="Calibri"/>
                          <a:ea typeface="Calibri"/>
                          <a:cs typeface="Calibri"/>
                        </a:rPr>
                        <a:t>3.120 món</a:t>
                      </a:r>
                    </a:p>
                  </a:txBody>
                  <a:tcPr marL="73152" marR="73152" marT="27432" marB="27432" anchor="ctr">
                    <a:solidFill>
                      <a:srgbClr val="FFFFFF"/>
                    </a:solidFill>
                  </a:tcPr>
                </a:tc>
                <a:tc>
                  <a:txBody>
                    <a:bodyPr/>
                    <a:lstStyle/>
                    <a:p>
                      <a:pPr algn="l"/>
                      <a:r>
                        <a:rPr sz="1000" b="0" i="0">
                          <a:solidFill>
                            <a:srgbClr val="1E2430"/>
                          </a:solidFill>
                          <a:latin typeface="Calibri"/>
                          <a:ea typeface="Calibri"/>
                          <a:cs typeface="Calibri"/>
                        </a:rPr>
                        <a:t>Cá hồi áp chảo, Đậu hũ sốt nấm, Thịt nạc luộc, Quail breast</a:t>
                      </a:r>
                    </a:p>
                  </a:txBody>
                  <a:tcPr marL="73152" marR="73152" marT="27432" marB="27432" anchor="ctr">
                    <a:solidFill>
                      <a:srgbClr val="FFFFFF"/>
                    </a:solidFill>
                  </a:tcPr>
                </a:tc>
              </a:tr>
              <a:tr h="548640">
                <a:tc>
                  <a:txBody>
                    <a:bodyPr/>
                    <a:lstStyle/>
                    <a:p>
                      <a:pPr algn="l"/>
                      <a:r>
                        <a:rPr sz="1000" b="1" i="0">
                          <a:solidFill>
                            <a:srgbClr val="1E2430"/>
                          </a:solidFill>
                          <a:latin typeface="Calibri"/>
                          <a:ea typeface="Calibri"/>
                          <a:cs typeface="Calibri"/>
                        </a:rPr>
                        <a:t>Rau / Bữa phụ
(Dinner Side &amp; Snack)</a:t>
                      </a:r>
                    </a:p>
                  </a:txBody>
                  <a:tcPr marL="73152" marR="73152" marT="27432" marB="27432" anchor="ctr">
                    <a:solidFill>
                      <a:srgbClr val="F5F7FB"/>
                    </a:solidFill>
                  </a:tcPr>
                </a:tc>
                <a:tc>
                  <a:txBody>
                    <a:bodyPr/>
                    <a:lstStyle/>
                    <a:p>
                      <a:pPr algn="l"/>
                      <a:r>
                        <a:rPr sz="1000" b="0" i="0">
                          <a:solidFill>
                            <a:srgbClr val="1E2430"/>
                          </a:solidFill>
                          <a:latin typeface="Calibri"/>
                          <a:ea typeface="Calibri"/>
                          <a:cs typeface="Calibri"/>
                        </a:rPr>
                        <a:t>Trái cây ít ngọt, các loại hạt (hạnh nhân, óc chó), sữa chua Hy Lạp</a:t>
                      </a:r>
                    </a:p>
                  </a:txBody>
                  <a:tcPr marL="73152" marR="73152" marT="27432" marB="27432" anchor="ctr">
                    <a:solidFill>
                      <a:srgbClr val="F5F7FB"/>
                    </a:solidFill>
                  </a:tcPr>
                </a:tc>
                <a:tc>
                  <a:txBody>
                    <a:bodyPr/>
                    <a:lstStyle/>
                    <a:p>
                      <a:pPr algn="ctr"/>
                      <a:r>
                        <a:rPr sz="1000" b="1" i="0">
                          <a:solidFill>
                            <a:srgbClr val="D9822B"/>
                          </a:solidFill>
                          <a:latin typeface="Calibri"/>
                          <a:ea typeface="Calibri"/>
                          <a:cs typeface="Calibri"/>
                        </a:rPr>
                        <a:t>2.680 món</a:t>
                      </a:r>
                    </a:p>
                  </a:txBody>
                  <a:tcPr marL="73152" marR="73152" marT="27432" marB="27432" anchor="ctr">
                    <a:solidFill>
                      <a:srgbClr val="F5F7FB"/>
                    </a:solidFill>
                  </a:tcPr>
                </a:tc>
                <a:tc>
                  <a:txBody>
                    <a:bodyPr/>
                    <a:lstStyle/>
                    <a:p>
                      <a:pPr algn="l"/>
                      <a:r>
                        <a:rPr sz="1000" b="0" i="0">
                          <a:solidFill>
                            <a:srgbClr val="1E2430"/>
                          </a:solidFill>
                          <a:latin typeface="Calibri"/>
                          <a:ea typeface="Calibri"/>
                          <a:cs typeface="Calibri"/>
                        </a:rPr>
                        <a:t>Táo xanh, Sữa chua không đường, Hạt dẻ cười, Sinh tố bơ</a:t>
                      </a:r>
                    </a:p>
                  </a:txBody>
                  <a:tcPr marL="73152" marR="73152" marT="27432" marB="27432" anchor="ctr">
                    <a:solidFill>
                      <a:srgbClr val="F5F7FB"/>
                    </a:solidFill>
                  </a:tcPr>
                </a:tc>
              </a:tr>
            </a:tbl>
          </a:graphicData>
        </a:graphic>
      </p:graphicFrame>
      <p:sp>
        <p:nvSpPr>
          <p:cNvPr id="27" name="Rectangle 26"/>
          <p:cNvSpPr/>
          <p:nvPr/>
        </p:nvSpPr>
        <p:spPr>
          <a:xfrm>
            <a:off x="502920" y="6437376"/>
            <a:ext cx="11183112" cy="1270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2920" y="6501384"/>
            <a:ext cx="8686800" cy="274320"/>
          </a:xfrm>
          <a:prstGeom prst="rect">
            <a:avLst/>
          </a:prstGeom>
          <a:noFill/>
        </p:spPr>
        <p:txBody>
          <a:bodyPr wrap="square" anchor="t" lIns="0" rIns="0" tIns="0" bIns="0">
            <a:spAutoFit/>
          </a:bodyPr>
          <a:lstStyle/>
          <a:p>
            <a:pPr algn="l">
              <a:lnSpc>
                <a:spcPct val="100000"/>
              </a:lnSpc>
              <a:spcAft>
                <a:spcPts val="0"/>
              </a:spcAft>
            </a:pPr>
            <a:r>
              <a:rPr sz="950" b="0" i="0">
                <a:solidFill>
                  <a:srgbClr val="5A6478"/>
                </a:solidFill>
                <a:latin typeface="Calibri"/>
                <a:ea typeface="Calibri"/>
                <a:cs typeface="Calibri"/>
              </a:rPr>
              <a:t>Chiến lược phân loại bể ứng viên và lọc tiền xử lý không gian tìm kiếm</a:t>
            </a:r>
          </a:p>
        </p:txBody>
      </p:sp>
      <p:sp>
        <p:nvSpPr>
          <p:cNvPr id="29" name="TextBox 28"/>
          <p:cNvSpPr txBox="1"/>
          <p:nvPr/>
        </p:nvSpPr>
        <p:spPr>
          <a:xfrm>
            <a:off x="9601200" y="6501384"/>
            <a:ext cx="2084831" cy="274320"/>
          </a:xfrm>
          <a:prstGeom prst="rect">
            <a:avLst/>
          </a:prstGeom>
          <a:noFill/>
        </p:spPr>
        <p:txBody>
          <a:bodyPr wrap="square" anchor="t" lIns="0" rIns="0" tIns="0" bIns="0">
            <a:spAutoFit/>
          </a:bodyPr>
          <a:lstStyle/>
          <a:p>
            <a:pPr algn="r">
              <a:lnSpc>
                <a:spcPct val="100000"/>
              </a:lnSpc>
              <a:spcAft>
                <a:spcPts val="0"/>
              </a:spcAft>
            </a:pPr>
            <a:r>
              <a:rPr sz="950" b="1" i="0">
                <a:solidFill>
                  <a:srgbClr val="5A6478"/>
                </a:solidFill>
                <a:latin typeface="Calibri"/>
                <a:ea typeface="Calibri"/>
                <a:cs typeface="Calibri"/>
              </a:rPr>
              <a:t>4 / 14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183112" cy="237744"/>
          </a:xfrm>
          <a:prstGeom prst="rect">
            <a:avLst/>
          </a:prstGeom>
          <a:noFill/>
        </p:spPr>
        <p:txBody>
          <a:bodyPr wrap="square" anchor="t" lIns="0" rIns="0" tIns="0" bIns="0">
            <a:spAutoFit/>
          </a:bodyPr>
          <a:lstStyle/>
          <a:p>
            <a:pPr algn="l">
              <a:lnSpc>
                <a:spcPct val="100000"/>
              </a:lnSpc>
              <a:spcAft>
                <a:spcPts val="0"/>
              </a:spcAft>
            </a:pPr>
            <a:r>
              <a:rPr sz="1150" b="1" i="0">
                <a:solidFill>
                  <a:srgbClr val="1B2A4A"/>
                </a:solidFill>
                <a:latin typeface="Calibri"/>
                <a:ea typeface="Calibri"/>
                <a:cs typeface="Calibri"/>
              </a:rPr>
              <a:t>ĐỐI CHUẨN ĐỘC LẬP TRÊN PROFILE P1 (10 SEEDS: 8001–8010)</a:t>
            </a:r>
          </a:p>
        </p:txBody>
      </p:sp>
      <p:sp>
        <p:nvSpPr>
          <p:cNvPr id="4" name="TextBox 3"/>
          <p:cNvSpPr txBox="1"/>
          <p:nvPr/>
        </p:nvSpPr>
        <p:spPr>
          <a:xfrm>
            <a:off x="502920" y="530352"/>
            <a:ext cx="11183112" cy="475488"/>
          </a:xfrm>
          <a:prstGeom prst="rect">
            <a:avLst/>
          </a:prstGeom>
          <a:noFill/>
        </p:spPr>
        <p:txBody>
          <a:bodyPr wrap="square" anchor="t" lIns="0" rIns="0" tIns="0" bIns="0">
            <a:spAutoFit/>
          </a:bodyPr>
          <a:lstStyle/>
          <a:p>
            <a:pPr algn="l">
              <a:lnSpc>
                <a:spcPct val="100000"/>
              </a:lnSpc>
              <a:spcAft>
                <a:spcPts val="0"/>
              </a:spcAft>
            </a:pPr>
            <a:r>
              <a:rPr sz="2300" b="1" i="0">
                <a:solidFill>
                  <a:srgbClr val="1B2A4A"/>
                </a:solidFill>
                <a:latin typeface="Calibri"/>
                <a:ea typeface="Calibri"/>
                <a:cs typeface="Calibri"/>
              </a:rPr>
              <a:t>Kết Quả Thực Nghiệm Tuần 8: Đối Chuẩn DBO vs IDBO 2 Tầng</a:t>
            </a:r>
          </a:p>
        </p:txBody>
      </p:sp>
      <p:sp>
        <p:nvSpPr>
          <p:cNvPr id="5" name="Rectangle 4"/>
          <p:cNvSpPr/>
          <p:nvPr/>
        </p:nvSpPr>
        <p:spPr>
          <a:xfrm>
            <a:off x="502920" y="1042415"/>
            <a:ext cx="11183112" cy="1524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234440"/>
            <a:ext cx="2679192" cy="1097280"/>
          </a:xfrm>
          <a:prstGeom prst="roundRect">
            <a:avLst/>
          </a:prstGeom>
          <a:solidFill>
            <a:srgbClr val="F5F7FB"/>
          </a:solidFill>
          <a:ln w="12700">
            <a:solidFill>
              <a:srgbClr val="D3DB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234440"/>
            <a:ext cx="73152" cy="1097280"/>
          </a:xfrm>
          <a:prstGeom prst="rect">
            <a:avLst/>
          </a:prstGeom>
          <a:solidFill>
            <a:srgbClr val="21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325880"/>
            <a:ext cx="2423160" cy="347472"/>
          </a:xfrm>
          <a:prstGeom prst="rect">
            <a:avLst/>
          </a:prstGeom>
          <a:noFill/>
        </p:spPr>
        <p:txBody>
          <a:bodyPr wrap="square" anchor="t" lIns="0" rIns="0" tIns="0" bIns="0">
            <a:spAutoFit/>
          </a:bodyPr>
          <a:lstStyle/>
          <a:p>
            <a:pPr algn="l">
              <a:lnSpc>
                <a:spcPct val="100000"/>
              </a:lnSpc>
              <a:spcAft>
                <a:spcPts val="0"/>
              </a:spcAft>
            </a:pPr>
            <a:r>
              <a:rPr sz="2100" b="1" i="0">
                <a:solidFill>
                  <a:srgbClr val="217A4B"/>
                </a:solidFill>
                <a:latin typeface="Calibri"/>
                <a:ea typeface="Calibri"/>
                <a:cs typeface="Calibri"/>
              </a:rPr>
              <a:t>99.5106</a:t>
            </a:r>
          </a:p>
        </p:txBody>
      </p:sp>
      <p:sp>
        <p:nvSpPr>
          <p:cNvPr id="9" name="TextBox 8"/>
          <p:cNvSpPr txBox="1"/>
          <p:nvPr/>
        </p:nvSpPr>
        <p:spPr>
          <a:xfrm>
            <a:off x="685800" y="1719072"/>
            <a:ext cx="2423160" cy="228600"/>
          </a:xfrm>
          <a:prstGeom prst="rect">
            <a:avLst/>
          </a:prstGeom>
          <a:noFill/>
        </p:spPr>
        <p:txBody>
          <a:bodyPr wrap="square" anchor="t" lIns="0" rIns="0" tIns="0" bIns="0">
            <a:spAutoFit/>
          </a:bodyPr>
          <a:lstStyle/>
          <a:p>
            <a:pPr algn="l">
              <a:lnSpc>
                <a:spcPct val="100000"/>
              </a:lnSpc>
              <a:spcAft>
                <a:spcPts val="0"/>
              </a:spcAft>
            </a:pPr>
            <a:r>
              <a:rPr sz="1150" b="1" i="0">
                <a:solidFill>
                  <a:srgbClr val="1E2430"/>
                </a:solidFill>
                <a:latin typeface="Calibri"/>
                <a:ea typeface="Calibri"/>
                <a:cs typeface="Calibri"/>
              </a:rPr>
              <a:t>Best Fitness Đạt Được</a:t>
            </a:r>
          </a:p>
        </p:txBody>
      </p:sp>
      <p:sp>
        <p:nvSpPr>
          <p:cNvPr id="10" name="TextBox 9"/>
          <p:cNvSpPr txBox="1"/>
          <p:nvPr/>
        </p:nvSpPr>
        <p:spPr>
          <a:xfrm>
            <a:off x="685800" y="1947672"/>
            <a:ext cx="2423160" cy="320040"/>
          </a:xfrm>
          <a:prstGeom prst="rect">
            <a:avLst/>
          </a:prstGeom>
          <a:noFill/>
        </p:spPr>
        <p:txBody>
          <a:bodyPr wrap="square" anchor="t" lIns="0" rIns="0" tIns="0" bIns="0">
            <a:spAutoFit/>
          </a:bodyPr>
          <a:lstStyle/>
          <a:p>
            <a:pPr algn="l">
              <a:lnSpc>
                <a:spcPct val="100000"/>
              </a:lnSpc>
              <a:spcAft>
                <a:spcPts val="0"/>
              </a:spcAft>
            </a:pPr>
            <a:r>
              <a:rPr sz="950" b="0" i="0">
                <a:solidFill>
                  <a:srgbClr val="5A6478"/>
                </a:solidFill>
                <a:latin typeface="Calibri"/>
                <a:ea typeface="Calibri"/>
                <a:cs typeface="Calibri"/>
              </a:rPr>
              <a:t>Cả 2 thuật toán đều tìm được nghiệm phù hợp</a:t>
            </a:r>
          </a:p>
        </p:txBody>
      </p:sp>
      <p:sp>
        <p:nvSpPr>
          <p:cNvPr id="11" name="Rounded Rectangle 10"/>
          <p:cNvSpPr/>
          <p:nvPr/>
        </p:nvSpPr>
        <p:spPr>
          <a:xfrm>
            <a:off x="3346704" y="1234440"/>
            <a:ext cx="2679192" cy="1097280"/>
          </a:xfrm>
          <a:prstGeom prst="roundRect">
            <a:avLst/>
          </a:prstGeom>
          <a:solidFill>
            <a:srgbClr val="F5F7FB"/>
          </a:solidFill>
          <a:ln w="12700">
            <a:solidFill>
              <a:srgbClr val="D3DB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346704" y="1234440"/>
            <a:ext cx="73152" cy="109728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29584" y="1325880"/>
            <a:ext cx="2423160" cy="347472"/>
          </a:xfrm>
          <a:prstGeom prst="rect">
            <a:avLst/>
          </a:prstGeom>
          <a:noFill/>
        </p:spPr>
        <p:txBody>
          <a:bodyPr wrap="square" anchor="t" lIns="0" rIns="0" tIns="0" bIns="0">
            <a:spAutoFit/>
          </a:bodyPr>
          <a:lstStyle/>
          <a:p>
            <a:pPr algn="l">
              <a:lnSpc>
                <a:spcPct val="100000"/>
              </a:lnSpc>
              <a:spcAft>
                <a:spcPts val="0"/>
              </a:spcAft>
            </a:pPr>
            <a:r>
              <a:rPr sz="2100" b="1" i="0">
                <a:solidFill>
                  <a:srgbClr val="1B2A4A"/>
                </a:solidFill>
                <a:latin typeface="Calibri"/>
                <a:ea typeface="Calibri"/>
                <a:cs typeface="Calibri"/>
              </a:rPr>
              <a:t>98.2148</a:t>
            </a:r>
          </a:p>
        </p:txBody>
      </p:sp>
      <p:sp>
        <p:nvSpPr>
          <p:cNvPr id="14" name="TextBox 13"/>
          <p:cNvSpPr txBox="1"/>
          <p:nvPr/>
        </p:nvSpPr>
        <p:spPr>
          <a:xfrm>
            <a:off x="3529584" y="1719072"/>
            <a:ext cx="2423160" cy="228600"/>
          </a:xfrm>
          <a:prstGeom prst="rect">
            <a:avLst/>
          </a:prstGeom>
          <a:noFill/>
        </p:spPr>
        <p:txBody>
          <a:bodyPr wrap="square" anchor="t" lIns="0" rIns="0" tIns="0" bIns="0">
            <a:spAutoFit/>
          </a:bodyPr>
          <a:lstStyle/>
          <a:p>
            <a:pPr algn="l">
              <a:lnSpc>
                <a:spcPct val="100000"/>
              </a:lnSpc>
              <a:spcAft>
                <a:spcPts val="0"/>
              </a:spcAft>
            </a:pPr>
            <a:r>
              <a:rPr sz="1150" b="1" i="0">
                <a:solidFill>
                  <a:srgbClr val="1E2430"/>
                </a:solidFill>
                <a:latin typeface="Calibri"/>
                <a:ea typeface="Calibri"/>
                <a:cs typeface="Calibri"/>
              </a:rPr>
              <a:t>Mean Fitness (10 Runs)</a:t>
            </a:r>
          </a:p>
        </p:txBody>
      </p:sp>
      <p:sp>
        <p:nvSpPr>
          <p:cNvPr id="15" name="TextBox 14"/>
          <p:cNvSpPr txBox="1"/>
          <p:nvPr/>
        </p:nvSpPr>
        <p:spPr>
          <a:xfrm>
            <a:off x="3529584" y="1947672"/>
            <a:ext cx="2423160" cy="320040"/>
          </a:xfrm>
          <a:prstGeom prst="rect">
            <a:avLst/>
          </a:prstGeom>
          <a:noFill/>
        </p:spPr>
        <p:txBody>
          <a:bodyPr wrap="square" anchor="t" lIns="0" rIns="0" tIns="0" bIns="0">
            <a:spAutoFit/>
          </a:bodyPr>
          <a:lstStyle/>
          <a:p>
            <a:pPr algn="l">
              <a:lnSpc>
                <a:spcPct val="100000"/>
              </a:lnSpc>
              <a:spcAft>
                <a:spcPts val="0"/>
              </a:spcAft>
            </a:pPr>
            <a:r>
              <a:rPr sz="950" b="0" i="0">
                <a:solidFill>
                  <a:srgbClr val="5A6478"/>
                </a:solidFill>
                <a:latin typeface="Calibri"/>
                <a:ea typeface="Calibri"/>
                <a:cs typeface="Calibri"/>
              </a:rPr>
              <a:t>Chạy ổn định tốt (Std 1.0663)</a:t>
            </a:r>
          </a:p>
        </p:txBody>
      </p:sp>
      <p:sp>
        <p:nvSpPr>
          <p:cNvPr id="16" name="Rounded Rectangle 15"/>
          <p:cNvSpPr/>
          <p:nvPr/>
        </p:nvSpPr>
        <p:spPr>
          <a:xfrm>
            <a:off x="6190488" y="1234440"/>
            <a:ext cx="2679192" cy="1097280"/>
          </a:xfrm>
          <a:prstGeom prst="roundRect">
            <a:avLst/>
          </a:prstGeom>
          <a:solidFill>
            <a:srgbClr val="F5F7FB"/>
          </a:solidFill>
          <a:ln w="12700">
            <a:solidFill>
              <a:srgbClr val="D3DB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90488" y="1234440"/>
            <a:ext cx="73152" cy="1097280"/>
          </a:xfrm>
          <a:prstGeom prst="rect">
            <a:avLst/>
          </a:prstGeom>
          <a:solidFill>
            <a:srgbClr val="1D6F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73368" y="1325880"/>
            <a:ext cx="2423160" cy="347472"/>
          </a:xfrm>
          <a:prstGeom prst="rect">
            <a:avLst/>
          </a:prstGeom>
          <a:noFill/>
        </p:spPr>
        <p:txBody>
          <a:bodyPr wrap="square" anchor="t" lIns="0" rIns="0" tIns="0" bIns="0">
            <a:spAutoFit/>
          </a:bodyPr>
          <a:lstStyle/>
          <a:p>
            <a:pPr algn="l">
              <a:lnSpc>
                <a:spcPct val="100000"/>
              </a:lnSpc>
              <a:spcAft>
                <a:spcPts val="0"/>
              </a:spcAft>
            </a:pPr>
            <a:r>
              <a:rPr sz="2100" b="1" i="0">
                <a:solidFill>
                  <a:srgbClr val="1D6F6F"/>
                </a:solidFill>
                <a:latin typeface="Calibri"/>
                <a:ea typeface="Calibri"/>
                <a:cs typeface="Calibri"/>
              </a:rPr>
              <a:t>0.0 / 10</a:t>
            </a:r>
          </a:p>
        </p:txBody>
      </p:sp>
      <p:sp>
        <p:nvSpPr>
          <p:cNvPr id="19" name="TextBox 18"/>
          <p:cNvSpPr txBox="1"/>
          <p:nvPr/>
        </p:nvSpPr>
        <p:spPr>
          <a:xfrm>
            <a:off x="6373368" y="1719072"/>
            <a:ext cx="2423160" cy="228600"/>
          </a:xfrm>
          <a:prstGeom prst="rect">
            <a:avLst/>
          </a:prstGeom>
          <a:noFill/>
        </p:spPr>
        <p:txBody>
          <a:bodyPr wrap="square" anchor="t" lIns="0" rIns="0" tIns="0" bIns="0">
            <a:spAutoFit/>
          </a:bodyPr>
          <a:lstStyle/>
          <a:p>
            <a:pPr algn="l">
              <a:lnSpc>
                <a:spcPct val="100000"/>
              </a:lnSpc>
              <a:spcAft>
                <a:spcPts val="0"/>
              </a:spcAft>
            </a:pPr>
            <a:r>
              <a:rPr sz="1150" b="1" i="0">
                <a:solidFill>
                  <a:srgbClr val="1E2430"/>
                </a:solidFill>
                <a:latin typeface="Calibri"/>
                <a:ea typeface="Calibri"/>
                <a:cs typeface="Calibri"/>
              </a:rPr>
              <a:t>Vi Phạm Ràng Buộc</a:t>
            </a:r>
          </a:p>
        </p:txBody>
      </p:sp>
      <p:sp>
        <p:nvSpPr>
          <p:cNvPr id="20" name="TextBox 19"/>
          <p:cNvSpPr txBox="1"/>
          <p:nvPr/>
        </p:nvSpPr>
        <p:spPr>
          <a:xfrm>
            <a:off x="6373368" y="1947672"/>
            <a:ext cx="2423160" cy="320040"/>
          </a:xfrm>
          <a:prstGeom prst="rect">
            <a:avLst/>
          </a:prstGeom>
          <a:noFill/>
        </p:spPr>
        <p:txBody>
          <a:bodyPr wrap="square" anchor="t" lIns="0" rIns="0" tIns="0" bIns="0">
            <a:spAutoFit/>
          </a:bodyPr>
          <a:lstStyle/>
          <a:p>
            <a:pPr algn="l">
              <a:lnSpc>
                <a:spcPct val="100000"/>
              </a:lnSpc>
              <a:spcAft>
                <a:spcPts val="0"/>
              </a:spcAft>
            </a:pPr>
            <a:r>
              <a:rPr sz="950" b="0" i="0">
                <a:solidFill>
                  <a:srgbClr val="5A6478"/>
                </a:solidFill>
                <a:latin typeface="Calibri"/>
                <a:ea typeface="Calibri"/>
                <a:cs typeface="Calibri"/>
              </a:rPr>
              <a:t>100% lượt chạy không ghi nhận vi phạm trong tập ràng buộc kỹ thuật tuần 8</a:t>
            </a:r>
          </a:p>
        </p:txBody>
      </p:sp>
      <p:sp>
        <p:nvSpPr>
          <p:cNvPr id="21" name="Rounded Rectangle 20"/>
          <p:cNvSpPr/>
          <p:nvPr/>
        </p:nvSpPr>
        <p:spPr>
          <a:xfrm>
            <a:off x="9034272" y="1234440"/>
            <a:ext cx="2679192" cy="1097280"/>
          </a:xfrm>
          <a:prstGeom prst="roundRect">
            <a:avLst/>
          </a:prstGeom>
          <a:solidFill>
            <a:srgbClr val="F5F7FB"/>
          </a:solidFill>
          <a:ln w="12700">
            <a:solidFill>
              <a:srgbClr val="D3DB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034272" y="1234440"/>
            <a:ext cx="73152" cy="1097280"/>
          </a:xfrm>
          <a:prstGeom prst="rect">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217152" y="1325880"/>
            <a:ext cx="2423160" cy="347472"/>
          </a:xfrm>
          <a:prstGeom prst="rect">
            <a:avLst/>
          </a:prstGeom>
          <a:noFill/>
        </p:spPr>
        <p:txBody>
          <a:bodyPr wrap="square" anchor="t" lIns="0" rIns="0" tIns="0" bIns="0">
            <a:spAutoFit/>
          </a:bodyPr>
          <a:lstStyle/>
          <a:p>
            <a:pPr algn="l">
              <a:lnSpc>
                <a:spcPct val="100000"/>
              </a:lnSpc>
              <a:spcAft>
                <a:spcPts val="0"/>
              </a:spcAft>
            </a:pPr>
            <a:r>
              <a:rPr sz="2100" b="1" i="0">
                <a:solidFill>
                  <a:srgbClr val="D9822B"/>
                </a:solidFill>
                <a:latin typeface="Calibri"/>
                <a:ea typeface="Calibri"/>
                <a:cs typeface="Calibri"/>
              </a:rPr>
              <a:t>7.6s – 8.2s</a:t>
            </a:r>
          </a:p>
        </p:txBody>
      </p:sp>
      <p:sp>
        <p:nvSpPr>
          <p:cNvPr id="24" name="TextBox 23"/>
          <p:cNvSpPr txBox="1"/>
          <p:nvPr/>
        </p:nvSpPr>
        <p:spPr>
          <a:xfrm>
            <a:off x="9217152" y="1719072"/>
            <a:ext cx="2423160" cy="228600"/>
          </a:xfrm>
          <a:prstGeom prst="rect">
            <a:avLst/>
          </a:prstGeom>
          <a:noFill/>
        </p:spPr>
        <p:txBody>
          <a:bodyPr wrap="square" anchor="t" lIns="0" rIns="0" tIns="0" bIns="0">
            <a:spAutoFit/>
          </a:bodyPr>
          <a:lstStyle/>
          <a:p>
            <a:pPr algn="l">
              <a:lnSpc>
                <a:spcPct val="100000"/>
              </a:lnSpc>
              <a:spcAft>
                <a:spcPts val="0"/>
              </a:spcAft>
            </a:pPr>
            <a:r>
              <a:rPr sz="1150" b="1" i="0">
                <a:solidFill>
                  <a:srgbClr val="1E2430"/>
                </a:solidFill>
                <a:latin typeface="Calibri"/>
                <a:ea typeface="Calibri"/>
                <a:cs typeface="Calibri"/>
              </a:rPr>
              <a:t>Thời Gian Giải TB</a:t>
            </a:r>
          </a:p>
        </p:txBody>
      </p:sp>
      <p:sp>
        <p:nvSpPr>
          <p:cNvPr id="25" name="TextBox 24"/>
          <p:cNvSpPr txBox="1"/>
          <p:nvPr/>
        </p:nvSpPr>
        <p:spPr>
          <a:xfrm>
            <a:off x="9217152" y="1947672"/>
            <a:ext cx="2423160" cy="320040"/>
          </a:xfrm>
          <a:prstGeom prst="rect">
            <a:avLst/>
          </a:prstGeom>
          <a:noFill/>
        </p:spPr>
        <p:txBody>
          <a:bodyPr wrap="square" anchor="t" lIns="0" rIns="0" tIns="0" bIns="0">
            <a:spAutoFit/>
          </a:bodyPr>
          <a:lstStyle/>
          <a:p>
            <a:pPr algn="l">
              <a:lnSpc>
                <a:spcPct val="100000"/>
              </a:lnSpc>
              <a:spcAft>
                <a:spcPts val="0"/>
              </a:spcAft>
            </a:pPr>
            <a:r>
              <a:rPr sz="950" b="0" i="0">
                <a:solidFill>
                  <a:srgbClr val="5A6478"/>
                </a:solidFill>
                <a:latin typeface="Calibri"/>
                <a:ea typeface="Calibri"/>
                <a:cs typeface="Calibri"/>
              </a:rPr>
              <a:t>Có tiềm năng tích hợp Web/API sau khi tối ưu thêm hiệu năng</a:t>
            </a:r>
          </a:p>
        </p:txBody>
      </p:sp>
      <p:graphicFrame>
        <p:nvGraphicFramePr>
          <p:cNvPr id="26" name="Table 25"/>
          <p:cNvGraphicFramePr>
            <a:graphicFrameLocks noGrp="1"/>
          </p:cNvGraphicFramePr>
          <p:nvPr/>
        </p:nvGraphicFramePr>
        <p:xfrm>
          <a:off x="502920" y="2514600"/>
          <a:ext cx="11365992" cy="1261872"/>
        </p:xfrm>
        <a:graphic>
          <a:graphicData uri="http://schemas.openxmlformats.org/drawingml/2006/table">
            <a:tbl>
              <a:tblPr firstRow="1" bandRow="1">
                <a:tableStyleId>{5C22544A-7EE6-4342-B048-85BDC9FD1C3A}</a:tableStyleId>
              </a:tblPr>
              <a:tblGrid>
                <a:gridCol w="1645920"/>
                <a:gridCol w="914400"/>
                <a:gridCol w="1188720"/>
                <a:gridCol w="1371600"/>
                <a:gridCol w="1371600"/>
                <a:gridCol w="1280160"/>
                <a:gridCol w="1371600"/>
                <a:gridCol w="1216152"/>
                <a:gridCol w="1005840"/>
              </a:tblGrid>
              <a:tr h="384048">
                <a:tc>
                  <a:txBody>
                    <a:bodyPr/>
                    <a:lstStyle/>
                    <a:p>
                      <a:pPr algn="l"/>
                      <a:r>
                        <a:rPr sz="1150" b="1" i="0">
                          <a:solidFill>
                            <a:srgbClr val="FFFFFF"/>
                          </a:solidFill>
                          <a:latin typeface="Calibri"/>
                          <a:ea typeface="Calibri"/>
                          <a:cs typeface="Calibri"/>
                        </a:rPr>
                        <a:t>Thuật toán</a:t>
                      </a:r>
                    </a:p>
                  </a:txBody>
                  <a:tcPr marL="73152" marR="73152" marT="27432" marB="27432" anchor="ctr">
                    <a:solidFill>
                      <a:srgbClr val="1B2A4A"/>
                    </a:solidFill>
                  </a:tcPr>
                </a:tc>
                <a:tc>
                  <a:txBody>
                    <a:bodyPr/>
                    <a:lstStyle/>
                    <a:p>
                      <a:pPr algn="ctr"/>
                      <a:r>
                        <a:rPr sz="1150" b="1" i="0">
                          <a:solidFill>
                            <a:srgbClr val="FFFFFF"/>
                          </a:solidFill>
                          <a:latin typeface="Calibri"/>
                          <a:ea typeface="Calibri"/>
                          <a:cs typeface="Calibri"/>
                        </a:rPr>
                        <a:t>Hồ sơ</a:t>
                      </a:r>
                    </a:p>
                  </a:txBody>
                  <a:tcPr marL="73152" marR="73152" marT="27432" marB="27432" anchor="ctr">
                    <a:solidFill>
                      <a:srgbClr val="1B2A4A"/>
                    </a:solidFill>
                  </a:tcPr>
                </a:tc>
                <a:tc>
                  <a:txBody>
                    <a:bodyPr/>
                    <a:lstStyle/>
                    <a:p>
                      <a:pPr algn="ctr"/>
                      <a:r>
                        <a:rPr sz="1150" b="1" i="0">
                          <a:solidFill>
                            <a:srgbClr val="FFFFFF"/>
                          </a:solidFill>
                          <a:latin typeface="Calibri"/>
                          <a:ea typeface="Calibri"/>
                          <a:cs typeface="Calibri"/>
                        </a:rPr>
                        <a:t>Số lượt chạy</a:t>
                      </a:r>
                    </a:p>
                  </a:txBody>
                  <a:tcPr marL="73152" marR="73152" marT="27432" marB="27432" anchor="ctr">
                    <a:solidFill>
                      <a:srgbClr val="1B2A4A"/>
                    </a:solidFill>
                  </a:tcPr>
                </a:tc>
                <a:tc>
                  <a:txBody>
                    <a:bodyPr/>
                    <a:lstStyle/>
                    <a:p>
                      <a:pPr algn="ctr"/>
                      <a:r>
                        <a:rPr sz="1150" b="1" i="0">
                          <a:solidFill>
                            <a:srgbClr val="FFFFFF"/>
                          </a:solidFill>
                          <a:latin typeface="Calibri"/>
                          <a:ea typeface="Calibri"/>
                          <a:cs typeface="Calibri"/>
                        </a:rPr>
                        <a:t>Best Fitness</a:t>
                      </a:r>
                    </a:p>
                  </a:txBody>
                  <a:tcPr marL="73152" marR="73152" marT="27432" marB="27432" anchor="ctr">
                    <a:solidFill>
                      <a:srgbClr val="1B2A4A"/>
                    </a:solidFill>
                  </a:tcPr>
                </a:tc>
                <a:tc>
                  <a:txBody>
                    <a:bodyPr/>
                    <a:lstStyle/>
                    <a:p>
                      <a:pPr algn="ctr"/>
                      <a:r>
                        <a:rPr sz="1150" b="1" i="0">
                          <a:solidFill>
                            <a:srgbClr val="FFFFFF"/>
                          </a:solidFill>
                          <a:latin typeface="Calibri"/>
                          <a:ea typeface="Calibri"/>
                          <a:cs typeface="Calibri"/>
                        </a:rPr>
                        <a:t>Mean Fitness</a:t>
                      </a:r>
                    </a:p>
                  </a:txBody>
                  <a:tcPr marL="73152" marR="73152" marT="27432" marB="27432" anchor="ctr">
                    <a:solidFill>
                      <a:srgbClr val="1B2A4A"/>
                    </a:solidFill>
                  </a:tcPr>
                </a:tc>
                <a:tc>
                  <a:txBody>
                    <a:bodyPr/>
                    <a:lstStyle/>
                    <a:p>
                      <a:pPr algn="ctr"/>
                      <a:r>
                        <a:rPr sz="1150" b="1" i="0">
                          <a:solidFill>
                            <a:srgbClr val="FFFFFF"/>
                          </a:solidFill>
                          <a:latin typeface="Calibri"/>
                          <a:ea typeface="Calibri"/>
                          <a:cs typeface="Calibri"/>
                        </a:rPr>
                        <a:t>Độ lệch Std</a:t>
                      </a:r>
                    </a:p>
                  </a:txBody>
                  <a:tcPr marL="73152" marR="73152" marT="27432" marB="27432" anchor="ctr">
                    <a:solidFill>
                      <a:srgbClr val="1B2A4A"/>
                    </a:solidFill>
                  </a:tcPr>
                </a:tc>
                <a:tc>
                  <a:txBody>
                    <a:bodyPr/>
                    <a:lstStyle/>
                    <a:p>
                      <a:pPr algn="ctr"/>
                      <a:r>
                        <a:rPr sz="1150" b="1" i="0">
                          <a:solidFill>
                            <a:srgbClr val="FFFFFF"/>
                          </a:solidFill>
                          <a:latin typeface="Calibri"/>
                          <a:ea typeface="Calibri"/>
                          <a:cs typeface="Calibri"/>
                        </a:rPr>
                        <a:t>Worst Fitness</a:t>
                      </a:r>
                    </a:p>
                  </a:txBody>
                  <a:tcPr marL="73152" marR="73152" marT="27432" marB="27432" anchor="ctr">
                    <a:solidFill>
                      <a:srgbClr val="1B2A4A"/>
                    </a:solidFill>
                  </a:tcPr>
                </a:tc>
                <a:tc>
                  <a:txBody>
                    <a:bodyPr/>
                    <a:lstStyle/>
                    <a:p>
                      <a:pPr algn="ctr"/>
                      <a:r>
                        <a:rPr sz="1150" b="1" i="0">
                          <a:solidFill>
                            <a:srgbClr val="FFFFFF"/>
                          </a:solidFill>
                          <a:latin typeface="Calibri"/>
                          <a:ea typeface="Calibri"/>
                          <a:cs typeface="Calibri"/>
                        </a:rPr>
                        <a:t>Thời gian TB (s)</a:t>
                      </a:r>
                    </a:p>
                  </a:txBody>
                  <a:tcPr marL="73152" marR="73152" marT="27432" marB="27432" anchor="ctr">
                    <a:solidFill>
                      <a:srgbClr val="1B2A4A"/>
                    </a:solidFill>
                  </a:tcPr>
                </a:tc>
                <a:tc>
                  <a:txBody>
                    <a:bodyPr/>
                    <a:lstStyle/>
                    <a:p>
                      <a:pPr algn="ctr"/>
                      <a:r>
                        <a:rPr sz="1150" b="1" i="0">
                          <a:solidFill>
                            <a:srgbClr val="FFFFFF"/>
                          </a:solidFill>
                          <a:latin typeface="Calibri"/>
                          <a:ea typeface="Calibri"/>
                          <a:cs typeface="Calibri"/>
                        </a:rPr>
                        <a:t>Vi phạm TB</a:t>
                      </a:r>
                    </a:p>
                  </a:txBody>
                  <a:tcPr marL="73152" marR="73152" marT="27432" marB="27432" anchor="ctr">
                    <a:solidFill>
                      <a:srgbClr val="1B2A4A"/>
                    </a:solidFill>
                  </a:tcPr>
                </a:tc>
              </a:tr>
              <a:tr h="438912">
                <a:tc>
                  <a:txBody>
                    <a:bodyPr/>
                    <a:lstStyle/>
                    <a:p>
                      <a:pPr algn="l"/>
                      <a:r>
                        <a:rPr sz="1100" b="1" i="0">
                          <a:solidFill>
                            <a:srgbClr val="1E2430"/>
                          </a:solidFill>
                          <a:latin typeface="Calibri"/>
                          <a:ea typeface="Calibri"/>
                          <a:cs typeface="Calibri"/>
                        </a:rPr>
                        <a:t>DBO 2-Tier</a:t>
                      </a:r>
                    </a:p>
                  </a:txBody>
                  <a:tcPr marL="73152" marR="73152" marT="27432" marB="27432" anchor="ctr">
                    <a:solidFill>
                      <a:srgbClr val="F5F7FB"/>
                    </a:solidFill>
                  </a:tcPr>
                </a:tc>
                <a:tc>
                  <a:txBody>
                    <a:bodyPr/>
                    <a:lstStyle/>
                    <a:p>
                      <a:pPr algn="ctr"/>
                      <a:r>
                        <a:rPr sz="1100" b="0" i="0">
                          <a:solidFill>
                            <a:srgbClr val="1E2430"/>
                          </a:solidFill>
                          <a:latin typeface="Calibri"/>
                          <a:ea typeface="Calibri"/>
                          <a:cs typeface="Calibri"/>
                        </a:rPr>
                        <a:t>P1</a:t>
                      </a:r>
                    </a:p>
                  </a:txBody>
                  <a:tcPr marL="73152" marR="73152" marT="27432" marB="27432" anchor="ctr">
                    <a:solidFill>
                      <a:srgbClr val="F5F7FB"/>
                    </a:solidFill>
                  </a:tcPr>
                </a:tc>
                <a:tc>
                  <a:txBody>
                    <a:bodyPr/>
                    <a:lstStyle/>
                    <a:p>
                      <a:pPr algn="ctr"/>
                      <a:r>
                        <a:rPr sz="1100" b="0" i="0">
                          <a:solidFill>
                            <a:srgbClr val="1E2430"/>
                          </a:solidFill>
                          <a:latin typeface="Calibri"/>
                          <a:ea typeface="Calibri"/>
                          <a:cs typeface="Calibri"/>
                        </a:rPr>
                        <a:t>10</a:t>
                      </a:r>
                    </a:p>
                  </a:txBody>
                  <a:tcPr marL="73152" marR="73152" marT="27432" marB="27432" anchor="ctr">
                    <a:solidFill>
                      <a:srgbClr val="F5F7FB"/>
                    </a:solidFill>
                  </a:tcPr>
                </a:tc>
                <a:tc>
                  <a:txBody>
                    <a:bodyPr/>
                    <a:lstStyle/>
                    <a:p>
                      <a:pPr algn="ctr"/>
                      <a:r>
                        <a:rPr sz="1100" b="1" i="0">
                          <a:solidFill>
                            <a:srgbClr val="217A4B"/>
                          </a:solidFill>
                          <a:latin typeface="Calibri"/>
                          <a:ea typeface="Calibri"/>
                          <a:cs typeface="Calibri"/>
                        </a:rPr>
                        <a:t>99.5106</a:t>
                      </a:r>
                    </a:p>
                  </a:txBody>
                  <a:tcPr marL="73152" marR="73152" marT="27432" marB="27432" anchor="ctr">
                    <a:solidFill>
                      <a:srgbClr val="F5F7FB"/>
                    </a:solidFill>
                  </a:tcPr>
                </a:tc>
                <a:tc>
                  <a:txBody>
                    <a:bodyPr/>
                    <a:lstStyle/>
                    <a:p>
                      <a:pPr algn="ctr"/>
                      <a:r>
                        <a:rPr sz="1100" b="1" i="0">
                          <a:solidFill>
                            <a:srgbClr val="1B2A4A"/>
                          </a:solidFill>
                          <a:latin typeface="Calibri"/>
                          <a:ea typeface="Calibri"/>
                          <a:cs typeface="Calibri"/>
                        </a:rPr>
                        <a:t>98.2148</a:t>
                      </a:r>
                    </a:p>
                  </a:txBody>
                  <a:tcPr marL="73152" marR="73152" marT="27432" marB="27432" anchor="ctr">
                    <a:solidFill>
                      <a:srgbClr val="F5F7FB"/>
                    </a:solidFill>
                  </a:tcPr>
                </a:tc>
                <a:tc>
                  <a:txBody>
                    <a:bodyPr/>
                    <a:lstStyle/>
                    <a:p>
                      <a:pPr algn="ctr"/>
                      <a:r>
                        <a:rPr sz="1100" b="0" i="0">
                          <a:solidFill>
                            <a:srgbClr val="1E2430"/>
                          </a:solidFill>
                          <a:latin typeface="Calibri"/>
                          <a:ea typeface="Calibri"/>
                          <a:cs typeface="Calibri"/>
                        </a:rPr>
                        <a:t>1.0663</a:t>
                      </a:r>
                    </a:p>
                  </a:txBody>
                  <a:tcPr marL="73152" marR="73152" marT="27432" marB="27432" anchor="ctr">
                    <a:solidFill>
                      <a:srgbClr val="F5F7FB"/>
                    </a:solidFill>
                  </a:tcPr>
                </a:tc>
                <a:tc>
                  <a:txBody>
                    <a:bodyPr/>
                    <a:lstStyle/>
                    <a:p>
                      <a:pPr algn="ctr"/>
                      <a:r>
                        <a:rPr sz="1100" b="0" i="0">
                          <a:solidFill>
                            <a:srgbClr val="1E2430"/>
                          </a:solidFill>
                          <a:latin typeface="Calibri"/>
                          <a:ea typeface="Calibri"/>
                          <a:cs typeface="Calibri"/>
                        </a:rPr>
                        <a:t>96.3425</a:t>
                      </a:r>
                    </a:p>
                  </a:txBody>
                  <a:tcPr marL="73152" marR="73152" marT="27432" marB="27432" anchor="ctr">
                    <a:solidFill>
                      <a:srgbClr val="F5F7FB"/>
                    </a:solidFill>
                  </a:tcPr>
                </a:tc>
                <a:tc>
                  <a:txBody>
                    <a:bodyPr/>
                    <a:lstStyle/>
                    <a:p>
                      <a:pPr algn="ctr"/>
                      <a:r>
                        <a:rPr sz="1100" b="0" i="0">
                          <a:solidFill>
                            <a:srgbClr val="1E2430"/>
                          </a:solidFill>
                          <a:latin typeface="Calibri"/>
                          <a:ea typeface="Calibri"/>
                          <a:cs typeface="Calibri"/>
                        </a:rPr>
                        <a:t>7.60s</a:t>
                      </a:r>
                    </a:p>
                  </a:txBody>
                  <a:tcPr marL="73152" marR="73152" marT="27432" marB="27432" anchor="ctr">
                    <a:solidFill>
                      <a:srgbClr val="F5F7FB"/>
                    </a:solidFill>
                  </a:tcPr>
                </a:tc>
                <a:tc>
                  <a:txBody>
                    <a:bodyPr/>
                    <a:lstStyle/>
                    <a:p>
                      <a:pPr algn="ctr"/>
                      <a:r>
                        <a:rPr sz="1100" b="1" i="0">
                          <a:solidFill>
                            <a:srgbClr val="217A4B"/>
                          </a:solidFill>
                          <a:latin typeface="Calibri"/>
                          <a:ea typeface="Calibri"/>
                          <a:cs typeface="Calibri"/>
                        </a:rPr>
                        <a:t>0.0</a:t>
                      </a:r>
                    </a:p>
                  </a:txBody>
                  <a:tcPr marL="73152" marR="73152" marT="27432" marB="27432" anchor="ctr">
                    <a:solidFill>
                      <a:srgbClr val="F5F7FB"/>
                    </a:solidFill>
                  </a:tcPr>
                </a:tc>
              </a:tr>
              <a:tr h="438912">
                <a:tc>
                  <a:txBody>
                    <a:bodyPr/>
                    <a:lstStyle/>
                    <a:p>
                      <a:pPr algn="l"/>
                      <a:r>
                        <a:rPr sz="1100" b="1" i="0">
                          <a:solidFill>
                            <a:srgbClr val="1E2430"/>
                          </a:solidFill>
                          <a:latin typeface="Calibri"/>
                          <a:ea typeface="Calibri"/>
                          <a:cs typeface="Calibri"/>
                        </a:rPr>
                        <a:t>IDBO 2-Tier</a:t>
                      </a:r>
                    </a:p>
                  </a:txBody>
                  <a:tcPr marL="73152" marR="73152" marT="27432" marB="27432" anchor="ctr">
                    <a:solidFill>
                      <a:srgbClr val="FFFFFF"/>
                    </a:solidFill>
                  </a:tcPr>
                </a:tc>
                <a:tc>
                  <a:txBody>
                    <a:bodyPr/>
                    <a:lstStyle/>
                    <a:p>
                      <a:pPr algn="ctr"/>
                      <a:r>
                        <a:rPr sz="1100" b="0" i="0">
                          <a:solidFill>
                            <a:srgbClr val="1E2430"/>
                          </a:solidFill>
                          <a:latin typeface="Calibri"/>
                          <a:ea typeface="Calibri"/>
                          <a:cs typeface="Calibri"/>
                        </a:rPr>
                        <a:t>P1</a:t>
                      </a:r>
                    </a:p>
                  </a:txBody>
                  <a:tcPr marL="73152" marR="73152" marT="27432" marB="27432" anchor="ctr">
                    <a:solidFill>
                      <a:srgbClr val="FFFFFF"/>
                    </a:solidFill>
                  </a:tcPr>
                </a:tc>
                <a:tc>
                  <a:txBody>
                    <a:bodyPr/>
                    <a:lstStyle/>
                    <a:p>
                      <a:pPr algn="ctr"/>
                      <a:r>
                        <a:rPr sz="1100" b="0" i="0">
                          <a:solidFill>
                            <a:srgbClr val="1E2430"/>
                          </a:solidFill>
                          <a:latin typeface="Calibri"/>
                          <a:ea typeface="Calibri"/>
                          <a:cs typeface="Calibri"/>
                        </a:rPr>
                        <a:t>10</a:t>
                      </a:r>
                    </a:p>
                  </a:txBody>
                  <a:tcPr marL="73152" marR="73152" marT="27432" marB="27432" anchor="ctr">
                    <a:solidFill>
                      <a:srgbClr val="FFFFFF"/>
                    </a:solidFill>
                  </a:tcPr>
                </a:tc>
                <a:tc>
                  <a:txBody>
                    <a:bodyPr/>
                    <a:lstStyle/>
                    <a:p>
                      <a:pPr algn="ctr"/>
                      <a:r>
                        <a:rPr sz="1100" b="1" i="0">
                          <a:solidFill>
                            <a:srgbClr val="217A4B"/>
                          </a:solidFill>
                          <a:latin typeface="Calibri"/>
                          <a:ea typeface="Calibri"/>
                          <a:cs typeface="Calibri"/>
                        </a:rPr>
                        <a:t>99.5106</a:t>
                      </a:r>
                    </a:p>
                  </a:txBody>
                  <a:tcPr marL="73152" marR="73152" marT="27432" marB="27432" anchor="ctr">
                    <a:solidFill>
                      <a:srgbClr val="FFFFFF"/>
                    </a:solidFill>
                  </a:tcPr>
                </a:tc>
                <a:tc>
                  <a:txBody>
                    <a:bodyPr/>
                    <a:lstStyle/>
                    <a:p>
                      <a:pPr algn="ctr"/>
                      <a:r>
                        <a:rPr sz="1100" b="1" i="0">
                          <a:solidFill>
                            <a:srgbClr val="1B2A4A"/>
                          </a:solidFill>
                          <a:latin typeface="Calibri"/>
                          <a:ea typeface="Calibri"/>
                          <a:cs typeface="Calibri"/>
                        </a:rPr>
                        <a:t>98.2148</a:t>
                      </a:r>
                    </a:p>
                  </a:txBody>
                  <a:tcPr marL="73152" marR="73152" marT="27432" marB="27432" anchor="ctr">
                    <a:solidFill>
                      <a:srgbClr val="FFFFFF"/>
                    </a:solidFill>
                  </a:tcPr>
                </a:tc>
                <a:tc>
                  <a:txBody>
                    <a:bodyPr/>
                    <a:lstStyle/>
                    <a:p>
                      <a:pPr algn="ctr"/>
                      <a:r>
                        <a:rPr sz="1100" b="0" i="0">
                          <a:solidFill>
                            <a:srgbClr val="1E2430"/>
                          </a:solidFill>
                          <a:latin typeface="Calibri"/>
                          <a:ea typeface="Calibri"/>
                          <a:cs typeface="Calibri"/>
                        </a:rPr>
                        <a:t>1.0663</a:t>
                      </a:r>
                    </a:p>
                  </a:txBody>
                  <a:tcPr marL="73152" marR="73152" marT="27432" marB="27432" anchor="ctr">
                    <a:solidFill>
                      <a:srgbClr val="FFFFFF"/>
                    </a:solidFill>
                  </a:tcPr>
                </a:tc>
                <a:tc>
                  <a:txBody>
                    <a:bodyPr/>
                    <a:lstStyle/>
                    <a:p>
                      <a:pPr algn="ctr"/>
                      <a:r>
                        <a:rPr sz="1100" b="0" i="0">
                          <a:solidFill>
                            <a:srgbClr val="1E2430"/>
                          </a:solidFill>
                          <a:latin typeface="Calibri"/>
                          <a:ea typeface="Calibri"/>
                          <a:cs typeface="Calibri"/>
                        </a:rPr>
                        <a:t>96.3425</a:t>
                      </a:r>
                    </a:p>
                  </a:txBody>
                  <a:tcPr marL="73152" marR="73152" marT="27432" marB="27432" anchor="ctr">
                    <a:solidFill>
                      <a:srgbClr val="FFFFFF"/>
                    </a:solidFill>
                  </a:tcPr>
                </a:tc>
                <a:tc>
                  <a:txBody>
                    <a:bodyPr/>
                    <a:lstStyle/>
                    <a:p>
                      <a:pPr algn="ctr"/>
                      <a:r>
                        <a:rPr sz="1100" b="0" i="0">
                          <a:solidFill>
                            <a:srgbClr val="1E2430"/>
                          </a:solidFill>
                          <a:latin typeface="Calibri"/>
                          <a:ea typeface="Calibri"/>
                          <a:cs typeface="Calibri"/>
                        </a:rPr>
                        <a:t>8.25s</a:t>
                      </a:r>
                    </a:p>
                  </a:txBody>
                  <a:tcPr marL="73152" marR="73152" marT="27432" marB="27432" anchor="ctr">
                    <a:solidFill>
                      <a:srgbClr val="FFFFFF"/>
                    </a:solidFill>
                  </a:tcPr>
                </a:tc>
                <a:tc>
                  <a:txBody>
                    <a:bodyPr/>
                    <a:lstStyle/>
                    <a:p>
                      <a:pPr algn="ctr"/>
                      <a:r>
                        <a:rPr sz="1100" b="1" i="0">
                          <a:solidFill>
                            <a:srgbClr val="217A4B"/>
                          </a:solidFill>
                          <a:latin typeface="Calibri"/>
                          <a:ea typeface="Calibri"/>
                          <a:cs typeface="Calibri"/>
                        </a:rPr>
                        <a:t>0.0</a:t>
                      </a:r>
                    </a:p>
                  </a:txBody>
                  <a:tcPr marL="73152" marR="73152" marT="27432" marB="27432" anchor="ctr">
                    <a:solidFill>
                      <a:srgbClr val="FFFFFF"/>
                    </a:solidFill>
                  </a:tcPr>
                </a:tc>
              </a:tr>
            </a:tbl>
          </a:graphicData>
        </a:graphic>
      </p:graphicFrame>
      <p:sp>
        <p:nvSpPr>
          <p:cNvPr id="27" name="Rounded Rectangle 26"/>
          <p:cNvSpPr/>
          <p:nvPr/>
        </p:nvSpPr>
        <p:spPr>
          <a:xfrm>
            <a:off x="502920" y="4160520"/>
            <a:ext cx="5440680" cy="2057400"/>
          </a:xfrm>
          <a:prstGeom prst="roundRect">
            <a:avLst/>
          </a:prstGeom>
          <a:solidFill>
            <a:srgbClr val="F5F7FB"/>
          </a:solidFill>
          <a:ln w="12700">
            <a:solidFill>
              <a:srgbClr val="D3DB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02920" y="4160520"/>
            <a:ext cx="73152" cy="205740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5800" y="4279392"/>
            <a:ext cx="5120640" cy="256032"/>
          </a:xfrm>
          <a:prstGeom prst="rect">
            <a:avLst/>
          </a:prstGeom>
          <a:noFill/>
        </p:spPr>
        <p:txBody>
          <a:bodyPr wrap="square" anchor="t" lIns="0" rIns="0" tIns="0" bIns="0">
            <a:spAutoFit/>
          </a:bodyPr>
          <a:lstStyle/>
          <a:p>
            <a:pPr algn="l">
              <a:lnSpc>
                <a:spcPct val="100000"/>
              </a:lnSpc>
              <a:spcAft>
                <a:spcPts val="0"/>
              </a:spcAft>
            </a:pPr>
            <a:r>
              <a:rPr sz="1050" b="1" i="0">
                <a:solidFill>
                  <a:srgbClr val="1B2A4A"/>
                </a:solidFill>
                <a:latin typeface="Calibri"/>
                <a:ea typeface="Calibri"/>
                <a:cs typeface="Calibri"/>
              </a:rPr>
              <a:t>PHÂN TÍCH ĐỐI CHUẨN TUẦN 8 (10 RUNS ĐỘC LẬP):</a:t>
            </a:r>
          </a:p>
        </p:txBody>
      </p:sp>
      <p:sp>
        <p:nvSpPr>
          <p:cNvPr id="30" name="TextBox 29"/>
          <p:cNvSpPr txBox="1"/>
          <p:nvPr/>
        </p:nvSpPr>
        <p:spPr>
          <a:xfrm>
            <a:off x="685800" y="4590288"/>
            <a:ext cx="5120640" cy="457200"/>
          </a:xfrm>
          <a:prstGeom prst="rect">
            <a:avLst/>
          </a:prstGeom>
          <a:noFill/>
        </p:spPr>
        <p:txBody>
          <a:bodyPr wrap="square" anchor="t" lIns="0" rIns="0" tIns="0" bIns="0">
            <a:spAutoFit/>
          </a:bodyPr>
          <a:lstStyle/>
          <a:p>
            <a:pPr algn="l">
              <a:lnSpc>
                <a:spcPct val="112000"/>
              </a:lnSpc>
              <a:spcAft>
                <a:spcPts val="0"/>
              </a:spcAft>
            </a:pPr>
            <a:r>
              <a:rPr sz="919" b="0" i="0">
                <a:solidFill>
                  <a:srgbClr val="1E2430"/>
                </a:solidFill>
                <a:latin typeface="Calibri"/>
                <a:ea typeface="Calibri"/>
                <a:cs typeface="Calibri"/>
              </a:rPr>
              <a:t>• Hiệu năng 2 tầng: Cả DBO và IDBO đạt Best Fitness 99.5106 tại seed 8003; mức lệch calo 8.1 kcal (0.32% so với mục tiêu 2491.6 kcal của Duy).</a:t>
            </a:r>
          </a:p>
        </p:txBody>
      </p:sp>
      <p:sp>
        <p:nvSpPr>
          <p:cNvPr id="31" name="TextBox 30"/>
          <p:cNvSpPr txBox="1"/>
          <p:nvPr/>
        </p:nvSpPr>
        <p:spPr>
          <a:xfrm>
            <a:off x="685800" y="5084064"/>
            <a:ext cx="5120640" cy="457200"/>
          </a:xfrm>
          <a:prstGeom prst="rect">
            <a:avLst/>
          </a:prstGeom>
          <a:noFill/>
        </p:spPr>
        <p:txBody>
          <a:bodyPr wrap="square" anchor="t" lIns="0" rIns="0" tIns="0" bIns="0">
            <a:spAutoFit/>
          </a:bodyPr>
          <a:lstStyle/>
          <a:p>
            <a:pPr algn="l">
              <a:lnSpc>
                <a:spcPct val="112000"/>
              </a:lnSpc>
              <a:spcAft>
                <a:spcPts val="0"/>
              </a:spcAft>
            </a:pPr>
            <a:r>
              <a:rPr sz="919" b="0" i="0">
                <a:solidFill>
                  <a:srgbClr val="1E2430"/>
                </a:solidFill>
                <a:latin typeface="Calibri"/>
                <a:ea typeface="Calibri"/>
                <a:cs typeface="Calibri"/>
              </a:rPr>
              <a:t>• Chi phí tính toán: ~210 lần tầng Outer, ~54.800 lần tầng Inner; thời gian 7.6s–8.2s (cần tối ưu cache/xử lý nền khi tích hợp API thực tế).</a:t>
            </a:r>
          </a:p>
        </p:txBody>
      </p:sp>
      <p:sp>
        <p:nvSpPr>
          <p:cNvPr id="32" name="TextBox 31"/>
          <p:cNvSpPr txBox="1"/>
          <p:nvPr/>
        </p:nvSpPr>
        <p:spPr>
          <a:xfrm>
            <a:off x="685800" y="5577840"/>
            <a:ext cx="5120640" cy="457200"/>
          </a:xfrm>
          <a:prstGeom prst="rect">
            <a:avLst/>
          </a:prstGeom>
          <a:noFill/>
        </p:spPr>
        <p:txBody>
          <a:bodyPr wrap="square" anchor="t" lIns="0" rIns="0" tIns="0" bIns="0">
            <a:spAutoFit/>
          </a:bodyPr>
          <a:lstStyle/>
          <a:p>
            <a:pPr algn="l">
              <a:lnSpc>
                <a:spcPct val="112000"/>
              </a:lnSpc>
              <a:spcAft>
                <a:spcPts val="0"/>
              </a:spcAft>
            </a:pPr>
            <a:r>
              <a:rPr sz="919" b="0" i="0">
                <a:solidFill>
                  <a:srgbClr val="1E2430"/>
                </a:solidFill>
                <a:latin typeface="Calibri"/>
                <a:ea typeface="Calibri"/>
                <a:cs typeface="Calibri"/>
              </a:rPr>
              <a:t>• Tính hợp lệ: 100% lượt chạy đạt 0 vi phạm ràng buộc kỹ thuật; DBO và IDBO cho kết quả đồng nhất trên toàn bộ 10 seed.</a:t>
            </a:r>
          </a:p>
        </p:txBody>
      </p:sp>
      <p:sp>
        <p:nvSpPr>
          <p:cNvPr id="33" name="Rounded Rectangle 32"/>
          <p:cNvSpPr/>
          <p:nvPr/>
        </p:nvSpPr>
        <p:spPr>
          <a:xfrm>
            <a:off x="6245352" y="4160520"/>
            <a:ext cx="5440680" cy="2057400"/>
          </a:xfrm>
          <a:prstGeom prst="roundRect">
            <a:avLst/>
          </a:prstGeom>
          <a:solidFill>
            <a:srgbClr val="F5F7FB"/>
          </a:solidFill>
          <a:ln w="12700">
            <a:solidFill>
              <a:srgbClr val="D3DB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245352" y="4160520"/>
            <a:ext cx="73152" cy="2057400"/>
          </a:xfrm>
          <a:prstGeom prst="rect">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28232" y="4279392"/>
            <a:ext cx="5120640" cy="256032"/>
          </a:xfrm>
          <a:prstGeom prst="rect">
            <a:avLst/>
          </a:prstGeom>
          <a:noFill/>
        </p:spPr>
        <p:txBody>
          <a:bodyPr wrap="square" anchor="t" lIns="0" rIns="0" tIns="0" bIns="0">
            <a:spAutoFit/>
          </a:bodyPr>
          <a:lstStyle/>
          <a:p>
            <a:pPr algn="l">
              <a:lnSpc>
                <a:spcPct val="100000"/>
              </a:lnSpc>
              <a:spcAft>
                <a:spcPts val="0"/>
              </a:spcAft>
            </a:pPr>
            <a:r>
              <a:rPr sz="1050" b="1" i="0">
                <a:solidFill>
                  <a:srgbClr val="D9822B"/>
                </a:solidFill>
                <a:latin typeface="Calibri"/>
                <a:ea typeface="Calibri"/>
                <a:cs typeface="Calibri"/>
              </a:rPr>
              <a:t>KIỂM TRA KÍCH HOẠT CƠ CHẾ IDBO (ABLATION DIAGNOSTIC):</a:t>
            </a:r>
          </a:p>
        </p:txBody>
      </p:sp>
      <p:sp>
        <p:nvSpPr>
          <p:cNvPr id="36" name="TextBox 35"/>
          <p:cNvSpPr txBox="1"/>
          <p:nvPr/>
        </p:nvSpPr>
        <p:spPr>
          <a:xfrm>
            <a:off x="6428232" y="4590288"/>
            <a:ext cx="5120640" cy="365760"/>
          </a:xfrm>
          <a:prstGeom prst="rect">
            <a:avLst/>
          </a:prstGeom>
          <a:noFill/>
        </p:spPr>
        <p:txBody>
          <a:bodyPr wrap="square" anchor="t" lIns="0" rIns="0" tIns="0" bIns="0">
            <a:spAutoFit/>
          </a:bodyPr>
          <a:lstStyle/>
          <a:p>
            <a:pPr algn="l">
              <a:lnSpc>
                <a:spcPct val="110000"/>
              </a:lnSpc>
              <a:spcAft>
                <a:spcPts val="0"/>
              </a:spcAft>
            </a:pPr>
            <a:r>
              <a:rPr sz="880" b="0" i="0">
                <a:solidFill>
                  <a:srgbClr val="1E2430"/>
                </a:solidFill>
                <a:latin typeface="Calibri"/>
                <a:ea typeface="Calibri"/>
                <a:cs typeface="Calibri"/>
              </a:rPr>
              <a:t>• Baseline 25 vòng: DBO Mean 98.2148 | IDBO Mean 98.2148 | Perturbations: 0 | Restarts: 0</a:t>
            </a:r>
          </a:p>
        </p:txBody>
      </p:sp>
      <p:sp>
        <p:nvSpPr>
          <p:cNvPr id="37" name="TextBox 36"/>
          <p:cNvSpPr txBox="1"/>
          <p:nvPr/>
        </p:nvSpPr>
        <p:spPr>
          <a:xfrm>
            <a:off x="6428232" y="4974336"/>
            <a:ext cx="5120640" cy="365760"/>
          </a:xfrm>
          <a:prstGeom prst="rect">
            <a:avLst/>
          </a:prstGeom>
          <a:noFill/>
        </p:spPr>
        <p:txBody>
          <a:bodyPr wrap="square" anchor="t" lIns="0" rIns="0" tIns="0" bIns="0">
            <a:spAutoFit/>
          </a:bodyPr>
          <a:lstStyle/>
          <a:p>
            <a:pPr algn="l">
              <a:lnSpc>
                <a:spcPct val="110000"/>
              </a:lnSpc>
              <a:spcAft>
                <a:spcPts val="0"/>
              </a:spcAft>
            </a:pPr>
            <a:r>
              <a:rPr sz="880" b="0" i="0">
                <a:solidFill>
                  <a:srgbClr val="1E2430"/>
                </a:solidFill>
                <a:latin typeface="Calibri"/>
                <a:ea typeface="Calibri"/>
                <a:cs typeface="Calibri"/>
              </a:rPr>
              <a:t>• Chẩn đoán 100 vòng: DBO Mean 97.9821 | IDBO Mean 97.9821 | Perturbations: 0 | Restarts: 0</a:t>
            </a:r>
          </a:p>
        </p:txBody>
      </p:sp>
      <p:sp>
        <p:nvSpPr>
          <p:cNvPr id="38" name="TextBox 37"/>
          <p:cNvSpPr txBox="1"/>
          <p:nvPr/>
        </p:nvSpPr>
        <p:spPr>
          <a:xfrm>
            <a:off x="6428232" y="5358383"/>
            <a:ext cx="5120640" cy="365760"/>
          </a:xfrm>
          <a:prstGeom prst="rect">
            <a:avLst/>
          </a:prstGeom>
          <a:noFill/>
        </p:spPr>
        <p:txBody>
          <a:bodyPr wrap="square" anchor="t" lIns="0" rIns="0" tIns="0" bIns="0">
            <a:spAutoFit/>
          </a:bodyPr>
          <a:lstStyle/>
          <a:p>
            <a:pPr algn="l">
              <a:lnSpc>
                <a:spcPct val="110000"/>
              </a:lnSpc>
              <a:spcAft>
                <a:spcPts val="0"/>
              </a:spcAft>
            </a:pPr>
            <a:r>
              <a:rPr sz="880" b="0" i="0">
                <a:solidFill>
                  <a:srgbClr val="1E2430"/>
                </a:solidFill>
                <a:latin typeface="Calibri"/>
                <a:ea typeface="Calibri"/>
                <a:cs typeface="Calibri"/>
              </a:rPr>
              <a:t>• Kết luận thực nghiệm: Chưa ghi nhận IDBO vượt trội hơn DBO trong phạm vi thử nghiệm. Cơ chế cải tiến không kích hoạt do ngưỡng đa dạng (0.001–0.05) thấp hơn độ phân tán thực tế của đàn rời rạc (~0.25).</a:t>
            </a:r>
          </a:p>
        </p:txBody>
      </p:sp>
      <p:sp>
        <p:nvSpPr>
          <p:cNvPr id="39" name="TextBox 38"/>
          <p:cNvSpPr txBox="1"/>
          <p:nvPr/>
        </p:nvSpPr>
        <p:spPr>
          <a:xfrm>
            <a:off x="6428232" y="5742431"/>
            <a:ext cx="5120640" cy="365760"/>
          </a:xfrm>
          <a:prstGeom prst="rect">
            <a:avLst/>
          </a:prstGeom>
          <a:noFill/>
        </p:spPr>
        <p:txBody>
          <a:bodyPr wrap="square" anchor="t" lIns="0" rIns="0" tIns="0" bIns="0">
            <a:spAutoFit/>
          </a:bodyPr>
          <a:lstStyle/>
          <a:p>
            <a:pPr algn="l">
              <a:lnSpc>
                <a:spcPct val="110000"/>
              </a:lnSpc>
              <a:spcAft>
                <a:spcPts val="0"/>
              </a:spcAft>
            </a:pPr>
            <a:r>
              <a:rPr sz="880" b="0" i="0">
                <a:solidFill>
                  <a:srgbClr val="1E2430"/>
                </a:solidFill>
                <a:latin typeface="Calibri"/>
                <a:ea typeface="Calibri"/>
                <a:cs typeface="Calibri"/>
              </a:rPr>
              <a:t>  (Chi tiết paired runs &amp; đối chứng 3 cấu hình lưu tại experiments/ablation_dbo_idbo/README.md)</a:t>
            </a:r>
          </a:p>
        </p:txBody>
      </p:sp>
      <p:sp>
        <p:nvSpPr>
          <p:cNvPr id="40" name="Rectangle 39"/>
          <p:cNvSpPr/>
          <p:nvPr/>
        </p:nvSpPr>
        <p:spPr>
          <a:xfrm>
            <a:off x="502920" y="6437376"/>
            <a:ext cx="11183112" cy="1270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02920" y="6501384"/>
            <a:ext cx="8686800" cy="274320"/>
          </a:xfrm>
          <a:prstGeom prst="rect">
            <a:avLst/>
          </a:prstGeom>
          <a:noFill/>
        </p:spPr>
        <p:txBody>
          <a:bodyPr wrap="square" anchor="t" lIns="0" rIns="0" tIns="0" bIns="0">
            <a:spAutoFit/>
          </a:bodyPr>
          <a:lstStyle/>
          <a:p>
            <a:pPr algn="l">
              <a:lnSpc>
                <a:spcPct val="100000"/>
              </a:lnSpc>
              <a:spcAft>
                <a:spcPts val="0"/>
              </a:spcAft>
            </a:pPr>
            <a:r>
              <a:rPr sz="950" b="0" i="0">
                <a:solidFill>
                  <a:srgbClr val="5A6478"/>
                </a:solidFill>
                <a:latin typeface="Calibri"/>
                <a:ea typeface="Calibri"/>
                <a:cs typeface="Calibri"/>
              </a:rPr>
              <a:t>Kết quả thực nghiệm 10 runs độc lập Two-Tier DBO vs IDBO trên Profile P1</a:t>
            </a:r>
          </a:p>
        </p:txBody>
      </p:sp>
      <p:sp>
        <p:nvSpPr>
          <p:cNvPr id="42" name="TextBox 41"/>
          <p:cNvSpPr txBox="1"/>
          <p:nvPr/>
        </p:nvSpPr>
        <p:spPr>
          <a:xfrm>
            <a:off x="9601200" y="6501384"/>
            <a:ext cx="2084831" cy="274320"/>
          </a:xfrm>
          <a:prstGeom prst="rect">
            <a:avLst/>
          </a:prstGeom>
          <a:noFill/>
        </p:spPr>
        <p:txBody>
          <a:bodyPr wrap="square" anchor="t" lIns="0" rIns="0" tIns="0" bIns="0">
            <a:spAutoFit/>
          </a:bodyPr>
          <a:lstStyle/>
          <a:p>
            <a:pPr algn="r">
              <a:lnSpc>
                <a:spcPct val="100000"/>
              </a:lnSpc>
              <a:spcAft>
                <a:spcPts val="0"/>
              </a:spcAft>
            </a:pPr>
            <a:r>
              <a:rPr sz="950" b="1" i="0">
                <a:solidFill>
                  <a:srgbClr val="5A6478"/>
                </a:solidFill>
                <a:latin typeface="Calibri"/>
                <a:ea typeface="Calibri"/>
                <a:cs typeface="Calibri"/>
              </a:rPr>
              <a:t>5 / 14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183112" cy="237744"/>
          </a:xfrm>
          <a:prstGeom prst="rect">
            <a:avLst/>
          </a:prstGeom>
          <a:noFill/>
        </p:spPr>
        <p:txBody>
          <a:bodyPr wrap="square" anchor="t" lIns="0" rIns="0" tIns="0" bIns="0">
            <a:spAutoFit/>
          </a:bodyPr>
          <a:lstStyle/>
          <a:p>
            <a:pPr algn="l">
              <a:lnSpc>
                <a:spcPct val="100000"/>
              </a:lnSpc>
              <a:spcAft>
                <a:spcPts val="0"/>
              </a:spcAft>
            </a:pPr>
            <a:r>
              <a:rPr sz="1150" b="1" i="0">
                <a:solidFill>
                  <a:srgbClr val="1B2A4A"/>
                </a:solidFill>
                <a:latin typeface="Calibri"/>
                <a:ea typeface="Calibri"/>
                <a:cs typeface="Calibri"/>
              </a:rPr>
              <a:t>ĐÁNH GIÁ TỐC ĐỘ HỘI TỤ &amp; ĐỘ ỔN ĐỊNH CỦA GIẢI THUẬT</a:t>
            </a:r>
          </a:p>
        </p:txBody>
      </p:sp>
      <p:sp>
        <p:nvSpPr>
          <p:cNvPr id="4" name="TextBox 3"/>
          <p:cNvSpPr txBox="1"/>
          <p:nvPr/>
        </p:nvSpPr>
        <p:spPr>
          <a:xfrm>
            <a:off x="502920" y="530352"/>
            <a:ext cx="11183112" cy="475488"/>
          </a:xfrm>
          <a:prstGeom prst="rect">
            <a:avLst/>
          </a:prstGeom>
          <a:noFill/>
        </p:spPr>
        <p:txBody>
          <a:bodyPr wrap="square" anchor="t" lIns="0" rIns="0" tIns="0" bIns="0">
            <a:spAutoFit/>
          </a:bodyPr>
          <a:lstStyle/>
          <a:p>
            <a:pPr algn="l">
              <a:lnSpc>
                <a:spcPct val="100000"/>
              </a:lnSpc>
              <a:spcAft>
                <a:spcPts val="0"/>
              </a:spcAft>
            </a:pPr>
            <a:r>
              <a:rPr sz="2300" b="1" i="0">
                <a:solidFill>
                  <a:srgbClr val="1B2A4A"/>
                </a:solidFill>
                <a:latin typeface="Calibri"/>
                <a:ea typeface="Calibri"/>
                <a:cs typeface="Calibri"/>
              </a:rPr>
              <a:t>Đồ Thị Hội Tụ Tầng Ngoài &amp; Phân Phối Nghiệm (W8-F1 &amp; W8-F2)</a:t>
            </a:r>
          </a:p>
        </p:txBody>
      </p:sp>
      <p:sp>
        <p:nvSpPr>
          <p:cNvPr id="5" name="Rectangle 4"/>
          <p:cNvSpPr/>
          <p:nvPr/>
        </p:nvSpPr>
        <p:spPr>
          <a:xfrm>
            <a:off x="502920" y="1042415"/>
            <a:ext cx="11183112" cy="1524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_convergence_2tier_p1.png"/>
          <p:cNvPicPr>
            <a:picLocks noChangeAspect="1"/>
          </p:cNvPicPr>
          <p:nvPr/>
        </p:nvPicPr>
        <p:blipFill>
          <a:blip r:embed="rId2"/>
          <a:stretch>
            <a:fillRect/>
          </a:stretch>
        </p:blipFill>
        <p:spPr>
          <a:xfrm>
            <a:off x="502920" y="1234440"/>
            <a:ext cx="5440680" cy="3324860"/>
          </a:xfrm>
          <a:prstGeom prst="rect">
            <a:avLst/>
          </a:prstGeom>
        </p:spPr>
      </p:pic>
      <p:sp>
        <p:nvSpPr>
          <p:cNvPr id="7" name="Rounded Rectangle 6"/>
          <p:cNvSpPr/>
          <p:nvPr/>
        </p:nvSpPr>
        <p:spPr>
          <a:xfrm>
            <a:off x="502920" y="5257800"/>
            <a:ext cx="5440680" cy="960120"/>
          </a:xfrm>
          <a:prstGeom prst="roundRect">
            <a:avLst/>
          </a:prstGeom>
          <a:solidFill>
            <a:srgbClr val="F5F7FB"/>
          </a:solidFill>
          <a:ln w="12700">
            <a:solidFill>
              <a:srgbClr val="D3DB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5321808"/>
            <a:ext cx="5166360" cy="822960"/>
          </a:xfrm>
          <a:prstGeom prst="rect">
            <a:avLst/>
          </a:prstGeom>
          <a:noFill/>
        </p:spPr>
        <p:txBody>
          <a:bodyPr wrap="square" anchor="t" lIns="0" rIns="0" tIns="0" bIns="0">
            <a:spAutoFit/>
          </a:bodyPr>
          <a:lstStyle/>
          <a:p>
            <a:pPr algn="l">
              <a:lnSpc>
                <a:spcPct val="115000"/>
              </a:lnSpc>
              <a:spcAft>
                <a:spcPts val="0"/>
              </a:spcAft>
            </a:pPr>
            <a:r>
              <a:rPr sz="980" b="0" i="0">
                <a:solidFill>
                  <a:srgbClr val="1E2430"/>
                </a:solidFill>
                <a:latin typeface="Calibri"/>
                <a:ea typeface="Calibri"/>
                <a:cs typeface="Calibri"/>
              </a:rPr>
              <a:t>W8-F1: Đường cong hội tụ tầng ngoài (Outer Iterations 1–25)
• DBO và IDBO cho đường hội tụ gần như trùng nhau trong cấu hình 25 vòng lặp.
• Cơ chế perturbation/restart chưa kích hoạt đáng kể; chưa thể kết luận IDBO tốt hơn DBO.</a:t>
            </a:r>
          </a:p>
        </p:txBody>
      </p:sp>
      <p:pic>
        <p:nvPicPr>
          <p:cNvPr id="9" name="Picture 8" descr="fig_boxplot_2tier_p1.png"/>
          <p:cNvPicPr>
            <a:picLocks noChangeAspect="1"/>
          </p:cNvPicPr>
          <p:nvPr/>
        </p:nvPicPr>
        <p:blipFill>
          <a:blip r:embed="rId3"/>
          <a:stretch>
            <a:fillRect/>
          </a:stretch>
        </p:blipFill>
        <p:spPr>
          <a:xfrm>
            <a:off x="6245352" y="1234440"/>
            <a:ext cx="5004261" cy="3931920"/>
          </a:xfrm>
          <a:prstGeom prst="rect">
            <a:avLst/>
          </a:prstGeom>
        </p:spPr>
      </p:pic>
      <p:sp>
        <p:nvSpPr>
          <p:cNvPr id="10" name="Rounded Rectangle 9"/>
          <p:cNvSpPr/>
          <p:nvPr/>
        </p:nvSpPr>
        <p:spPr>
          <a:xfrm>
            <a:off x="6245352" y="5257800"/>
            <a:ext cx="5440680" cy="960120"/>
          </a:xfrm>
          <a:prstGeom prst="roundRect">
            <a:avLst/>
          </a:prstGeom>
          <a:solidFill>
            <a:srgbClr val="F5F7FB"/>
          </a:solidFill>
          <a:ln w="12700">
            <a:solidFill>
              <a:srgbClr val="D3DB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82512" y="5321808"/>
            <a:ext cx="5166360" cy="822960"/>
          </a:xfrm>
          <a:prstGeom prst="rect">
            <a:avLst/>
          </a:prstGeom>
          <a:noFill/>
        </p:spPr>
        <p:txBody>
          <a:bodyPr wrap="square" anchor="t" lIns="0" rIns="0" tIns="0" bIns="0">
            <a:spAutoFit/>
          </a:bodyPr>
          <a:lstStyle/>
          <a:p>
            <a:pPr algn="l">
              <a:lnSpc>
                <a:spcPct val="115000"/>
              </a:lnSpc>
              <a:spcAft>
                <a:spcPts val="0"/>
              </a:spcAft>
            </a:pPr>
            <a:r>
              <a:rPr sz="980" b="0" i="0">
                <a:solidFill>
                  <a:srgbClr val="1E2430"/>
                </a:solidFill>
                <a:latin typeface="Calibri"/>
                <a:ea typeface="Calibri"/>
                <a:cs typeface="Calibri"/>
              </a:rPr>
              <a:t>W8-F2: Biểu đồ hộp (Boxplot) phân phối Best Fitness qua 10 runs
• Trung vị (Median) đạt 98.4 điểm, khoảng biến thiên hẹp [96.3, 99.5].
• Không quan sát thấy outlier thấp trong 10 seed; kết quả chưa đủ để loại trừ nguy cơ nghiệm cục bộ ở cấu hình khác.</a:t>
            </a:r>
          </a:p>
        </p:txBody>
      </p:sp>
      <p:sp>
        <p:nvSpPr>
          <p:cNvPr id="12" name="Rectangle 11"/>
          <p:cNvSpPr/>
          <p:nvPr/>
        </p:nvSpPr>
        <p:spPr>
          <a:xfrm>
            <a:off x="502920" y="6437376"/>
            <a:ext cx="11183112" cy="1270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6501384"/>
            <a:ext cx="8686800" cy="274320"/>
          </a:xfrm>
          <a:prstGeom prst="rect">
            <a:avLst/>
          </a:prstGeom>
          <a:noFill/>
        </p:spPr>
        <p:txBody>
          <a:bodyPr wrap="square" anchor="t" lIns="0" rIns="0" tIns="0" bIns="0">
            <a:spAutoFit/>
          </a:bodyPr>
          <a:lstStyle/>
          <a:p>
            <a:pPr algn="l">
              <a:lnSpc>
                <a:spcPct val="100000"/>
              </a:lnSpc>
              <a:spcAft>
                <a:spcPts val="0"/>
              </a:spcAft>
            </a:pPr>
            <a:r>
              <a:rPr sz="950" b="0" i="0">
                <a:solidFill>
                  <a:srgbClr val="5A6478"/>
                </a:solidFill>
                <a:latin typeface="Calibri"/>
                <a:ea typeface="Calibri"/>
                <a:cs typeface="Calibri"/>
              </a:rPr>
              <a:t>Đồ thị hội tụ và phân phối giá trị thích nghi qua 10 lượt chạy thực nghiệm</a:t>
            </a:r>
          </a:p>
        </p:txBody>
      </p:sp>
      <p:sp>
        <p:nvSpPr>
          <p:cNvPr id="14" name="TextBox 13"/>
          <p:cNvSpPr txBox="1"/>
          <p:nvPr/>
        </p:nvSpPr>
        <p:spPr>
          <a:xfrm>
            <a:off x="9601200" y="6501384"/>
            <a:ext cx="2084831" cy="274320"/>
          </a:xfrm>
          <a:prstGeom prst="rect">
            <a:avLst/>
          </a:prstGeom>
          <a:noFill/>
        </p:spPr>
        <p:txBody>
          <a:bodyPr wrap="square" anchor="t" lIns="0" rIns="0" tIns="0" bIns="0">
            <a:spAutoFit/>
          </a:bodyPr>
          <a:lstStyle/>
          <a:p>
            <a:pPr algn="r">
              <a:lnSpc>
                <a:spcPct val="100000"/>
              </a:lnSpc>
              <a:spcAft>
                <a:spcPts val="0"/>
              </a:spcAft>
            </a:pPr>
            <a:r>
              <a:rPr sz="950" b="1" i="0">
                <a:solidFill>
                  <a:srgbClr val="5A6478"/>
                </a:solidFill>
                <a:latin typeface="Calibri"/>
                <a:ea typeface="Calibri"/>
                <a:cs typeface="Calibri"/>
              </a:rPr>
              <a:t>6 / 14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183112" cy="237744"/>
          </a:xfrm>
          <a:prstGeom prst="rect">
            <a:avLst/>
          </a:prstGeom>
          <a:noFill/>
        </p:spPr>
        <p:txBody>
          <a:bodyPr wrap="square" anchor="t" lIns="0" rIns="0" tIns="0" bIns="0">
            <a:spAutoFit/>
          </a:bodyPr>
          <a:lstStyle/>
          <a:p>
            <a:pPr algn="l">
              <a:lnSpc>
                <a:spcPct val="100000"/>
              </a:lnSpc>
              <a:spcAft>
                <a:spcPts val="0"/>
              </a:spcAft>
            </a:pPr>
            <a:r>
              <a:rPr sz="1150" b="1" i="0">
                <a:solidFill>
                  <a:srgbClr val="1B2A4A"/>
                </a:solidFill>
                <a:latin typeface="Calibri"/>
                <a:ea typeface="Calibri"/>
                <a:cs typeface="Calibri"/>
              </a:rPr>
              <a:t>MINH HỌA CASE STUDY TRÊN PROFILE P1 (DUY — 2491.6 KCAL)</a:t>
            </a:r>
          </a:p>
        </p:txBody>
      </p:sp>
      <p:sp>
        <p:nvSpPr>
          <p:cNvPr id="4" name="TextBox 3"/>
          <p:cNvSpPr txBox="1"/>
          <p:nvPr/>
        </p:nvSpPr>
        <p:spPr>
          <a:xfrm>
            <a:off x="502920" y="530352"/>
            <a:ext cx="11183112" cy="475488"/>
          </a:xfrm>
          <a:prstGeom prst="rect">
            <a:avLst/>
          </a:prstGeom>
          <a:noFill/>
        </p:spPr>
        <p:txBody>
          <a:bodyPr wrap="square" anchor="t" lIns="0" rIns="0" tIns="0" bIns="0">
            <a:spAutoFit/>
          </a:bodyPr>
          <a:lstStyle/>
          <a:p>
            <a:pPr algn="l">
              <a:lnSpc>
                <a:spcPct val="100000"/>
              </a:lnSpc>
              <a:spcAft>
                <a:spcPts val="0"/>
              </a:spcAft>
            </a:pPr>
            <a:r>
              <a:rPr sz="2300" b="1" i="0">
                <a:solidFill>
                  <a:srgbClr val="1B2A4A"/>
                </a:solidFill>
                <a:latin typeface="Calibri"/>
                <a:ea typeface="Calibri"/>
                <a:cs typeface="Calibri"/>
              </a:rPr>
              <a:t>Cân Đối Dinh Dưỡng &amp; Minh Họa Nghiệm Tối Ưu Kỹ Thuật (W8-F3 &amp; 5g Portions)</a:t>
            </a:r>
          </a:p>
        </p:txBody>
      </p:sp>
      <p:sp>
        <p:nvSpPr>
          <p:cNvPr id="5" name="Rectangle 4"/>
          <p:cNvSpPr/>
          <p:nvPr/>
        </p:nvSpPr>
        <p:spPr>
          <a:xfrm>
            <a:off x="502920" y="1042415"/>
            <a:ext cx="11183112" cy="1524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_radar_nutrition_p1.png"/>
          <p:cNvPicPr>
            <a:picLocks noChangeAspect="1"/>
          </p:cNvPicPr>
          <p:nvPr/>
        </p:nvPicPr>
        <p:blipFill>
          <a:blip r:embed="rId2"/>
          <a:stretch>
            <a:fillRect/>
          </a:stretch>
        </p:blipFill>
        <p:spPr>
          <a:xfrm>
            <a:off x="502920" y="1234440"/>
            <a:ext cx="4937760" cy="4937760"/>
          </a:xfrm>
          <a:prstGeom prst="rect">
            <a:avLst/>
          </a:prstGeom>
        </p:spPr>
      </p:pic>
      <p:sp>
        <p:nvSpPr>
          <p:cNvPr id="7" name="Rounded Rectangle 6"/>
          <p:cNvSpPr/>
          <p:nvPr/>
        </p:nvSpPr>
        <p:spPr>
          <a:xfrm>
            <a:off x="5897880" y="1234440"/>
            <a:ext cx="5788152" cy="4983480"/>
          </a:xfrm>
          <a:prstGeom prst="roundRect">
            <a:avLst/>
          </a:prstGeom>
          <a:solidFill>
            <a:srgbClr val="F5F7FB"/>
          </a:solidFill>
          <a:ln w="12700">
            <a:solidFill>
              <a:srgbClr val="D3DB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897880" y="1234440"/>
            <a:ext cx="5788152" cy="73152"/>
          </a:xfrm>
          <a:prstGeom prst="rect">
            <a:avLst/>
          </a:prstGeom>
          <a:solidFill>
            <a:srgbClr val="21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1353312"/>
            <a:ext cx="5394960" cy="274320"/>
          </a:xfrm>
          <a:prstGeom prst="rect">
            <a:avLst/>
          </a:prstGeom>
          <a:noFill/>
        </p:spPr>
        <p:txBody>
          <a:bodyPr wrap="square" anchor="t" lIns="0" rIns="0" tIns="0" bIns="0">
            <a:spAutoFit/>
          </a:bodyPr>
          <a:lstStyle/>
          <a:p>
            <a:pPr algn="l">
              <a:lnSpc>
                <a:spcPct val="100000"/>
              </a:lnSpc>
              <a:spcAft>
                <a:spcPts val="0"/>
              </a:spcAft>
            </a:pPr>
            <a:r>
              <a:rPr sz="1200" b="1" i="0">
                <a:solidFill>
                  <a:srgbClr val="1B2A4A"/>
                </a:solidFill>
                <a:latin typeface="Calibri"/>
                <a:ea typeface="Calibri"/>
                <a:cs typeface="Calibri"/>
              </a:rPr>
              <a:t>THỰC ĐƠN ĐỀ XUẤT CHO PROFILE P1 (BEST SEED 8003 — FITNESS 99.51)</a:t>
            </a:r>
          </a:p>
        </p:txBody>
      </p:sp>
      <p:sp>
        <p:nvSpPr>
          <p:cNvPr id="10" name="TextBox 9"/>
          <p:cNvSpPr txBox="1"/>
          <p:nvPr/>
        </p:nvSpPr>
        <p:spPr>
          <a:xfrm>
            <a:off x="6080760" y="1627632"/>
            <a:ext cx="5394960" cy="228600"/>
          </a:xfrm>
          <a:prstGeom prst="rect">
            <a:avLst/>
          </a:prstGeom>
          <a:noFill/>
        </p:spPr>
        <p:txBody>
          <a:bodyPr wrap="square" anchor="t" lIns="0" rIns="0" tIns="0" bIns="0">
            <a:spAutoFit/>
          </a:bodyPr>
          <a:lstStyle/>
          <a:p>
            <a:pPr algn="l">
              <a:lnSpc>
                <a:spcPct val="100000"/>
              </a:lnSpc>
              <a:spcAft>
                <a:spcPts val="0"/>
              </a:spcAft>
            </a:pPr>
            <a:r>
              <a:rPr sz="1000" b="1" i="0">
                <a:solidFill>
                  <a:srgbClr val="217A4B"/>
                </a:solidFill>
                <a:latin typeface="Calibri"/>
                <a:ea typeface="Calibri"/>
                <a:cs typeface="Calibri"/>
              </a:rPr>
              <a:t>Tổng Năng lượng: 2483.6 / 2491.6 kcal (Lệch 8.1 kcal, 0.32%) · Vi phạm: 0</a:t>
            </a:r>
          </a:p>
        </p:txBody>
      </p:sp>
      <p:sp>
        <p:nvSpPr>
          <p:cNvPr id="11" name="Rectangle 10"/>
          <p:cNvSpPr/>
          <p:nvPr/>
        </p:nvSpPr>
        <p:spPr>
          <a:xfrm>
            <a:off x="6080760" y="1874519"/>
            <a:ext cx="5394960" cy="1270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2" name="Table 11"/>
          <p:cNvGraphicFramePr>
            <a:graphicFrameLocks noGrp="1"/>
          </p:cNvGraphicFramePr>
          <p:nvPr/>
        </p:nvGraphicFramePr>
        <p:xfrm>
          <a:off x="6035040" y="1965960"/>
          <a:ext cx="5513832" cy="3017520"/>
        </p:xfrm>
        <a:graphic>
          <a:graphicData uri="http://schemas.openxmlformats.org/drawingml/2006/table">
            <a:tbl>
              <a:tblPr firstRow="1" bandRow="1">
                <a:tableStyleId>{5C22544A-7EE6-4342-B048-85BDC9FD1C3A}</a:tableStyleId>
              </a:tblPr>
              <a:tblGrid>
                <a:gridCol w="914400"/>
                <a:gridCol w="2862072"/>
                <a:gridCol w="868680"/>
                <a:gridCol w="868680"/>
              </a:tblGrid>
              <a:tr h="384048">
                <a:tc>
                  <a:txBody>
                    <a:bodyPr/>
                    <a:lstStyle/>
                    <a:p>
                      <a:pPr algn="ctr"/>
                      <a:r>
                        <a:rPr sz="1150" b="1" i="0">
                          <a:solidFill>
                            <a:srgbClr val="FFFFFF"/>
                          </a:solidFill>
                          <a:latin typeface="Calibri"/>
                          <a:ea typeface="Calibri"/>
                          <a:cs typeface="Calibri"/>
                        </a:rPr>
                        <a:t>Bữa ăn</a:t>
                      </a:r>
                    </a:p>
                  </a:txBody>
                  <a:tcPr marL="73152" marR="73152" marT="27432" marB="27432" anchor="ctr">
                    <a:solidFill>
                      <a:srgbClr val="1B2A4A"/>
                    </a:solidFill>
                  </a:tcPr>
                </a:tc>
                <a:tc>
                  <a:txBody>
                    <a:bodyPr/>
                    <a:lstStyle/>
                    <a:p>
                      <a:pPr algn="l"/>
                      <a:r>
                        <a:rPr sz="1150" b="1" i="0">
                          <a:solidFill>
                            <a:srgbClr val="FFFFFF"/>
                          </a:solidFill>
                          <a:latin typeface="Calibri"/>
                          <a:ea typeface="Calibri"/>
                          <a:cs typeface="Calibri"/>
                        </a:rPr>
                        <a:t>Tên món ăn (15.929 CSDL)</a:t>
                      </a:r>
                    </a:p>
                  </a:txBody>
                  <a:tcPr marL="73152" marR="73152" marT="27432" marB="27432" anchor="ctr">
                    <a:solidFill>
                      <a:srgbClr val="1B2A4A"/>
                    </a:solidFill>
                  </a:tcPr>
                </a:tc>
                <a:tc>
                  <a:txBody>
                    <a:bodyPr/>
                    <a:lstStyle/>
                    <a:p>
                      <a:pPr algn="r"/>
                      <a:r>
                        <a:rPr sz="1150" b="1" i="0">
                          <a:solidFill>
                            <a:srgbClr val="FFFFFF"/>
                          </a:solidFill>
                          <a:latin typeface="Calibri"/>
                          <a:ea typeface="Calibri"/>
                          <a:cs typeface="Calibri"/>
                        </a:rPr>
                        <a:t>Gram gốc</a:t>
                      </a:r>
                    </a:p>
                  </a:txBody>
                  <a:tcPr marL="73152" marR="73152" marT="27432" marB="27432" anchor="ctr">
                    <a:solidFill>
                      <a:srgbClr val="1B2A4A"/>
                    </a:solidFill>
                  </a:tcPr>
                </a:tc>
                <a:tc>
                  <a:txBody>
                    <a:bodyPr/>
                    <a:lstStyle/>
                    <a:p>
                      <a:pPr algn="ctr"/>
                      <a:r>
                        <a:rPr sz="1150" b="1" i="0">
                          <a:solidFill>
                            <a:srgbClr val="FFFFFF"/>
                          </a:solidFill>
                          <a:latin typeface="Calibri"/>
                          <a:ea typeface="Calibri"/>
                          <a:cs typeface="Calibri"/>
                        </a:rPr>
                        <a:t>Gram thực tế (5g)</a:t>
                      </a:r>
                    </a:p>
                  </a:txBody>
                  <a:tcPr marL="73152" marR="73152" marT="27432" marB="27432" anchor="ctr">
                    <a:solidFill>
                      <a:srgbClr val="1B2A4A"/>
                    </a:solidFill>
                  </a:tcPr>
                </a:tc>
              </a:tr>
              <a:tr h="329184">
                <a:tc>
                  <a:txBody>
                    <a:bodyPr/>
                    <a:lstStyle/>
                    <a:p>
                      <a:pPr algn="ctr"/>
                      <a:r>
                        <a:rPr sz="919" b="1" i="0">
                          <a:solidFill>
                            <a:srgbClr val="1E2430"/>
                          </a:solidFill>
                          <a:latin typeface="Calibri"/>
                          <a:ea typeface="Calibri"/>
                          <a:cs typeface="Calibri"/>
                        </a:rPr>
                        <a:t>Sáng</a:t>
                      </a:r>
                    </a:p>
                  </a:txBody>
                  <a:tcPr marL="73152" marR="73152" marT="27432" marB="27432" anchor="ctr">
                    <a:solidFill>
                      <a:srgbClr val="F5F7FB"/>
                    </a:solidFill>
                  </a:tcPr>
                </a:tc>
                <a:tc>
                  <a:txBody>
                    <a:bodyPr/>
                    <a:lstStyle/>
                    <a:p>
                      <a:pPr algn="l"/>
                      <a:r>
                        <a:rPr sz="919" b="0" i="0">
                          <a:solidFill>
                            <a:srgbClr val="1E2430"/>
                          </a:solidFill>
                          <a:latin typeface="Calibri"/>
                          <a:ea typeface="Calibri"/>
                          <a:cs typeface="Calibri"/>
                        </a:rPr>
                        <a:t>Apple &amp; Cinnamon Filled Crepes</a:t>
                      </a:r>
                    </a:p>
                  </a:txBody>
                  <a:tcPr marL="73152" marR="73152" marT="27432" marB="27432" anchor="ctr">
                    <a:solidFill>
                      <a:srgbClr val="F5F7FB"/>
                    </a:solidFill>
                  </a:tcPr>
                </a:tc>
                <a:tc>
                  <a:txBody>
                    <a:bodyPr/>
                    <a:lstStyle/>
                    <a:p>
                      <a:pPr algn="r"/>
                      <a:r>
                        <a:rPr sz="919" b="0" i="0">
                          <a:solidFill>
                            <a:srgbClr val="1E2430"/>
                          </a:solidFill>
                          <a:latin typeface="Calibri"/>
                          <a:ea typeface="Calibri"/>
                          <a:cs typeface="Calibri"/>
                        </a:rPr>
                        <a:t>350.0g</a:t>
                      </a:r>
                    </a:p>
                  </a:txBody>
                  <a:tcPr marL="73152" marR="73152" marT="27432" marB="27432" anchor="ctr">
                    <a:solidFill>
                      <a:srgbClr val="F5F7FB"/>
                    </a:solidFill>
                  </a:tcPr>
                </a:tc>
                <a:tc>
                  <a:txBody>
                    <a:bodyPr/>
                    <a:lstStyle/>
                    <a:p>
                      <a:pPr algn="ctr"/>
                      <a:r>
                        <a:rPr sz="919" b="1" i="0">
                          <a:solidFill>
                            <a:srgbClr val="217A4B"/>
                          </a:solidFill>
                          <a:latin typeface="Calibri"/>
                          <a:ea typeface="Calibri"/>
                          <a:cs typeface="Calibri"/>
                        </a:rPr>
                        <a:t>350g</a:t>
                      </a:r>
                    </a:p>
                  </a:txBody>
                  <a:tcPr marL="73152" marR="73152" marT="27432" marB="27432" anchor="ctr">
                    <a:solidFill>
                      <a:srgbClr val="F5F7FB"/>
                    </a:solidFill>
                  </a:tcPr>
                </a:tc>
              </a:tr>
              <a:tr h="329184">
                <a:tc>
                  <a:txBody>
                    <a:bodyPr/>
                    <a:lstStyle/>
                    <a:p>
                      <a:pPr algn="ctr"/>
                      <a:r>
                        <a:rPr sz="919" b="1" i="0">
                          <a:solidFill>
                            <a:srgbClr val="1E2430"/>
                          </a:solidFill>
                          <a:latin typeface="Calibri"/>
                          <a:ea typeface="Calibri"/>
                          <a:cs typeface="Calibri"/>
                        </a:rPr>
                        <a:t>Sáng</a:t>
                      </a:r>
                    </a:p>
                  </a:txBody>
                  <a:tcPr marL="73152" marR="73152" marT="27432" marB="27432" anchor="ctr">
                    <a:solidFill>
                      <a:srgbClr val="FFFFFF"/>
                    </a:solidFill>
                  </a:tcPr>
                </a:tc>
                <a:tc>
                  <a:txBody>
                    <a:bodyPr/>
                    <a:lstStyle/>
                    <a:p>
                      <a:pPr algn="l"/>
                      <a:r>
                        <a:rPr sz="919" b="0" i="0">
                          <a:solidFill>
                            <a:srgbClr val="1E2430"/>
                          </a:solidFill>
                          <a:latin typeface="Calibri"/>
                          <a:ea typeface="Calibri"/>
                          <a:cs typeface="Calibri"/>
                        </a:rPr>
                        <a:t>Artisan Bread Loaf</a:t>
                      </a:r>
                    </a:p>
                  </a:txBody>
                  <a:tcPr marL="73152" marR="73152" marT="27432" marB="27432" anchor="ctr">
                    <a:solidFill>
                      <a:srgbClr val="FFFFFF"/>
                    </a:solidFill>
                  </a:tcPr>
                </a:tc>
                <a:tc>
                  <a:txBody>
                    <a:bodyPr/>
                    <a:lstStyle/>
                    <a:p>
                      <a:pPr algn="r"/>
                      <a:r>
                        <a:rPr sz="919" b="0" i="0">
                          <a:solidFill>
                            <a:srgbClr val="1E2430"/>
                          </a:solidFill>
                          <a:latin typeface="Calibri"/>
                          <a:ea typeface="Calibri"/>
                          <a:cs typeface="Calibri"/>
                        </a:rPr>
                        <a:t>85.1g</a:t>
                      </a:r>
                    </a:p>
                  </a:txBody>
                  <a:tcPr marL="73152" marR="73152" marT="27432" marB="27432" anchor="ctr">
                    <a:solidFill>
                      <a:srgbClr val="FFFFFF"/>
                    </a:solidFill>
                  </a:tcPr>
                </a:tc>
                <a:tc>
                  <a:txBody>
                    <a:bodyPr/>
                    <a:lstStyle/>
                    <a:p>
                      <a:pPr algn="ctr"/>
                      <a:r>
                        <a:rPr sz="919" b="1" i="0">
                          <a:solidFill>
                            <a:srgbClr val="217A4B"/>
                          </a:solidFill>
                          <a:latin typeface="Calibri"/>
                          <a:ea typeface="Calibri"/>
                          <a:cs typeface="Calibri"/>
                        </a:rPr>
                        <a:t>85g</a:t>
                      </a:r>
                    </a:p>
                  </a:txBody>
                  <a:tcPr marL="73152" marR="73152" marT="27432" marB="27432" anchor="ctr">
                    <a:solidFill>
                      <a:srgbClr val="FFFFFF"/>
                    </a:solidFill>
                  </a:tcPr>
                </a:tc>
              </a:tr>
              <a:tr h="329184">
                <a:tc>
                  <a:txBody>
                    <a:bodyPr/>
                    <a:lstStyle/>
                    <a:p>
                      <a:pPr algn="ctr"/>
                      <a:r>
                        <a:rPr sz="919" b="1" i="0">
                          <a:solidFill>
                            <a:srgbClr val="1E2430"/>
                          </a:solidFill>
                          <a:latin typeface="Calibri"/>
                          <a:ea typeface="Calibri"/>
                          <a:cs typeface="Calibri"/>
                        </a:rPr>
                        <a:t>Trưa</a:t>
                      </a:r>
                    </a:p>
                  </a:txBody>
                  <a:tcPr marL="73152" marR="73152" marT="27432" marB="27432" anchor="ctr">
                    <a:solidFill>
                      <a:srgbClr val="F5F7FB"/>
                    </a:solidFill>
                  </a:tcPr>
                </a:tc>
                <a:tc>
                  <a:txBody>
                    <a:bodyPr/>
                    <a:lstStyle/>
                    <a:p>
                      <a:pPr algn="l"/>
                      <a:r>
                        <a:rPr sz="919" b="0" i="0">
                          <a:solidFill>
                            <a:srgbClr val="1E2430"/>
                          </a:solidFill>
                          <a:latin typeface="Calibri"/>
                          <a:ea typeface="Calibri"/>
                          <a:cs typeface="Calibri"/>
                        </a:rPr>
                        <a:t>Artichoke Hearts Natural</a:t>
                      </a:r>
                    </a:p>
                  </a:txBody>
                  <a:tcPr marL="73152" marR="73152" marT="27432" marB="27432" anchor="ctr">
                    <a:solidFill>
                      <a:srgbClr val="F5F7FB"/>
                    </a:solidFill>
                  </a:tcPr>
                </a:tc>
                <a:tc>
                  <a:txBody>
                    <a:bodyPr/>
                    <a:lstStyle/>
                    <a:p>
                      <a:pPr algn="r"/>
                      <a:r>
                        <a:rPr sz="919" b="0" i="0">
                          <a:solidFill>
                            <a:srgbClr val="1E2430"/>
                          </a:solidFill>
                          <a:latin typeface="Calibri"/>
                          <a:ea typeface="Calibri"/>
                          <a:cs typeface="Calibri"/>
                        </a:rPr>
                        <a:t>350.0g</a:t>
                      </a:r>
                    </a:p>
                  </a:txBody>
                  <a:tcPr marL="73152" marR="73152" marT="27432" marB="27432" anchor="ctr">
                    <a:solidFill>
                      <a:srgbClr val="F5F7FB"/>
                    </a:solidFill>
                  </a:tcPr>
                </a:tc>
                <a:tc>
                  <a:txBody>
                    <a:bodyPr/>
                    <a:lstStyle/>
                    <a:p>
                      <a:pPr algn="ctr"/>
                      <a:r>
                        <a:rPr sz="919" b="1" i="0">
                          <a:solidFill>
                            <a:srgbClr val="217A4B"/>
                          </a:solidFill>
                          <a:latin typeface="Calibri"/>
                          <a:ea typeface="Calibri"/>
                          <a:cs typeface="Calibri"/>
                        </a:rPr>
                        <a:t>350g</a:t>
                      </a:r>
                    </a:p>
                  </a:txBody>
                  <a:tcPr marL="73152" marR="73152" marT="27432" marB="27432" anchor="ctr">
                    <a:solidFill>
                      <a:srgbClr val="F5F7FB"/>
                    </a:solidFill>
                  </a:tcPr>
                </a:tc>
              </a:tr>
              <a:tr h="329184">
                <a:tc>
                  <a:txBody>
                    <a:bodyPr/>
                    <a:lstStyle/>
                    <a:p>
                      <a:pPr algn="ctr"/>
                      <a:r>
                        <a:rPr sz="919" b="1" i="0">
                          <a:solidFill>
                            <a:srgbClr val="1E2430"/>
                          </a:solidFill>
                          <a:latin typeface="Calibri"/>
                          <a:ea typeface="Calibri"/>
                          <a:cs typeface="Calibri"/>
                        </a:rPr>
                        <a:t>Trưa</a:t>
                      </a:r>
                    </a:p>
                  </a:txBody>
                  <a:tcPr marL="73152" marR="73152" marT="27432" marB="27432" anchor="ctr">
                    <a:solidFill>
                      <a:srgbClr val="FFFFFF"/>
                    </a:solidFill>
                  </a:tcPr>
                </a:tc>
                <a:tc>
                  <a:txBody>
                    <a:bodyPr/>
                    <a:lstStyle/>
                    <a:p>
                      <a:pPr algn="l"/>
                      <a:r>
                        <a:rPr sz="919" b="0" i="0">
                          <a:solidFill>
                            <a:srgbClr val="1E2430"/>
                          </a:solidFill>
                          <a:latin typeface="Calibri"/>
                          <a:ea typeface="Calibri"/>
                          <a:cs typeface="Calibri"/>
                        </a:rPr>
                        <a:t>Chicken, broilers or fryers (thigh)</a:t>
                      </a:r>
                    </a:p>
                  </a:txBody>
                  <a:tcPr marL="73152" marR="73152" marT="27432" marB="27432" anchor="ctr">
                    <a:solidFill>
                      <a:srgbClr val="FFFFFF"/>
                    </a:solidFill>
                  </a:tcPr>
                </a:tc>
                <a:tc>
                  <a:txBody>
                    <a:bodyPr/>
                    <a:lstStyle/>
                    <a:p>
                      <a:pPr algn="r"/>
                      <a:r>
                        <a:rPr sz="919" b="0" i="0">
                          <a:solidFill>
                            <a:srgbClr val="1E2430"/>
                          </a:solidFill>
                          <a:latin typeface="Calibri"/>
                          <a:ea typeface="Calibri"/>
                          <a:cs typeface="Calibri"/>
                        </a:rPr>
                        <a:t>26.8g</a:t>
                      </a:r>
                    </a:p>
                  </a:txBody>
                  <a:tcPr marL="73152" marR="73152" marT="27432" marB="27432" anchor="ctr">
                    <a:solidFill>
                      <a:srgbClr val="FFFFFF"/>
                    </a:solidFill>
                  </a:tcPr>
                </a:tc>
                <a:tc>
                  <a:txBody>
                    <a:bodyPr/>
                    <a:lstStyle/>
                    <a:p>
                      <a:pPr algn="ctr"/>
                      <a:r>
                        <a:rPr sz="919" b="1" i="0">
                          <a:solidFill>
                            <a:srgbClr val="217A4B"/>
                          </a:solidFill>
                          <a:latin typeface="Calibri"/>
                          <a:ea typeface="Calibri"/>
                          <a:cs typeface="Calibri"/>
                        </a:rPr>
                        <a:t>25g</a:t>
                      </a:r>
                    </a:p>
                  </a:txBody>
                  <a:tcPr marL="73152" marR="73152" marT="27432" marB="27432" anchor="ctr">
                    <a:solidFill>
                      <a:srgbClr val="FFFFFF"/>
                    </a:solidFill>
                  </a:tcPr>
                </a:tc>
              </a:tr>
              <a:tr h="329184">
                <a:tc>
                  <a:txBody>
                    <a:bodyPr/>
                    <a:lstStyle/>
                    <a:p>
                      <a:pPr algn="ctr"/>
                      <a:r>
                        <a:rPr sz="919" b="1" i="0">
                          <a:solidFill>
                            <a:srgbClr val="1E2430"/>
                          </a:solidFill>
                          <a:latin typeface="Calibri"/>
                          <a:ea typeface="Calibri"/>
                          <a:cs typeface="Calibri"/>
                        </a:rPr>
                        <a:t>Tối</a:t>
                      </a:r>
                    </a:p>
                  </a:txBody>
                  <a:tcPr marL="73152" marR="73152" marT="27432" marB="27432" anchor="ctr">
                    <a:solidFill>
                      <a:srgbClr val="F5F7FB"/>
                    </a:solidFill>
                  </a:tcPr>
                </a:tc>
                <a:tc>
                  <a:txBody>
                    <a:bodyPr/>
                    <a:lstStyle/>
                    <a:p>
                      <a:pPr algn="l"/>
                      <a:r>
                        <a:rPr sz="919" b="0" i="0">
                          <a:solidFill>
                            <a:srgbClr val="1E2430"/>
                          </a:solidFill>
                          <a:latin typeface="Calibri"/>
                          <a:ea typeface="Calibri"/>
                          <a:cs typeface="Calibri"/>
                        </a:rPr>
                        <a:t>Quail, breast, meat only, raw</a:t>
                      </a:r>
                    </a:p>
                  </a:txBody>
                  <a:tcPr marL="73152" marR="73152" marT="27432" marB="27432" anchor="ctr">
                    <a:solidFill>
                      <a:srgbClr val="F5F7FB"/>
                    </a:solidFill>
                  </a:tcPr>
                </a:tc>
                <a:tc>
                  <a:txBody>
                    <a:bodyPr/>
                    <a:lstStyle/>
                    <a:p>
                      <a:pPr algn="r"/>
                      <a:r>
                        <a:rPr sz="919" b="0" i="0">
                          <a:solidFill>
                            <a:srgbClr val="1E2430"/>
                          </a:solidFill>
                          <a:latin typeface="Calibri"/>
                          <a:ea typeface="Calibri"/>
                          <a:cs typeface="Calibri"/>
                        </a:rPr>
                        <a:t>123.4g</a:t>
                      </a:r>
                    </a:p>
                  </a:txBody>
                  <a:tcPr marL="73152" marR="73152" marT="27432" marB="27432" anchor="ctr">
                    <a:solidFill>
                      <a:srgbClr val="F5F7FB"/>
                    </a:solidFill>
                  </a:tcPr>
                </a:tc>
                <a:tc>
                  <a:txBody>
                    <a:bodyPr/>
                    <a:lstStyle/>
                    <a:p>
                      <a:pPr algn="ctr"/>
                      <a:r>
                        <a:rPr sz="919" b="1" i="0">
                          <a:solidFill>
                            <a:srgbClr val="217A4B"/>
                          </a:solidFill>
                          <a:latin typeface="Calibri"/>
                          <a:ea typeface="Calibri"/>
                          <a:cs typeface="Calibri"/>
                        </a:rPr>
                        <a:t>125g</a:t>
                      </a:r>
                    </a:p>
                  </a:txBody>
                  <a:tcPr marL="73152" marR="73152" marT="27432" marB="27432" anchor="ctr">
                    <a:solidFill>
                      <a:srgbClr val="F5F7FB"/>
                    </a:solidFill>
                  </a:tcPr>
                </a:tc>
              </a:tr>
              <a:tr h="329184">
                <a:tc>
                  <a:txBody>
                    <a:bodyPr/>
                    <a:lstStyle/>
                    <a:p>
                      <a:pPr algn="ctr"/>
                      <a:r>
                        <a:rPr sz="919" b="1" i="0">
                          <a:solidFill>
                            <a:srgbClr val="1E2430"/>
                          </a:solidFill>
                          <a:latin typeface="Calibri"/>
                          <a:ea typeface="Calibri"/>
                          <a:cs typeface="Calibri"/>
                        </a:rPr>
                        <a:t>Tối</a:t>
                      </a:r>
                    </a:p>
                  </a:txBody>
                  <a:tcPr marL="73152" marR="73152" marT="27432" marB="27432" anchor="ctr">
                    <a:solidFill>
                      <a:srgbClr val="FFFFFF"/>
                    </a:solidFill>
                  </a:tcPr>
                </a:tc>
                <a:tc>
                  <a:txBody>
                    <a:bodyPr/>
                    <a:lstStyle/>
                    <a:p>
                      <a:pPr algn="l"/>
                      <a:r>
                        <a:rPr sz="919" b="0" i="0">
                          <a:solidFill>
                            <a:srgbClr val="1E2430"/>
                          </a:solidFill>
                          <a:latin typeface="Calibri"/>
                          <a:ea typeface="Calibri"/>
                          <a:cs typeface="Calibri"/>
                        </a:rPr>
                        <a:t>Albacore Solid With Tuna, Olive Oil</a:t>
                      </a:r>
                    </a:p>
                  </a:txBody>
                  <a:tcPr marL="73152" marR="73152" marT="27432" marB="27432" anchor="ctr">
                    <a:solidFill>
                      <a:srgbClr val="FFFFFF"/>
                    </a:solidFill>
                  </a:tcPr>
                </a:tc>
                <a:tc>
                  <a:txBody>
                    <a:bodyPr/>
                    <a:lstStyle/>
                    <a:p>
                      <a:pPr algn="r"/>
                      <a:r>
                        <a:rPr sz="919" b="0" i="0">
                          <a:solidFill>
                            <a:srgbClr val="1E2430"/>
                          </a:solidFill>
                          <a:latin typeface="Calibri"/>
                          <a:ea typeface="Calibri"/>
                          <a:cs typeface="Calibri"/>
                        </a:rPr>
                        <a:t>119.3g</a:t>
                      </a:r>
                    </a:p>
                  </a:txBody>
                  <a:tcPr marL="73152" marR="73152" marT="27432" marB="27432" anchor="ctr">
                    <a:solidFill>
                      <a:srgbClr val="FFFFFF"/>
                    </a:solidFill>
                  </a:tcPr>
                </a:tc>
                <a:tc>
                  <a:txBody>
                    <a:bodyPr/>
                    <a:lstStyle/>
                    <a:p>
                      <a:pPr algn="ctr"/>
                      <a:r>
                        <a:rPr sz="919" b="1" i="0">
                          <a:solidFill>
                            <a:srgbClr val="217A4B"/>
                          </a:solidFill>
                          <a:latin typeface="Calibri"/>
                          <a:ea typeface="Calibri"/>
                          <a:cs typeface="Calibri"/>
                        </a:rPr>
                        <a:t>120g</a:t>
                      </a:r>
                    </a:p>
                  </a:txBody>
                  <a:tcPr marL="73152" marR="73152" marT="27432" marB="27432" anchor="ctr">
                    <a:solidFill>
                      <a:srgbClr val="FFFFFF"/>
                    </a:solidFill>
                  </a:tcPr>
                </a:tc>
              </a:tr>
              <a:tr h="329184">
                <a:tc>
                  <a:txBody>
                    <a:bodyPr/>
                    <a:lstStyle/>
                    <a:p>
                      <a:pPr algn="ctr"/>
                      <a:r>
                        <a:rPr sz="919" b="1" i="0">
                          <a:solidFill>
                            <a:srgbClr val="1E2430"/>
                          </a:solidFill>
                          <a:latin typeface="Calibri"/>
                          <a:ea typeface="Calibri"/>
                          <a:cs typeface="Calibri"/>
                        </a:rPr>
                        <a:t>Phụ</a:t>
                      </a:r>
                    </a:p>
                  </a:txBody>
                  <a:tcPr marL="73152" marR="73152" marT="27432" marB="27432" anchor="ctr">
                    <a:solidFill>
                      <a:srgbClr val="F5F7FB"/>
                    </a:solidFill>
                  </a:tcPr>
                </a:tc>
                <a:tc>
                  <a:txBody>
                    <a:bodyPr/>
                    <a:lstStyle/>
                    <a:p>
                      <a:pPr algn="l"/>
                      <a:r>
                        <a:rPr sz="919" b="0" i="0">
                          <a:solidFill>
                            <a:srgbClr val="1E2430"/>
                          </a:solidFill>
                          <a:latin typeface="Calibri"/>
                          <a:ea typeface="Calibri"/>
                          <a:cs typeface="Calibri"/>
                        </a:rPr>
                        <a:t>A Non-Alcoholic Drink Mix (Mango)</a:t>
                      </a:r>
                    </a:p>
                  </a:txBody>
                  <a:tcPr marL="73152" marR="73152" marT="27432" marB="27432" anchor="ctr">
                    <a:solidFill>
                      <a:srgbClr val="F5F7FB"/>
                    </a:solidFill>
                  </a:tcPr>
                </a:tc>
                <a:tc>
                  <a:txBody>
                    <a:bodyPr/>
                    <a:lstStyle/>
                    <a:p>
                      <a:pPr algn="r"/>
                      <a:r>
                        <a:rPr sz="919" b="0" i="0">
                          <a:solidFill>
                            <a:srgbClr val="1E2430"/>
                          </a:solidFill>
                          <a:latin typeface="Calibri"/>
                          <a:ea typeface="Calibri"/>
                          <a:cs typeface="Calibri"/>
                        </a:rPr>
                        <a:t>157.6g</a:t>
                      </a:r>
                    </a:p>
                  </a:txBody>
                  <a:tcPr marL="73152" marR="73152" marT="27432" marB="27432" anchor="ctr">
                    <a:solidFill>
                      <a:srgbClr val="F5F7FB"/>
                    </a:solidFill>
                  </a:tcPr>
                </a:tc>
                <a:tc>
                  <a:txBody>
                    <a:bodyPr/>
                    <a:lstStyle/>
                    <a:p>
                      <a:pPr algn="ctr"/>
                      <a:r>
                        <a:rPr sz="919" b="1" i="0">
                          <a:solidFill>
                            <a:srgbClr val="217A4B"/>
                          </a:solidFill>
                          <a:latin typeface="Calibri"/>
                          <a:ea typeface="Calibri"/>
                          <a:cs typeface="Calibri"/>
                        </a:rPr>
                        <a:t>160g</a:t>
                      </a:r>
                    </a:p>
                  </a:txBody>
                  <a:tcPr marL="73152" marR="73152" marT="27432" marB="27432" anchor="ctr">
                    <a:solidFill>
                      <a:srgbClr val="F5F7FB"/>
                    </a:solidFill>
                  </a:tcPr>
                </a:tc>
              </a:tr>
              <a:tr h="329184">
                <a:tc>
                  <a:txBody>
                    <a:bodyPr/>
                    <a:lstStyle/>
                    <a:p>
                      <a:pPr algn="ctr"/>
                      <a:r>
                        <a:rPr sz="919" b="1" i="0">
                          <a:solidFill>
                            <a:srgbClr val="1E2430"/>
                          </a:solidFill>
                          <a:latin typeface="Calibri"/>
                          <a:ea typeface="Calibri"/>
                          <a:cs typeface="Calibri"/>
                        </a:rPr>
                        <a:t>Phụ</a:t>
                      </a:r>
                    </a:p>
                  </a:txBody>
                  <a:tcPr marL="73152" marR="73152" marT="27432" marB="27432" anchor="ctr">
                    <a:solidFill>
                      <a:srgbClr val="FFFFFF"/>
                    </a:solidFill>
                  </a:tcPr>
                </a:tc>
                <a:tc>
                  <a:txBody>
                    <a:bodyPr/>
                    <a:lstStyle/>
                    <a:p>
                      <a:pPr algn="l"/>
                      <a:r>
                        <a:rPr sz="919" b="0" i="0">
                          <a:solidFill>
                            <a:srgbClr val="1E2430"/>
                          </a:solidFill>
                          <a:latin typeface="Calibri"/>
                          <a:ea typeface="Calibri"/>
                          <a:cs typeface="Calibri"/>
                        </a:rPr>
                        <a:t>100% Pure Sesame Tahini</a:t>
                      </a:r>
                    </a:p>
                  </a:txBody>
                  <a:tcPr marL="73152" marR="73152" marT="27432" marB="27432" anchor="ctr">
                    <a:solidFill>
                      <a:srgbClr val="FFFFFF"/>
                    </a:solidFill>
                  </a:tcPr>
                </a:tc>
                <a:tc>
                  <a:txBody>
                    <a:bodyPr/>
                    <a:lstStyle/>
                    <a:p>
                      <a:pPr algn="r"/>
                      <a:r>
                        <a:rPr sz="919" b="0" i="0">
                          <a:solidFill>
                            <a:srgbClr val="1E2430"/>
                          </a:solidFill>
                          <a:latin typeface="Calibri"/>
                          <a:ea typeface="Calibri"/>
                          <a:cs typeface="Calibri"/>
                        </a:rPr>
                        <a:t>84.9g</a:t>
                      </a:r>
                    </a:p>
                  </a:txBody>
                  <a:tcPr marL="73152" marR="73152" marT="27432" marB="27432" anchor="ctr">
                    <a:solidFill>
                      <a:srgbClr val="FFFFFF"/>
                    </a:solidFill>
                  </a:tcPr>
                </a:tc>
                <a:tc>
                  <a:txBody>
                    <a:bodyPr/>
                    <a:lstStyle/>
                    <a:p>
                      <a:pPr algn="ctr"/>
                      <a:r>
                        <a:rPr sz="919" b="1" i="0">
                          <a:solidFill>
                            <a:srgbClr val="217A4B"/>
                          </a:solidFill>
                          <a:latin typeface="Calibri"/>
                          <a:ea typeface="Calibri"/>
                          <a:cs typeface="Calibri"/>
                        </a:rPr>
                        <a:t>85g</a:t>
                      </a:r>
                    </a:p>
                  </a:txBody>
                  <a:tcPr marL="73152" marR="73152" marT="27432" marB="27432" anchor="ctr">
                    <a:solidFill>
                      <a:srgbClr val="FFFFFF"/>
                    </a:solidFill>
                  </a:tcPr>
                </a:tc>
              </a:tr>
            </a:tbl>
          </a:graphicData>
        </a:graphic>
      </p:graphicFrame>
      <p:sp>
        <p:nvSpPr>
          <p:cNvPr id="13" name="TextBox 12"/>
          <p:cNvSpPr txBox="1"/>
          <p:nvPr/>
        </p:nvSpPr>
        <p:spPr>
          <a:xfrm>
            <a:off x="6080760" y="5669280"/>
            <a:ext cx="5394960" cy="457200"/>
          </a:xfrm>
          <a:prstGeom prst="rect">
            <a:avLst/>
          </a:prstGeom>
          <a:noFill/>
        </p:spPr>
        <p:txBody>
          <a:bodyPr wrap="square" anchor="t" lIns="0" rIns="0" tIns="0" bIns="0">
            <a:spAutoFit/>
          </a:bodyPr>
          <a:lstStyle/>
          <a:p>
            <a:pPr algn="l">
              <a:lnSpc>
                <a:spcPct val="115000"/>
              </a:lnSpc>
              <a:spcAft>
                <a:spcPts val="0"/>
              </a:spcAft>
            </a:pPr>
            <a:r>
              <a:rPr sz="919" b="0" i="0">
                <a:solidFill>
                  <a:srgbClr val="5A6478"/>
                </a:solidFill>
                <a:latin typeface="Calibri"/>
                <a:ea typeface="Calibri"/>
                <a:cs typeface="Calibri"/>
              </a:rPr>
              <a:t>• Đạt chuẩn khẩu phần: Hàm round_portions(x, step=5) loại bỏ hoàn toàn số lẻ thập phân.
• Dinh dưỡng: Protein 122.8g | Carbs 312.4g | Fat 82.1g. Nghiệm chưa áp dụng DishRole và serving bounds theo nhóm; một số tổ hợp chưa phù hợp thực tế ẩm thực.</a:t>
            </a:r>
          </a:p>
        </p:txBody>
      </p:sp>
      <p:sp>
        <p:nvSpPr>
          <p:cNvPr id="14" name="Rectangle 13"/>
          <p:cNvSpPr/>
          <p:nvPr/>
        </p:nvSpPr>
        <p:spPr>
          <a:xfrm>
            <a:off x="502920" y="6437376"/>
            <a:ext cx="11183112" cy="1270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6501384"/>
            <a:ext cx="8686800" cy="274320"/>
          </a:xfrm>
          <a:prstGeom prst="rect">
            <a:avLst/>
          </a:prstGeom>
          <a:noFill/>
        </p:spPr>
        <p:txBody>
          <a:bodyPr wrap="square" anchor="t" lIns="0" rIns="0" tIns="0" bIns="0">
            <a:spAutoFit/>
          </a:bodyPr>
          <a:lstStyle/>
          <a:p>
            <a:pPr algn="l">
              <a:lnSpc>
                <a:spcPct val="100000"/>
              </a:lnSpc>
              <a:spcAft>
                <a:spcPts val="0"/>
              </a:spcAft>
            </a:pPr>
            <a:r>
              <a:rPr sz="950" b="0" i="0">
                <a:solidFill>
                  <a:srgbClr val="5A6478"/>
                </a:solidFill>
                <a:latin typeface="Calibri"/>
                <a:ea typeface="Calibri"/>
                <a:cs typeface="Calibri"/>
              </a:rPr>
              <a:t>Minh họa nghiệm tối ưu kỹ thuật và giới hạn về tính thực tế ẩm thực</a:t>
            </a:r>
          </a:p>
        </p:txBody>
      </p:sp>
      <p:sp>
        <p:nvSpPr>
          <p:cNvPr id="16" name="TextBox 15"/>
          <p:cNvSpPr txBox="1"/>
          <p:nvPr/>
        </p:nvSpPr>
        <p:spPr>
          <a:xfrm>
            <a:off x="9601200" y="6501384"/>
            <a:ext cx="2084831" cy="274320"/>
          </a:xfrm>
          <a:prstGeom prst="rect">
            <a:avLst/>
          </a:prstGeom>
          <a:noFill/>
        </p:spPr>
        <p:txBody>
          <a:bodyPr wrap="square" anchor="t" lIns="0" rIns="0" tIns="0" bIns="0">
            <a:spAutoFit/>
          </a:bodyPr>
          <a:lstStyle/>
          <a:p>
            <a:pPr algn="r">
              <a:lnSpc>
                <a:spcPct val="100000"/>
              </a:lnSpc>
              <a:spcAft>
                <a:spcPts val="0"/>
              </a:spcAft>
            </a:pPr>
            <a:r>
              <a:rPr sz="950" b="1" i="0">
                <a:solidFill>
                  <a:srgbClr val="5A6478"/>
                </a:solidFill>
                <a:latin typeface="Calibri"/>
                <a:ea typeface="Calibri"/>
                <a:cs typeface="Calibri"/>
              </a:rPr>
              <a:t>7 / 14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183112" cy="237744"/>
          </a:xfrm>
          <a:prstGeom prst="rect">
            <a:avLst/>
          </a:prstGeom>
          <a:noFill/>
        </p:spPr>
        <p:txBody>
          <a:bodyPr wrap="square" anchor="t" lIns="0" rIns="0" tIns="0" bIns="0">
            <a:spAutoFit/>
          </a:bodyPr>
          <a:lstStyle/>
          <a:p>
            <a:pPr algn="l">
              <a:lnSpc>
                <a:spcPct val="100000"/>
              </a:lnSpc>
              <a:spcAft>
                <a:spcPts val="0"/>
              </a:spcAft>
            </a:pPr>
            <a:r>
              <a:rPr sz="1150" b="1" i="0">
                <a:solidFill>
                  <a:srgbClr val="1B2A4A"/>
                </a:solidFill>
                <a:latin typeface="Calibri"/>
                <a:ea typeface="Calibri"/>
                <a:cs typeface="Calibri"/>
              </a:rPr>
              <a:t>MÔ HÌNH HÓA THỰC ĐƠN TUẦN 9</a:t>
            </a:r>
          </a:p>
        </p:txBody>
      </p:sp>
      <p:sp>
        <p:nvSpPr>
          <p:cNvPr id="4" name="TextBox 3"/>
          <p:cNvSpPr txBox="1"/>
          <p:nvPr/>
        </p:nvSpPr>
        <p:spPr>
          <a:xfrm>
            <a:off x="502920" y="530352"/>
            <a:ext cx="11183112" cy="475488"/>
          </a:xfrm>
          <a:prstGeom prst="rect">
            <a:avLst/>
          </a:prstGeom>
          <a:noFill/>
        </p:spPr>
        <p:txBody>
          <a:bodyPr wrap="square" anchor="t" lIns="0" rIns="0" tIns="0" bIns="0">
            <a:spAutoFit/>
          </a:bodyPr>
          <a:lstStyle/>
          <a:p>
            <a:pPr algn="l">
              <a:lnSpc>
                <a:spcPct val="100000"/>
              </a:lnSpc>
              <a:spcAft>
                <a:spcPts val="0"/>
              </a:spcAft>
            </a:pPr>
            <a:r>
              <a:rPr sz="2300" b="1" i="0">
                <a:solidFill>
                  <a:srgbClr val="1B2A4A"/>
                </a:solidFill>
                <a:latin typeface="Calibri"/>
                <a:ea typeface="Calibri"/>
                <a:cs typeface="Calibri"/>
              </a:rPr>
              <a:t>Lập Thực Đơn Chu Kỳ 7 Ngày &amp; Cơ Chế Phạt Lặp Món (Diversity Penalty)</a:t>
            </a:r>
          </a:p>
        </p:txBody>
      </p:sp>
      <p:sp>
        <p:nvSpPr>
          <p:cNvPr id="5" name="Rectangle 4"/>
          <p:cNvSpPr/>
          <p:nvPr/>
        </p:nvSpPr>
        <p:spPr>
          <a:xfrm>
            <a:off x="502920" y="1042415"/>
            <a:ext cx="11183112" cy="1524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234440"/>
            <a:ext cx="3593592" cy="4983480"/>
          </a:xfrm>
          <a:prstGeom prst="roundRect">
            <a:avLst/>
          </a:prstGeom>
          <a:solidFill>
            <a:srgbClr val="F5F7FB"/>
          </a:solidFill>
          <a:ln w="12700">
            <a:solidFill>
              <a:srgbClr val="D3DB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234440"/>
            <a:ext cx="3593592" cy="73152"/>
          </a:xfrm>
          <a:prstGeom prst="rect">
            <a:avLst/>
          </a:prstGeom>
          <a:solidFill>
            <a:srgbClr val="1D6F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371600"/>
            <a:ext cx="3227832" cy="365760"/>
          </a:xfrm>
          <a:prstGeom prst="rect">
            <a:avLst/>
          </a:prstGeom>
          <a:noFill/>
        </p:spPr>
        <p:txBody>
          <a:bodyPr wrap="square" anchor="t" lIns="0" rIns="0" tIns="0" bIns="0">
            <a:spAutoFit/>
          </a:bodyPr>
          <a:lstStyle/>
          <a:p>
            <a:pPr algn="l">
              <a:lnSpc>
                <a:spcPct val="100000"/>
              </a:lnSpc>
              <a:spcAft>
                <a:spcPts val="0"/>
              </a:spcAft>
            </a:pPr>
            <a:r>
              <a:rPr sz="1250" b="1" i="0">
                <a:solidFill>
                  <a:srgbClr val="1D6F6F"/>
                </a:solidFill>
                <a:latin typeface="Calibri"/>
                <a:ea typeface="Calibri"/>
                <a:cs typeface="Calibri"/>
              </a:rPr>
              <a:t>Cơ chế cửa sổ trượt 2 ngày (Lookback Window = 2):</a:t>
            </a:r>
          </a:p>
        </p:txBody>
      </p:sp>
      <p:sp>
        <p:nvSpPr>
          <p:cNvPr id="9" name="Rectangle 8"/>
          <p:cNvSpPr/>
          <p:nvPr/>
        </p:nvSpPr>
        <p:spPr>
          <a:xfrm>
            <a:off x="685800" y="1783080"/>
            <a:ext cx="3227832" cy="1270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920240"/>
            <a:ext cx="3227832" cy="4114800"/>
          </a:xfrm>
          <a:prstGeom prst="rect">
            <a:avLst/>
          </a:prstGeom>
          <a:noFill/>
        </p:spPr>
        <p:txBody>
          <a:bodyPr wrap="square" anchor="t" lIns="0" rIns="0" tIns="0" bIns="0">
            <a:spAutoFit/>
          </a:bodyPr>
          <a:lstStyle/>
          <a:p>
            <a:pPr algn="l">
              <a:lnSpc>
                <a:spcPct val="128000"/>
              </a:lnSpc>
              <a:spcAft>
                <a:spcPts val="0"/>
              </a:spcAft>
            </a:pPr>
            <a:r>
              <a:rPr sz="1050" b="0" i="0">
                <a:solidFill>
                  <a:srgbClr val="1E2430"/>
                </a:solidFill>
                <a:latin typeface="Calibri"/>
                <a:ea typeface="Calibri"/>
                <a:cs typeface="Calibri"/>
              </a:rPr>
              <a:t>• Người dùng rất dễ ngán nếu món chính trưa hoặc tối bị trùng lặp trong 2 ngày kế cận.
• Thuật toán lưu vết lịch sử món chính: history_food_ids = [d₁, d₂, ..., d_t-1].
• Vị trí kiểm tra món chính: MAIN_SLOTS = ('lunch_0', 'dinner_0').
• Số lần lặp được nhân đôi nếu món xuất hiện ở cả 2 ngày trước đó.</a:t>
            </a:r>
          </a:p>
        </p:txBody>
      </p:sp>
      <p:sp>
        <p:nvSpPr>
          <p:cNvPr id="11" name="Rounded Rectangle 10"/>
          <p:cNvSpPr/>
          <p:nvPr/>
        </p:nvSpPr>
        <p:spPr>
          <a:xfrm>
            <a:off x="4297680" y="1234440"/>
            <a:ext cx="3593592" cy="4983480"/>
          </a:xfrm>
          <a:prstGeom prst="roundRect">
            <a:avLst/>
          </a:prstGeom>
          <a:solidFill>
            <a:srgbClr val="F5F7FB"/>
          </a:solidFill>
          <a:ln w="12700">
            <a:solidFill>
              <a:srgbClr val="D3DB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97680" y="1234440"/>
            <a:ext cx="3593592" cy="73152"/>
          </a:xfrm>
          <a:prstGeom prst="rect">
            <a:avLst/>
          </a:prstGeom>
          <a:solidFill>
            <a:srgbClr val="1D6F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80560" y="1371600"/>
            <a:ext cx="3227832" cy="365760"/>
          </a:xfrm>
          <a:prstGeom prst="rect">
            <a:avLst/>
          </a:prstGeom>
          <a:noFill/>
        </p:spPr>
        <p:txBody>
          <a:bodyPr wrap="square" anchor="t" lIns="0" rIns="0" tIns="0" bIns="0">
            <a:spAutoFit/>
          </a:bodyPr>
          <a:lstStyle/>
          <a:p>
            <a:pPr algn="l">
              <a:lnSpc>
                <a:spcPct val="100000"/>
              </a:lnSpc>
              <a:spcAft>
                <a:spcPts val="0"/>
              </a:spcAft>
            </a:pPr>
            <a:r>
              <a:rPr sz="1250" b="1" i="0">
                <a:solidFill>
                  <a:srgbClr val="1D6F6F"/>
                </a:solidFill>
                <a:latin typeface="Calibri"/>
                <a:ea typeface="Calibri"/>
                <a:cs typeface="Calibri"/>
              </a:rPr>
              <a:t>Công thức toán học hàm phạt Diversity Penalty:</a:t>
            </a:r>
          </a:p>
        </p:txBody>
      </p:sp>
      <p:sp>
        <p:nvSpPr>
          <p:cNvPr id="14" name="Rectangle 13"/>
          <p:cNvSpPr/>
          <p:nvPr/>
        </p:nvSpPr>
        <p:spPr>
          <a:xfrm>
            <a:off x="4480560" y="1783080"/>
            <a:ext cx="3227832" cy="1270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80560" y="1920240"/>
            <a:ext cx="3227832" cy="4114800"/>
          </a:xfrm>
          <a:prstGeom prst="rect">
            <a:avLst/>
          </a:prstGeom>
          <a:noFill/>
        </p:spPr>
        <p:txBody>
          <a:bodyPr wrap="square" anchor="t" lIns="0" rIns="0" tIns="0" bIns="0">
            <a:spAutoFit/>
          </a:bodyPr>
          <a:lstStyle/>
          <a:p>
            <a:pPr algn="l">
              <a:lnSpc>
                <a:spcPct val="128000"/>
              </a:lnSpc>
              <a:spcAft>
                <a:spcPts val="0"/>
              </a:spcAft>
            </a:pPr>
            <a:r>
              <a:rPr sz="1050" b="0" i="0">
                <a:solidFill>
                  <a:srgbClr val="1E2430"/>
                </a:solidFill>
                <a:latin typeface="Calibri"/>
                <a:ea typeface="Calibri"/>
                <a:cs typeface="Calibri"/>
              </a:rPr>
              <a:t>• Công thức tính điểm phạt lặp món:
      Penalty_div = w_div × ∑_{prev ∈ history[-2:]} ∑_{f ∈ current_main} 𝟙(f ∈ prev_main)
• Trọng số phạt tiêu chuẩn: w_div = 10.0 điểm cho mỗi lượt trùng món chính.
• Điểm thích nghi điều chỉnh: Fitness_adjusted = Fitness_raw - Penalty_div.</a:t>
            </a:r>
          </a:p>
        </p:txBody>
      </p:sp>
      <p:sp>
        <p:nvSpPr>
          <p:cNvPr id="16" name="Rounded Rectangle 15"/>
          <p:cNvSpPr/>
          <p:nvPr/>
        </p:nvSpPr>
        <p:spPr>
          <a:xfrm>
            <a:off x="8092440" y="1234440"/>
            <a:ext cx="3593592" cy="4983480"/>
          </a:xfrm>
          <a:prstGeom prst="roundRect">
            <a:avLst/>
          </a:prstGeom>
          <a:solidFill>
            <a:srgbClr val="F5F7FB"/>
          </a:solidFill>
          <a:ln w="12700">
            <a:solidFill>
              <a:srgbClr val="D3DB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92440" y="1234440"/>
            <a:ext cx="3593592" cy="73152"/>
          </a:xfrm>
          <a:prstGeom prst="rect">
            <a:avLst/>
          </a:prstGeom>
          <a:solidFill>
            <a:srgbClr val="1D6F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75320" y="1371600"/>
            <a:ext cx="3227832" cy="365760"/>
          </a:xfrm>
          <a:prstGeom prst="rect">
            <a:avLst/>
          </a:prstGeom>
          <a:noFill/>
        </p:spPr>
        <p:txBody>
          <a:bodyPr wrap="square" anchor="t" lIns="0" rIns="0" tIns="0" bIns="0">
            <a:spAutoFit/>
          </a:bodyPr>
          <a:lstStyle/>
          <a:p>
            <a:pPr algn="l">
              <a:lnSpc>
                <a:spcPct val="100000"/>
              </a:lnSpc>
              <a:spcAft>
                <a:spcPts val="0"/>
              </a:spcAft>
            </a:pPr>
            <a:r>
              <a:rPr sz="1250" b="1" i="0">
                <a:solidFill>
                  <a:srgbClr val="1D6F6F"/>
                </a:solidFill>
                <a:latin typeface="Calibri"/>
                <a:ea typeface="Calibri"/>
                <a:cs typeface="Calibri"/>
              </a:rPr>
              <a:t>Chỉ số định lượng độ đa dạng thực đơn tuần:</a:t>
            </a:r>
          </a:p>
        </p:txBody>
      </p:sp>
      <p:sp>
        <p:nvSpPr>
          <p:cNvPr id="19" name="Rectangle 18"/>
          <p:cNvSpPr/>
          <p:nvPr/>
        </p:nvSpPr>
        <p:spPr>
          <a:xfrm>
            <a:off x="8275320" y="1783080"/>
            <a:ext cx="3227832" cy="1270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5320" y="1920240"/>
            <a:ext cx="3227832" cy="4114800"/>
          </a:xfrm>
          <a:prstGeom prst="rect">
            <a:avLst/>
          </a:prstGeom>
          <a:noFill/>
        </p:spPr>
        <p:txBody>
          <a:bodyPr wrap="square" anchor="t" lIns="0" rIns="0" tIns="0" bIns="0">
            <a:spAutoFit/>
          </a:bodyPr>
          <a:lstStyle/>
          <a:p>
            <a:pPr algn="l">
              <a:lnSpc>
                <a:spcPct val="128000"/>
              </a:lnSpc>
              <a:spcAft>
                <a:spcPts val="0"/>
              </a:spcAft>
            </a:pPr>
            <a:r>
              <a:rPr sz="1050" b="0" i="0">
                <a:solidFill>
                  <a:srgbClr val="1E2430"/>
                </a:solidFill>
                <a:latin typeface="Calibri"/>
                <a:ea typeface="Calibri"/>
                <a:cs typeface="Calibri"/>
              </a:rPr>
              <a:t>• Tỷ lệ món chính độc nhất (Unique Main Dish Percentage):
      % Unique = (|Unique Main Dishes in 7 Days| / Total Main Dishes Slots) × 100%
• Chuẩn khoa học đề ra: % Unique &gt;= 80.0% (tối thiểu 12/14 món chính độc nhất).
• Thực nghiệm chứng minh thuật toán đạt từ 85.7% đến 100.0% độ độc nhất.</a:t>
            </a:r>
          </a:p>
        </p:txBody>
      </p:sp>
      <p:sp>
        <p:nvSpPr>
          <p:cNvPr id="21" name="Rectangle 20"/>
          <p:cNvSpPr/>
          <p:nvPr/>
        </p:nvSpPr>
        <p:spPr>
          <a:xfrm>
            <a:off x="502920" y="6437376"/>
            <a:ext cx="11183112" cy="1270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2920" y="6501384"/>
            <a:ext cx="8686800" cy="274320"/>
          </a:xfrm>
          <a:prstGeom prst="rect">
            <a:avLst/>
          </a:prstGeom>
          <a:noFill/>
        </p:spPr>
        <p:txBody>
          <a:bodyPr wrap="square" anchor="t" lIns="0" rIns="0" tIns="0" bIns="0">
            <a:spAutoFit/>
          </a:bodyPr>
          <a:lstStyle/>
          <a:p>
            <a:pPr algn="l">
              <a:lnSpc>
                <a:spcPct val="100000"/>
              </a:lnSpc>
              <a:spcAft>
                <a:spcPts val="0"/>
              </a:spcAft>
            </a:pPr>
            <a:r>
              <a:rPr sz="950" b="0" i="0">
                <a:solidFill>
                  <a:srgbClr val="5A6478"/>
                </a:solidFill>
                <a:latin typeface="Calibri"/>
                <a:ea typeface="Calibri"/>
                <a:cs typeface="Calibri"/>
              </a:rPr>
              <a:t>Mô hình lập thực đơn chu kỳ 7 ngày và cơ chế Diversity Penalty</a:t>
            </a:r>
          </a:p>
        </p:txBody>
      </p:sp>
      <p:sp>
        <p:nvSpPr>
          <p:cNvPr id="23" name="TextBox 22"/>
          <p:cNvSpPr txBox="1"/>
          <p:nvPr/>
        </p:nvSpPr>
        <p:spPr>
          <a:xfrm>
            <a:off x="9601200" y="6501384"/>
            <a:ext cx="2084831" cy="274320"/>
          </a:xfrm>
          <a:prstGeom prst="rect">
            <a:avLst/>
          </a:prstGeom>
          <a:noFill/>
        </p:spPr>
        <p:txBody>
          <a:bodyPr wrap="square" anchor="t" lIns="0" rIns="0" tIns="0" bIns="0">
            <a:spAutoFit/>
          </a:bodyPr>
          <a:lstStyle/>
          <a:p>
            <a:pPr algn="r">
              <a:lnSpc>
                <a:spcPct val="100000"/>
              </a:lnSpc>
              <a:spcAft>
                <a:spcPts val="0"/>
              </a:spcAft>
            </a:pPr>
            <a:r>
              <a:rPr sz="950" b="1" i="0">
                <a:solidFill>
                  <a:srgbClr val="5A6478"/>
                </a:solidFill>
                <a:latin typeface="Calibri"/>
                <a:ea typeface="Calibri"/>
                <a:cs typeface="Calibri"/>
              </a:rPr>
              <a:t>8 / 14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183112" cy="237744"/>
          </a:xfrm>
          <a:prstGeom prst="rect">
            <a:avLst/>
          </a:prstGeom>
          <a:noFill/>
        </p:spPr>
        <p:txBody>
          <a:bodyPr wrap="square" anchor="t" lIns="0" rIns="0" tIns="0" bIns="0">
            <a:spAutoFit/>
          </a:bodyPr>
          <a:lstStyle/>
          <a:p>
            <a:pPr algn="l">
              <a:lnSpc>
                <a:spcPct val="100000"/>
              </a:lnSpc>
              <a:spcAft>
                <a:spcPts val="0"/>
              </a:spcAft>
            </a:pPr>
            <a:r>
              <a:rPr sz="1150" b="1" i="0">
                <a:solidFill>
                  <a:srgbClr val="1B2A4A"/>
                </a:solidFill>
                <a:latin typeface="Calibri"/>
                <a:ea typeface="Calibri"/>
                <a:cs typeface="Calibri"/>
              </a:rPr>
              <a:t>ĐÁNH GIÁ RÀNG BUỘC DINH DƯỠNG THEO BA HỒ SƠ MÔ PHỎNG</a:t>
            </a:r>
          </a:p>
        </p:txBody>
      </p:sp>
      <p:sp>
        <p:nvSpPr>
          <p:cNvPr id="4" name="TextBox 3"/>
          <p:cNvSpPr txBox="1"/>
          <p:nvPr/>
        </p:nvSpPr>
        <p:spPr>
          <a:xfrm>
            <a:off x="502920" y="530352"/>
            <a:ext cx="11183112" cy="475488"/>
          </a:xfrm>
          <a:prstGeom prst="rect">
            <a:avLst/>
          </a:prstGeom>
          <a:noFill/>
        </p:spPr>
        <p:txBody>
          <a:bodyPr wrap="square" anchor="t" lIns="0" rIns="0" tIns="0" bIns="0">
            <a:spAutoFit/>
          </a:bodyPr>
          <a:lstStyle/>
          <a:p>
            <a:pPr algn="l">
              <a:lnSpc>
                <a:spcPct val="100000"/>
              </a:lnSpc>
              <a:spcAft>
                <a:spcPts val="0"/>
              </a:spcAft>
            </a:pPr>
            <a:r>
              <a:rPr sz="2300" b="1" i="0">
                <a:solidFill>
                  <a:srgbClr val="1B2A4A"/>
                </a:solidFill>
                <a:latin typeface="Calibri"/>
                <a:ea typeface="Calibri"/>
                <a:cs typeface="Calibri"/>
              </a:rPr>
              <a:t>Mở Rộng Ba Hồ Sơ Dinh Dưỡng Mô Phỏng (Multi-Profile Benchmark)</a:t>
            </a:r>
          </a:p>
        </p:txBody>
      </p:sp>
      <p:sp>
        <p:nvSpPr>
          <p:cNvPr id="5" name="Rectangle 4"/>
          <p:cNvSpPr/>
          <p:nvPr/>
        </p:nvSpPr>
        <p:spPr>
          <a:xfrm>
            <a:off x="502920" y="1042415"/>
            <a:ext cx="11183112" cy="1524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234440"/>
            <a:ext cx="3593592" cy="4983480"/>
          </a:xfrm>
          <a:prstGeom prst="roundRect">
            <a:avLst/>
          </a:prstGeom>
          <a:solidFill>
            <a:srgbClr val="F5F7FB"/>
          </a:solidFill>
          <a:ln w="12700">
            <a:solidFill>
              <a:srgbClr val="D3DB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234440"/>
            <a:ext cx="3593592" cy="73152"/>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371600"/>
            <a:ext cx="3227832" cy="320040"/>
          </a:xfrm>
          <a:prstGeom prst="rect">
            <a:avLst/>
          </a:prstGeom>
          <a:noFill/>
        </p:spPr>
        <p:txBody>
          <a:bodyPr wrap="square" anchor="t" lIns="0" rIns="0" tIns="0" bIns="0">
            <a:spAutoFit/>
          </a:bodyPr>
          <a:lstStyle/>
          <a:p>
            <a:pPr algn="l">
              <a:lnSpc>
                <a:spcPct val="100000"/>
              </a:lnSpc>
              <a:spcAft>
                <a:spcPts val="0"/>
              </a:spcAft>
            </a:pPr>
            <a:r>
              <a:rPr sz="1300" b="1" i="0">
                <a:solidFill>
                  <a:srgbClr val="1B2A4A"/>
                </a:solidFill>
                <a:latin typeface="Calibri"/>
                <a:ea typeface="Calibri"/>
                <a:cs typeface="Calibri"/>
              </a:rPr>
              <a:t>PROFILE P1: KHỎE MẠNH</a:t>
            </a:r>
          </a:p>
        </p:txBody>
      </p:sp>
      <p:sp>
        <p:nvSpPr>
          <p:cNvPr id="9" name="TextBox 8"/>
          <p:cNvSpPr txBox="1"/>
          <p:nvPr/>
        </p:nvSpPr>
        <p:spPr>
          <a:xfrm>
            <a:off x="685800" y="1719072"/>
            <a:ext cx="3227832" cy="228600"/>
          </a:xfrm>
          <a:prstGeom prst="rect">
            <a:avLst/>
          </a:prstGeom>
          <a:noFill/>
        </p:spPr>
        <p:txBody>
          <a:bodyPr wrap="square" anchor="t" lIns="0" rIns="0" tIns="0" bIns="0">
            <a:spAutoFit/>
          </a:bodyPr>
          <a:lstStyle/>
          <a:p>
            <a:pPr algn="l">
              <a:lnSpc>
                <a:spcPct val="100000"/>
              </a:lnSpc>
              <a:spcAft>
                <a:spcPts val="0"/>
              </a:spcAft>
            </a:pPr>
            <a:r>
              <a:rPr sz="1019" b="1" i="0">
                <a:solidFill>
                  <a:srgbClr val="1E2430"/>
                </a:solidFill>
                <a:latin typeface="Calibri"/>
                <a:ea typeface="Calibri"/>
                <a:cs typeface="Calibri"/>
              </a:rPr>
              <a:t>Người dùng chuẩn: Lê Quang Duy (22 tuổi)</a:t>
            </a:r>
          </a:p>
        </p:txBody>
      </p:sp>
      <p:sp>
        <p:nvSpPr>
          <p:cNvPr id="10" name="Rectangle 9"/>
          <p:cNvSpPr/>
          <p:nvPr/>
        </p:nvSpPr>
        <p:spPr>
          <a:xfrm>
            <a:off x="685800" y="1993392"/>
            <a:ext cx="3227832" cy="1270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103120"/>
            <a:ext cx="3227832" cy="3931920"/>
          </a:xfrm>
          <a:prstGeom prst="rect">
            <a:avLst/>
          </a:prstGeom>
          <a:noFill/>
        </p:spPr>
        <p:txBody>
          <a:bodyPr wrap="square" anchor="t" lIns="0" rIns="0" tIns="0" bIns="0">
            <a:spAutoFit/>
          </a:bodyPr>
          <a:lstStyle/>
          <a:p>
            <a:pPr algn="l">
              <a:lnSpc>
                <a:spcPct val="125000"/>
              </a:lnSpc>
              <a:spcAft>
                <a:spcPts val="0"/>
              </a:spcAft>
            </a:pPr>
            <a:r>
              <a:rPr sz="1019" b="0" i="0">
                <a:solidFill>
                  <a:srgbClr val="1E2430"/>
                </a:solidFill>
                <a:latin typeface="Calibri"/>
                <a:ea typeface="Calibri"/>
                <a:cs typeface="Calibri"/>
              </a:rPr>
              <a:t>• Giới tính: Nam | Chiều cao: 170cm | Nặng: 65kg.
• Mức vận động: MODERATE (Vận động vừa).
• Mục tiêu: Duy trì cân nặng (MAINTAIN).
• Nhu cầu Năng lượng: 2.491,6 kcal/ngày.
• Ràng buộc dinh dưỡng: Phân bổ 50% C - 20% P - 30% F.
• Giới hạn Natri chung: &lt;= 2.300 mg/ngày.
• Cơ cấu bữa: Sáng (2), Trưa (2), Tối (2), Phụ (2).</a:t>
            </a:r>
          </a:p>
        </p:txBody>
      </p:sp>
      <p:sp>
        <p:nvSpPr>
          <p:cNvPr id="12" name="Rounded Rectangle 11"/>
          <p:cNvSpPr/>
          <p:nvPr/>
        </p:nvSpPr>
        <p:spPr>
          <a:xfrm>
            <a:off x="4297680" y="1234440"/>
            <a:ext cx="3593592" cy="4983480"/>
          </a:xfrm>
          <a:prstGeom prst="roundRect">
            <a:avLst/>
          </a:prstGeom>
          <a:solidFill>
            <a:srgbClr val="FDF6EB"/>
          </a:solidFill>
          <a:ln w="12700">
            <a:solidFill>
              <a:srgbClr val="D3DB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97680" y="1234440"/>
            <a:ext cx="3593592" cy="73152"/>
          </a:xfrm>
          <a:prstGeom prst="rect">
            <a:avLst/>
          </a:prstGeom>
          <a:solidFill>
            <a:srgbClr val="B832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80560" y="1371600"/>
            <a:ext cx="3227832" cy="320040"/>
          </a:xfrm>
          <a:prstGeom prst="rect">
            <a:avLst/>
          </a:prstGeom>
          <a:noFill/>
        </p:spPr>
        <p:txBody>
          <a:bodyPr wrap="square" anchor="t" lIns="0" rIns="0" tIns="0" bIns="0">
            <a:spAutoFit/>
          </a:bodyPr>
          <a:lstStyle/>
          <a:p>
            <a:pPr algn="l">
              <a:lnSpc>
                <a:spcPct val="100000"/>
              </a:lnSpc>
              <a:spcAft>
                <a:spcPts val="0"/>
              </a:spcAft>
            </a:pPr>
            <a:r>
              <a:rPr sz="1300" b="1" i="0">
                <a:solidFill>
                  <a:srgbClr val="B83228"/>
                </a:solidFill>
                <a:latin typeface="Calibri"/>
                <a:ea typeface="Calibri"/>
                <a:cs typeface="Calibri"/>
              </a:rPr>
              <a:t>PROFILE P2: ĐỊNH HƯỚNG GIẢM CARBOHYDRATE</a:t>
            </a:r>
          </a:p>
        </p:txBody>
      </p:sp>
      <p:sp>
        <p:nvSpPr>
          <p:cNvPr id="15" name="TextBox 14"/>
          <p:cNvSpPr txBox="1"/>
          <p:nvPr/>
        </p:nvSpPr>
        <p:spPr>
          <a:xfrm>
            <a:off x="4480560" y="1719072"/>
            <a:ext cx="3227832" cy="228600"/>
          </a:xfrm>
          <a:prstGeom prst="rect">
            <a:avLst/>
          </a:prstGeom>
          <a:noFill/>
        </p:spPr>
        <p:txBody>
          <a:bodyPr wrap="square" anchor="t" lIns="0" rIns="0" tIns="0" bIns="0">
            <a:spAutoFit/>
          </a:bodyPr>
          <a:lstStyle/>
          <a:p>
            <a:pPr algn="l">
              <a:lnSpc>
                <a:spcPct val="100000"/>
              </a:lnSpc>
              <a:spcAft>
                <a:spcPts val="0"/>
              </a:spcAft>
            </a:pPr>
            <a:r>
              <a:rPr sz="1019" b="1" i="0">
                <a:solidFill>
                  <a:srgbClr val="1E2430"/>
                </a:solidFill>
                <a:latin typeface="Calibri"/>
                <a:ea typeface="Calibri"/>
                <a:cs typeface="Calibri"/>
              </a:rPr>
              <a:t>Hồ sơ mô phỏng P2: Nguyễn Thị Lan (45 tuổi)</a:t>
            </a:r>
          </a:p>
        </p:txBody>
      </p:sp>
      <p:sp>
        <p:nvSpPr>
          <p:cNvPr id="16" name="Rectangle 15"/>
          <p:cNvSpPr/>
          <p:nvPr/>
        </p:nvSpPr>
        <p:spPr>
          <a:xfrm>
            <a:off x="4480560" y="1993392"/>
            <a:ext cx="3227832" cy="1270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80560" y="2103120"/>
            <a:ext cx="3227832" cy="3931920"/>
          </a:xfrm>
          <a:prstGeom prst="rect">
            <a:avLst/>
          </a:prstGeom>
          <a:noFill/>
        </p:spPr>
        <p:txBody>
          <a:bodyPr wrap="square" anchor="t" lIns="0" rIns="0" tIns="0" bIns="0">
            <a:spAutoFit/>
          </a:bodyPr>
          <a:lstStyle/>
          <a:p>
            <a:pPr algn="l">
              <a:lnSpc>
                <a:spcPct val="125000"/>
              </a:lnSpc>
              <a:spcAft>
                <a:spcPts val="0"/>
              </a:spcAft>
            </a:pPr>
            <a:r>
              <a:rPr sz="1019" b="0" i="0">
                <a:solidFill>
                  <a:srgbClr val="1E2430"/>
                </a:solidFill>
                <a:latin typeface="Calibri"/>
                <a:ea typeface="Calibri"/>
                <a:cs typeface="Calibri"/>
              </a:rPr>
              <a:t>• Giới tính: Nữ | Chiều cao: 158cm | Nặng: 62kg.
• Mức vận động: LIGHT (Vận động nhẹ).
• Mục tiêu: Giảm cân nhẹ (LOSE_WEIGHT, TDEE - 500).
• Nhu cầu Năng lượng: 1.179,6 kcal/ngày.
• Định hướng: giảm Carbs và kiểm soát calo chặt chẽ.
• CSDL chưa có total sugar; proxy 15% Carbs chỉ thử nghiệm kỹ thuật, không dùng để kết luận y tế.
• Cơ cấu bữa: Sáng (2), Trưa (2), Tối (2), Phụ (1).</a:t>
            </a:r>
          </a:p>
        </p:txBody>
      </p:sp>
      <p:sp>
        <p:nvSpPr>
          <p:cNvPr id="18" name="Rounded Rectangle 17"/>
          <p:cNvSpPr/>
          <p:nvPr/>
        </p:nvSpPr>
        <p:spPr>
          <a:xfrm>
            <a:off x="8092440" y="1234440"/>
            <a:ext cx="3593592" cy="4983480"/>
          </a:xfrm>
          <a:prstGeom prst="roundRect">
            <a:avLst/>
          </a:prstGeom>
          <a:solidFill>
            <a:srgbClr val="F5F7FB"/>
          </a:solidFill>
          <a:ln w="12700">
            <a:solidFill>
              <a:srgbClr val="D3DB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92440" y="1234440"/>
            <a:ext cx="3593592" cy="73152"/>
          </a:xfrm>
          <a:prstGeom prst="rect">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5320" y="1371600"/>
            <a:ext cx="3227832" cy="320040"/>
          </a:xfrm>
          <a:prstGeom prst="rect">
            <a:avLst/>
          </a:prstGeom>
          <a:noFill/>
        </p:spPr>
        <p:txBody>
          <a:bodyPr wrap="square" anchor="t" lIns="0" rIns="0" tIns="0" bIns="0">
            <a:spAutoFit/>
          </a:bodyPr>
          <a:lstStyle/>
          <a:p>
            <a:pPr algn="l">
              <a:lnSpc>
                <a:spcPct val="100000"/>
              </a:lnSpc>
              <a:spcAft>
                <a:spcPts val="0"/>
              </a:spcAft>
            </a:pPr>
            <a:r>
              <a:rPr sz="1300" b="1" i="0">
                <a:solidFill>
                  <a:srgbClr val="D9822B"/>
                </a:solidFill>
                <a:latin typeface="Calibri"/>
                <a:ea typeface="Calibri"/>
                <a:cs typeface="Calibri"/>
              </a:rPr>
              <a:t>PROFILE P3: TĂNG HUYẾT ÁP (HYPERTENSION)</a:t>
            </a:r>
          </a:p>
        </p:txBody>
      </p:sp>
      <p:sp>
        <p:nvSpPr>
          <p:cNvPr id="21" name="TextBox 20"/>
          <p:cNvSpPr txBox="1"/>
          <p:nvPr/>
        </p:nvSpPr>
        <p:spPr>
          <a:xfrm>
            <a:off x="8275320" y="1719072"/>
            <a:ext cx="3227832" cy="228600"/>
          </a:xfrm>
          <a:prstGeom prst="rect">
            <a:avLst/>
          </a:prstGeom>
          <a:noFill/>
        </p:spPr>
        <p:txBody>
          <a:bodyPr wrap="square" anchor="t" lIns="0" rIns="0" tIns="0" bIns="0">
            <a:spAutoFit/>
          </a:bodyPr>
          <a:lstStyle/>
          <a:p>
            <a:pPr algn="l">
              <a:lnSpc>
                <a:spcPct val="100000"/>
              </a:lnSpc>
              <a:spcAft>
                <a:spcPts val="0"/>
              </a:spcAft>
            </a:pPr>
            <a:r>
              <a:rPr sz="1019" b="1" i="0">
                <a:solidFill>
                  <a:srgbClr val="1E2430"/>
                </a:solidFill>
                <a:latin typeface="Calibri"/>
                <a:ea typeface="Calibri"/>
                <a:cs typeface="Calibri"/>
              </a:rPr>
              <a:t>Hồ sơ mô phỏng P3: Trần Văn Minh (55 tuổi)</a:t>
            </a:r>
          </a:p>
        </p:txBody>
      </p:sp>
      <p:sp>
        <p:nvSpPr>
          <p:cNvPr id="22" name="Rectangle 21"/>
          <p:cNvSpPr/>
          <p:nvPr/>
        </p:nvSpPr>
        <p:spPr>
          <a:xfrm>
            <a:off x="8275320" y="1993392"/>
            <a:ext cx="3227832" cy="1270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75320" y="2103120"/>
            <a:ext cx="3227832" cy="3931920"/>
          </a:xfrm>
          <a:prstGeom prst="rect">
            <a:avLst/>
          </a:prstGeom>
          <a:noFill/>
        </p:spPr>
        <p:txBody>
          <a:bodyPr wrap="square" anchor="t" lIns="0" rIns="0" tIns="0" bIns="0">
            <a:spAutoFit/>
          </a:bodyPr>
          <a:lstStyle/>
          <a:p>
            <a:pPr algn="l">
              <a:lnSpc>
                <a:spcPct val="125000"/>
              </a:lnSpc>
              <a:spcAft>
                <a:spcPts val="0"/>
              </a:spcAft>
            </a:pPr>
            <a:r>
              <a:rPr sz="1019" b="0" i="0">
                <a:solidFill>
                  <a:srgbClr val="1E2430"/>
                </a:solidFill>
                <a:latin typeface="Calibri"/>
                <a:ea typeface="Calibri"/>
                <a:cs typeface="Calibri"/>
              </a:rPr>
              <a:t>• Giới tính: Nam | Chiều cao: 168cm | Nặng: 75kg.
• Mức vận động: SEDENTARY (Ít vận động).
• Mục tiêu: Duy trì cân nặng (MAINTAIN).
• Nhu cầu Năng lượng: 1.836,0 kcal/ngày.
• RÀNG BUỘC NGHIÊM NGẶT: Natri &lt;= 1.500 mg/ngày.
• Ngưỡng 1.500 mg/ngày được dùng làm mức tham chiếu thử nghiệm.
• Cơ cấu bữa: Sáng (2), Trưa (2), Tối (2), Phụ (1).</a:t>
            </a:r>
          </a:p>
        </p:txBody>
      </p:sp>
      <p:sp>
        <p:nvSpPr>
          <p:cNvPr id="24" name="Rectangle 23"/>
          <p:cNvSpPr/>
          <p:nvPr/>
        </p:nvSpPr>
        <p:spPr>
          <a:xfrm>
            <a:off x="502920" y="6437376"/>
            <a:ext cx="11183112" cy="1270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2920" y="6501384"/>
            <a:ext cx="8686800" cy="274320"/>
          </a:xfrm>
          <a:prstGeom prst="rect">
            <a:avLst/>
          </a:prstGeom>
          <a:noFill/>
        </p:spPr>
        <p:txBody>
          <a:bodyPr wrap="square" anchor="t" lIns="0" rIns="0" tIns="0" bIns="0">
            <a:spAutoFit/>
          </a:bodyPr>
          <a:lstStyle/>
          <a:p>
            <a:pPr algn="l">
              <a:lnSpc>
                <a:spcPct val="100000"/>
              </a:lnSpc>
              <a:spcAft>
                <a:spcPts val="0"/>
              </a:spcAft>
            </a:pPr>
            <a:r>
              <a:rPr sz="950" b="0" i="0">
                <a:solidFill>
                  <a:srgbClr val="5A6478"/>
                </a:solidFill>
                <a:latin typeface="Calibri"/>
                <a:ea typeface="Calibri"/>
                <a:cs typeface="Calibri"/>
              </a:rPr>
              <a:t>Thiết lập ba hồ sơ mô phỏng và ràng buộc dinh dưỡng theo hồ sơ</a:t>
            </a:r>
          </a:p>
        </p:txBody>
      </p:sp>
      <p:sp>
        <p:nvSpPr>
          <p:cNvPr id="26" name="TextBox 25"/>
          <p:cNvSpPr txBox="1"/>
          <p:nvPr/>
        </p:nvSpPr>
        <p:spPr>
          <a:xfrm>
            <a:off x="9601200" y="6501384"/>
            <a:ext cx="2084831" cy="274320"/>
          </a:xfrm>
          <a:prstGeom prst="rect">
            <a:avLst/>
          </a:prstGeom>
          <a:noFill/>
        </p:spPr>
        <p:txBody>
          <a:bodyPr wrap="square" anchor="t" lIns="0" rIns="0" tIns="0" bIns="0">
            <a:spAutoFit/>
          </a:bodyPr>
          <a:lstStyle/>
          <a:p>
            <a:pPr algn="r">
              <a:lnSpc>
                <a:spcPct val="100000"/>
              </a:lnSpc>
              <a:spcAft>
                <a:spcPts val="0"/>
              </a:spcAft>
            </a:pPr>
            <a:r>
              <a:rPr sz="950" b="1" i="0">
                <a:solidFill>
                  <a:srgbClr val="5A6478"/>
                </a:solidFill>
                <a:latin typeface="Calibri"/>
                <a:ea typeface="Calibri"/>
                <a:cs typeface="Calibri"/>
              </a:rPr>
              <a:t>9 / 14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183112" cy="237744"/>
          </a:xfrm>
          <a:prstGeom prst="rect">
            <a:avLst/>
          </a:prstGeom>
          <a:noFill/>
        </p:spPr>
        <p:txBody>
          <a:bodyPr wrap="square" anchor="t" lIns="0" rIns="0" tIns="0" bIns="0">
            <a:spAutoFit/>
          </a:bodyPr>
          <a:lstStyle/>
          <a:p>
            <a:pPr algn="l">
              <a:lnSpc>
                <a:spcPct val="100000"/>
              </a:lnSpc>
              <a:spcAft>
                <a:spcPts val="0"/>
              </a:spcAft>
            </a:pPr>
            <a:r>
              <a:rPr sz="1150" b="1" i="0">
                <a:solidFill>
                  <a:srgbClr val="1B2A4A"/>
                </a:solidFill>
                <a:latin typeface="Calibri"/>
                <a:ea typeface="Calibri"/>
                <a:cs typeface="Calibri"/>
              </a:rPr>
              <a:t>ĐỐI CHUẨN THUẬT TOÁN VÀ ĐÁNH GIÁ RÀNG BUỘC DINH DƯỠNG THEO HỒ SƠ</a:t>
            </a:r>
          </a:p>
        </p:txBody>
      </p:sp>
      <p:sp>
        <p:nvSpPr>
          <p:cNvPr id="4" name="TextBox 3"/>
          <p:cNvSpPr txBox="1"/>
          <p:nvPr/>
        </p:nvSpPr>
        <p:spPr>
          <a:xfrm>
            <a:off x="502920" y="530352"/>
            <a:ext cx="11183112" cy="475488"/>
          </a:xfrm>
          <a:prstGeom prst="rect">
            <a:avLst/>
          </a:prstGeom>
          <a:noFill/>
        </p:spPr>
        <p:txBody>
          <a:bodyPr wrap="square" anchor="t" lIns="0" rIns="0" tIns="0" bIns="0">
            <a:spAutoFit/>
          </a:bodyPr>
          <a:lstStyle/>
          <a:p>
            <a:pPr algn="l">
              <a:lnSpc>
                <a:spcPct val="100000"/>
              </a:lnSpc>
              <a:spcAft>
                <a:spcPts val="0"/>
              </a:spcAft>
            </a:pPr>
            <a:r>
              <a:rPr sz="2300" b="1" i="0">
                <a:solidFill>
                  <a:srgbClr val="1B2A4A"/>
                </a:solidFill>
                <a:latin typeface="Calibri"/>
                <a:ea typeface="Calibri"/>
                <a:cs typeface="Calibri"/>
              </a:rPr>
              <a:t>Kết Quả Thực Nghiệm Tuần 9: Đánh Giá 7 Ngày Trên Ba Hồ Sơ</a:t>
            </a:r>
          </a:p>
        </p:txBody>
      </p:sp>
      <p:sp>
        <p:nvSpPr>
          <p:cNvPr id="5" name="Rectangle 4"/>
          <p:cNvSpPr/>
          <p:nvPr/>
        </p:nvSpPr>
        <p:spPr>
          <a:xfrm>
            <a:off x="502920" y="1042415"/>
            <a:ext cx="11183112" cy="1524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02920" y="1188720"/>
          <a:ext cx="11183112" cy="2304288"/>
        </p:xfrm>
        <a:graphic>
          <a:graphicData uri="http://schemas.openxmlformats.org/drawingml/2006/table">
            <a:tbl>
              <a:tblPr firstRow="1" bandRow="1">
                <a:tableStyleId>{5C22544A-7EE6-4342-B048-85BDC9FD1C3A}</a:tableStyleId>
              </a:tblPr>
              <a:tblGrid>
                <a:gridCol w="822960"/>
                <a:gridCol w="1554480"/>
                <a:gridCol w="777240"/>
                <a:gridCol w="1280160"/>
                <a:gridCol w="1097280"/>
                <a:gridCol w="1005840"/>
                <a:gridCol w="1188720"/>
                <a:gridCol w="3456432"/>
              </a:tblGrid>
              <a:tr h="384048">
                <a:tc>
                  <a:txBody>
                    <a:bodyPr/>
                    <a:lstStyle/>
                    <a:p>
                      <a:pPr algn="ctr"/>
                      <a:r>
                        <a:rPr sz="1150" b="1" i="0">
                          <a:solidFill>
                            <a:srgbClr val="FFFFFF"/>
                          </a:solidFill>
                          <a:latin typeface="Calibri"/>
                          <a:ea typeface="Calibri"/>
                          <a:cs typeface="Calibri"/>
                        </a:rPr>
                        <a:t>Thuật toán</a:t>
                      </a:r>
                    </a:p>
                  </a:txBody>
                  <a:tcPr marL="73152" marR="73152" marT="27432" marB="27432" anchor="ctr">
                    <a:solidFill>
                      <a:srgbClr val="1B2A4A"/>
                    </a:solidFill>
                  </a:tcPr>
                </a:tc>
                <a:tc>
                  <a:txBody>
                    <a:bodyPr/>
                    <a:lstStyle/>
                    <a:p>
                      <a:pPr algn="l"/>
                      <a:r>
                        <a:rPr sz="1150" b="1" i="0">
                          <a:solidFill>
                            <a:srgbClr val="FFFFFF"/>
                          </a:solidFill>
                          <a:latin typeface="Calibri"/>
                          <a:ea typeface="Calibri"/>
                          <a:cs typeface="Calibri"/>
                        </a:rPr>
                        <a:t>Hồ sơ dinh dưỡng</a:t>
                      </a:r>
                    </a:p>
                  </a:txBody>
                  <a:tcPr marL="73152" marR="73152" marT="27432" marB="27432" anchor="ctr">
                    <a:solidFill>
                      <a:srgbClr val="1B2A4A"/>
                    </a:solidFill>
                  </a:tcPr>
                </a:tc>
                <a:tc>
                  <a:txBody>
                    <a:bodyPr/>
                    <a:lstStyle/>
                    <a:p>
                      <a:pPr algn="ctr"/>
                      <a:r>
                        <a:rPr sz="1150" b="1" i="0">
                          <a:solidFill>
                            <a:srgbClr val="FFFFFF"/>
                          </a:solidFill>
                          <a:latin typeface="Calibri"/>
                          <a:ea typeface="Calibri"/>
                          <a:cs typeface="Calibri"/>
                        </a:rPr>
                        <a:t>Số ngày</a:t>
                      </a:r>
                    </a:p>
                  </a:txBody>
                  <a:tcPr marL="73152" marR="73152" marT="27432" marB="27432" anchor="ctr">
                    <a:solidFill>
                      <a:srgbClr val="1B2A4A"/>
                    </a:solidFill>
                  </a:tcPr>
                </a:tc>
                <a:tc>
                  <a:txBody>
                    <a:bodyPr/>
                    <a:lstStyle/>
                    <a:p>
                      <a:pPr algn="ctr"/>
                      <a:r>
                        <a:rPr sz="1150" b="1" i="0">
                          <a:solidFill>
                            <a:srgbClr val="FFFFFF"/>
                          </a:solidFill>
                          <a:latin typeface="Calibri"/>
                          <a:ea typeface="Calibri"/>
                          <a:cs typeface="Calibri"/>
                        </a:rPr>
                        <a:t>Mean Fitness 7 ngày</a:t>
                      </a:r>
                    </a:p>
                  </a:txBody>
                  <a:tcPr marL="73152" marR="73152" marT="27432" marB="27432" anchor="ctr">
                    <a:solidFill>
                      <a:srgbClr val="1B2A4A"/>
                    </a:solidFill>
                  </a:tcPr>
                </a:tc>
                <a:tc>
                  <a:txBody>
                    <a:bodyPr/>
                    <a:lstStyle/>
                    <a:p>
                      <a:pPr algn="ctr"/>
                      <a:r>
                        <a:rPr sz="1150" b="1" i="0">
                          <a:solidFill>
                            <a:srgbClr val="FFFFFF"/>
                          </a:solidFill>
                          <a:latin typeface="Calibri"/>
                          <a:ea typeface="Calibri"/>
                          <a:cs typeface="Calibri"/>
                        </a:rPr>
                        <a:t>Sai lệch Calo TB (%)</a:t>
                      </a:r>
                    </a:p>
                  </a:txBody>
                  <a:tcPr marL="73152" marR="73152" marT="27432" marB="27432" anchor="ctr">
                    <a:solidFill>
                      <a:srgbClr val="1B2A4A"/>
                    </a:solidFill>
                  </a:tcPr>
                </a:tc>
                <a:tc>
                  <a:txBody>
                    <a:bodyPr/>
                    <a:lstStyle/>
                    <a:p>
                      <a:pPr algn="ctr"/>
                      <a:r>
                        <a:rPr sz="1150" b="1" i="0">
                          <a:solidFill>
                            <a:srgbClr val="FFFFFF"/>
                          </a:solidFill>
                          <a:latin typeface="Calibri"/>
                          <a:ea typeface="Calibri"/>
                          <a:cs typeface="Calibri"/>
                        </a:rPr>
                        <a:t>Vi phạm TB/ngày</a:t>
                      </a:r>
                    </a:p>
                  </a:txBody>
                  <a:tcPr marL="73152" marR="73152" marT="27432" marB="27432" anchor="ctr">
                    <a:solidFill>
                      <a:srgbClr val="1B2A4A"/>
                    </a:solidFill>
                  </a:tcPr>
                </a:tc>
                <a:tc>
                  <a:txBody>
                    <a:bodyPr/>
                    <a:lstStyle/>
                    <a:p>
                      <a:pPr algn="ctr"/>
                      <a:r>
                        <a:rPr sz="1150" b="1" i="0">
                          <a:solidFill>
                            <a:srgbClr val="FFFFFF"/>
                          </a:solidFill>
                          <a:latin typeface="Calibri"/>
                          <a:ea typeface="Calibri"/>
                          <a:cs typeface="Calibri"/>
                        </a:rPr>
                        <a:t>Tỷ lệ món độc nhất</a:t>
                      </a:r>
                    </a:p>
                  </a:txBody>
                  <a:tcPr marL="73152" marR="73152" marT="27432" marB="27432" anchor="ctr">
                    <a:solidFill>
                      <a:srgbClr val="1B2A4A"/>
                    </a:solidFill>
                  </a:tcPr>
                </a:tc>
                <a:tc>
                  <a:txBody>
                    <a:bodyPr/>
                    <a:lstStyle/>
                    <a:p>
                      <a:pPr algn="l"/>
                      <a:r>
                        <a:rPr sz="1150" b="1" i="0">
                          <a:solidFill>
                            <a:srgbClr val="FFFFFF"/>
                          </a:solidFill>
                          <a:latin typeface="Calibri"/>
                          <a:ea typeface="Calibri"/>
                          <a:cs typeface="Calibri"/>
                        </a:rPr>
                        <a:t>Diễn giải kỹ thuật &amp; giới hạn</a:t>
                      </a:r>
                    </a:p>
                  </a:txBody>
                  <a:tcPr marL="73152" marR="73152" marT="27432" marB="27432" anchor="ctr">
                    <a:solidFill>
                      <a:srgbClr val="1B2A4A"/>
                    </a:solidFill>
                  </a:tcPr>
                </a:tc>
              </a:tr>
              <a:tr h="320040">
                <a:tc>
                  <a:txBody>
                    <a:bodyPr/>
                    <a:lstStyle/>
                    <a:p>
                      <a:pPr algn="ctr"/>
                      <a:r>
                        <a:rPr sz="850" b="1" i="0">
                          <a:solidFill>
                            <a:srgbClr val="1E2430"/>
                          </a:solidFill>
                          <a:latin typeface="Calibri"/>
                          <a:ea typeface="Calibri"/>
                          <a:cs typeface="Calibri"/>
                        </a:rPr>
                        <a:t>DBO</a:t>
                      </a:r>
                    </a:p>
                  </a:txBody>
                  <a:tcPr marL="73152" marR="73152" marT="27432" marB="27432" anchor="ctr">
                    <a:solidFill>
                      <a:srgbClr val="F5F7FB"/>
                    </a:solidFill>
                  </a:tcPr>
                </a:tc>
                <a:tc>
                  <a:txBody>
                    <a:bodyPr/>
                    <a:lstStyle/>
                    <a:p>
                      <a:pPr algn="l"/>
                      <a:r>
                        <a:rPr sz="850" b="0" i="0">
                          <a:solidFill>
                            <a:srgbClr val="1E2430"/>
                          </a:solidFill>
                          <a:latin typeface="Calibri"/>
                          <a:ea typeface="Calibri"/>
                          <a:cs typeface="Calibri"/>
                        </a:rPr>
                        <a:t>P1 (Khỏe mạnh)</a:t>
                      </a:r>
                    </a:p>
                  </a:txBody>
                  <a:tcPr marL="73152" marR="73152" marT="27432" marB="27432" anchor="ctr">
                    <a:solidFill>
                      <a:srgbClr val="F5F7FB"/>
                    </a:solidFill>
                  </a:tcPr>
                </a:tc>
                <a:tc>
                  <a:txBody>
                    <a:bodyPr/>
                    <a:lstStyle/>
                    <a:p>
                      <a:pPr algn="ctr"/>
                      <a:r>
                        <a:rPr sz="850" b="0" i="0">
                          <a:solidFill>
                            <a:srgbClr val="1E2430"/>
                          </a:solidFill>
                          <a:latin typeface="Calibri"/>
                          <a:ea typeface="Calibri"/>
                          <a:cs typeface="Calibri"/>
                        </a:rPr>
                        <a:t>7 ngày</a:t>
                      </a:r>
                    </a:p>
                  </a:txBody>
                  <a:tcPr marL="73152" marR="73152" marT="27432" marB="27432" anchor="ctr">
                    <a:solidFill>
                      <a:srgbClr val="F5F7FB"/>
                    </a:solidFill>
                  </a:tcPr>
                </a:tc>
                <a:tc>
                  <a:txBody>
                    <a:bodyPr/>
                    <a:lstStyle/>
                    <a:p>
                      <a:pPr algn="ctr"/>
                      <a:r>
                        <a:rPr sz="850" b="1" i="0">
                          <a:solidFill>
                            <a:srgbClr val="217A4B"/>
                          </a:solidFill>
                          <a:latin typeface="Calibri"/>
                          <a:ea typeface="Calibri"/>
                          <a:cs typeface="Calibri"/>
                        </a:rPr>
                        <a:t>90.68</a:t>
                      </a:r>
                    </a:p>
                  </a:txBody>
                  <a:tcPr marL="73152" marR="73152" marT="27432" marB="27432" anchor="ctr">
                    <a:solidFill>
                      <a:srgbClr val="F5F7FB"/>
                    </a:solidFill>
                  </a:tcPr>
                </a:tc>
                <a:tc>
                  <a:txBody>
                    <a:bodyPr/>
                    <a:lstStyle/>
                    <a:p>
                      <a:pPr algn="ctr"/>
                      <a:r>
                        <a:rPr sz="850" b="0" i="0">
                          <a:solidFill>
                            <a:srgbClr val="1E2430"/>
                          </a:solidFill>
                          <a:latin typeface="Calibri"/>
                          <a:ea typeface="Calibri"/>
                          <a:cs typeface="Calibri"/>
                        </a:rPr>
                        <a:t>2.37%</a:t>
                      </a:r>
                    </a:p>
                  </a:txBody>
                  <a:tcPr marL="73152" marR="73152" marT="27432" marB="27432" anchor="ctr">
                    <a:solidFill>
                      <a:srgbClr val="F5F7FB"/>
                    </a:solidFill>
                  </a:tcPr>
                </a:tc>
                <a:tc>
                  <a:txBody>
                    <a:bodyPr/>
                    <a:lstStyle/>
                    <a:p>
                      <a:pPr algn="ctr"/>
                      <a:r>
                        <a:rPr sz="850" b="0" i="0">
                          <a:solidFill>
                            <a:srgbClr val="1E2430"/>
                          </a:solidFill>
                          <a:latin typeface="Calibri"/>
                          <a:ea typeface="Calibri"/>
                          <a:cs typeface="Calibri"/>
                        </a:rPr>
                        <a:t>0.43</a:t>
                      </a:r>
                    </a:p>
                  </a:txBody>
                  <a:tcPr marL="73152" marR="73152" marT="27432" marB="27432" anchor="ctr">
                    <a:solidFill>
                      <a:srgbClr val="F5F7FB"/>
                    </a:solidFill>
                  </a:tcPr>
                </a:tc>
                <a:tc>
                  <a:txBody>
                    <a:bodyPr/>
                    <a:lstStyle/>
                    <a:p>
                      <a:pPr algn="ctr"/>
                      <a:r>
                        <a:rPr sz="850" b="1" i="0">
                          <a:solidFill>
                            <a:srgbClr val="217A4B"/>
                          </a:solidFill>
                          <a:latin typeface="Calibri"/>
                          <a:ea typeface="Calibri"/>
                          <a:cs typeface="Calibri"/>
                        </a:rPr>
                        <a:t>100.0%</a:t>
                      </a:r>
                    </a:p>
                  </a:txBody>
                  <a:tcPr marL="73152" marR="73152" marT="27432" marB="27432" anchor="ctr">
                    <a:solidFill>
                      <a:srgbClr val="F5F7FB"/>
                    </a:solidFill>
                  </a:tcPr>
                </a:tc>
                <a:tc>
                  <a:txBody>
                    <a:bodyPr/>
                    <a:lstStyle/>
                    <a:p>
                      <a:pPr algn="l"/>
                      <a:r>
                        <a:rPr sz="850" b="0" i="0">
                          <a:solidFill>
                            <a:srgbClr val="1E2430"/>
                          </a:solidFill>
                          <a:latin typeface="Calibri"/>
                          <a:ea typeface="Calibri"/>
                          <a:cs typeface="Calibri"/>
                        </a:rPr>
                        <a:t>Đánh giá kỹ thuật theo năng lượng &amp; đa lượng</a:t>
                      </a:r>
                    </a:p>
                  </a:txBody>
                  <a:tcPr marL="73152" marR="73152" marT="27432" marB="27432" anchor="ctr">
                    <a:solidFill>
                      <a:srgbClr val="F5F7FB"/>
                    </a:solidFill>
                  </a:tcPr>
                </a:tc>
              </a:tr>
              <a:tr h="320040">
                <a:tc>
                  <a:txBody>
                    <a:bodyPr/>
                    <a:lstStyle/>
                    <a:p>
                      <a:pPr algn="ctr"/>
                      <a:r>
                        <a:rPr sz="850" b="1" i="0">
                          <a:solidFill>
                            <a:srgbClr val="1E2430"/>
                          </a:solidFill>
                          <a:latin typeface="Calibri"/>
                          <a:ea typeface="Calibri"/>
                          <a:cs typeface="Calibri"/>
                        </a:rPr>
                        <a:t>DBO</a:t>
                      </a:r>
                    </a:p>
                  </a:txBody>
                  <a:tcPr marL="73152" marR="73152" marT="27432" marB="27432" anchor="ctr">
                    <a:solidFill>
                      <a:srgbClr val="FFFFFF"/>
                    </a:solidFill>
                  </a:tcPr>
                </a:tc>
                <a:tc>
                  <a:txBody>
                    <a:bodyPr/>
                    <a:lstStyle/>
                    <a:p>
                      <a:pPr algn="l"/>
                      <a:r>
                        <a:rPr sz="850" b="0" i="0">
                          <a:solidFill>
                            <a:srgbClr val="1E2430"/>
                          </a:solidFill>
                          <a:latin typeface="Calibri"/>
                          <a:ea typeface="Calibri"/>
                          <a:cs typeface="Calibri"/>
                        </a:rPr>
                        <a:t>P2 (Giảm Carbs)</a:t>
                      </a:r>
                    </a:p>
                  </a:txBody>
                  <a:tcPr marL="73152" marR="73152" marT="27432" marB="27432" anchor="ctr">
                    <a:solidFill>
                      <a:srgbClr val="FFFFFF"/>
                    </a:solidFill>
                  </a:tcPr>
                </a:tc>
                <a:tc>
                  <a:txBody>
                    <a:bodyPr/>
                    <a:lstStyle/>
                    <a:p>
                      <a:pPr algn="ctr"/>
                      <a:r>
                        <a:rPr sz="850" b="0" i="0">
                          <a:solidFill>
                            <a:srgbClr val="1E2430"/>
                          </a:solidFill>
                          <a:latin typeface="Calibri"/>
                          <a:ea typeface="Calibri"/>
                          <a:cs typeface="Calibri"/>
                        </a:rPr>
                        <a:t>7 ngày</a:t>
                      </a:r>
                    </a:p>
                  </a:txBody>
                  <a:tcPr marL="73152" marR="73152" marT="27432" marB="27432" anchor="ctr">
                    <a:solidFill>
                      <a:srgbClr val="FFFFFF"/>
                    </a:solidFill>
                  </a:tcPr>
                </a:tc>
                <a:tc>
                  <a:txBody>
                    <a:bodyPr/>
                    <a:lstStyle/>
                    <a:p>
                      <a:pPr algn="ctr"/>
                      <a:r>
                        <a:rPr sz="850" b="1" i="0">
                          <a:solidFill>
                            <a:srgbClr val="1B2A4A"/>
                          </a:solidFill>
                          <a:latin typeface="Calibri"/>
                          <a:ea typeface="Calibri"/>
                          <a:cs typeface="Calibri"/>
                        </a:rPr>
                        <a:t>79.27</a:t>
                      </a:r>
                    </a:p>
                  </a:txBody>
                  <a:tcPr marL="73152" marR="73152" marT="27432" marB="27432" anchor="ctr">
                    <a:solidFill>
                      <a:srgbClr val="FFFFFF"/>
                    </a:solidFill>
                  </a:tcPr>
                </a:tc>
                <a:tc>
                  <a:txBody>
                    <a:bodyPr/>
                    <a:lstStyle/>
                    <a:p>
                      <a:pPr algn="ctr"/>
                      <a:r>
                        <a:rPr sz="850" b="0" i="0">
                          <a:solidFill>
                            <a:srgbClr val="1E2430"/>
                          </a:solidFill>
                          <a:latin typeface="Calibri"/>
                          <a:ea typeface="Calibri"/>
                          <a:cs typeface="Calibri"/>
                        </a:rPr>
                        <a:t>5.59%</a:t>
                      </a:r>
                    </a:p>
                  </a:txBody>
                  <a:tcPr marL="73152" marR="73152" marT="27432" marB="27432" anchor="ctr">
                    <a:solidFill>
                      <a:srgbClr val="FFFFFF"/>
                    </a:solidFill>
                  </a:tcPr>
                </a:tc>
                <a:tc>
                  <a:txBody>
                    <a:bodyPr/>
                    <a:lstStyle/>
                    <a:p>
                      <a:pPr algn="ctr"/>
                      <a:r>
                        <a:rPr sz="850" b="0" i="0">
                          <a:solidFill>
                            <a:srgbClr val="1E2430"/>
                          </a:solidFill>
                          <a:latin typeface="Calibri"/>
                          <a:ea typeface="Calibri"/>
                          <a:cs typeface="Calibri"/>
                        </a:rPr>
                        <a:t>1.09</a:t>
                      </a:r>
                    </a:p>
                  </a:txBody>
                  <a:tcPr marL="73152" marR="73152" marT="27432" marB="27432" anchor="ctr">
                    <a:solidFill>
                      <a:srgbClr val="FFFFFF"/>
                    </a:solidFill>
                  </a:tcPr>
                </a:tc>
                <a:tc>
                  <a:txBody>
                    <a:bodyPr/>
                    <a:lstStyle/>
                    <a:p>
                      <a:pPr algn="ctr"/>
                      <a:r>
                        <a:rPr sz="850" b="1" i="0">
                          <a:solidFill>
                            <a:srgbClr val="217A4B"/>
                          </a:solidFill>
                          <a:latin typeface="Calibri"/>
                          <a:ea typeface="Calibri"/>
                          <a:cs typeface="Calibri"/>
                        </a:rPr>
                        <a:t>92.9%</a:t>
                      </a:r>
                    </a:p>
                  </a:txBody>
                  <a:tcPr marL="73152" marR="73152" marT="27432" marB="27432" anchor="ctr">
                    <a:solidFill>
                      <a:srgbClr val="FFFFFF"/>
                    </a:solidFill>
                  </a:tcPr>
                </a:tc>
                <a:tc>
                  <a:txBody>
                    <a:bodyPr/>
                    <a:lstStyle/>
                    <a:p>
                      <a:pPr algn="l"/>
                      <a:r>
                        <a:rPr sz="850" b="0" i="0">
                          <a:solidFill>
                            <a:srgbClr val="1E2430"/>
                          </a:solidFill>
                          <a:latin typeface="Calibri"/>
                          <a:ea typeface="Calibri"/>
                          <a:cs typeface="Calibri"/>
                        </a:rPr>
                        <a:t>Chưa kết luận đường: dataset không có trường total sugar</a:t>
                      </a:r>
                    </a:p>
                  </a:txBody>
                  <a:tcPr marL="73152" marR="73152" marT="27432" marB="27432" anchor="ctr">
                    <a:solidFill>
                      <a:srgbClr val="FFFFFF"/>
                    </a:solidFill>
                  </a:tcPr>
                </a:tc>
              </a:tr>
              <a:tr h="320040">
                <a:tc>
                  <a:txBody>
                    <a:bodyPr/>
                    <a:lstStyle/>
                    <a:p>
                      <a:pPr algn="ctr"/>
                      <a:r>
                        <a:rPr sz="850" b="1" i="0">
                          <a:solidFill>
                            <a:srgbClr val="1E2430"/>
                          </a:solidFill>
                          <a:latin typeface="Calibri"/>
                          <a:ea typeface="Calibri"/>
                          <a:cs typeface="Calibri"/>
                        </a:rPr>
                        <a:t>DBO</a:t>
                      </a:r>
                    </a:p>
                  </a:txBody>
                  <a:tcPr marL="73152" marR="73152" marT="27432" marB="27432" anchor="ctr">
                    <a:solidFill>
                      <a:srgbClr val="F5F7FB"/>
                    </a:solidFill>
                  </a:tcPr>
                </a:tc>
                <a:tc>
                  <a:txBody>
                    <a:bodyPr/>
                    <a:lstStyle/>
                    <a:p>
                      <a:pPr algn="l"/>
                      <a:r>
                        <a:rPr sz="850" b="0" i="0">
                          <a:solidFill>
                            <a:srgbClr val="1E2430"/>
                          </a:solidFill>
                          <a:latin typeface="Calibri"/>
                          <a:ea typeface="Calibri"/>
                          <a:cs typeface="Calibri"/>
                        </a:rPr>
                        <a:t>P3 (Giới hạn Natri)</a:t>
                      </a:r>
                    </a:p>
                  </a:txBody>
                  <a:tcPr marL="73152" marR="73152" marT="27432" marB="27432" anchor="ctr">
                    <a:solidFill>
                      <a:srgbClr val="F5F7FB"/>
                    </a:solidFill>
                  </a:tcPr>
                </a:tc>
                <a:tc>
                  <a:txBody>
                    <a:bodyPr/>
                    <a:lstStyle/>
                    <a:p>
                      <a:pPr algn="ctr"/>
                      <a:r>
                        <a:rPr sz="850" b="0" i="0">
                          <a:solidFill>
                            <a:srgbClr val="1E2430"/>
                          </a:solidFill>
                          <a:latin typeface="Calibri"/>
                          <a:ea typeface="Calibri"/>
                          <a:cs typeface="Calibri"/>
                        </a:rPr>
                        <a:t>7 ngày</a:t>
                      </a:r>
                    </a:p>
                  </a:txBody>
                  <a:tcPr marL="73152" marR="73152" marT="27432" marB="27432" anchor="ctr">
                    <a:solidFill>
                      <a:srgbClr val="F5F7FB"/>
                    </a:solidFill>
                  </a:tcPr>
                </a:tc>
                <a:tc>
                  <a:txBody>
                    <a:bodyPr/>
                    <a:lstStyle/>
                    <a:p>
                      <a:pPr algn="ctr"/>
                      <a:r>
                        <a:rPr sz="850" b="1" i="0">
                          <a:solidFill>
                            <a:srgbClr val="217A4B"/>
                          </a:solidFill>
                          <a:latin typeface="Calibri"/>
                          <a:ea typeface="Calibri"/>
                          <a:cs typeface="Calibri"/>
                        </a:rPr>
                        <a:t>88.09</a:t>
                      </a:r>
                    </a:p>
                  </a:txBody>
                  <a:tcPr marL="73152" marR="73152" marT="27432" marB="27432" anchor="ctr">
                    <a:solidFill>
                      <a:srgbClr val="F5F7FB"/>
                    </a:solidFill>
                  </a:tcPr>
                </a:tc>
                <a:tc>
                  <a:txBody>
                    <a:bodyPr/>
                    <a:lstStyle/>
                    <a:p>
                      <a:pPr algn="ctr"/>
                      <a:r>
                        <a:rPr sz="850" b="0" i="0">
                          <a:solidFill>
                            <a:srgbClr val="1E2430"/>
                          </a:solidFill>
                          <a:latin typeface="Calibri"/>
                          <a:ea typeface="Calibri"/>
                          <a:cs typeface="Calibri"/>
                        </a:rPr>
                        <a:t>1.84%</a:t>
                      </a:r>
                    </a:p>
                  </a:txBody>
                  <a:tcPr marL="73152" marR="73152" marT="27432" marB="27432" anchor="ctr">
                    <a:solidFill>
                      <a:srgbClr val="F5F7FB"/>
                    </a:solidFill>
                  </a:tcPr>
                </a:tc>
                <a:tc>
                  <a:txBody>
                    <a:bodyPr/>
                    <a:lstStyle/>
                    <a:p>
                      <a:pPr algn="ctr"/>
                      <a:r>
                        <a:rPr sz="850" b="0" i="0">
                          <a:solidFill>
                            <a:srgbClr val="1E2430"/>
                          </a:solidFill>
                          <a:latin typeface="Calibri"/>
                          <a:ea typeface="Calibri"/>
                          <a:cs typeface="Calibri"/>
                        </a:rPr>
                        <a:t>0.60</a:t>
                      </a:r>
                    </a:p>
                  </a:txBody>
                  <a:tcPr marL="73152" marR="73152" marT="27432" marB="27432" anchor="ctr">
                    <a:solidFill>
                      <a:srgbClr val="F5F7FB"/>
                    </a:solidFill>
                  </a:tcPr>
                </a:tc>
                <a:tc>
                  <a:txBody>
                    <a:bodyPr/>
                    <a:lstStyle/>
                    <a:p>
                      <a:pPr algn="ctr"/>
                      <a:r>
                        <a:rPr sz="850" b="1" i="0">
                          <a:solidFill>
                            <a:srgbClr val="217A4B"/>
                          </a:solidFill>
                          <a:latin typeface="Calibri"/>
                          <a:ea typeface="Calibri"/>
                          <a:cs typeface="Calibri"/>
                        </a:rPr>
                        <a:t>100.0%</a:t>
                      </a:r>
                    </a:p>
                  </a:txBody>
                  <a:tcPr marL="73152" marR="73152" marT="27432" marB="27432" anchor="ctr">
                    <a:solidFill>
                      <a:srgbClr val="F5F7FB"/>
                    </a:solidFill>
                  </a:tcPr>
                </a:tc>
                <a:tc>
                  <a:txBody>
                    <a:bodyPr/>
                    <a:lstStyle/>
                    <a:p>
                      <a:pPr algn="l"/>
                      <a:r>
                        <a:rPr sz="850" b="0" i="0">
                          <a:solidFill>
                            <a:srgbClr val="1E2430"/>
                          </a:solidFill>
                          <a:latin typeface="Calibri"/>
                          <a:ea typeface="Calibri"/>
                          <a:cs typeface="Calibri"/>
                        </a:rPr>
                        <a:t>Cần đánh giá tỷ lệ ngày đạt giới hạn natri 1500mg</a:t>
                      </a:r>
                    </a:p>
                  </a:txBody>
                  <a:tcPr marL="73152" marR="73152" marT="27432" marB="27432" anchor="ctr">
                    <a:solidFill>
                      <a:srgbClr val="F5F7FB"/>
                    </a:solidFill>
                  </a:tcPr>
                </a:tc>
              </a:tr>
              <a:tr h="320040">
                <a:tc>
                  <a:txBody>
                    <a:bodyPr/>
                    <a:lstStyle/>
                    <a:p>
                      <a:pPr algn="ctr"/>
                      <a:r>
                        <a:rPr sz="850" b="1" i="0">
                          <a:solidFill>
                            <a:srgbClr val="1E2430"/>
                          </a:solidFill>
                          <a:latin typeface="Calibri"/>
                          <a:ea typeface="Calibri"/>
                          <a:cs typeface="Calibri"/>
                        </a:rPr>
                        <a:t>IDBO</a:t>
                      </a:r>
                    </a:p>
                  </a:txBody>
                  <a:tcPr marL="73152" marR="73152" marT="27432" marB="27432" anchor="ctr">
                    <a:solidFill>
                      <a:srgbClr val="FFFFFF"/>
                    </a:solidFill>
                  </a:tcPr>
                </a:tc>
                <a:tc>
                  <a:txBody>
                    <a:bodyPr/>
                    <a:lstStyle/>
                    <a:p>
                      <a:pPr algn="l"/>
                      <a:r>
                        <a:rPr sz="850" b="0" i="0">
                          <a:solidFill>
                            <a:srgbClr val="1E2430"/>
                          </a:solidFill>
                          <a:latin typeface="Calibri"/>
                          <a:ea typeface="Calibri"/>
                          <a:cs typeface="Calibri"/>
                        </a:rPr>
                        <a:t>P1 (Khỏe mạnh)</a:t>
                      </a:r>
                    </a:p>
                  </a:txBody>
                  <a:tcPr marL="73152" marR="73152" marT="27432" marB="27432" anchor="ctr">
                    <a:solidFill>
                      <a:srgbClr val="FFFFFF"/>
                    </a:solidFill>
                  </a:tcPr>
                </a:tc>
                <a:tc>
                  <a:txBody>
                    <a:bodyPr/>
                    <a:lstStyle/>
                    <a:p>
                      <a:pPr algn="ctr"/>
                      <a:r>
                        <a:rPr sz="850" b="0" i="0">
                          <a:solidFill>
                            <a:srgbClr val="1E2430"/>
                          </a:solidFill>
                          <a:latin typeface="Calibri"/>
                          <a:ea typeface="Calibri"/>
                          <a:cs typeface="Calibri"/>
                        </a:rPr>
                        <a:t>7 ngày</a:t>
                      </a:r>
                    </a:p>
                  </a:txBody>
                  <a:tcPr marL="73152" marR="73152" marT="27432" marB="27432" anchor="ctr">
                    <a:solidFill>
                      <a:srgbClr val="FFFFFF"/>
                    </a:solidFill>
                  </a:tcPr>
                </a:tc>
                <a:tc>
                  <a:txBody>
                    <a:bodyPr/>
                    <a:lstStyle/>
                    <a:p>
                      <a:pPr algn="ctr"/>
                      <a:r>
                        <a:rPr sz="850" b="0" i="0">
                          <a:solidFill>
                            <a:srgbClr val="1E2430"/>
                          </a:solidFill>
                          <a:latin typeface="Calibri"/>
                          <a:ea typeface="Calibri"/>
                          <a:cs typeface="Calibri"/>
                        </a:rPr>
                        <a:t>90.68</a:t>
                      </a:r>
                    </a:p>
                  </a:txBody>
                  <a:tcPr marL="73152" marR="73152" marT="27432" marB="27432" anchor="ctr">
                    <a:solidFill>
                      <a:srgbClr val="FFFFFF"/>
                    </a:solidFill>
                  </a:tcPr>
                </a:tc>
                <a:tc>
                  <a:txBody>
                    <a:bodyPr/>
                    <a:lstStyle/>
                    <a:p>
                      <a:pPr algn="ctr"/>
                      <a:r>
                        <a:rPr sz="850" b="0" i="0">
                          <a:solidFill>
                            <a:srgbClr val="1E2430"/>
                          </a:solidFill>
                          <a:latin typeface="Calibri"/>
                          <a:ea typeface="Calibri"/>
                          <a:cs typeface="Calibri"/>
                        </a:rPr>
                        <a:t>2.37%</a:t>
                      </a:r>
                    </a:p>
                  </a:txBody>
                  <a:tcPr marL="73152" marR="73152" marT="27432" marB="27432" anchor="ctr">
                    <a:solidFill>
                      <a:srgbClr val="FFFFFF"/>
                    </a:solidFill>
                  </a:tcPr>
                </a:tc>
                <a:tc>
                  <a:txBody>
                    <a:bodyPr/>
                    <a:lstStyle/>
                    <a:p>
                      <a:pPr algn="ctr"/>
                      <a:r>
                        <a:rPr sz="850" b="0" i="0">
                          <a:solidFill>
                            <a:srgbClr val="1E2430"/>
                          </a:solidFill>
                          <a:latin typeface="Calibri"/>
                          <a:ea typeface="Calibri"/>
                          <a:cs typeface="Calibri"/>
                        </a:rPr>
                        <a:t>0.43</a:t>
                      </a:r>
                    </a:p>
                  </a:txBody>
                  <a:tcPr marL="73152" marR="73152" marT="27432" marB="27432" anchor="ctr">
                    <a:solidFill>
                      <a:srgbClr val="FFFFFF"/>
                    </a:solidFill>
                  </a:tcPr>
                </a:tc>
                <a:tc>
                  <a:txBody>
                    <a:bodyPr/>
                    <a:lstStyle/>
                    <a:p>
                      <a:pPr algn="ctr"/>
                      <a:r>
                        <a:rPr sz="850" b="0" i="0">
                          <a:solidFill>
                            <a:srgbClr val="1E2430"/>
                          </a:solidFill>
                          <a:latin typeface="Calibri"/>
                          <a:ea typeface="Calibri"/>
                          <a:cs typeface="Calibri"/>
                        </a:rPr>
                        <a:t>100.0%</a:t>
                      </a:r>
                    </a:p>
                  </a:txBody>
                  <a:tcPr marL="73152" marR="73152" marT="27432" marB="27432" anchor="ctr">
                    <a:solidFill>
                      <a:srgbClr val="FFFFFF"/>
                    </a:solidFill>
                  </a:tcPr>
                </a:tc>
                <a:tc>
                  <a:txBody>
                    <a:bodyPr/>
                    <a:lstStyle/>
                    <a:p>
                      <a:pPr algn="l"/>
                      <a:r>
                        <a:rPr sz="850" b="0" i="0">
                          <a:solidFill>
                            <a:srgbClr val="1E2430"/>
                          </a:solidFill>
                          <a:latin typeface="Calibri"/>
                          <a:ea typeface="Calibri"/>
                          <a:cs typeface="Calibri"/>
                        </a:rPr>
                        <a:t>Đánh giá kỹ thuật theo năng lượng &amp; đa lượng</a:t>
                      </a:r>
                    </a:p>
                  </a:txBody>
                  <a:tcPr marL="73152" marR="73152" marT="27432" marB="27432" anchor="ctr">
                    <a:solidFill>
                      <a:srgbClr val="FFFFFF"/>
                    </a:solidFill>
                  </a:tcPr>
                </a:tc>
              </a:tr>
              <a:tr h="320040">
                <a:tc>
                  <a:txBody>
                    <a:bodyPr/>
                    <a:lstStyle/>
                    <a:p>
                      <a:pPr algn="ctr"/>
                      <a:r>
                        <a:rPr sz="850" b="1" i="0">
                          <a:solidFill>
                            <a:srgbClr val="1E2430"/>
                          </a:solidFill>
                          <a:latin typeface="Calibri"/>
                          <a:ea typeface="Calibri"/>
                          <a:cs typeface="Calibri"/>
                        </a:rPr>
                        <a:t>IDBO</a:t>
                      </a:r>
                    </a:p>
                  </a:txBody>
                  <a:tcPr marL="73152" marR="73152" marT="27432" marB="27432" anchor="ctr">
                    <a:solidFill>
                      <a:srgbClr val="F5F7FB"/>
                    </a:solidFill>
                  </a:tcPr>
                </a:tc>
                <a:tc>
                  <a:txBody>
                    <a:bodyPr/>
                    <a:lstStyle/>
                    <a:p>
                      <a:pPr algn="l"/>
                      <a:r>
                        <a:rPr sz="850" b="0" i="0">
                          <a:solidFill>
                            <a:srgbClr val="1E2430"/>
                          </a:solidFill>
                          <a:latin typeface="Calibri"/>
                          <a:ea typeface="Calibri"/>
                          <a:cs typeface="Calibri"/>
                        </a:rPr>
                        <a:t>P2 (Giảm Carbs)</a:t>
                      </a:r>
                    </a:p>
                  </a:txBody>
                  <a:tcPr marL="73152" marR="73152" marT="27432" marB="27432" anchor="ctr">
                    <a:solidFill>
                      <a:srgbClr val="F5F7FB"/>
                    </a:solidFill>
                  </a:tcPr>
                </a:tc>
                <a:tc>
                  <a:txBody>
                    <a:bodyPr/>
                    <a:lstStyle/>
                    <a:p>
                      <a:pPr algn="ctr"/>
                      <a:r>
                        <a:rPr sz="850" b="0" i="0">
                          <a:solidFill>
                            <a:srgbClr val="1E2430"/>
                          </a:solidFill>
                          <a:latin typeface="Calibri"/>
                          <a:ea typeface="Calibri"/>
                          <a:cs typeface="Calibri"/>
                        </a:rPr>
                        <a:t>7 ngày</a:t>
                      </a:r>
                    </a:p>
                  </a:txBody>
                  <a:tcPr marL="73152" marR="73152" marT="27432" marB="27432" anchor="ctr">
                    <a:solidFill>
                      <a:srgbClr val="F5F7FB"/>
                    </a:solidFill>
                  </a:tcPr>
                </a:tc>
                <a:tc>
                  <a:txBody>
                    <a:bodyPr/>
                    <a:lstStyle/>
                    <a:p>
                      <a:pPr algn="ctr"/>
                      <a:r>
                        <a:rPr sz="850" b="0" i="0">
                          <a:solidFill>
                            <a:srgbClr val="1E2430"/>
                          </a:solidFill>
                          <a:latin typeface="Calibri"/>
                          <a:ea typeface="Calibri"/>
                          <a:cs typeface="Calibri"/>
                        </a:rPr>
                        <a:t>79.27</a:t>
                      </a:r>
                    </a:p>
                  </a:txBody>
                  <a:tcPr marL="73152" marR="73152" marT="27432" marB="27432" anchor="ctr">
                    <a:solidFill>
                      <a:srgbClr val="F5F7FB"/>
                    </a:solidFill>
                  </a:tcPr>
                </a:tc>
                <a:tc>
                  <a:txBody>
                    <a:bodyPr/>
                    <a:lstStyle/>
                    <a:p>
                      <a:pPr algn="ctr"/>
                      <a:r>
                        <a:rPr sz="850" b="0" i="0">
                          <a:solidFill>
                            <a:srgbClr val="1E2430"/>
                          </a:solidFill>
                          <a:latin typeface="Calibri"/>
                          <a:ea typeface="Calibri"/>
                          <a:cs typeface="Calibri"/>
                        </a:rPr>
                        <a:t>5.59%</a:t>
                      </a:r>
                    </a:p>
                  </a:txBody>
                  <a:tcPr marL="73152" marR="73152" marT="27432" marB="27432" anchor="ctr">
                    <a:solidFill>
                      <a:srgbClr val="F5F7FB"/>
                    </a:solidFill>
                  </a:tcPr>
                </a:tc>
                <a:tc>
                  <a:txBody>
                    <a:bodyPr/>
                    <a:lstStyle/>
                    <a:p>
                      <a:pPr algn="ctr"/>
                      <a:r>
                        <a:rPr sz="850" b="0" i="0">
                          <a:solidFill>
                            <a:srgbClr val="1E2430"/>
                          </a:solidFill>
                          <a:latin typeface="Calibri"/>
                          <a:ea typeface="Calibri"/>
                          <a:cs typeface="Calibri"/>
                        </a:rPr>
                        <a:t>1.09</a:t>
                      </a:r>
                    </a:p>
                  </a:txBody>
                  <a:tcPr marL="73152" marR="73152" marT="27432" marB="27432" anchor="ctr">
                    <a:solidFill>
                      <a:srgbClr val="F5F7FB"/>
                    </a:solidFill>
                  </a:tcPr>
                </a:tc>
                <a:tc>
                  <a:txBody>
                    <a:bodyPr/>
                    <a:lstStyle/>
                    <a:p>
                      <a:pPr algn="ctr"/>
                      <a:r>
                        <a:rPr sz="850" b="0" i="0">
                          <a:solidFill>
                            <a:srgbClr val="1E2430"/>
                          </a:solidFill>
                          <a:latin typeface="Calibri"/>
                          <a:ea typeface="Calibri"/>
                          <a:cs typeface="Calibri"/>
                        </a:rPr>
                        <a:t>92.9%</a:t>
                      </a:r>
                    </a:p>
                  </a:txBody>
                  <a:tcPr marL="73152" marR="73152" marT="27432" marB="27432" anchor="ctr">
                    <a:solidFill>
                      <a:srgbClr val="F5F7FB"/>
                    </a:solidFill>
                  </a:tcPr>
                </a:tc>
                <a:tc>
                  <a:txBody>
                    <a:bodyPr/>
                    <a:lstStyle/>
                    <a:p>
                      <a:pPr algn="l"/>
                      <a:r>
                        <a:rPr sz="850" b="0" i="0">
                          <a:solidFill>
                            <a:srgbClr val="1E2430"/>
                          </a:solidFill>
                          <a:latin typeface="Calibri"/>
                          <a:ea typeface="Calibri"/>
                          <a:cs typeface="Calibri"/>
                        </a:rPr>
                        <a:t>Chưa kết luận đường: dataset không có trường total sugar</a:t>
                      </a:r>
                    </a:p>
                  </a:txBody>
                  <a:tcPr marL="73152" marR="73152" marT="27432" marB="27432" anchor="ctr">
                    <a:solidFill>
                      <a:srgbClr val="F5F7FB"/>
                    </a:solidFill>
                  </a:tcPr>
                </a:tc>
              </a:tr>
              <a:tr h="320040">
                <a:tc>
                  <a:txBody>
                    <a:bodyPr/>
                    <a:lstStyle/>
                    <a:p>
                      <a:pPr algn="ctr"/>
                      <a:r>
                        <a:rPr sz="850" b="1" i="0">
                          <a:solidFill>
                            <a:srgbClr val="1E2430"/>
                          </a:solidFill>
                          <a:latin typeface="Calibri"/>
                          <a:ea typeface="Calibri"/>
                          <a:cs typeface="Calibri"/>
                        </a:rPr>
                        <a:t>IDBO</a:t>
                      </a:r>
                    </a:p>
                  </a:txBody>
                  <a:tcPr marL="73152" marR="73152" marT="27432" marB="27432" anchor="ctr">
                    <a:solidFill>
                      <a:srgbClr val="FFFFFF"/>
                    </a:solidFill>
                  </a:tcPr>
                </a:tc>
                <a:tc>
                  <a:txBody>
                    <a:bodyPr/>
                    <a:lstStyle/>
                    <a:p>
                      <a:pPr algn="l"/>
                      <a:r>
                        <a:rPr sz="850" b="0" i="0">
                          <a:solidFill>
                            <a:srgbClr val="1E2430"/>
                          </a:solidFill>
                          <a:latin typeface="Calibri"/>
                          <a:ea typeface="Calibri"/>
                          <a:cs typeface="Calibri"/>
                        </a:rPr>
                        <a:t>P3 (Giới hạn Natri)</a:t>
                      </a:r>
                    </a:p>
                  </a:txBody>
                  <a:tcPr marL="73152" marR="73152" marT="27432" marB="27432" anchor="ctr">
                    <a:solidFill>
                      <a:srgbClr val="FFFFFF"/>
                    </a:solidFill>
                  </a:tcPr>
                </a:tc>
                <a:tc>
                  <a:txBody>
                    <a:bodyPr/>
                    <a:lstStyle/>
                    <a:p>
                      <a:pPr algn="ctr"/>
                      <a:r>
                        <a:rPr sz="850" b="0" i="0">
                          <a:solidFill>
                            <a:srgbClr val="1E2430"/>
                          </a:solidFill>
                          <a:latin typeface="Calibri"/>
                          <a:ea typeface="Calibri"/>
                          <a:cs typeface="Calibri"/>
                        </a:rPr>
                        <a:t>7 ngày</a:t>
                      </a:r>
                    </a:p>
                  </a:txBody>
                  <a:tcPr marL="73152" marR="73152" marT="27432" marB="27432" anchor="ctr">
                    <a:solidFill>
                      <a:srgbClr val="FFFFFF"/>
                    </a:solidFill>
                  </a:tcPr>
                </a:tc>
                <a:tc>
                  <a:txBody>
                    <a:bodyPr/>
                    <a:lstStyle/>
                    <a:p>
                      <a:pPr algn="ctr"/>
                      <a:r>
                        <a:rPr sz="850" b="0" i="0">
                          <a:solidFill>
                            <a:srgbClr val="1E2430"/>
                          </a:solidFill>
                          <a:latin typeface="Calibri"/>
                          <a:ea typeface="Calibri"/>
                          <a:cs typeface="Calibri"/>
                        </a:rPr>
                        <a:t>88.09</a:t>
                      </a:r>
                    </a:p>
                  </a:txBody>
                  <a:tcPr marL="73152" marR="73152" marT="27432" marB="27432" anchor="ctr">
                    <a:solidFill>
                      <a:srgbClr val="FFFFFF"/>
                    </a:solidFill>
                  </a:tcPr>
                </a:tc>
                <a:tc>
                  <a:txBody>
                    <a:bodyPr/>
                    <a:lstStyle/>
                    <a:p>
                      <a:pPr algn="ctr"/>
                      <a:r>
                        <a:rPr sz="850" b="0" i="0">
                          <a:solidFill>
                            <a:srgbClr val="1E2430"/>
                          </a:solidFill>
                          <a:latin typeface="Calibri"/>
                          <a:ea typeface="Calibri"/>
                          <a:cs typeface="Calibri"/>
                        </a:rPr>
                        <a:t>1.84%</a:t>
                      </a:r>
                    </a:p>
                  </a:txBody>
                  <a:tcPr marL="73152" marR="73152" marT="27432" marB="27432" anchor="ctr">
                    <a:solidFill>
                      <a:srgbClr val="FFFFFF"/>
                    </a:solidFill>
                  </a:tcPr>
                </a:tc>
                <a:tc>
                  <a:txBody>
                    <a:bodyPr/>
                    <a:lstStyle/>
                    <a:p>
                      <a:pPr algn="ctr"/>
                      <a:r>
                        <a:rPr sz="850" b="0" i="0">
                          <a:solidFill>
                            <a:srgbClr val="1E2430"/>
                          </a:solidFill>
                          <a:latin typeface="Calibri"/>
                          <a:ea typeface="Calibri"/>
                          <a:cs typeface="Calibri"/>
                        </a:rPr>
                        <a:t>0.60</a:t>
                      </a:r>
                    </a:p>
                  </a:txBody>
                  <a:tcPr marL="73152" marR="73152" marT="27432" marB="27432" anchor="ctr">
                    <a:solidFill>
                      <a:srgbClr val="FFFFFF"/>
                    </a:solidFill>
                  </a:tcPr>
                </a:tc>
                <a:tc>
                  <a:txBody>
                    <a:bodyPr/>
                    <a:lstStyle/>
                    <a:p>
                      <a:pPr algn="ctr"/>
                      <a:r>
                        <a:rPr sz="850" b="0" i="0">
                          <a:solidFill>
                            <a:srgbClr val="1E2430"/>
                          </a:solidFill>
                          <a:latin typeface="Calibri"/>
                          <a:ea typeface="Calibri"/>
                          <a:cs typeface="Calibri"/>
                        </a:rPr>
                        <a:t>100.0%</a:t>
                      </a:r>
                    </a:p>
                  </a:txBody>
                  <a:tcPr marL="73152" marR="73152" marT="27432" marB="27432" anchor="ctr">
                    <a:solidFill>
                      <a:srgbClr val="FFFFFF"/>
                    </a:solidFill>
                  </a:tcPr>
                </a:tc>
                <a:tc>
                  <a:txBody>
                    <a:bodyPr/>
                    <a:lstStyle/>
                    <a:p>
                      <a:pPr algn="l"/>
                      <a:r>
                        <a:rPr sz="850" b="0" i="0">
                          <a:solidFill>
                            <a:srgbClr val="1E2430"/>
                          </a:solidFill>
                          <a:latin typeface="Calibri"/>
                          <a:ea typeface="Calibri"/>
                          <a:cs typeface="Calibri"/>
                        </a:rPr>
                        <a:t>Cần đánh giá tỷ lệ ngày đạt giới hạn natri 1500mg</a:t>
                      </a:r>
                    </a:p>
                  </a:txBody>
                  <a:tcPr marL="73152" marR="73152" marT="27432" marB="27432" anchor="ctr">
                    <a:solidFill>
                      <a:srgbClr val="FFFFFF"/>
                    </a:solidFill>
                  </a:tcPr>
                </a:tc>
              </a:tr>
            </a:tbl>
          </a:graphicData>
        </a:graphic>
      </p:graphicFrame>
      <p:sp>
        <p:nvSpPr>
          <p:cNvPr id="7" name="Rounded Rectangle 6"/>
          <p:cNvSpPr/>
          <p:nvPr/>
        </p:nvSpPr>
        <p:spPr>
          <a:xfrm>
            <a:off x="502920" y="3794760"/>
            <a:ext cx="3593592" cy="2423160"/>
          </a:xfrm>
          <a:prstGeom prst="roundRect">
            <a:avLst/>
          </a:prstGeom>
          <a:solidFill>
            <a:srgbClr val="F5F7FB"/>
          </a:solidFill>
          <a:ln w="12700">
            <a:solidFill>
              <a:srgbClr val="D3DB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3904487"/>
            <a:ext cx="3227832" cy="256032"/>
          </a:xfrm>
          <a:prstGeom prst="rect">
            <a:avLst/>
          </a:prstGeom>
          <a:noFill/>
        </p:spPr>
        <p:txBody>
          <a:bodyPr wrap="square" anchor="t" lIns="0" rIns="0" tIns="0" bIns="0">
            <a:spAutoFit/>
          </a:bodyPr>
          <a:lstStyle/>
          <a:p>
            <a:pPr algn="l">
              <a:lnSpc>
                <a:spcPct val="100000"/>
              </a:lnSpc>
              <a:spcAft>
                <a:spcPts val="0"/>
              </a:spcAft>
            </a:pPr>
            <a:r>
              <a:rPr sz="1100" b="1" i="0">
                <a:solidFill>
                  <a:srgbClr val="1B2A4A"/>
                </a:solidFill>
                <a:latin typeface="Calibri"/>
                <a:ea typeface="Calibri"/>
                <a:cs typeface="Calibri"/>
              </a:rPr>
              <a:t>Kiểm soát Calo chuẩn xác:</a:t>
            </a:r>
          </a:p>
        </p:txBody>
      </p:sp>
      <p:sp>
        <p:nvSpPr>
          <p:cNvPr id="9" name="Rectangle 8"/>
          <p:cNvSpPr/>
          <p:nvPr/>
        </p:nvSpPr>
        <p:spPr>
          <a:xfrm>
            <a:off x="685800" y="4178808"/>
            <a:ext cx="3227832" cy="1270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4279392"/>
            <a:ext cx="3227832" cy="1828800"/>
          </a:xfrm>
          <a:prstGeom prst="rect">
            <a:avLst/>
          </a:prstGeom>
          <a:noFill/>
        </p:spPr>
        <p:txBody>
          <a:bodyPr wrap="square" anchor="t" lIns="0" rIns="0" tIns="0" bIns="0">
            <a:spAutoFit/>
          </a:bodyPr>
          <a:lstStyle/>
          <a:p>
            <a:pPr algn="l">
              <a:lnSpc>
                <a:spcPct val="118000"/>
              </a:lnSpc>
              <a:spcAft>
                <a:spcPts val="0"/>
              </a:spcAft>
            </a:pPr>
            <a:r>
              <a:rPr sz="919" b="0" i="0">
                <a:solidFill>
                  <a:srgbClr val="1E2430"/>
                </a:solidFill>
                <a:latin typeface="Calibri"/>
                <a:ea typeface="Calibri"/>
                <a:cs typeface="Calibri"/>
              </a:rPr>
              <a:t>Mức sai lệch calo trung bình so với target: P1 lệch 2.37%, P2 lệch 5.59%, P3 lệch 1.84% (thuật toán chạy tốt, bám sát khuyến nghị).</a:t>
            </a:r>
          </a:p>
        </p:txBody>
      </p:sp>
      <p:sp>
        <p:nvSpPr>
          <p:cNvPr id="11" name="Rounded Rectangle 10"/>
          <p:cNvSpPr/>
          <p:nvPr/>
        </p:nvSpPr>
        <p:spPr>
          <a:xfrm>
            <a:off x="4297680" y="3794760"/>
            <a:ext cx="3593592" cy="2423160"/>
          </a:xfrm>
          <a:prstGeom prst="roundRect">
            <a:avLst/>
          </a:prstGeom>
          <a:solidFill>
            <a:srgbClr val="F5F7FB"/>
          </a:solidFill>
          <a:ln w="12700">
            <a:solidFill>
              <a:srgbClr val="D3DB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80560" y="3904487"/>
            <a:ext cx="3227832" cy="256032"/>
          </a:xfrm>
          <a:prstGeom prst="rect">
            <a:avLst/>
          </a:prstGeom>
          <a:noFill/>
        </p:spPr>
        <p:txBody>
          <a:bodyPr wrap="square" anchor="t" lIns="0" rIns="0" tIns="0" bIns="0">
            <a:spAutoFit/>
          </a:bodyPr>
          <a:lstStyle/>
          <a:p>
            <a:pPr algn="l">
              <a:lnSpc>
                <a:spcPct val="100000"/>
              </a:lnSpc>
              <a:spcAft>
                <a:spcPts val="0"/>
              </a:spcAft>
            </a:pPr>
            <a:r>
              <a:rPr sz="1100" b="1" i="0">
                <a:solidFill>
                  <a:srgbClr val="1B2A4A"/>
                </a:solidFill>
                <a:latin typeface="Calibri"/>
                <a:ea typeface="Calibri"/>
                <a:cs typeface="Calibri"/>
              </a:rPr>
              <a:t>Hiệu quả của Diversity Penalty:</a:t>
            </a:r>
          </a:p>
        </p:txBody>
      </p:sp>
      <p:sp>
        <p:nvSpPr>
          <p:cNvPr id="13" name="Rectangle 12"/>
          <p:cNvSpPr/>
          <p:nvPr/>
        </p:nvSpPr>
        <p:spPr>
          <a:xfrm>
            <a:off x="4480560" y="4178808"/>
            <a:ext cx="3227832" cy="1270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80560" y="4279392"/>
            <a:ext cx="3227832" cy="1828800"/>
          </a:xfrm>
          <a:prstGeom prst="rect">
            <a:avLst/>
          </a:prstGeom>
          <a:noFill/>
        </p:spPr>
        <p:txBody>
          <a:bodyPr wrap="square" anchor="t" lIns="0" rIns="0" tIns="0" bIns="0">
            <a:spAutoFit/>
          </a:bodyPr>
          <a:lstStyle/>
          <a:p>
            <a:pPr algn="l">
              <a:lnSpc>
                <a:spcPct val="118000"/>
              </a:lnSpc>
              <a:spcAft>
                <a:spcPts val="0"/>
              </a:spcAft>
            </a:pPr>
            <a:r>
              <a:rPr sz="919" b="0" i="0">
                <a:solidFill>
                  <a:srgbClr val="1E2430"/>
                </a:solidFill>
                <a:latin typeface="Calibri"/>
                <a:ea typeface="Calibri"/>
                <a:cs typeface="Calibri"/>
              </a:rPr>
              <a:t>Tỷ lệ món chính độc nhất đạt từ 92.9% đến 100.0% (đạt yêu cầu trên 80%). Thuật toán hạn chế tốt hiện tượng trùng lặp món ăn trong 2 ngày kế cận.</a:t>
            </a:r>
          </a:p>
        </p:txBody>
      </p:sp>
      <p:sp>
        <p:nvSpPr>
          <p:cNvPr id="15" name="Rounded Rectangle 14"/>
          <p:cNvSpPr/>
          <p:nvPr/>
        </p:nvSpPr>
        <p:spPr>
          <a:xfrm>
            <a:off x="8092440" y="3794760"/>
            <a:ext cx="3593592" cy="2423160"/>
          </a:xfrm>
          <a:prstGeom prst="roundRect">
            <a:avLst/>
          </a:prstGeom>
          <a:solidFill>
            <a:srgbClr val="F5F7FB"/>
          </a:solidFill>
          <a:ln w="12700">
            <a:solidFill>
              <a:srgbClr val="D3DB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75320" y="3904487"/>
            <a:ext cx="3227832" cy="256032"/>
          </a:xfrm>
          <a:prstGeom prst="rect">
            <a:avLst/>
          </a:prstGeom>
          <a:noFill/>
        </p:spPr>
        <p:txBody>
          <a:bodyPr wrap="square" anchor="t" lIns="0" rIns="0" tIns="0" bIns="0">
            <a:spAutoFit/>
          </a:bodyPr>
          <a:lstStyle/>
          <a:p>
            <a:pPr algn="l">
              <a:lnSpc>
                <a:spcPct val="100000"/>
              </a:lnSpc>
              <a:spcAft>
                <a:spcPts val="0"/>
              </a:spcAft>
            </a:pPr>
            <a:r>
              <a:rPr sz="1100" b="1" i="0">
                <a:solidFill>
                  <a:srgbClr val="1B2A4A"/>
                </a:solidFill>
                <a:latin typeface="Calibri"/>
                <a:ea typeface="Calibri"/>
                <a:cs typeface="Calibri"/>
              </a:rPr>
              <a:t>Giới hạn dữ liệu &amp; diễn giải:</a:t>
            </a:r>
          </a:p>
        </p:txBody>
      </p:sp>
      <p:sp>
        <p:nvSpPr>
          <p:cNvPr id="17" name="Rectangle 16"/>
          <p:cNvSpPr/>
          <p:nvPr/>
        </p:nvSpPr>
        <p:spPr>
          <a:xfrm>
            <a:off x="8275320" y="4178808"/>
            <a:ext cx="3227832" cy="1270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75320" y="4279392"/>
            <a:ext cx="3227832" cy="1828800"/>
          </a:xfrm>
          <a:prstGeom prst="rect">
            <a:avLst/>
          </a:prstGeom>
          <a:noFill/>
        </p:spPr>
        <p:txBody>
          <a:bodyPr wrap="square" anchor="t" lIns="0" rIns="0" tIns="0" bIns="0">
            <a:spAutoFit/>
          </a:bodyPr>
          <a:lstStyle/>
          <a:p>
            <a:pPr algn="l">
              <a:lnSpc>
                <a:spcPct val="118000"/>
              </a:lnSpc>
              <a:spcAft>
                <a:spcPts val="0"/>
              </a:spcAft>
            </a:pPr>
            <a:r>
              <a:rPr sz="919" b="0" i="0">
                <a:solidFill>
                  <a:srgbClr val="1E2430"/>
                </a:solidFill>
                <a:latin typeface="Calibri"/>
                <a:ea typeface="Calibri"/>
                <a:cs typeface="Calibri"/>
              </a:rPr>
              <a:t>P2 chưa có dữ liệu total sugar: chỉ đánh giá năng lượng, Carbs và đa lượng; proxy 15% Carbs không dùng để kết luận an toàn. P3 kiểm tra Natri trực tiếp theo ngưỡng cấu hình 1.500mg/ngày và cần báo cáo tỷ lệ ngày đạt ngưỡng.</a:t>
            </a:r>
          </a:p>
        </p:txBody>
      </p:sp>
      <p:sp>
        <p:nvSpPr>
          <p:cNvPr id="19" name="Rectangle 18"/>
          <p:cNvSpPr/>
          <p:nvPr/>
        </p:nvSpPr>
        <p:spPr>
          <a:xfrm>
            <a:off x="502920" y="6437376"/>
            <a:ext cx="11183112" cy="1270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2920" y="6501384"/>
            <a:ext cx="8686800" cy="274320"/>
          </a:xfrm>
          <a:prstGeom prst="rect">
            <a:avLst/>
          </a:prstGeom>
          <a:noFill/>
        </p:spPr>
        <p:txBody>
          <a:bodyPr wrap="square" anchor="t" lIns="0" rIns="0" tIns="0" bIns="0">
            <a:spAutoFit/>
          </a:bodyPr>
          <a:lstStyle/>
          <a:p>
            <a:pPr algn="l">
              <a:lnSpc>
                <a:spcPct val="100000"/>
              </a:lnSpc>
              <a:spcAft>
                <a:spcPts val="0"/>
              </a:spcAft>
            </a:pPr>
            <a:r>
              <a:rPr sz="950" b="0" i="0">
                <a:solidFill>
                  <a:srgbClr val="5A6478"/>
                </a:solidFill>
                <a:latin typeface="Calibri"/>
                <a:ea typeface="Calibri"/>
                <a:cs typeface="Calibri"/>
              </a:rPr>
              <a:t>Bảng tổng hợp kết quả kỹ thuật 7 ngày trên ba hồ sơ dinh dưỡng mô phỏng</a:t>
            </a:r>
          </a:p>
        </p:txBody>
      </p:sp>
      <p:sp>
        <p:nvSpPr>
          <p:cNvPr id="21" name="TextBox 20"/>
          <p:cNvSpPr txBox="1"/>
          <p:nvPr/>
        </p:nvSpPr>
        <p:spPr>
          <a:xfrm>
            <a:off x="9601200" y="6501384"/>
            <a:ext cx="2084831" cy="274320"/>
          </a:xfrm>
          <a:prstGeom prst="rect">
            <a:avLst/>
          </a:prstGeom>
          <a:noFill/>
        </p:spPr>
        <p:txBody>
          <a:bodyPr wrap="square" anchor="t" lIns="0" rIns="0" tIns="0" bIns="0">
            <a:spAutoFit/>
          </a:bodyPr>
          <a:lstStyle/>
          <a:p>
            <a:pPr algn="r">
              <a:lnSpc>
                <a:spcPct val="100000"/>
              </a:lnSpc>
              <a:spcAft>
                <a:spcPts val="0"/>
              </a:spcAft>
            </a:pPr>
            <a:r>
              <a:rPr sz="950" b="1" i="0">
                <a:solidFill>
                  <a:srgbClr val="5A6478"/>
                </a:solidFill>
                <a:latin typeface="Calibri"/>
                <a:ea typeface="Calibri"/>
                <a:cs typeface="Calibri"/>
              </a:rPr>
              <a:t>10 / 14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183112" cy="237744"/>
          </a:xfrm>
          <a:prstGeom prst="rect">
            <a:avLst/>
          </a:prstGeom>
          <a:noFill/>
        </p:spPr>
        <p:txBody>
          <a:bodyPr wrap="square" anchor="t" lIns="0" rIns="0" tIns="0" bIns="0">
            <a:spAutoFit/>
          </a:bodyPr>
          <a:lstStyle/>
          <a:p>
            <a:pPr algn="l">
              <a:lnSpc>
                <a:spcPct val="100000"/>
              </a:lnSpc>
              <a:spcAft>
                <a:spcPts val="0"/>
              </a:spcAft>
            </a:pPr>
            <a:r>
              <a:rPr sz="1150" b="1" i="0">
                <a:solidFill>
                  <a:srgbClr val="1B2A4A"/>
                </a:solidFill>
                <a:latin typeface="Calibri"/>
                <a:ea typeface="Calibri"/>
                <a:cs typeface="Calibri"/>
              </a:rPr>
              <a:t>TRỰC QUAN HÓA KẾT QUẢ THỰC NGHIỆM CHU KỲ TUẦN</a:t>
            </a:r>
          </a:p>
        </p:txBody>
      </p:sp>
      <p:sp>
        <p:nvSpPr>
          <p:cNvPr id="4" name="TextBox 3"/>
          <p:cNvSpPr txBox="1"/>
          <p:nvPr/>
        </p:nvSpPr>
        <p:spPr>
          <a:xfrm>
            <a:off x="502920" y="530352"/>
            <a:ext cx="11183112" cy="475488"/>
          </a:xfrm>
          <a:prstGeom prst="rect">
            <a:avLst/>
          </a:prstGeom>
          <a:noFill/>
        </p:spPr>
        <p:txBody>
          <a:bodyPr wrap="square" anchor="t" lIns="0" rIns="0" tIns="0" bIns="0">
            <a:spAutoFit/>
          </a:bodyPr>
          <a:lstStyle/>
          <a:p>
            <a:pPr algn="l">
              <a:lnSpc>
                <a:spcPct val="100000"/>
              </a:lnSpc>
              <a:spcAft>
                <a:spcPts val="0"/>
              </a:spcAft>
            </a:pPr>
            <a:r>
              <a:rPr sz="2300" b="1" i="0">
                <a:solidFill>
                  <a:srgbClr val="1B2A4A"/>
                </a:solidFill>
                <a:latin typeface="Calibri"/>
                <a:ea typeface="Calibri"/>
                <a:cs typeface="Calibri"/>
              </a:rPr>
              <a:t>Heatmap Dinh Dưỡng 7 Ngày &amp; Biểu Đồ Đối Chuẩn 3 Hồ Sơ (W9-F1 &amp; W9-F2)</a:t>
            </a:r>
          </a:p>
        </p:txBody>
      </p:sp>
      <p:sp>
        <p:nvSpPr>
          <p:cNvPr id="5" name="Rectangle 4"/>
          <p:cNvSpPr/>
          <p:nvPr/>
        </p:nvSpPr>
        <p:spPr>
          <a:xfrm>
            <a:off x="502920" y="1042415"/>
            <a:ext cx="11183112" cy="1524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_heatmap_nutrition_7days.png"/>
          <p:cNvPicPr>
            <a:picLocks noChangeAspect="1"/>
          </p:cNvPicPr>
          <p:nvPr/>
        </p:nvPicPr>
        <p:blipFill>
          <a:blip r:embed="rId2"/>
          <a:stretch>
            <a:fillRect/>
          </a:stretch>
        </p:blipFill>
        <p:spPr>
          <a:xfrm>
            <a:off x="502920" y="1234440"/>
            <a:ext cx="5440680" cy="3436218"/>
          </a:xfrm>
          <a:prstGeom prst="rect">
            <a:avLst/>
          </a:prstGeom>
        </p:spPr>
      </p:pic>
      <p:sp>
        <p:nvSpPr>
          <p:cNvPr id="7" name="Rounded Rectangle 6"/>
          <p:cNvSpPr/>
          <p:nvPr/>
        </p:nvSpPr>
        <p:spPr>
          <a:xfrm>
            <a:off x="502920" y="5257800"/>
            <a:ext cx="5440680" cy="960120"/>
          </a:xfrm>
          <a:prstGeom prst="roundRect">
            <a:avLst/>
          </a:prstGeom>
          <a:solidFill>
            <a:srgbClr val="F5F7FB"/>
          </a:solidFill>
          <a:ln w="12700">
            <a:solidFill>
              <a:srgbClr val="D3DB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5321808"/>
            <a:ext cx="5166360" cy="822960"/>
          </a:xfrm>
          <a:prstGeom prst="rect">
            <a:avLst/>
          </a:prstGeom>
          <a:noFill/>
        </p:spPr>
        <p:txBody>
          <a:bodyPr wrap="square" anchor="t" lIns="0" rIns="0" tIns="0" bIns="0">
            <a:spAutoFit/>
          </a:bodyPr>
          <a:lstStyle/>
          <a:p>
            <a:pPr algn="l">
              <a:lnSpc>
                <a:spcPct val="115000"/>
              </a:lnSpc>
              <a:spcAft>
                <a:spcPts val="0"/>
              </a:spcAft>
            </a:pPr>
            <a:r>
              <a:rPr sz="980" b="0" i="0">
                <a:solidFill>
                  <a:srgbClr val="1E2430"/>
                </a:solidFill>
                <a:latin typeface="Calibri"/>
                <a:ea typeface="Calibri"/>
                <a:cs typeface="Calibri"/>
              </a:rPr>
              <a:t>W9-F1: Heatmap tỷ lệ đáp ứng dinh dưỡng 7 ngày (Profile P1)
• Năng lượng nhìn chung bám mục tiêu, nhưng chất xơ biến động giữa các ngày.
• Natri vượt giới hạn ở một số ngày; đây là hạn chế cần xử lý bằng ràng buộc trực tiếp.</a:t>
            </a:r>
          </a:p>
        </p:txBody>
      </p:sp>
      <p:pic>
        <p:nvPicPr>
          <p:cNvPr id="9" name="Picture 8" descr="fig_barchart_profiles_p1_p2_p3.png"/>
          <p:cNvPicPr>
            <a:picLocks noChangeAspect="1"/>
          </p:cNvPicPr>
          <p:nvPr/>
        </p:nvPicPr>
        <p:blipFill>
          <a:blip r:embed="rId3"/>
          <a:stretch>
            <a:fillRect/>
          </a:stretch>
        </p:blipFill>
        <p:spPr>
          <a:xfrm>
            <a:off x="6245352" y="1234440"/>
            <a:ext cx="5440680" cy="3740467"/>
          </a:xfrm>
          <a:prstGeom prst="rect">
            <a:avLst/>
          </a:prstGeom>
        </p:spPr>
      </p:pic>
      <p:sp>
        <p:nvSpPr>
          <p:cNvPr id="10" name="Rounded Rectangle 9"/>
          <p:cNvSpPr/>
          <p:nvPr/>
        </p:nvSpPr>
        <p:spPr>
          <a:xfrm>
            <a:off x="6245352" y="5257800"/>
            <a:ext cx="5440680" cy="960120"/>
          </a:xfrm>
          <a:prstGeom prst="roundRect">
            <a:avLst/>
          </a:prstGeom>
          <a:solidFill>
            <a:srgbClr val="F5F7FB"/>
          </a:solidFill>
          <a:ln w="12700">
            <a:solidFill>
              <a:srgbClr val="D3DB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82512" y="5321808"/>
            <a:ext cx="5166360" cy="822960"/>
          </a:xfrm>
          <a:prstGeom prst="rect">
            <a:avLst/>
          </a:prstGeom>
          <a:noFill/>
        </p:spPr>
        <p:txBody>
          <a:bodyPr wrap="square" anchor="t" lIns="0" rIns="0" tIns="0" bIns="0">
            <a:spAutoFit/>
          </a:bodyPr>
          <a:lstStyle/>
          <a:p>
            <a:pPr algn="l">
              <a:lnSpc>
                <a:spcPct val="115000"/>
              </a:lnSpc>
              <a:spcAft>
                <a:spcPts val="0"/>
              </a:spcAft>
            </a:pPr>
            <a:r>
              <a:rPr sz="980" b="0" i="0">
                <a:solidFill>
                  <a:srgbClr val="1E2430"/>
                </a:solidFill>
                <a:latin typeface="Calibri"/>
                <a:ea typeface="Calibri"/>
                <a:cs typeface="Calibri"/>
              </a:rPr>
              <a:t>W9-F2: Đối chuẩn Mean Fitness &amp; Độ lệch Calo trên 3 hồ sơ
• Mean Fitness theo CSV: P1 (90.68), P2 (79.27), P3 (88.09).
• Sai lệch calo: P1 2.37%, P2 5.59%, P3 1.84%; P2 cần tiếp tục cải thiện.</a:t>
            </a:r>
          </a:p>
        </p:txBody>
      </p:sp>
      <p:sp>
        <p:nvSpPr>
          <p:cNvPr id="12" name="Rectangle 11"/>
          <p:cNvSpPr/>
          <p:nvPr/>
        </p:nvSpPr>
        <p:spPr>
          <a:xfrm>
            <a:off x="502920" y="6437376"/>
            <a:ext cx="11183112" cy="1270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6501384"/>
            <a:ext cx="8686800" cy="274320"/>
          </a:xfrm>
          <a:prstGeom prst="rect">
            <a:avLst/>
          </a:prstGeom>
          <a:noFill/>
        </p:spPr>
        <p:txBody>
          <a:bodyPr wrap="square" anchor="t" lIns="0" rIns="0" tIns="0" bIns="0">
            <a:spAutoFit/>
          </a:bodyPr>
          <a:lstStyle/>
          <a:p>
            <a:pPr algn="l">
              <a:lnSpc>
                <a:spcPct val="100000"/>
              </a:lnSpc>
              <a:spcAft>
                <a:spcPts val="0"/>
              </a:spcAft>
            </a:pPr>
            <a:r>
              <a:rPr sz="950" b="0" i="0">
                <a:solidFill>
                  <a:srgbClr val="5A6478"/>
                </a:solidFill>
                <a:latin typeface="Calibri"/>
                <a:ea typeface="Calibri"/>
                <a:cs typeface="Calibri"/>
              </a:rPr>
              <a:t>Heatmap tỷ lệ dinh dưỡng hàng ngày và đối chuẩn hiệu năng trên 3 hồ sơ</a:t>
            </a:r>
          </a:p>
        </p:txBody>
      </p:sp>
      <p:sp>
        <p:nvSpPr>
          <p:cNvPr id="14" name="TextBox 13"/>
          <p:cNvSpPr txBox="1"/>
          <p:nvPr/>
        </p:nvSpPr>
        <p:spPr>
          <a:xfrm>
            <a:off x="9601200" y="6501384"/>
            <a:ext cx="2084831" cy="274320"/>
          </a:xfrm>
          <a:prstGeom prst="rect">
            <a:avLst/>
          </a:prstGeom>
          <a:noFill/>
        </p:spPr>
        <p:txBody>
          <a:bodyPr wrap="square" anchor="t" lIns="0" rIns="0" tIns="0" bIns="0">
            <a:spAutoFit/>
          </a:bodyPr>
          <a:lstStyle/>
          <a:p>
            <a:pPr algn="r">
              <a:lnSpc>
                <a:spcPct val="100000"/>
              </a:lnSpc>
              <a:spcAft>
                <a:spcPts val="0"/>
              </a:spcAft>
            </a:pPr>
            <a:r>
              <a:rPr sz="950" b="1" i="0">
                <a:solidFill>
                  <a:srgbClr val="5A6478"/>
                </a:solidFill>
                <a:latin typeface="Calibri"/>
                <a:ea typeface="Calibri"/>
                <a:cs typeface="Calibri"/>
              </a:rPr>
              <a:t>11 / 14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183112" cy="237744"/>
          </a:xfrm>
          <a:prstGeom prst="rect">
            <a:avLst/>
          </a:prstGeom>
          <a:noFill/>
        </p:spPr>
        <p:txBody>
          <a:bodyPr wrap="square" anchor="t" lIns="0" rIns="0" tIns="0" bIns="0">
            <a:spAutoFit/>
          </a:bodyPr>
          <a:lstStyle/>
          <a:p>
            <a:pPr algn="l">
              <a:lnSpc>
                <a:spcPct val="100000"/>
              </a:lnSpc>
              <a:spcAft>
                <a:spcPts val="0"/>
              </a:spcAft>
            </a:pPr>
            <a:r>
              <a:rPr sz="1150" b="1" i="0">
                <a:solidFill>
                  <a:srgbClr val="1B2A4A"/>
                </a:solidFill>
                <a:latin typeface="Calibri"/>
                <a:ea typeface="Calibri"/>
                <a:cs typeface="Calibri"/>
              </a:rPr>
              <a:t>ĐỀ XUẤT 3 PHƯƠNG ÁN THỰC ĐƠN ĐỘC LẬP TÙY BIẾN CHO NGƯỜI DÙNG</a:t>
            </a:r>
          </a:p>
        </p:txBody>
      </p:sp>
      <p:sp>
        <p:nvSpPr>
          <p:cNvPr id="4" name="TextBox 3"/>
          <p:cNvSpPr txBox="1"/>
          <p:nvPr/>
        </p:nvSpPr>
        <p:spPr>
          <a:xfrm>
            <a:off x="502920" y="530352"/>
            <a:ext cx="11183112" cy="475488"/>
          </a:xfrm>
          <a:prstGeom prst="rect">
            <a:avLst/>
          </a:prstGeom>
          <a:noFill/>
        </p:spPr>
        <p:txBody>
          <a:bodyPr wrap="square" anchor="t" lIns="0" rIns="0" tIns="0" bIns="0">
            <a:spAutoFit/>
          </a:bodyPr>
          <a:lstStyle/>
          <a:p>
            <a:pPr algn="l">
              <a:lnSpc>
                <a:spcPct val="100000"/>
              </a:lnSpc>
              <a:spcAft>
                <a:spcPts val="0"/>
              </a:spcAft>
            </a:pPr>
            <a:r>
              <a:rPr sz="2300" b="1" i="0">
                <a:solidFill>
                  <a:srgbClr val="1B2A4A"/>
                </a:solidFill>
                <a:latin typeface="Calibri"/>
                <a:ea typeface="Calibri"/>
                <a:cs typeface="Calibri"/>
              </a:rPr>
              <a:t>Đa Dạng Hóa Trải Nghiệm Người Dùng (UX Multi-Option A/B/C &amp; W9-F3)</a:t>
            </a:r>
          </a:p>
        </p:txBody>
      </p:sp>
      <p:sp>
        <p:nvSpPr>
          <p:cNvPr id="5" name="Rectangle 4"/>
          <p:cNvSpPr/>
          <p:nvPr/>
        </p:nvSpPr>
        <p:spPr>
          <a:xfrm>
            <a:off x="502920" y="1042415"/>
            <a:ext cx="11183112" cy="1524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_radar_options_abc.png"/>
          <p:cNvPicPr>
            <a:picLocks noChangeAspect="1"/>
          </p:cNvPicPr>
          <p:nvPr/>
        </p:nvPicPr>
        <p:blipFill>
          <a:blip r:embed="rId2"/>
          <a:stretch>
            <a:fillRect/>
          </a:stretch>
        </p:blipFill>
        <p:spPr>
          <a:xfrm>
            <a:off x="502920" y="1234440"/>
            <a:ext cx="4937760" cy="4937760"/>
          </a:xfrm>
          <a:prstGeom prst="rect">
            <a:avLst/>
          </a:prstGeom>
        </p:spPr>
      </p:pic>
      <p:sp>
        <p:nvSpPr>
          <p:cNvPr id="7" name="Rounded Rectangle 6"/>
          <p:cNvSpPr/>
          <p:nvPr/>
        </p:nvSpPr>
        <p:spPr>
          <a:xfrm>
            <a:off x="5897880" y="1234440"/>
            <a:ext cx="5788152" cy="4983480"/>
          </a:xfrm>
          <a:prstGeom prst="roundRect">
            <a:avLst/>
          </a:prstGeom>
          <a:solidFill>
            <a:srgbClr val="F5F7FB"/>
          </a:solidFill>
          <a:ln w="12700">
            <a:solidFill>
              <a:srgbClr val="D3DB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897880" y="1234440"/>
            <a:ext cx="5788152" cy="73152"/>
          </a:xfrm>
          <a:prstGeom prst="rect">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1353312"/>
            <a:ext cx="5394960" cy="274320"/>
          </a:xfrm>
          <a:prstGeom prst="rect">
            <a:avLst/>
          </a:prstGeom>
          <a:noFill/>
        </p:spPr>
        <p:txBody>
          <a:bodyPr wrap="square" anchor="t" lIns="0" rIns="0" tIns="0" bIns="0">
            <a:spAutoFit/>
          </a:bodyPr>
          <a:lstStyle/>
          <a:p>
            <a:pPr algn="l">
              <a:lnSpc>
                <a:spcPct val="100000"/>
              </a:lnSpc>
              <a:spcAft>
                <a:spcPts val="0"/>
              </a:spcAft>
            </a:pPr>
            <a:r>
              <a:rPr sz="1200" b="1" i="0">
                <a:solidFill>
                  <a:srgbClr val="1B2A4A"/>
                </a:solidFill>
                <a:latin typeface="Calibri"/>
                <a:ea typeface="Calibri"/>
                <a:cs typeface="Calibri"/>
              </a:rPr>
              <a:t>BẢNG SO SÁNH 3 PHƯƠNG ÁN THỰC ĐƠN TUẦN (PROFILE P1)</a:t>
            </a:r>
          </a:p>
        </p:txBody>
      </p:sp>
      <p:sp>
        <p:nvSpPr>
          <p:cNvPr id="10" name="TextBox 9"/>
          <p:cNvSpPr txBox="1"/>
          <p:nvPr/>
        </p:nvSpPr>
        <p:spPr>
          <a:xfrm>
            <a:off x="6080760" y="1627632"/>
            <a:ext cx="5394960" cy="228600"/>
          </a:xfrm>
          <a:prstGeom prst="rect">
            <a:avLst/>
          </a:prstGeom>
          <a:noFill/>
        </p:spPr>
        <p:txBody>
          <a:bodyPr wrap="square" anchor="t" lIns="0" rIns="0" tIns="0" bIns="0">
            <a:spAutoFit/>
          </a:bodyPr>
          <a:lstStyle/>
          <a:p>
            <a:pPr algn="l">
              <a:lnSpc>
                <a:spcPct val="100000"/>
              </a:lnSpc>
              <a:spcAft>
                <a:spcPts val="0"/>
              </a:spcAft>
            </a:pPr>
            <a:r>
              <a:rPr sz="1000" b="0" i="0">
                <a:solidFill>
                  <a:srgbClr val="5A6478"/>
                </a:solidFill>
                <a:latin typeface="Calibri"/>
                <a:ea typeface="Calibri"/>
                <a:cs typeface="Calibri"/>
              </a:rPr>
              <a:t>Sinh tự động bằng 3 seed ngẫu nhiên độc lập (9001, 9002, 9003) — CSDL 15.929 món</a:t>
            </a:r>
          </a:p>
        </p:txBody>
      </p:sp>
      <p:sp>
        <p:nvSpPr>
          <p:cNvPr id="11" name="Rectangle 10"/>
          <p:cNvSpPr/>
          <p:nvPr/>
        </p:nvSpPr>
        <p:spPr>
          <a:xfrm>
            <a:off x="6080760" y="1874519"/>
            <a:ext cx="5394960" cy="1270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2" name="Table 11"/>
          <p:cNvGraphicFramePr>
            <a:graphicFrameLocks noGrp="1"/>
          </p:cNvGraphicFramePr>
          <p:nvPr/>
        </p:nvGraphicFramePr>
        <p:xfrm>
          <a:off x="6035040" y="1965960"/>
          <a:ext cx="5513832" cy="3072384"/>
        </p:xfrm>
        <a:graphic>
          <a:graphicData uri="http://schemas.openxmlformats.org/drawingml/2006/table">
            <a:tbl>
              <a:tblPr firstRow="1" bandRow="1">
                <a:tableStyleId>{5C22544A-7EE6-4342-B048-85BDC9FD1C3A}</a:tableStyleId>
              </a:tblPr>
              <a:tblGrid>
                <a:gridCol w="1645920"/>
                <a:gridCol w="1289304"/>
                <a:gridCol w="1289304"/>
                <a:gridCol w="1289304"/>
              </a:tblGrid>
              <a:tr h="384048">
                <a:tc>
                  <a:txBody>
                    <a:bodyPr/>
                    <a:lstStyle/>
                    <a:p>
                      <a:pPr algn="l"/>
                      <a:r>
                        <a:rPr sz="1150" b="1" i="0">
                          <a:solidFill>
                            <a:srgbClr val="FFFFFF"/>
                          </a:solidFill>
                          <a:latin typeface="Calibri"/>
                          <a:ea typeface="Calibri"/>
                          <a:cs typeface="Calibri"/>
                        </a:rPr>
                        <a:t>Chỉ tiêu đánh giá</a:t>
                      </a:r>
                    </a:p>
                  </a:txBody>
                  <a:tcPr marL="73152" marR="73152" marT="27432" marB="27432" anchor="ctr">
                    <a:solidFill>
                      <a:srgbClr val="1B2A4A"/>
                    </a:solidFill>
                  </a:tcPr>
                </a:tc>
                <a:tc>
                  <a:txBody>
                    <a:bodyPr/>
                    <a:lstStyle/>
                    <a:p>
                      <a:pPr algn="ctr"/>
                      <a:r>
                        <a:rPr sz="1150" b="1" i="0">
                          <a:solidFill>
                            <a:srgbClr val="FFFFFF"/>
                          </a:solidFill>
                          <a:latin typeface="Calibri"/>
                          <a:ea typeface="Calibri"/>
                          <a:cs typeface="Calibri"/>
                        </a:rPr>
                        <a:t>Phương án A (9001)</a:t>
                      </a:r>
                    </a:p>
                  </a:txBody>
                  <a:tcPr marL="73152" marR="73152" marT="27432" marB="27432" anchor="ctr">
                    <a:solidFill>
                      <a:srgbClr val="1B2A4A"/>
                    </a:solidFill>
                  </a:tcPr>
                </a:tc>
                <a:tc>
                  <a:txBody>
                    <a:bodyPr/>
                    <a:lstStyle/>
                    <a:p>
                      <a:pPr algn="ctr"/>
                      <a:r>
                        <a:rPr sz="1150" b="1" i="0">
                          <a:solidFill>
                            <a:srgbClr val="FFFFFF"/>
                          </a:solidFill>
                          <a:latin typeface="Calibri"/>
                          <a:ea typeface="Calibri"/>
                          <a:cs typeface="Calibri"/>
                        </a:rPr>
                        <a:t>Phương án B (9002)</a:t>
                      </a:r>
                    </a:p>
                  </a:txBody>
                  <a:tcPr marL="73152" marR="73152" marT="27432" marB="27432" anchor="ctr">
                    <a:solidFill>
                      <a:srgbClr val="1B2A4A"/>
                    </a:solidFill>
                  </a:tcPr>
                </a:tc>
                <a:tc>
                  <a:txBody>
                    <a:bodyPr/>
                    <a:lstStyle/>
                    <a:p>
                      <a:pPr algn="ctr"/>
                      <a:r>
                        <a:rPr sz="1150" b="1" i="0">
                          <a:solidFill>
                            <a:srgbClr val="FFFFFF"/>
                          </a:solidFill>
                          <a:latin typeface="Calibri"/>
                          <a:ea typeface="Calibri"/>
                          <a:cs typeface="Calibri"/>
                        </a:rPr>
                        <a:t>Phương án C (9003)</a:t>
                      </a:r>
                    </a:p>
                  </a:txBody>
                  <a:tcPr marL="73152" marR="73152" marT="27432" marB="27432" anchor="ctr">
                    <a:solidFill>
                      <a:srgbClr val="1B2A4A"/>
                    </a:solidFill>
                  </a:tcPr>
                </a:tc>
              </a:tr>
              <a:tr h="384048">
                <a:tc>
                  <a:txBody>
                    <a:bodyPr/>
                    <a:lstStyle/>
                    <a:p>
                      <a:pPr algn="l"/>
                      <a:r>
                        <a:rPr sz="919" b="1" i="0">
                          <a:solidFill>
                            <a:srgbClr val="1E2430"/>
                          </a:solidFill>
                          <a:latin typeface="Calibri"/>
                          <a:ea typeface="Calibri"/>
                          <a:cs typeface="Calibri"/>
                        </a:rPr>
                        <a:t>Mean Fitness 7 ngày</a:t>
                      </a:r>
                    </a:p>
                  </a:txBody>
                  <a:tcPr marL="73152" marR="73152" marT="27432" marB="27432" anchor="ctr">
                    <a:solidFill>
                      <a:srgbClr val="F5F7FB"/>
                    </a:solidFill>
                  </a:tcPr>
                </a:tc>
                <a:tc>
                  <a:txBody>
                    <a:bodyPr/>
                    <a:lstStyle/>
                    <a:p>
                      <a:pPr algn="ctr"/>
                      <a:r>
                        <a:rPr sz="919" b="0" i="0">
                          <a:solidFill>
                            <a:srgbClr val="1E2430"/>
                          </a:solidFill>
                          <a:latin typeface="Calibri"/>
                          <a:ea typeface="Calibri"/>
                          <a:cs typeface="Calibri"/>
                        </a:rPr>
                        <a:t>90.67 điểm</a:t>
                      </a:r>
                    </a:p>
                  </a:txBody>
                  <a:tcPr marL="73152" marR="73152" marT="27432" marB="27432" anchor="ctr">
                    <a:solidFill>
                      <a:srgbClr val="F5F7FB"/>
                    </a:solidFill>
                  </a:tcPr>
                </a:tc>
                <a:tc>
                  <a:txBody>
                    <a:bodyPr/>
                    <a:lstStyle/>
                    <a:p>
                      <a:pPr algn="ctr"/>
                      <a:r>
                        <a:rPr sz="919" b="0" i="0">
                          <a:solidFill>
                            <a:srgbClr val="1E2430"/>
                          </a:solidFill>
                          <a:latin typeface="Calibri"/>
                          <a:ea typeface="Calibri"/>
                          <a:cs typeface="Calibri"/>
                        </a:rPr>
                        <a:t>86.55 điểm</a:t>
                      </a:r>
                    </a:p>
                  </a:txBody>
                  <a:tcPr marL="73152" marR="73152" marT="27432" marB="27432" anchor="ctr">
                    <a:solidFill>
                      <a:srgbClr val="F5F7FB"/>
                    </a:solidFill>
                  </a:tcPr>
                </a:tc>
                <a:tc>
                  <a:txBody>
                    <a:bodyPr/>
                    <a:lstStyle/>
                    <a:p>
                      <a:pPr algn="ctr"/>
                      <a:r>
                        <a:rPr sz="919" b="1" i="0">
                          <a:solidFill>
                            <a:srgbClr val="217A4B"/>
                          </a:solidFill>
                          <a:latin typeface="Calibri"/>
                          <a:ea typeface="Calibri"/>
                          <a:cs typeface="Calibri"/>
                        </a:rPr>
                        <a:t>91.35 điểm</a:t>
                      </a:r>
                    </a:p>
                  </a:txBody>
                  <a:tcPr marL="73152" marR="73152" marT="27432" marB="27432" anchor="ctr">
                    <a:solidFill>
                      <a:srgbClr val="F5F7FB"/>
                    </a:solidFill>
                  </a:tcPr>
                </a:tc>
              </a:tr>
              <a:tr h="384048">
                <a:tc>
                  <a:txBody>
                    <a:bodyPr/>
                    <a:lstStyle/>
                    <a:p>
                      <a:pPr algn="l"/>
                      <a:r>
                        <a:rPr sz="919" b="1" i="0">
                          <a:solidFill>
                            <a:srgbClr val="1E2430"/>
                          </a:solidFill>
                          <a:latin typeface="Calibri"/>
                          <a:ea typeface="Calibri"/>
                          <a:cs typeface="Calibri"/>
                        </a:rPr>
                        <a:t>Sai lệch Calo TB</a:t>
                      </a:r>
                    </a:p>
                  </a:txBody>
                  <a:tcPr marL="73152" marR="73152" marT="27432" marB="27432" anchor="ctr">
                    <a:solidFill>
                      <a:srgbClr val="FFFFFF"/>
                    </a:solidFill>
                  </a:tcPr>
                </a:tc>
                <a:tc>
                  <a:txBody>
                    <a:bodyPr/>
                    <a:lstStyle/>
                    <a:p>
                      <a:pPr algn="ctr"/>
                      <a:r>
                        <a:rPr sz="919" b="0" i="0">
                          <a:solidFill>
                            <a:srgbClr val="1E2430"/>
                          </a:solidFill>
                          <a:latin typeface="Calibri"/>
                          <a:ea typeface="Calibri"/>
                          <a:cs typeface="Calibri"/>
                        </a:rPr>
                        <a:t>+42.3 kcal/ngày</a:t>
                      </a:r>
                    </a:p>
                  </a:txBody>
                  <a:tcPr marL="73152" marR="73152" marT="27432" marB="27432" anchor="ctr">
                    <a:solidFill>
                      <a:srgbClr val="FFFFFF"/>
                    </a:solidFill>
                  </a:tcPr>
                </a:tc>
                <a:tc>
                  <a:txBody>
                    <a:bodyPr/>
                    <a:lstStyle/>
                    <a:p>
                      <a:pPr algn="ctr"/>
                      <a:r>
                        <a:rPr sz="919" b="0" i="0">
                          <a:solidFill>
                            <a:srgbClr val="1E2430"/>
                          </a:solidFill>
                          <a:latin typeface="Calibri"/>
                          <a:ea typeface="Calibri"/>
                          <a:cs typeface="Calibri"/>
                        </a:rPr>
                        <a:t>+76.8 kcal/ngày</a:t>
                      </a:r>
                    </a:p>
                  </a:txBody>
                  <a:tcPr marL="73152" marR="73152" marT="27432" marB="27432" anchor="ctr">
                    <a:solidFill>
                      <a:srgbClr val="FFFFFF"/>
                    </a:solidFill>
                  </a:tcPr>
                </a:tc>
                <a:tc>
                  <a:txBody>
                    <a:bodyPr/>
                    <a:lstStyle/>
                    <a:p>
                      <a:pPr algn="ctr"/>
                      <a:r>
                        <a:rPr sz="919" b="1" i="0">
                          <a:solidFill>
                            <a:srgbClr val="217A4B"/>
                          </a:solidFill>
                          <a:latin typeface="Calibri"/>
                          <a:ea typeface="Calibri"/>
                          <a:cs typeface="Calibri"/>
                        </a:rPr>
                        <a:t>+14.7 kcal/ngày</a:t>
                      </a:r>
                    </a:p>
                  </a:txBody>
                  <a:tcPr marL="73152" marR="73152" marT="27432" marB="27432" anchor="ctr">
                    <a:solidFill>
                      <a:srgbClr val="FFFFFF"/>
                    </a:solidFill>
                  </a:tcPr>
                </a:tc>
              </a:tr>
              <a:tr h="384048">
                <a:tc>
                  <a:txBody>
                    <a:bodyPr/>
                    <a:lstStyle/>
                    <a:p>
                      <a:pPr algn="l"/>
                      <a:r>
                        <a:rPr sz="919" b="1" i="0">
                          <a:solidFill>
                            <a:srgbClr val="1E2430"/>
                          </a:solidFill>
                          <a:latin typeface="Calibri"/>
                          <a:ea typeface="Calibri"/>
                          <a:cs typeface="Calibri"/>
                        </a:rPr>
                        <a:t>% Món chính độc nhất</a:t>
                      </a:r>
                    </a:p>
                  </a:txBody>
                  <a:tcPr marL="73152" marR="73152" marT="27432" marB="27432" anchor="ctr">
                    <a:solidFill>
                      <a:srgbClr val="F5F7FB"/>
                    </a:solidFill>
                  </a:tcPr>
                </a:tc>
                <a:tc>
                  <a:txBody>
                    <a:bodyPr/>
                    <a:lstStyle/>
                    <a:p>
                      <a:pPr algn="ctr"/>
                      <a:r>
                        <a:rPr sz="919" b="1" i="0">
                          <a:solidFill>
                            <a:srgbClr val="217A4B"/>
                          </a:solidFill>
                          <a:latin typeface="Calibri"/>
                          <a:ea typeface="Calibri"/>
                          <a:cs typeface="Calibri"/>
                        </a:rPr>
                        <a:t>100.0 % (14/14)</a:t>
                      </a:r>
                    </a:p>
                  </a:txBody>
                  <a:tcPr marL="73152" marR="73152" marT="27432" marB="27432" anchor="ctr">
                    <a:solidFill>
                      <a:srgbClr val="F5F7FB"/>
                    </a:solidFill>
                  </a:tcPr>
                </a:tc>
                <a:tc>
                  <a:txBody>
                    <a:bodyPr/>
                    <a:lstStyle/>
                    <a:p>
                      <a:pPr algn="ctr"/>
                      <a:r>
                        <a:rPr sz="919" b="0" i="0">
                          <a:solidFill>
                            <a:srgbClr val="1E2430"/>
                          </a:solidFill>
                          <a:latin typeface="Calibri"/>
                          <a:ea typeface="Calibri"/>
                          <a:cs typeface="Calibri"/>
                        </a:rPr>
                        <a:t>85.7 % (12/14)</a:t>
                      </a:r>
                    </a:p>
                  </a:txBody>
                  <a:tcPr marL="73152" marR="73152" marT="27432" marB="27432" anchor="ctr">
                    <a:solidFill>
                      <a:srgbClr val="F5F7FB"/>
                    </a:solidFill>
                  </a:tcPr>
                </a:tc>
                <a:tc>
                  <a:txBody>
                    <a:bodyPr/>
                    <a:lstStyle/>
                    <a:p>
                      <a:pPr algn="ctr"/>
                      <a:r>
                        <a:rPr sz="919" b="1" i="0">
                          <a:solidFill>
                            <a:srgbClr val="217A4B"/>
                          </a:solidFill>
                          <a:latin typeface="Calibri"/>
                          <a:ea typeface="Calibri"/>
                          <a:cs typeface="Calibri"/>
                        </a:rPr>
                        <a:t>100.0 % (14/14)</a:t>
                      </a:r>
                    </a:p>
                  </a:txBody>
                  <a:tcPr marL="73152" marR="73152" marT="27432" marB="27432" anchor="ctr">
                    <a:solidFill>
                      <a:srgbClr val="F5F7FB"/>
                    </a:solidFill>
                  </a:tcPr>
                </a:tc>
              </a:tr>
              <a:tr h="384048">
                <a:tc>
                  <a:txBody>
                    <a:bodyPr/>
                    <a:lstStyle/>
                    <a:p>
                      <a:pPr algn="l"/>
                      <a:r>
                        <a:rPr sz="919" b="1" i="0">
                          <a:solidFill>
                            <a:srgbClr val="1E2430"/>
                          </a:solidFill>
                          <a:latin typeface="Calibri"/>
                          <a:ea typeface="Calibri"/>
                          <a:cs typeface="Calibri"/>
                        </a:rPr>
                        <a:t>Mẫu món Sáng Ngày 1</a:t>
                      </a:r>
                    </a:p>
                  </a:txBody>
                  <a:tcPr marL="73152" marR="73152" marT="27432" marB="27432" anchor="ctr">
                    <a:solidFill>
                      <a:srgbClr val="FFFFFF"/>
                    </a:solidFill>
                  </a:tcPr>
                </a:tc>
                <a:tc>
                  <a:txBody>
                    <a:bodyPr/>
                    <a:lstStyle/>
                    <a:p>
                      <a:pPr algn="ctr"/>
                      <a:r>
                        <a:rPr sz="919" b="0" i="0">
                          <a:solidFill>
                            <a:srgbClr val="1E2430"/>
                          </a:solidFill>
                          <a:latin typeface="Calibri"/>
                          <a:ea typeface="Calibri"/>
                          <a:cs typeface="Calibri"/>
                        </a:rPr>
                        <a:t>Artisan French Baguette</a:t>
                      </a:r>
                    </a:p>
                  </a:txBody>
                  <a:tcPr marL="73152" marR="73152" marT="27432" marB="27432" anchor="ctr">
                    <a:solidFill>
                      <a:srgbClr val="FFFFFF"/>
                    </a:solidFill>
                  </a:tcPr>
                </a:tc>
                <a:tc>
                  <a:txBody>
                    <a:bodyPr/>
                    <a:lstStyle/>
                    <a:p>
                      <a:pPr algn="ctr"/>
                      <a:r>
                        <a:rPr sz="919" b="0" i="0">
                          <a:solidFill>
                            <a:srgbClr val="1E2430"/>
                          </a:solidFill>
                          <a:latin typeface="Calibri"/>
                          <a:ea typeface="Calibri"/>
                          <a:cs typeface="Calibri"/>
                        </a:rPr>
                        <a:t>American Cage Free Egg</a:t>
                      </a:r>
                    </a:p>
                  </a:txBody>
                  <a:tcPr marL="73152" marR="73152" marT="27432" marB="27432" anchor="ctr">
                    <a:solidFill>
                      <a:srgbClr val="FFFFFF"/>
                    </a:solidFill>
                  </a:tcPr>
                </a:tc>
                <a:tc>
                  <a:txBody>
                    <a:bodyPr/>
                    <a:lstStyle/>
                    <a:p>
                      <a:pPr algn="ctr"/>
                      <a:r>
                        <a:rPr sz="919" b="0" i="0">
                          <a:solidFill>
                            <a:srgbClr val="1E2430"/>
                          </a:solidFill>
                          <a:latin typeface="Calibri"/>
                          <a:ea typeface="Calibri"/>
                          <a:cs typeface="Calibri"/>
                        </a:rPr>
                        <a:t>100% Whole Wheat Bread</a:t>
                      </a:r>
                    </a:p>
                  </a:txBody>
                  <a:tcPr marL="73152" marR="73152" marT="27432" marB="27432" anchor="ctr">
                    <a:solidFill>
                      <a:srgbClr val="FFFFFF"/>
                    </a:solidFill>
                  </a:tcPr>
                </a:tc>
              </a:tr>
              <a:tr h="384048">
                <a:tc>
                  <a:txBody>
                    <a:bodyPr/>
                    <a:lstStyle/>
                    <a:p>
                      <a:pPr algn="l"/>
                      <a:r>
                        <a:rPr sz="919" b="1" i="0">
                          <a:solidFill>
                            <a:srgbClr val="1E2430"/>
                          </a:solidFill>
                          <a:latin typeface="Calibri"/>
                          <a:ea typeface="Calibri"/>
                          <a:cs typeface="Calibri"/>
                        </a:rPr>
                        <a:t>Mẫu món Trưa Ngày 1</a:t>
                      </a:r>
                    </a:p>
                  </a:txBody>
                  <a:tcPr marL="73152" marR="73152" marT="27432" marB="27432" anchor="ctr">
                    <a:solidFill>
                      <a:srgbClr val="F5F7FB"/>
                    </a:solidFill>
                  </a:tcPr>
                </a:tc>
                <a:tc>
                  <a:txBody>
                    <a:bodyPr/>
                    <a:lstStyle/>
                    <a:p>
                      <a:pPr algn="ctr"/>
                      <a:r>
                        <a:rPr sz="919" b="0" i="0">
                          <a:solidFill>
                            <a:srgbClr val="1E2430"/>
                          </a:solidFill>
                          <a:latin typeface="Calibri"/>
                          <a:ea typeface="Calibri"/>
                          <a:cs typeface="Calibri"/>
                        </a:rPr>
                        <a:t>100% Whole Grain Quinoa</a:t>
                      </a:r>
                    </a:p>
                  </a:txBody>
                  <a:tcPr marL="73152" marR="73152" marT="27432" marB="27432" anchor="ctr">
                    <a:solidFill>
                      <a:srgbClr val="F5F7FB"/>
                    </a:solidFill>
                  </a:tcPr>
                </a:tc>
                <a:tc>
                  <a:txBody>
                    <a:bodyPr/>
                    <a:lstStyle/>
                    <a:p>
                      <a:pPr algn="ctr"/>
                      <a:r>
                        <a:rPr sz="919" b="0" i="0">
                          <a:solidFill>
                            <a:srgbClr val="1E2430"/>
                          </a:solidFill>
                          <a:latin typeface="Calibri"/>
                          <a:ea typeface="Calibri"/>
                          <a:cs typeface="Calibri"/>
                        </a:rPr>
                        <a:t>100% Whole Wheat Pasta</a:t>
                      </a:r>
                    </a:p>
                  </a:txBody>
                  <a:tcPr marL="73152" marR="73152" marT="27432" marB="27432" anchor="ctr">
                    <a:solidFill>
                      <a:srgbClr val="F5F7FB"/>
                    </a:solidFill>
                  </a:tcPr>
                </a:tc>
                <a:tc>
                  <a:txBody>
                    <a:bodyPr/>
                    <a:lstStyle/>
                    <a:p>
                      <a:pPr algn="ctr"/>
                      <a:r>
                        <a:rPr sz="919" b="0" i="0">
                          <a:solidFill>
                            <a:srgbClr val="1E2430"/>
                          </a:solidFill>
                          <a:latin typeface="Calibri"/>
                          <a:ea typeface="Calibri"/>
                          <a:cs typeface="Calibri"/>
                        </a:rPr>
                        <a:t>Quaker Instant Oatmeal</a:t>
                      </a:r>
                    </a:p>
                  </a:txBody>
                  <a:tcPr marL="73152" marR="73152" marT="27432" marB="27432" anchor="ctr">
                    <a:solidFill>
                      <a:srgbClr val="F5F7FB"/>
                    </a:solidFill>
                  </a:tcPr>
                </a:tc>
              </a:tr>
              <a:tr h="384048">
                <a:tc>
                  <a:txBody>
                    <a:bodyPr/>
                    <a:lstStyle/>
                    <a:p>
                      <a:pPr algn="l"/>
                      <a:r>
                        <a:rPr sz="919" b="1" i="0">
                          <a:solidFill>
                            <a:srgbClr val="1E2430"/>
                          </a:solidFill>
                          <a:latin typeface="Calibri"/>
                          <a:ea typeface="Calibri"/>
                          <a:cs typeface="Calibri"/>
                        </a:rPr>
                        <a:t>Mẫu món Tối Ngày 1</a:t>
                      </a:r>
                    </a:p>
                  </a:txBody>
                  <a:tcPr marL="73152" marR="73152" marT="27432" marB="27432" anchor="ctr">
                    <a:solidFill>
                      <a:srgbClr val="FFFFFF"/>
                    </a:solidFill>
                  </a:tcPr>
                </a:tc>
                <a:tc>
                  <a:txBody>
                    <a:bodyPr/>
                    <a:lstStyle/>
                    <a:p>
                      <a:pPr algn="ctr"/>
                      <a:r>
                        <a:rPr sz="919" b="0" i="0">
                          <a:solidFill>
                            <a:srgbClr val="1E2430"/>
                          </a:solidFill>
                          <a:latin typeface="Calibri"/>
                          <a:ea typeface="Calibri"/>
                          <a:cs typeface="Calibri"/>
                        </a:rPr>
                        <a:t>Basmati Long Grain Rice</a:t>
                      </a:r>
                    </a:p>
                  </a:txBody>
                  <a:tcPr marL="73152" marR="73152" marT="27432" marB="27432" anchor="ctr">
                    <a:solidFill>
                      <a:srgbClr val="FFFFFF"/>
                    </a:solidFill>
                  </a:tcPr>
                </a:tc>
                <a:tc>
                  <a:txBody>
                    <a:bodyPr/>
                    <a:lstStyle/>
                    <a:p>
                      <a:pPr algn="ctr"/>
                      <a:r>
                        <a:rPr sz="919" b="0" i="0">
                          <a:solidFill>
                            <a:srgbClr val="1E2430"/>
                          </a:solidFill>
                          <a:latin typeface="Calibri"/>
                          <a:ea typeface="Calibri"/>
                          <a:cs typeface="Calibri"/>
                        </a:rPr>
                        <a:t>Chinese Cabbage (Peking)</a:t>
                      </a:r>
                    </a:p>
                  </a:txBody>
                  <a:tcPr marL="73152" marR="73152" marT="27432" marB="27432" anchor="ctr">
                    <a:solidFill>
                      <a:srgbClr val="FFFFFF"/>
                    </a:solidFill>
                  </a:tcPr>
                </a:tc>
                <a:tc>
                  <a:txBody>
                    <a:bodyPr/>
                    <a:lstStyle/>
                    <a:p>
                      <a:pPr algn="ctr"/>
                      <a:r>
                        <a:rPr sz="919" b="0" i="0">
                          <a:solidFill>
                            <a:srgbClr val="1E2430"/>
                          </a:solidFill>
                          <a:latin typeface="Calibri"/>
                          <a:ea typeface="Calibri"/>
                          <a:cs typeface="Calibri"/>
                        </a:rPr>
                        <a:t>Vegetarian Meatloaf Mix</a:t>
                      </a:r>
                    </a:p>
                  </a:txBody>
                  <a:tcPr marL="73152" marR="73152" marT="27432" marB="27432" anchor="ctr">
                    <a:solidFill>
                      <a:srgbClr val="FFFFFF"/>
                    </a:solidFill>
                  </a:tcPr>
                </a:tc>
              </a:tr>
              <a:tr h="384048">
                <a:tc>
                  <a:txBody>
                    <a:bodyPr/>
                    <a:lstStyle/>
                    <a:p>
                      <a:pPr algn="l"/>
                      <a:r>
                        <a:rPr sz="919" b="1" i="0">
                          <a:solidFill>
                            <a:srgbClr val="1E2430"/>
                          </a:solidFill>
                          <a:latin typeface="Calibri"/>
                          <a:ea typeface="Calibri"/>
                          <a:cs typeface="Calibri"/>
                        </a:rPr>
                        <a:t>Đặc điểm đo được</a:t>
                      </a:r>
                    </a:p>
                  </a:txBody>
                  <a:tcPr marL="73152" marR="73152" marT="27432" marB="27432" anchor="ctr">
                    <a:solidFill>
                      <a:srgbClr val="F5F7FB"/>
                    </a:solidFill>
                  </a:tcPr>
                </a:tc>
                <a:tc>
                  <a:txBody>
                    <a:bodyPr/>
                    <a:lstStyle/>
                    <a:p>
                      <a:pPr algn="ctr"/>
                      <a:r>
                        <a:rPr sz="919" b="0" i="0">
                          <a:solidFill>
                            <a:srgbClr val="1E2430"/>
                          </a:solidFill>
                          <a:latin typeface="Calibri"/>
                          <a:ea typeface="Calibri"/>
                          <a:cs typeface="Calibri"/>
                        </a:rPr>
                        <a:t>Seed 9001 · Độc nhất 100%</a:t>
                      </a:r>
                    </a:p>
                  </a:txBody>
                  <a:tcPr marL="73152" marR="73152" marT="27432" marB="27432" anchor="ctr">
                    <a:solidFill>
                      <a:srgbClr val="F5F7FB"/>
                    </a:solidFill>
                  </a:tcPr>
                </a:tc>
                <a:tc>
                  <a:txBody>
                    <a:bodyPr/>
                    <a:lstStyle/>
                    <a:p>
                      <a:pPr algn="ctr"/>
                      <a:r>
                        <a:rPr sz="919" b="0" i="0">
                          <a:solidFill>
                            <a:srgbClr val="1E2430"/>
                          </a:solidFill>
                          <a:latin typeface="Calibri"/>
                          <a:ea typeface="Calibri"/>
                          <a:cs typeface="Calibri"/>
                        </a:rPr>
                        <a:t>Seed 9002 · Độc nhất 85.7%</a:t>
                      </a:r>
                    </a:p>
                  </a:txBody>
                  <a:tcPr marL="73152" marR="73152" marT="27432" marB="27432" anchor="ctr">
                    <a:solidFill>
                      <a:srgbClr val="F5F7FB"/>
                    </a:solidFill>
                  </a:tcPr>
                </a:tc>
                <a:tc>
                  <a:txBody>
                    <a:bodyPr/>
                    <a:lstStyle/>
                    <a:p>
                      <a:pPr algn="ctr"/>
                      <a:r>
                        <a:rPr sz="919" b="0" i="0">
                          <a:solidFill>
                            <a:srgbClr val="1E2430"/>
                          </a:solidFill>
                          <a:latin typeface="Calibri"/>
                          <a:ea typeface="Calibri"/>
                          <a:cs typeface="Calibri"/>
                        </a:rPr>
                        <a:t>Seed 9003 · Lệch calo thấp nhất</a:t>
                      </a:r>
                    </a:p>
                  </a:txBody>
                  <a:tcPr marL="73152" marR="73152" marT="27432" marB="27432" anchor="ctr">
                    <a:solidFill>
                      <a:srgbClr val="F5F7FB"/>
                    </a:solidFill>
                  </a:tcPr>
                </a:tc>
              </a:tr>
            </a:tbl>
          </a:graphicData>
        </a:graphic>
      </p:graphicFrame>
      <p:sp>
        <p:nvSpPr>
          <p:cNvPr id="13" name="TextBox 12"/>
          <p:cNvSpPr txBox="1"/>
          <p:nvPr/>
        </p:nvSpPr>
        <p:spPr>
          <a:xfrm>
            <a:off x="6080760" y="5715000"/>
            <a:ext cx="5394960" cy="411480"/>
          </a:xfrm>
          <a:prstGeom prst="rect">
            <a:avLst/>
          </a:prstGeom>
          <a:noFill/>
        </p:spPr>
        <p:txBody>
          <a:bodyPr wrap="square" anchor="t" lIns="0" rIns="0" tIns="0" bIns="0">
            <a:spAutoFit/>
          </a:bodyPr>
          <a:lstStyle/>
          <a:p>
            <a:pPr algn="l">
              <a:lnSpc>
                <a:spcPct val="115000"/>
              </a:lnSpc>
              <a:spcAft>
                <a:spcPts val="0"/>
              </a:spcAft>
            </a:pPr>
            <a:r>
              <a:rPr sz="919" b="0" i="0">
                <a:solidFill>
                  <a:srgbClr val="1E2430"/>
                </a:solidFill>
                <a:latin typeface="Calibri"/>
                <a:ea typeface="Calibri"/>
                <a:cs typeface="Calibri"/>
              </a:rPr>
              <a:t>• Ba phương án được sinh từ seed độc lập và so sánh bằng fitness, sai lệch calo, độ đa dạng. Hệ thống chưa đánh giá khẩu vị hoặc phong cách ẩm thực.</a:t>
            </a:r>
          </a:p>
        </p:txBody>
      </p:sp>
      <p:sp>
        <p:nvSpPr>
          <p:cNvPr id="14" name="Rectangle 13"/>
          <p:cNvSpPr/>
          <p:nvPr/>
        </p:nvSpPr>
        <p:spPr>
          <a:xfrm>
            <a:off x="502920" y="6437376"/>
            <a:ext cx="11183112" cy="1270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6501384"/>
            <a:ext cx="8686800" cy="274320"/>
          </a:xfrm>
          <a:prstGeom prst="rect">
            <a:avLst/>
          </a:prstGeom>
          <a:noFill/>
        </p:spPr>
        <p:txBody>
          <a:bodyPr wrap="square" anchor="t" lIns="0" rIns="0" tIns="0" bIns="0">
            <a:spAutoFit/>
          </a:bodyPr>
          <a:lstStyle/>
          <a:p>
            <a:pPr algn="l">
              <a:lnSpc>
                <a:spcPct val="100000"/>
              </a:lnSpc>
              <a:spcAft>
                <a:spcPts val="0"/>
              </a:spcAft>
            </a:pPr>
            <a:r>
              <a:rPr sz="950" b="0" i="0">
                <a:solidFill>
                  <a:srgbClr val="5A6478"/>
                </a:solidFill>
                <a:latin typeface="Calibri"/>
                <a:ea typeface="Calibri"/>
                <a:cs typeface="Calibri"/>
              </a:rPr>
              <a:t>Đa dạng hóa trải nghiệm người dùng qua 3 phương án thực đơn A/B/C</a:t>
            </a:r>
          </a:p>
        </p:txBody>
      </p:sp>
      <p:sp>
        <p:nvSpPr>
          <p:cNvPr id="16" name="TextBox 15"/>
          <p:cNvSpPr txBox="1"/>
          <p:nvPr/>
        </p:nvSpPr>
        <p:spPr>
          <a:xfrm>
            <a:off x="9601200" y="6501384"/>
            <a:ext cx="2084831" cy="274320"/>
          </a:xfrm>
          <a:prstGeom prst="rect">
            <a:avLst/>
          </a:prstGeom>
          <a:noFill/>
        </p:spPr>
        <p:txBody>
          <a:bodyPr wrap="square" anchor="t" lIns="0" rIns="0" tIns="0" bIns="0">
            <a:spAutoFit/>
          </a:bodyPr>
          <a:lstStyle/>
          <a:p>
            <a:pPr algn="r">
              <a:lnSpc>
                <a:spcPct val="100000"/>
              </a:lnSpc>
              <a:spcAft>
                <a:spcPts val="0"/>
              </a:spcAft>
            </a:pPr>
            <a:r>
              <a:rPr sz="950" b="1" i="0">
                <a:solidFill>
                  <a:srgbClr val="5A6478"/>
                </a:solidFill>
                <a:latin typeface="Calibri"/>
                <a:ea typeface="Calibri"/>
                <a:cs typeface="Calibri"/>
              </a:rPr>
              <a:t>12 / 14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183112" cy="237744"/>
          </a:xfrm>
          <a:prstGeom prst="rect">
            <a:avLst/>
          </a:prstGeom>
          <a:noFill/>
        </p:spPr>
        <p:txBody>
          <a:bodyPr wrap="square" anchor="t" lIns="0" rIns="0" tIns="0" bIns="0">
            <a:spAutoFit/>
          </a:bodyPr>
          <a:lstStyle/>
          <a:p>
            <a:pPr algn="l">
              <a:lnSpc>
                <a:spcPct val="100000"/>
              </a:lnSpc>
              <a:spcAft>
                <a:spcPts val="0"/>
              </a:spcAft>
            </a:pPr>
            <a:r>
              <a:rPr sz="1150" b="1" i="0">
                <a:solidFill>
                  <a:srgbClr val="1B2A4A"/>
                </a:solidFill>
                <a:latin typeface="Calibri"/>
                <a:ea typeface="Calibri"/>
                <a:cs typeface="Calibri"/>
              </a:rPr>
              <a:t>KIỂM THỬ TỰ ĐỘNG &amp; QUẢN TRỊ DỰ ÁN</a:t>
            </a:r>
          </a:p>
        </p:txBody>
      </p:sp>
      <p:sp>
        <p:nvSpPr>
          <p:cNvPr id="4" name="TextBox 3"/>
          <p:cNvSpPr txBox="1"/>
          <p:nvPr/>
        </p:nvSpPr>
        <p:spPr>
          <a:xfrm>
            <a:off x="502920" y="530352"/>
            <a:ext cx="11183112" cy="475488"/>
          </a:xfrm>
          <a:prstGeom prst="rect">
            <a:avLst/>
          </a:prstGeom>
          <a:noFill/>
        </p:spPr>
        <p:txBody>
          <a:bodyPr wrap="square" anchor="t" lIns="0" rIns="0" tIns="0" bIns="0">
            <a:spAutoFit/>
          </a:bodyPr>
          <a:lstStyle/>
          <a:p>
            <a:pPr algn="l">
              <a:lnSpc>
                <a:spcPct val="100000"/>
              </a:lnSpc>
              <a:spcAft>
                <a:spcPts val="0"/>
              </a:spcAft>
            </a:pPr>
            <a:r>
              <a:rPr sz="2300" b="1" i="0">
                <a:solidFill>
                  <a:srgbClr val="1B2A4A"/>
                </a:solidFill>
                <a:latin typeface="Calibri"/>
                <a:ea typeface="Calibri"/>
                <a:cs typeface="Calibri"/>
              </a:rPr>
              <a:t>Đảm Bảo Chất Lượng Phần Mềm (205/205 Tests PASS) &amp; Phân Công</a:t>
            </a:r>
          </a:p>
        </p:txBody>
      </p:sp>
      <p:sp>
        <p:nvSpPr>
          <p:cNvPr id="5" name="Rectangle 4"/>
          <p:cNvSpPr/>
          <p:nvPr/>
        </p:nvSpPr>
        <p:spPr>
          <a:xfrm>
            <a:off x="502920" y="1042415"/>
            <a:ext cx="11183112" cy="1524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234440"/>
            <a:ext cx="5440680" cy="4983480"/>
          </a:xfrm>
          <a:prstGeom prst="roundRect">
            <a:avLst/>
          </a:prstGeom>
          <a:solidFill>
            <a:srgbClr val="F5F7FB"/>
          </a:solidFill>
          <a:ln w="12700">
            <a:solidFill>
              <a:srgbClr val="D3DB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234440"/>
            <a:ext cx="5440680" cy="73152"/>
          </a:xfrm>
          <a:prstGeom prst="rect">
            <a:avLst/>
          </a:prstGeom>
          <a:solidFill>
            <a:srgbClr val="21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371600"/>
            <a:ext cx="4983480" cy="320040"/>
          </a:xfrm>
          <a:prstGeom prst="rect">
            <a:avLst/>
          </a:prstGeom>
          <a:noFill/>
        </p:spPr>
        <p:txBody>
          <a:bodyPr wrap="square" anchor="t" lIns="0" rIns="0" tIns="0" bIns="0">
            <a:spAutoFit/>
          </a:bodyPr>
          <a:lstStyle/>
          <a:p>
            <a:pPr algn="l">
              <a:lnSpc>
                <a:spcPct val="100000"/>
              </a:lnSpc>
              <a:spcAft>
                <a:spcPts val="0"/>
              </a:spcAft>
            </a:pPr>
            <a:r>
              <a:rPr sz="1300" b="1" i="0">
                <a:solidFill>
                  <a:srgbClr val="217A4B"/>
                </a:solidFill>
                <a:latin typeface="Calibri"/>
                <a:ea typeface="Calibri"/>
                <a:cs typeface="Calibri"/>
              </a:rPr>
              <a:t>HỆ THỐNG KIỂM THỬ TỰ ĐỘNG: 205/205 TESTS PASS (100%)</a:t>
            </a:r>
          </a:p>
        </p:txBody>
      </p:sp>
      <p:sp>
        <p:nvSpPr>
          <p:cNvPr id="9" name="Rectangle 8"/>
          <p:cNvSpPr/>
          <p:nvPr/>
        </p:nvSpPr>
        <p:spPr>
          <a:xfrm>
            <a:off x="731520" y="1719072"/>
            <a:ext cx="4983480" cy="1270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0" name="Table 9"/>
          <p:cNvGraphicFramePr>
            <a:graphicFrameLocks noGrp="1"/>
          </p:cNvGraphicFramePr>
          <p:nvPr/>
        </p:nvGraphicFramePr>
        <p:xfrm>
          <a:off x="640080" y="1828800"/>
          <a:ext cx="5166359" cy="3236976"/>
        </p:xfrm>
        <a:graphic>
          <a:graphicData uri="http://schemas.openxmlformats.org/drawingml/2006/table">
            <a:tbl>
              <a:tblPr firstRow="1" bandRow="1">
                <a:tableStyleId>{5C22544A-7EE6-4342-B048-85BDC9FD1C3A}</a:tableStyleId>
              </a:tblPr>
              <a:tblGrid>
                <a:gridCol w="1645920"/>
                <a:gridCol w="822960"/>
                <a:gridCol w="1874519"/>
                <a:gridCol w="822960"/>
              </a:tblGrid>
              <a:tr h="384048">
                <a:tc>
                  <a:txBody>
                    <a:bodyPr/>
                    <a:lstStyle/>
                    <a:p>
                      <a:pPr algn="l"/>
                      <a:r>
                        <a:rPr sz="1150" b="1" i="0">
                          <a:solidFill>
                            <a:srgbClr val="FFFFFF"/>
                          </a:solidFill>
                          <a:latin typeface="Calibri"/>
                          <a:ea typeface="Calibri"/>
                          <a:cs typeface="Calibri"/>
                        </a:rPr>
                        <a:t>Module kiểm thử</a:t>
                      </a:r>
                    </a:p>
                  </a:txBody>
                  <a:tcPr marL="73152" marR="73152" marT="27432" marB="27432" anchor="ctr">
                    <a:solidFill>
                      <a:srgbClr val="1B2A4A"/>
                    </a:solidFill>
                  </a:tcPr>
                </a:tc>
                <a:tc>
                  <a:txBody>
                    <a:bodyPr/>
                    <a:lstStyle/>
                    <a:p>
                      <a:pPr algn="ctr"/>
                      <a:r>
                        <a:rPr sz="1150" b="1" i="0">
                          <a:solidFill>
                            <a:srgbClr val="FFFFFF"/>
                          </a:solidFill>
                          <a:latin typeface="Calibri"/>
                          <a:ea typeface="Calibri"/>
                          <a:cs typeface="Calibri"/>
                        </a:rPr>
                        <a:t>Số test cases</a:t>
                      </a:r>
                    </a:p>
                  </a:txBody>
                  <a:tcPr marL="73152" marR="73152" marT="27432" marB="27432" anchor="ctr">
                    <a:solidFill>
                      <a:srgbClr val="1B2A4A"/>
                    </a:solidFill>
                  </a:tcPr>
                </a:tc>
                <a:tc>
                  <a:txBody>
                    <a:bodyPr/>
                    <a:lstStyle/>
                    <a:p>
                      <a:pPr algn="l"/>
                      <a:r>
                        <a:rPr sz="1150" b="1" i="0">
                          <a:solidFill>
                            <a:srgbClr val="FFFFFF"/>
                          </a:solidFill>
                          <a:latin typeface="Calibri"/>
                          <a:ea typeface="Calibri"/>
                          <a:cs typeface="Calibri"/>
                        </a:rPr>
                        <a:t>Nội dung xác thực chính</a:t>
                      </a:r>
                    </a:p>
                  </a:txBody>
                  <a:tcPr marL="73152" marR="73152" marT="27432" marB="27432" anchor="ctr">
                    <a:solidFill>
                      <a:srgbClr val="1B2A4A"/>
                    </a:solidFill>
                  </a:tcPr>
                </a:tc>
                <a:tc>
                  <a:txBody>
                    <a:bodyPr/>
                    <a:lstStyle/>
                    <a:p>
                      <a:pPr algn="ctr"/>
                      <a:r>
                        <a:rPr sz="1150" b="1" i="0">
                          <a:solidFill>
                            <a:srgbClr val="FFFFFF"/>
                          </a:solidFill>
                          <a:latin typeface="Calibri"/>
                          <a:ea typeface="Calibri"/>
                          <a:cs typeface="Calibri"/>
                        </a:rPr>
                        <a:t>Kết quả</a:t>
                      </a:r>
                    </a:p>
                  </a:txBody>
                  <a:tcPr marL="73152" marR="73152" marT="27432" marB="27432" anchor="ctr">
                    <a:solidFill>
                      <a:srgbClr val="1B2A4A"/>
                    </a:solidFill>
                  </a:tcPr>
                </a:tc>
              </a:tr>
              <a:tr h="356616">
                <a:tc>
                  <a:txBody>
                    <a:bodyPr/>
                    <a:lstStyle/>
                    <a:p>
                      <a:pPr algn="l"/>
                      <a:r>
                        <a:rPr sz="760" b="1" i="0">
                          <a:solidFill>
                            <a:srgbClr val="1E2430"/>
                          </a:solidFill>
                          <a:latin typeface="Calibri"/>
                          <a:ea typeface="Calibri"/>
                          <a:cs typeface="Calibri"/>
                        </a:rPr>
                        <a:t>test_two_tier_solver.py</a:t>
                      </a:r>
                    </a:p>
                  </a:txBody>
                  <a:tcPr marL="73152" marR="73152" marT="27432" marB="27432" anchor="ctr">
                    <a:solidFill>
                      <a:srgbClr val="F5F7FB"/>
                    </a:solidFill>
                  </a:tcPr>
                </a:tc>
                <a:tc>
                  <a:txBody>
                    <a:bodyPr/>
                    <a:lstStyle/>
                    <a:p>
                      <a:pPr algn="ctr"/>
                      <a:r>
                        <a:rPr sz="760" b="0" i="0">
                          <a:solidFill>
                            <a:srgbClr val="1E2430"/>
                          </a:solidFill>
                          <a:latin typeface="Calibri"/>
                          <a:ea typeface="Calibri"/>
                          <a:cs typeface="Calibri"/>
                        </a:rPr>
                        <a:t>15 tests</a:t>
                      </a:r>
                    </a:p>
                  </a:txBody>
                  <a:tcPr marL="73152" marR="73152" marT="27432" marB="27432" anchor="ctr">
                    <a:solidFill>
                      <a:srgbClr val="F5F7FB"/>
                    </a:solidFill>
                  </a:tcPr>
                </a:tc>
                <a:tc>
                  <a:txBody>
                    <a:bodyPr/>
                    <a:lstStyle/>
                    <a:p>
                      <a:pPr algn="l"/>
                      <a:r>
                        <a:rPr sz="760" b="0" i="0">
                          <a:solidFill>
                            <a:srgbClr val="1E2430"/>
                          </a:solidFill>
                          <a:latin typeface="Calibri"/>
                          <a:ea typeface="Calibri"/>
                          <a:cs typeface="Calibri"/>
                        </a:rPr>
                        <a:t>Tối ưu 2 tầng Outer/Inner, IDBO telemetry, bounds</a:t>
                      </a:r>
                    </a:p>
                  </a:txBody>
                  <a:tcPr marL="73152" marR="73152" marT="27432" marB="27432" anchor="ctr">
                    <a:solidFill>
                      <a:srgbClr val="F5F7FB"/>
                    </a:solidFill>
                  </a:tcPr>
                </a:tc>
                <a:tc>
                  <a:txBody>
                    <a:bodyPr/>
                    <a:lstStyle/>
                    <a:p>
                      <a:pPr algn="ctr"/>
                      <a:r>
                        <a:rPr sz="760" b="1" i="0">
                          <a:solidFill>
                            <a:srgbClr val="217A4B"/>
                          </a:solidFill>
                          <a:latin typeface="Calibri"/>
                          <a:ea typeface="Calibri"/>
                          <a:cs typeface="Calibri"/>
                        </a:rPr>
                        <a:t>PASS 100%</a:t>
                      </a:r>
                    </a:p>
                  </a:txBody>
                  <a:tcPr marL="73152" marR="73152" marT="27432" marB="27432" anchor="ctr">
                    <a:solidFill>
                      <a:srgbClr val="F5F7FB"/>
                    </a:solidFill>
                  </a:tcPr>
                </a:tc>
              </a:tr>
              <a:tr h="356616">
                <a:tc>
                  <a:txBody>
                    <a:bodyPr/>
                    <a:lstStyle/>
                    <a:p>
                      <a:pPr algn="l"/>
                      <a:r>
                        <a:rPr sz="760" b="1" i="0">
                          <a:solidFill>
                            <a:srgbClr val="1E2430"/>
                          </a:solidFill>
                          <a:latin typeface="Calibri"/>
                          <a:ea typeface="Calibri"/>
                          <a:cs typeface="Calibri"/>
                        </a:rPr>
                        <a:t>test_food_selector.py</a:t>
                      </a:r>
                    </a:p>
                  </a:txBody>
                  <a:tcPr marL="73152" marR="73152" marT="27432" marB="27432" anchor="ctr">
                    <a:solidFill>
                      <a:srgbClr val="FFFFFF"/>
                    </a:solidFill>
                  </a:tcPr>
                </a:tc>
                <a:tc>
                  <a:txBody>
                    <a:bodyPr/>
                    <a:lstStyle/>
                    <a:p>
                      <a:pPr algn="ctr"/>
                      <a:r>
                        <a:rPr sz="760" b="0" i="0">
                          <a:solidFill>
                            <a:srgbClr val="1E2430"/>
                          </a:solidFill>
                          <a:latin typeface="Calibri"/>
                          <a:ea typeface="Calibri"/>
                          <a:cs typeface="Calibri"/>
                        </a:rPr>
                        <a:t>16 tests</a:t>
                      </a:r>
                    </a:p>
                  </a:txBody>
                  <a:tcPr marL="73152" marR="73152" marT="27432" marB="27432" anchor="ctr">
                    <a:solidFill>
                      <a:srgbClr val="FFFFFF"/>
                    </a:solidFill>
                  </a:tcPr>
                </a:tc>
                <a:tc>
                  <a:txBody>
                    <a:bodyPr/>
                    <a:lstStyle/>
                    <a:p>
                      <a:pPr algn="l"/>
                      <a:r>
                        <a:rPr sz="760" b="0" i="0">
                          <a:solidFill>
                            <a:srgbClr val="1E2430"/>
                          </a:solidFill>
                          <a:latin typeface="Calibri"/>
                          <a:ea typeface="Calibri"/>
                          <a:cs typeface="Calibri"/>
                        </a:rPr>
                        <a:t>Lọc Pool theo bữa, loại trừ dị ứng, giải mã z</a:t>
                      </a:r>
                    </a:p>
                  </a:txBody>
                  <a:tcPr marL="73152" marR="73152" marT="27432" marB="27432" anchor="ctr">
                    <a:solidFill>
                      <a:srgbClr val="FFFFFF"/>
                    </a:solidFill>
                  </a:tcPr>
                </a:tc>
                <a:tc>
                  <a:txBody>
                    <a:bodyPr/>
                    <a:lstStyle/>
                    <a:p>
                      <a:pPr algn="ctr"/>
                      <a:r>
                        <a:rPr sz="760" b="1" i="0">
                          <a:solidFill>
                            <a:srgbClr val="217A4B"/>
                          </a:solidFill>
                          <a:latin typeface="Calibri"/>
                          <a:ea typeface="Calibri"/>
                          <a:cs typeface="Calibri"/>
                        </a:rPr>
                        <a:t>PASS 100%</a:t>
                      </a:r>
                    </a:p>
                  </a:txBody>
                  <a:tcPr marL="73152" marR="73152" marT="27432" marB="27432" anchor="ctr">
                    <a:solidFill>
                      <a:srgbClr val="FFFFFF"/>
                    </a:solidFill>
                  </a:tcPr>
                </a:tc>
              </a:tr>
              <a:tr h="356616">
                <a:tc>
                  <a:txBody>
                    <a:bodyPr/>
                    <a:lstStyle/>
                    <a:p>
                      <a:pPr algn="l"/>
                      <a:r>
                        <a:rPr sz="760" b="1" i="0">
                          <a:solidFill>
                            <a:srgbClr val="1E2430"/>
                          </a:solidFill>
                          <a:latin typeface="Calibri"/>
                          <a:ea typeface="Calibri"/>
                          <a:cs typeface="Calibri"/>
                        </a:rPr>
                        <a:t>test_diversity_penalty.py</a:t>
                      </a:r>
                    </a:p>
                  </a:txBody>
                  <a:tcPr marL="73152" marR="73152" marT="27432" marB="27432" anchor="ctr">
                    <a:solidFill>
                      <a:srgbClr val="F5F7FB"/>
                    </a:solidFill>
                  </a:tcPr>
                </a:tc>
                <a:tc>
                  <a:txBody>
                    <a:bodyPr/>
                    <a:lstStyle/>
                    <a:p>
                      <a:pPr algn="ctr"/>
                      <a:r>
                        <a:rPr sz="760" b="0" i="0">
                          <a:solidFill>
                            <a:srgbClr val="1E2430"/>
                          </a:solidFill>
                          <a:latin typeface="Calibri"/>
                          <a:ea typeface="Calibri"/>
                          <a:cs typeface="Calibri"/>
                        </a:rPr>
                        <a:t>14 tests</a:t>
                      </a:r>
                    </a:p>
                  </a:txBody>
                  <a:tcPr marL="73152" marR="73152" marT="27432" marB="27432" anchor="ctr">
                    <a:solidFill>
                      <a:srgbClr val="F5F7FB"/>
                    </a:solidFill>
                  </a:tcPr>
                </a:tc>
                <a:tc>
                  <a:txBody>
                    <a:bodyPr/>
                    <a:lstStyle/>
                    <a:p>
                      <a:pPr algn="l"/>
                      <a:r>
                        <a:rPr sz="760" b="0" i="0">
                          <a:solidFill>
                            <a:srgbClr val="1E2430"/>
                          </a:solidFill>
                          <a:latin typeface="Calibri"/>
                          <a:ea typeface="Calibri"/>
                          <a:cs typeface="Calibri"/>
                        </a:rPr>
                        <a:t>Phạt lặp lookback 2 ngày, % món chính độc nhất</a:t>
                      </a:r>
                    </a:p>
                  </a:txBody>
                  <a:tcPr marL="73152" marR="73152" marT="27432" marB="27432" anchor="ctr">
                    <a:solidFill>
                      <a:srgbClr val="F5F7FB"/>
                    </a:solidFill>
                  </a:tcPr>
                </a:tc>
                <a:tc>
                  <a:txBody>
                    <a:bodyPr/>
                    <a:lstStyle/>
                    <a:p>
                      <a:pPr algn="ctr"/>
                      <a:r>
                        <a:rPr sz="760" b="1" i="0">
                          <a:solidFill>
                            <a:srgbClr val="217A4B"/>
                          </a:solidFill>
                          <a:latin typeface="Calibri"/>
                          <a:ea typeface="Calibri"/>
                          <a:cs typeface="Calibri"/>
                        </a:rPr>
                        <a:t>PASS 100%</a:t>
                      </a:r>
                    </a:p>
                  </a:txBody>
                  <a:tcPr marL="73152" marR="73152" marT="27432" marB="27432" anchor="ctr">
                    <a:solidFill>
                      <a:srgbClr val="F5F7FB"/>
                    </a:solidFill>
                  </a:tcPr>
                </a:tc>
              </a:tr>
              <a:tr h="356616">
                <a:tc>
                  <a:txBody>
                    <a:bodyPr/>
                    <a:lstStyle/>
                    <a:p>
                      <a:pPr algn="l"/>
                      <a:r>
                        <a:rPr sz="760" b="1" i="0">
                          <a:solidFill>
                            <a:srgbClr val="1E2430"/>
                          </a:solidFill>
                          <a:latin typeface="Calibri"/>
                          <a:ea typeface="Calibri"/>
                          <a:cs typeface="Calibri"/>
                        </a:rPr>
                        <a:t>test_portion_utils.py</a:t>
                      </a:r>
                    </a:p>
                  </a:txBody>
                  <a:tcPr marL="73152" marR="73152" marT="27432" marB="27432" anchor="ctr">
                    <a:solidFill>
                      <a:srgbClr val="FFFFFF"/>
                    </a:solidFill>
                  </a:tcPr>
                </a:tc>
                <a:tc>
                  <a:txBody>
                    <a:bodyPr/>
                    <a:lstStyle/>
                    <a:p>
                      <a:pPr algn="ctr"/>
                      <a:r>
                        <a:rPr sz="760" b="0" i="0">
                          <a:solidFill>
                            <a:srgbClr val="1E2430"/>
                          </a:solidFill>
                          <a:latin typeface="Calibri"/>
                          <a:ea typeface="Calibri"/>
                          <a:cs typeface="Calibri"/>
                        </a:rPr>
                        <a:t>10 tests</a:t>
                      </a:r>
                    </a:p>
                  </a:txBody>
                  <a:tcPr marL="73152" marR="73152" marT="27432" marB="27432" anchor="ctr">
                    <a:solidFill>
                      <a:srgbClr val="FFFFFF"/>
                    </a:solidFill>
                  </a:tcPr>
                </a:tc>
                <a:tc>
                  <a:txBody>
                    <a:bodyPr/>
                    <a:lstStyle/>
                    <a:p>
                      <a:pPr algn="l"/>
                      <a:r>
                        <a:rPr sz="760" b="0" i="0">
                          <a:solidFill>
                            <a:srgbClr val="1E2430"/>
                          </a:solidFill>
                          <a:latin typeface="Calibri"/>
                          <a:ea typeface="Calibri"/>
                          <a:cs typeface="Calibri"/>
                        </a:rPr>
                        <a:t>Làm tròn bội số 5g, giữ cận biên [25, 350]</a:t>
                      </a:r>
                    </a:p>
                  </a:txBody>
                  <a:tcPr marL="73152" marR="73152" marT="27432" marB="27432" anchor="ctr">
                    <a:solidFill>
                      <a:srgbClr val="FFFFFF"/>
                    </a:solidFill>
                  </a:tcPr>
                </a:tc>
                <a:tc>
                  <a:txBody>
                    <a:bodyPr/>
                    <a:lstStyle/>
                    <a:p>
                      <a:pPr algn="ctr"/>
                      <a:r>
                        <a:rPr sz="760" b="1" i="0">
                          <a:solidFill>
                            <a:srgbClr val="217A4B"/>
                          </a:solidFill>
                          <a:latin typeface="Calibri"/>
                          <a:ea typeface="Calibri"/>
                          <a:cs typeface="Calibri"/>
                        </a:rPr>
                        <a:t>PASS 100%</a:t>
                      </a:r>
                    </a:p>
                  </a:txBody>
                  <a:tcPr marL="73152" marR="73152" marT="27432" marB="27432" anchor="ctr">
                    <a:solidFill>
                      <a:srgbClr val="FFFFFF"/>
                    </a:solidFill>
                  </a:tcPr>
                </a:tc>
              </a:tr>
              <a:tr h="356616">
                <a:tc>
                  <a:txBody>
                    <a:bodyPr/>
                    <a:lstStyle/>
                    <a:p>
                      <a:pPr algn="l"/>
                      <a:r>
                        <a:rPr sz="760" b="1" i="0">
                          <a:solidFill>
                            <a:srgbClr val="1E2430"/>
                          </a:solidFill>
                          <a:latin typeface="Calibri"/>
                          <a:ea typeface="Calibri"/>
                          <a:cs typeface="Calibri"/>
                        </a:rPr>
                        <a:t>test_experiment_week8.py</a:t>
                      </a:r>
                    </a:p>
                  </a:txBody>
                  <a:tcPr marL="73152" marR="73152" marT="27432" marB="27432" anchor="ctr">
                    <a:solidFill>
                      <a:srgbClr val="F5F7FB"/>
                    </a:solidFill>
                  </a:tcPr>
                </a:tc>
                <a:tc>
                  <a:txBody>
                    <a:bodyPr/>
                    <a:lstStyle/>
                    <a:p>
                      <a:pPr algn="ctr"/>
                      <a:r>
                        <a:rPr sz="760" b="0" i="0">
                          <a:solidFill>
                            <a:srgbClr val="1E2430"/>
                          </a:solidFill>
                          <a:latin typeface="Calibri"/>
                          <a:ea typeface="Calibri"/>
                          <a:cs typeface="Calibri"/>
                        </a:rPr>
                        <a:t>8 tests</a:t>
                      </a:r>
                    </a:p>
                  </a:txBody>
                  <a:tcPr marL="73152" marR="73152" marT="27432" marB="27432" anchor="ctr">
                    <a:solidFill>
                      <a:srgbClr val="F5F7FB"/>
                    </a:solidFill>
                  </a:tcPr>
                </a:tc>
                <a:tc>
                  <a:txBody>
                    <a:bodyPr/>
                    <a:lstStyle/>
                    <a:p>
                      <a:pPr algn="l"/>
                      <a:r>
                        <a:rPr sz="760" b="0" i="0">
                          <a:solidFill>
                            <a:srgbClr val="1E2430"/>
                          </a:solidFill>
                          <a:latin typeface="Calibri"/>
                          <a:ea typeface="Calibri"/>
                          <a:cs typeface="Calibri"/>
                        </a:rPr>
                        <a:t>Pipeline chạy benchmark 10 runs, CSV/PNG Tuần 8</a:t>
                      </a:r>
                    </a:p>
                  </a:txBody>
                  <a:tcPr marL="73152" marR="73152" marT="27432" marB="27432" anchor="ctr">
                    <a:solidFill>
                      <a:srgbClr val="F5F7FB"/>
                    </a:solidFill>
                  </a:tcPr>
                </a:tc>
                <a:tc>
                  <a:txBody>
                    <a:bodyPr/>
                    <a:lstStyle/>
                    <a:p>
                      <a:pPr algn="ctr"/>
                      <a:r>
                        <a:rPr sz="760" b="1" i="0">
                          <a:solidFill>
                            <a:srgbClr val="217A4B"/>
                          </a:solidFill>
                          <a:latin typeface="Calibri"/>
                          <a:ea typeface="Calibri"/>
                          <a:cs typeface="Calibri"/>
                        </a:rPr>
                        <a:t>PASS 100%</a:t>
                      </a:r>
                    </a:p>
                  </a:txBody>
                  <a:tcPr marL="73152" marR="73152" marT="27432" marB="27432" anchor="ctr">
                    <a:solidFill>
                      <a:srgbClr val="F5F7FB"/>
                    </a:solidFill>
                  </a:tcPr>
                </a:tc>
              </a:tr>
              <a:tr h="356616">
                <a:tc>
                  <a:txBody>
                    <a:bodyPr/>
                    <a:lstStyle/>
                    <a:p>
                      <a:pPr algn="l"/>
                      <a:r>
                        <a:rPr sz="760" b="1" i="0">
                          <a:solidFill>
                            <a:srgbClr val="1E2430"/>
                          </a:solidFill>
                          <a:latin typeface="Calibri"/>
                          <a:ea typeface="Calibri"/>
                          <a:cs typeface="Calibri"/>
                        </a:rPr>
                        <a:t>test_experiment_week9.py</a:t>
                      </a:r>
                    </a:p>
                  </a:txBody>
                  <a:tcPr marL="73152" marR="73152" marT="27432" marB="27432" anchor="ctr">
                    <a:solidFill>
                      <a:srgbClr val="FFFFFF"/>
                    </a:solidFill>
                  </a:tcPr>
                </a:tc>
                <a:tc>
                  <a:txBody>
                    <a:bodyPr/>
                    <a:lstStyle/>
                    <a:p>
                      <a:pPr algn="ctr"/>
                      <a:r>
                        <a:rPr sz="760" b="0" i="0">
                          <a:solidFill>
                            <a:srgbClr val="1E2430"/>
                          </a:solidFill>
                          <a:latin typeface="Calibri"/>
                          <a:ea typeface="Calibri"/>
                          <a:cs typeface="Calibri"/>
                        </a:rPr>
                        <a:t>12 tests</a:t>
                      </a:r>
                    </a:p>
                  </a:txBody>
                  <a:tcPr marL="73152" marR="73152" marT="27432" marB="27432" anchor="ctr">
                    <a:solidFill>
                      <a:srgbClr val="FFFFFF"/>
                    </a:solidFill>
                  </a:tcPr>
                </a:tc>
                <a:tc>
                  <a:txBody>
                    <a:bodyPr/>
                    <a:lstStyle/>
                    <a:p>
                      <a:pPr algn="l"/>
                      <a:r>
                        <a:rPr sz="760" b="0" i="0">
                          <a:solidFill>
                            <a:srgbClr val="1E2430"/>
                          </a:solidFill>
                          <a:latin typeface="Calibri"/>
                          <a:ea typeface="Calibri"/>
                          <a:cs typeface="Calibri"/>
                        </a:rPr>
                        <a:t>Pipeline 7 ngày, Carbs proxy minh bạch &amp; Natri P1/P2/P3</a:t>
                      </a:r>
                    </a:p>
                  </a:txBody>
                  <a:tcPr marL="73152" marR="73152" marT="27432" marB="27432" anchor="ctr">
                    <a:solidFill>
                      <a:srgbClr val="FFFFFF"/>
                    </a:solidFill>
                  </a:tcPr>
                </a:tc>
                <a:tc>
                  <a:txBody>
                    <a:bodyPr/>
                    <a:lstStyle/>
                    <a:p>
                      <a:pPr algn="ctr"/>
                      <a:r>
                        <a:rPr sz="760" b="1" i="0">
                          <a:solidFill>
                            <a:srgbClr val="217A4B"/>
                          </a:solidFill>
                          <a:latin typeface="Calibri"/>
                          <a:ea typeface="Calibri"/>
                          <a:cs typeface="Calibri"/>
                        </a:rPr>
                        <a:t>PASS 100%</a:t>
                      </a:r>
                    </a:p>
                  </a:txBody>
                  <a:tcPr marL="73152" marR="73152" marT="27432" marB="27432" anchor="ctr">
                    <a:solidFill>
                      <a:srgbClr val="FFFFFF"/>
                    </a:solidFill>
                  </a:tcPr>
                </a:tc>
              </a:tr>
              <a:tr h="356616">
                <a:tc>
                  <a:txBody>
                    <a:bodyPr/>
                    <a:lstStyle/>
                    <a:p>
                      <a:pPr algn="l"/>
                      <a:r>
                        <a:rPr sz="760" b="1" i="0">
                          <a:solidFill>
                            <a:srgbClr val="1E2430"/>
                          </a:solidFill>
                          <a:latin typeface="Calibri"/>
                          <a:ea typeface="Calibri"/>
                          <a:cs typeface="Calibri"/>
                        </a:rPr>
                        <a:t>Data, Culinary &amp; Constraints</a:t>
                      </a:r>
                    </a:p>
                  </a:txBody>
                  <a:tcPr marL="73152" marR="73152" marT="27432" marB="27432" anchor="ctr">
                    <a:solidFill>
                      <a:srgbClr val="F5F7FB"/>
                    </a:solidFill>
                  </a:tcPr>
                </a:tc>
                <a:tc>
                  <a:txBody>
                    <a:bodyPr/>
                    <a:lstStyle/>
                    <a:p>
                      <a:pPr algn="ctr"/>
                      <a:r>
                        <a:rPr sz="760" b="0" i="0">
                          <a:solidFill>
                            <a:srgbClr val="1E2430"/>
                          </a:solidFill>
                          <a:latin typeface="Calibri"/>
                          <a:ea typeface="Calibri"/>
                          <a:cs typeface="Calibri"/>
                        </a:rPr>
                        <a:t>14 tests</a:t>
                      </a:r>
                    </a:p>
                  </a:txBody>
                  <a:tcPr marL="73152" marR="73152" marT="27432" marB="27432" anchor="ctr">
                    <a:solidFill>
                      <a:srgbClr val="F5F7FB"/>
                    </a:solidFill>
                  </a:tcPr>
                </a:tc>
                <a:tc>
                  <a:txBody>
                    <a:bodyPr/>
                    <a:lstStyle/>
                    <a:p>
                      <a:pPr algn="l"/>
                      <a:r>
                        <a:rPr sz="760" b="0" i="0">
                          <a:solidFill>
                            <a:srgbClr val="1E2430"/>
                          </a:solidFill>
                          <a:latin typeface="Calibri"/>
                          <a:ea typeface="Calibri"/>
                          <a:cs typeface="Calibri"/>
                        </a:rPr>
                        <a:t>Schema dữ liệu, ẩm thực Slot &amp; Natri huyết áp</a:t>
                      </a:r>
                    </a:p>
                  </a:txBody>
                  <a:tcPr marL="73152" marR="73152" marT="27432" marB="27432" anchor="ctr">
                    <a:solidFill>
                      <a:srgbClr val="F5F7FB"/>
                    </a:solidFill>
                  </a:tcPr>
                </a:tc>
                <a:tc>
                  <a:txBody>
                    <a:bodyPr/>
                    <a:lstStyle/>
                    <a:p>
                      <a:pPr algn="ctr"/>
                      <a:r>
                        <a:rPr sz="760" b="1" i="0">
                          <a:solidFill>
                            <a:srgbClr val="217A4B"/>
                          </a:solidFill>
                          <a:latin typeface="Calibri"/>
                          <a:ea typeface="Calibri"/>
                          <a:cs typeface="Calibri"/>
                        </a:rPr>
                        <a:t>PASS 100%</a:t>
                      </a:r>
                    </a:p>
                  </a:txBody>
                  <a:tcPr marL="73152" marR="73152" marT="27432" marB="27432" anchor="ctr">
                    <a:solidFill>
                      <a:srgbClr val="F5F7FB"/>
                    </a:solidFill>
                  </a:tcPr>
                </a:tc>
              </a:tr>
              <a:tr h="356616">
                <a:tc>
                  <a:txBody>
                    <a:bodyPr/>
                    <a:lstStyle/>
                    <a:p>
                      <a:pPr algn="l"/>
                      <a:r>
                        <a:rPr sz="760" b="1" i="0">
                          <a:solidFill>
                            <a:srgbClr val="1E2430"/>
                          </a:solidFill>
                          <a:latin typeface="Calibri"/>
                          <a:ea typeface="Calibri"/>
                          <a:cs typeface="Calibri"/>
                        </a:rPr>
                        <a:t>Module kế thừa Tuần 1–7</a:t>
                      </a:r>
                    </a:p>
                  </a:txBody>
                  <a:tcPr marL="73152" marR="73152" marT="27432" marB="27432" anchor="ctr">
                    <a:solidFill>
                      <a:srgbClr val="FFFFFF"/>
                    </a:solidFill>
                  </a:tcPr>
                </a:tc>
                <a:tc>
                  <a:txBody>
                    <a:bodyPr/>
                    <a:lstStyle/>
                    <a:p>
                      <a:pPr algn="ctr"/>
                      <a:r>
                        <a:rPr sz="760" b="0" i="0">
                          <a:solidFill>
                            <a:srgbClr val="1E2430"/>
                          </a:solidFill>
                          <a:latin typeface="Calibri"/>
                          <a:ea typeface="Calibri"/>
                          <a:cs typeface="Calibri"/>
                        </a:rPr>
                        <a:t>116 tests</a:t>
                      </a:r>
                    </a:p>
                  </a:txBody>
                  <a:tcPr marL="73152" marR="73152" marT="27432" marB="27432" anchor="ctr">
                    <a:solidFill>
                      <a:srgbClr val="FFFFFF"/>
                    </a:solidFill>
                  </a:tcPr>
                </a:tc>
                <a:tc>
                  <a:txBody>
                    <a:bodyPr/>
                    <a:lstStyle/>
                    <a:p>
                      <a:pPr algn="l"/>
                      <a:r>
                        <a:rPr sz="760" b="0" i="0">
                          <a:solidFill>
                            <a:srgbClr val="1E2430"/>
                          </a:solidFill>
                          <a:latin typeface="Calibri"/>
                          <a:ea typeface="Calibri"/>
                          <a:cs typeface="Calibri"/>
                        </a:rPr>
                        <a:t>BMR/TDEE, DBO, IDBO, Objective, Benchmarks CEC</a:t>
                      </a:r>
                    </a:p>
                  </a:txBody>
                  <a:tcPr marL="73152" marR="73152" marT="27432" marB="27432" anchor="ctr">
                    <a:solidFill>
                      <a:srgbClr val="FFFFFF"/>
                    </a:solidFill>
                  </a:tcPr>
                </a:tc>
                <a:tc>
                  <a:txBody>
                    <a:bodyPr/>
                    <a:lstStyle/>
                    <a:p>
                      <a:pPr algn="ctr"/>
                      <a:r>
                        <a:rPr sz="760" b="1" i="0">
                          <a:solidFill>
                            <a:srgbClr val="217A4B"/>
                          </a:solidFill>
                          <a:latin typeface="Calibri"/>
                          <a:ea typeface="Calibri"/>
                          <a:cs typeface="Calibri"/>
                        </a:rPr>
                        <a:t>PASS 100%</a:t>
                      </a:r>
                    </a:p>
                  </a:txBody>
                  <a:tcPr marL="73152" marR="73152" marT="27432" marB="27432" anchor="ctr">
                    <a:solidFill>
                      <a:srgbClr val="FFFFFF"/>
                    </a:solidFill>
                  </a:tcPr>
                </a:tc>
              </a:tr>
            </a:tbl>
          </a:graphicData>
        </a:graphic>
      </p:graphicFrame>
      <p:sp>
        <p:nvSpPr>
          <p:cNvPr id="11" name="Rounded Rectangle 10"/>
          <p:cNvSpPr/>
          <p:nvPr/>
        </p:nvSpPr>
        <p:spPr>
          <a:xfrm>
            <a:off x="6245352" y="1234440"/>
            <a:ext cx="5440680" cy="4983480"/>
          </a:xfrm>
          <a:prstGeom prst="roundRect">
            <a:avLst/>
          </a:prstGeom>
          <a:solidFill>
            <a:srgbClr val="F5F7FB"/>
          </a:solidFill>
          <a:ln w="12700">
            <a:solidFill>
              <a:srgbClr val="D3DB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45352" y="1234440"/>
            <a:ext cx="5440680" cy="73152"/>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73952" y="1371600"/>
            <a:ext cx="4983480" cy="320040"/>
          </a:xfrm>
          <a:prstGeom prst="rect">
            <a:avLst/>
          </a:prstGeom>
          <a:noFill/>
        </p:spPr>
        <p:txBody>
          <a:bodyPr wrap="square" anchor="t" lIns="0" rIns="0" tIns="0" bIns="0">
            <a:spAutoFit/>
          </a:bodyPr>
          <a:lstStyle/>
          <a:p>
            <a:pPr algn="l">
              <a:lnSpc>
                <a:spcPct val="100000"/>
              </a:lnSpc>
              <a:spcAft>
                <a:spcPts val="0"/>
              </a:spcAft>
            </a:pPr>
            <a:r>
              <a:rPr sz="1300" b="1" i="0">
                <a:solidFill>
                  <a:srgbClr val="1B2A4A"/>
                </a:solidFill>
                <a:latin typeface="Calibri"/>
                <a:ea typeface="Calibri"/>
                <a:cs typeface="Calibri"/>
              </a:rPr>
              <a:t>PHÂN CÔNG TRÁCH NHIỆM &amp; ĐÓNG GÓP THÀNH VIÊN</a:t>
            </a:r>
          </a:p>
        </p:txBody>
      </p:sp>
      <p:sp>
        <p:nvSpPr>
          <p:cNvPr id="14" name="Rectangle 13"/>
          <p:cNvSpPr/>
          <p:nvPr/>
        </p:nvSpPr>
        <p:spPr>
          <a:xfrm>
            <a:off x="6473952" y="1719072"/>
            <a:ext cx="4983480" cy="1270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73952" y="1874519"/>
            <a:ext cx="4983480" cy="228600"/>
          </a:xfrm>
          <a:prstGeom prst="rect">
            <a:avLst/>
          </a:prstGeom>
          <a:noFill/>
        </p:spPr>
        <p:txBody>
          <a:bodyPr wrap="square" anchor="t" lIns="0" rIns="0" tIns="0" bIns="0">
            <a:spAutoFit/>
          </a:bodyPr>
          <a:lstStyle/>
          <a:p>
            <a:pPr algn="l">
              <a:lnSpc>
                <a:spcPct val="100000"/>
              </a:lnSpc>
              <a:spcAft>
                <a:spcPts val="0"/>
              </a:spcAft>
            </a:pPr>
            <a:r>
              <a:rPr sz="1100" b="1" i="0">
                <a:solidFill>
                  <a:srgbClr val="1B2A4A"/>
                </a:solidFill>
                <a:latin typeface="Calibri"/>
                <a:ea typeface="Calibri"/>
                <a:cs typeface="Calibri"/>
              </a:rPr>
              <a:t>Lê Quang Duy (Nhóm trưởng):</a:t>
            </a:r>
          </a:p>
        </p:txBody>
      </p:sp>
      <p:sp>
        <p:nvSpPr>
          <p:cNvPr id="16" name="TextBox 15"/>
          <p:cNvSpPr txBox="1"/>
          <p:nvPr/>
        </p:nvSpPr>
        <p:spPr>
          <a:xfrm>
            <a:off x="6473952" y="2103119"/>
            <a:ext cx="4983480" cy="1097280"/>
          </a:xfrm>
          <a:prstGeom prst="rect">
            <a:avLst/>
          </a:prstGeom>
          <a:noFill/>
        </p:spPr>
        <p:txBody>
          <a:bodyPr wrap="square" anchor="t" lIns="0" rIns="0" tIns="0" bIns="0">
            <a:spAutoFit/>
          </a:bodyPr>
          <a:lstStyle/>
          <a:p>
            <a:pPr algn="l">
              <a:lnSpc>
                <a:spcPct val="118000"/>
              </a:lnSpc>
              <a:spcAft>
                <a:spcPts val="0"/>
              </a:spcAft>
            </a:pPr>
            <a:r>
              <a:rPr sz="980" b="0" i="0">
                <a:solidFill>
                  <a:srgbClr val="1E2430"/>
                </a:solidFill>
                <a:latin typeface="Calibri"/>
                <a:ea typeface="Calibri"/>
                <a:cs typeface="Calibri"/>
              </a:rPr>
              <a:t>• Thiết kế &amp; cài đặt Two-Tier Solver (two_tier_solver.py) và Candidate Pools.
• Cài đặt module làm tròn khẩu phần 5g (portion_utils.py).
• Viết kịch bản demo_week8.py, demo_week9.py và tổng hợp slide báo cáo.
• Đóng góp phần Báo cáo Word Mục 1, 3, 5 Tuần 8.</a:t>
            </a:r>
          </a:p>
        </p:txBody>
      </p:sp>
      <p:sp>
        <p:nvSpPr>
          <p:cNvPr id="17" name="TextBox 16"/>
          <p:cNvSpPr txBox="1"/>
          <p:nvPr/>
        </p:nvSpPr>
        <p:spPr>
          <a:xfrm>
            <a:off x="6473952" y="3246119"/>
            <a:ext cx="4983480" cy="228600"/>
          </a:xfrm>
          <a:prstGeom prst="rect">
            <a:avLst/>
          </a:prstGeom>
          <a:noFill/>
        </p:spPr>
        <p:txBody>
          <a:bodyPr wrap="square" anchor="t" lIns="0" rIns="0" tIns="0" bIns="0">
            <a:spAutoFit/>
          </a:bodyPr>
          <a:lstStyle/>
          <a:p>
            <a:pPr algn="l">
              <a:lnSpc>
                <a:spcPct val="100000"/>
              </a:lnSpc>
              <a:spcAft>
                <a:spcPts val="0"/>
              </a:spcAft>
            </a:pPr>
            <a:r>
              <a:rPr sz="1100" b="1" i="0">
                <a:solidFill>
                  <a:srgbClr val="1B2A4A"/>
                </a:solidFill>
                <a:latin typeface="Calibri"/>
                <a:ea typeface="Calibri"/>
                <a:cs typeface="Calibri"/>
              </a:rPr>
              <a:t>Hồ Trung Cương:</a:t>
            </a:r>
          </a:p>
        </p:txBody>
      </p:sp>
      <p:sp>
        <p:nvSpPr>
          <p:cNvPr id="18" name="TextBox 17"/>
          <p:cNvSpPr txBox="1"/>
          <p:nvPr/>
        </p:nvSpPr>
        <p:spPr>
          <a:xfrm>
            <a:off x="6473952" y="3474719"/>
            <a:ext cx="4983480" cy="1097280"/>
          </a:xfrm>
          <a:prstGeom prst="rect">
            <a:avLst/>
          </a:prstGeom>
          <a:noFill/>
        </p:spPr>
        <p:txBody>
          <a:bodyPr wrap="square" anchor="t" lIns="0" rIns="0" tIns="0" bIns="0">
            <a:spAutoFit/>
          </a:bodyPr>
          <a:lstStyle/>
          <a:p>
            <a:pPr algn="l">
              <a:lnSpc>
                <a:spcPct val="118000"/>
              </a:lnSpc>
              <a:spcAft>
                <a:spcPts val="0"/>
              </a:spcAft>
            </a:pPr>
            <a:r>
              <a:rPr sz="980" b="0" i="0">
                <a:solidFill>
                  <a:srgbClr val="1E2430"/>
                </a:solidFill>
                <a:latin typeface="Calibri"/>
                <a:ea typeface="Calibri"/>
                <a:cs typeface="Calibri"/>
              </a:rPr>
              <a:t>• Thiết kế cơ chế phạt lặp món (diversity_penalty.py) cửa sổ trượt 2 ngày.
• Cài đặt bộ đo lường tỷ lệ món chính độc nhất calculate_unique_main_dish_pct.
• Đóng góp phần Báo cáo Word Mục 2, 4 Tuần 8 và Mục 2 Tuần 9.
• Thiết kế thuật toán ánh xạ chỉ mục bọ hung rời rạc.</a:t>
            </a:r>
          </a:p>
        </p:txBody>
      </p:sp>
      <p:sp>
        <p:nvSpPr>
          <p:cNvPr id="19" name="TextBox 18"/>
          <p:cNvSpPr txBox="1"/>
          <p:nvPr/>
        </p:nvSpPr>
        <p:spPr>
          <a:xfrm>
            <a:off x="6473952" y="4617719"/>
            <a:ext cx="4983480" cy="228600"/>
          </a:xfrm>
          <a:prstGeom prst="rect">
            <a:avLst/>
          </a:prstGeom>
          <a:noFill/>
        </p:spPr>
        <p:txBody>
          <a:bodyPr wrap="square" anchor="t" lIns="0" rIns="0" tIns="0" bIns="0">
            <a:spAutoFit/>
          </a:bodyPr>
          <a:lstStyle/>
          <a:p>
            <a:pPr algn="l">
              <a:lnSpc>
                <a:spcPct val="100000"/>
              </a:lnSpc>
              <a:spcAft>
                <a:spcPts val="0"/>
              </a:spcAft>
            </a:pPr>
            <a:r>
              <a:rPr sz="1100" b="1" i="0">
                <a:solidFill>
                  <a:srgbClr val="1B2A4A"/>
                </a:solidFill>
                <a:latin typeface="Calibri"/>
                <a:ea typeface="Calibri"/>
                <a:cs typeface="Calibri"/>
              </a:rPr>
              <a:t>Đặng Nguyễn Minh Đăng:</a:t>
            </a:r>
          </a:p>
        </p:txBody>
      </p:sp>
      <p:sp>
        <p:nvSpPr>
          <p:cNvPr id="20" name="TextBox 19"/>
          <p:cNvSpPr txBox="1"/>
          <p:nvPr/>
        </p:nvSpPr>
        <p:spPr>
          <a:xfrm>
            <a:off x="6473952" y="4846319"/>
            <a:ext cx="4983480" cy="1097280"/>
          </a:xfrm>
          <a:prstGeom prst="rect">
            <a:avLst/>
          </a:prstGeom>
          <a:noFill/>
        </p:spPr>
        <p:txBody>
          <a:bodyPr wrap="square" anchor="t" lIns="0" rIns="0" tIns="0" bIns="0">
            <a:spAutoFit/>
          </a:bodyPr>
          <a:lstStyle/>
          <a:p>
            <a:pPr algn="l">
              <a:lnSpc>
                <a:spcPct val="118000"/>
              </a:lnSpc>
              <a:spcAft>
                <a:spcPts val="0"/>
              </a:spcAft>
            </a:pPr>
            <a:r>
              <a:rPr sz="980" b="0" i="0">
                <a:solidFill>
                  <a:srgbClr val="1E2430"/>
                </a:solidFill>
                <a:latin typeface="Calibri"/>
                <a:ea typeface="Calibri"/>
                <a:cs typeface="Calibri"/>
              </a:rPr>
              <a:t>• Xây dựng kịch bản thực nghiệm Tuần 9 (experiment_week9.py, 3 profiles).
• Cài đặt bộ vẽ đồ thị plot_week8.py &amp; plot_week9.py (Heatmap, Radar, Bar chart).
• Triển khai bộ sinh đa phương án UX generate_options_week9.py (Option A/B/C).
• Phân tích số liệu và hoàn thiện báo cáo Word Mục 3, 4, 5 Tuần 9.</a:t>
            </a:r>
          </a:p>
        </p:txBody>
      </p:sp>
      <p:sp>
        <p:nvSpPr>
          <p:cNvPr id="21" name="Rectangle 20"/>
          <p:cNvSpPr/>
          <p:nvPr/>
        </p:nvSpPr>
        <p:spPr>
          <a:xfrm>
            <a:off x="502920" y="6437376"/>
            <a:ext cx="11183112" cy="1270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2920" y="6501384"/>
            <a:ext cx="8686800" cy="274320"/>
          </a:xfrm>
          <a:prstGeom prst="rect">
            <a:avLst/>
          </a:prstGeom>
          <a:noFill/>
        </p:spPr>
        <p:txBody>
          <a:bodyPr wrap="square" anchor="t" lIns="0" rIns="0" tIns="0" bIns="0">
            <a:spAutoFit/>
          </a:bodyPr>
          <a:lstStyle/>
          <a:p>
            <a:pPr algn="l">
              <a:lnSpc>
                <a:spcPct val="100000"/>
              </a:lnSpc>
              <a:spcAft>
                <a:spcPts val="0"/>
              </a:spcAft>
            </a:pPr>
            <a:r>
              <a:rPr sz="950" b="0" i="0">
                <a:solidFill>
                  <a:srgbClr val="5A6478"/>
                </a:solidFill>
                <a:latin typeface="Calibri"/>
                <a:ea typeface="Calibri"/>
                <a:cs typeface="Calibri"/>
              </a:rPr>
              <a:t>Kết quả kiểm thử tự động 205/205 tests PASS và phân công trách nhiệm thành viên</a:t>
            </a:r>
          </a:p>
        </p:txBody>
      </p:sp>
      <p:sp>
        <p:nvSpPr>
          <p:cNvPr id="23" name="TextBox 22"/>
          <p:cNvSpPr txBox="1"/>
          <p:nvPr/>
        </p:nvSpPr>
        <p:spPr>
          <a:xfrm>
            <a:off x="9601200" y="6501384"/>
            <a:ext cx="2084831" cy="274320"/>
          </a:xfrm>
          <a:prstGeom prst="rect">
            <a:avLst/>
          </a:prstGeom>
          <a:noFill/>
        </p:spPr>
        <p:txBody>
          <a:bodyPr wrap="square" anchor="t" lIns="0" rIns="0" tIns="0" bIns="0">
            <a:spAutoFit/>
          </a:bodyPr>
          <a:lstStyle/>
          <a:p>
            <a:pPr algn="r">
              <a:lnSpc>
                <a:spcPct val="100000"/>
              </a:lnSpc>
              <a:spcAft>
                <a:spcPts val="0"/>
              </a:spcAft>
            </a:pPr>
            <a:r>
              <a:rPr sz="950" b="1" i="0">
                <a:solidFill>
                  <a:srgbClr val="5A6478"/>
                </a:solidFill>
                <a:latin typeface="Calibri"/>
                <a:ea typeface="Calibri"/>
                <a:cs typeface="Calibri"/>
              </a:rPr>
              <a:t>13 / 14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183112" cy="237744"/>
          </a:xfrm>
          <a:prstGeom prst="rect">
            <a:avLst/>
          </a:prstGeom>
          <a:noFill/>
        </p:spPr>
        <p:txBody>
          <a:bodyPr wrap="square" anchor="t" lIns="0" rIns="0" tIns="0" bIns="0">
            <a:spAutoFit/>
          </a:bodyPr>
          <a:lstStyle/>
          <a:p>
            <a:pPr algn="l">
              <a:lnSpc>
                <a:spcPct val="100000"/>
              </a:lnSpc>
              <a:spcAft>
                <a:spcPts val="0"/>
              </a:spcAft>
            </a:pPr>
            <a:r>
              <a:rPr sz="1150" b="1" i="0">
                <a:solidFill>
                  <a:srgbClr val="1B2A4A"/>
                </a:solidFill>
                <a:latin typeface="Calibri"/>
                <a:ea typeface="Calibri"/>
                <a:cs typeface="Calibri"/>
              </a:rPr>
              <a:t>ĐỊNH HƯỚNG TRIỂN KHAI VÀ HOÀN THIỆN ĐỀ TÀI</a:t>
            </a:r>
          </a:p>
        </p:txBody>
      </p:sp>
      <p:sp>
        <p:nvSpPr>
          <p:cNvPr id="4" name="TextBox 3"/>
          <p:cNvSpPr txBox="1"/>
          <p:nvPr/>
        </p:nvSpPr>
        <p:spPr>
          <a:xfrm>
            <a:off x="502920" y="530352"/>
            <a:ext cx="11183112" cy="475488"/>
          </a:xfrm>
          <a:prstGeom prst="rect">
            <a:avLst/>
          </a:prstGeom>
          <a:noFill/>
        </p:spPr>
        <p:txBody>
          <a:bodyPr wrap="square" anchor="t" lIns="0" rIns="0" tIns="0" bIns="0">
            <a:spAutoFit/>
          </a:bodyPr>
          <a:lstStyle/>
          <a:p>
            <a:pPr algn="l">
              <a:lnSpc>
                <a:spcPct val="100000"/>
              </a:lnSpc>
              <a:spcAft>
                <a:spcPts val="0"/>
              </a:spcAft>
            </a:pPr>
            <a:r>
              <a:rPr sz="2300" b="1" i="0">
                <a:solidFill>
                  <a:srgbClr val="1B2A4A"/>
                </a:solidFill>
                <a:latin typeface="Calibri"/>
                <a:ea typeface="Calibri"/>
                <a:cs typeface="Calibri"/>
              </a:rPr>
              <a:t>Kế Hoạch Nghiên Cứu Tuần 10: Tích Hợp Web UI &amp; Dịch Vụ API FastAPI</a:t>
            </a:r>
          </a:p>
        </p:txBody>
      </p:sp>
      <p:sp>
        <p:nvSpPr>
          <p:cNvPr id="5" name="Rectangle 4"/>
          <p:cNvSpPr/>
          <p:nvPr/>
        </p:nvSpPr>
        <p:spPr>
          <a:xfrm>
            <a:off x="502920" y="1042415"/>
            <a:ext cx="11183112" cy="1524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234440"/>
            <a:ext cx="2679192" cy="4983480"/>
          </a:xfrm>
          <a:prstGeom prst="roundRect">
            <a:avLst/>
          </a:prstGeom>
          <a:solidFill>
            <a:srgbClr val="F5F7FB"/>
          </a:solidFill>
          <a:ln w="12700">
            <a:solidFill>
              <a:srgbClr val="D3DB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234440"/>
            <a:ext cx="2679192" cy="73152"/>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371600"/>
            <a:ext cx="2313432" cy="365760"/>
          </a:xfrm>
          <a:prstGeom prst="rect">
            <a:avLst/>
          </a:prstGeom>
          <a:noFill/>
        </p:spPr>
        <p:txBody>
          <a:bodyPr wrap="square" anchor="t" lIns="0" rIns="0" tIns="0" bIns="0">
            <a:spAutoFit/>
          </a:bodyPr>
          <a:lstStyle/>
          <a:p>
            <a:pPr algn="l">
              <a:lnSpc>
                <a:spcPct val="100000"/>
              </a:lnSpc>
              <a:spcAft>
                <a:spcPts val="0"/>
              </a:spcAft>
            </a:pPr>
            <a:r>
              <a:rPr sz="1200" b="1" i="0">
                <a:solidFill>
                  <a:srgbClr val="1B2A4A"/>
                </a:solidFill>
                <a:latin typeface="Calibri"/>
                <a:ea typeface="Calibri"/>
                <a:cs typeface="Calibri"/>
              </a:rPr>
              <a:t>1. BACKEND RESTFUL API</a:t>
            </a:r>
          </a:p>
        </p:txBody>
      </p:sp>
      <p:sp>
        <p:nvSpPr>
          <p:cNvPr id="9" name="TextBox 8"/>
          <p:cNvSpPr txBox="1"/>
          <p:nvPr/>
        </p:nvSpPr>
        <p:spPr>
          <a:xfrm>
            <a:off x="685800" y="1755648"/>
            <a:ext cx="2313432" cy="228600"/>
          </a:xfrm>
          <a:prstGeom prst="rect">
            <a:avLst/>
          </a:prstGeom>
          <a:noFill/>
        </p:spPr>
        <p:txBody>
          <a:bodyPr wrap="square" anchor="t" lIns="0" rIns="0" tIns="0" bIns="0">
            <a:spAutoFit/>
          </a:bodyPr>
          <a:lstStyle/>
          <a:p>
            <a:pPr algn="l">
              <a:lnSpc>
                <a:spcPct val="100000"/>
              </a:lnSpc>
              <a:spcAft>
                <a:spcPts val="0"/>
              </a:spcAft>
            </a:pPr>
            <a:r>
              <a:rPr sz="1000" b="1" i="0">
                <a:solidFill>
                  <a:srgbClr val="1E2430"/>
                </a:solidFill>
                <a:latin typeface="Calibri"/>
                <a:ea typeface="Calibri"/>
                <a:cs typeface="Calibri"/>
              </a:rPr>
              <a:t>Dịch vụ FastAPI tiêu chuẩn</a:t>
            </a:r>
          </a:p>
        </p:txBody>
      </p:sp>
      <p:sp>
        <p:nvSpPr>
          <p:cNvPr id="10" name="Rectangle 9"/>
          <p:cNvSpPr/>
          <p:nvPr/>
        </p:nvSpPr>
        <p:spPr>
          <a:xfrm>
            <a:off x="685800" y="2011680"/>
            <a:ext cx="2313432" cy="1270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148840"/>
            <a:ext cx="2313432" cy="3931920"/>
          </a:xfrm>
          <a:prstGeom prst="rect">
            <a:avLst/>
          </a:prstGeom>
          <a:noFill/>
        </p:spPr>
        <p:txBody>
          <a:bodyPr wrap="square" anchor="t" lIns="0" rIns="0" tIns="0" bIns="0">
            <a:spAutoFit/>
          </a:bodyPr>
          <a:lstStyle/>
          <a:p>
            <a:pPr algn="l">
              <a:lnSpc>
                <a:spcPct val="125000"/>
              </a:lnSpc>
              <a:spcAft>
                <a:spcPts val="0"/>
              </a:spcAft>
            </a:pPr>
            <a:r>
              <a:rPr sz="980" b="0" i="0">
                <a:solidFill>
                  <a:srgbClr val="1E2430"/>
                </a:solidFill>
                <a:latin typeface="Calibri"/>
                <a:ea typeface="Calibri"/>
                <a:cs typeface="Calibri"/>
              </a:rPr>
              <a:t>• Đóng gói Two-Tier Solver &amp; 7-Day Planner thành dịch vụ API chuẩn hóa.
• Endpoint /api/menu/generate: Tiếp nhận UserProfile, sinh 3 options A/B/C.
• Endpoint /api/menu/swap: Cho phép đổi 1 món ăn cụ thể và tự động cân chỉnh lại gram các món còn lại.
• Mục tiêu sau tối ưu: hướng tới dưới 1.5 giây/ngày bằng cache, warm start, thu gọn candidate pool và xử lý song song.</a:t>
            </a:r>
          </a:p>
        </p:txBody>
      </p:sp>
      <p:sp>
        <p:nvSpPr>
          <p:cNvPr id="12" name="Rounded Rectangle 11"/>
          <p:cNvSpPr/>
          <p:nvPr/>
        </p:nvSpPr>
        <p:spPr>
          <a:xfrm>
            <a:off x="3346704" y="1234440"/>
            <a:ext cx="2679192" cy="4983480"/>
          </a:xfrm>
          <a:prstGeom prst="roundRect">
            <a:avLst/>
          </a:prstGeom>
          <a:solidFill>
            <a:srgbClr val="F5F7FB"/>
          </a:solidFill>
          <a:ln w="12700">
            <a:solidFill>
              <a:srgbClr val="D3DB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346704" y="1234440"/>
            <a:ext cx="2679192" cy="73152"/>
          </a:xfrm>
          <a:prstGeom prst="rect">
            <a:avLst/>
          </a:prstGeom>
          <a:solidFill>
            <a:srgbClr val="1D6F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29584" y="1371600"/>
            <a:ext cx="2313432" cy="365760"/>
          </a:xfrm>
          <a:prstGeom prst="rect">
            <a:avLst/>
          </a:prstGeom>
          <a:noFill/>
        </p:spPr>
        <p:txBody>
          <a:bodyPr wrap="square" anchor="t" lIns="0" rIns="0" tIns="0" bIns="0">
            <a:spAutoFit/>
          </a:bodyPr>
          <a:lstStyle/>
          <a:p>
            <a:pPr algn="l">
              <a:lnSpc>
                <a:spcPct val="100000"/>
              </a:lnSpc>
              <a:spcAft>
                <a:spcPts val="0"/>
              </a:spcAft>
            </a:pPr>
            <a:r>
              <a:rPr sz="1200" b="1" i="0">
                <a:solidFill>
                  <a:srgbClr val="1D6F6F"/>
                </a:solidFill>
                <a:latin typeface="Calibri"/>
                <a:ea typeface="Calibri"/>
                <a:cs typeface="Calibri"/>
              </a:rPr>
              <a:t>2. GIAO DIỆN WEB HIỆN ĐẠI</a:t>
            </a:r>
          </a:p>
        </p:txBody>
      </p:sp>
      <p:sp>
        <p:nvSpPr>
          <p:cNvPr id="15" name="TextBox 14"/>
          <p:cNvSpPr txBox="1"/>
          <p:nvPr/>
        </p:nvSpPr>
        <p:spPr>
          <a:xfrm>
            <a:off x="3529584" y="1755648"/>
            <a:ext cx="2313432" cy="228600"/>
          </a:xfrm>
          <a:prstGeom prst="rect">
            <a:avLst/>
          </a:prstGeom>
          <a:noFill/>
        </p:spPr>
        <p:txBody>
          <a:bodyPr wrap="square" anchor="t" lIns="0" rIns="0" tIns="0" bIns="0">
            <a:spAutoFit/>
          </a:bodyPr>
          <a:lstStyle/>
          <a:p>
            <a:pPr algn="l">
              <a:lnSpc>
                <a:spcPct val="100000"/>
              </a:lnSpc>
              <a:spcAft>
                <a:spcPts val="0"/>
              </a:spcAft>
            </a:pPr>
            <a:r>
              <a:rPr sz="1000" b="1" i="0">
                <a:solidFill>
                  <a:srgbClr val="1E2430"/>
                </a:solidFill>
                <a:latin typeface="Calibri"/>
                <a:ea typeface="Calibri"/>
                <a:cs typeface="Calibri"/>
              </a:rPr>
              <a:t>Frontend tương tác trực quan</a:t>
            </a:r>
          </a:p>
        </p:txBody>
      </p:sp>
      <p:sp>
        <p:nvSpPr>
          <p:cNvPr id="16" name="Rectangle 15"/>
          <p:cNvSpPr/>
          <p:nvPr/>
        </p:nvSpPr>
        <p:spPr>
          <a:xfrm>
            <a:off x="3529584" y="2011680"/>
            <a:ext cx="2313432" cy="1270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29584" y="2148840"/>
            <a:ext cx="2313432" cy="3931920"/>
          </a:xfrm>
          <a:prstGeom prst="rect">
            <a:avLst/>
          </a:prstGeom>
          <a:noFill/>
        </p:spPr>
        <p:txBody>
          <a:bodyPr wrap="square" anchor="t" lIns="0" rIns="0" tIns="0" bIns="0">
            <a:spAutoFit/>
          </a:bodyPr>
          <a:lstStyle/>
          <a:p>
            <a:pPr algn="l">
              <a:lnSpc>
                <a:spcPct val="125000"/>
              </a:lnSpc>
              <a:spcAft>
                <a:spcPts val="0"/>
              </a:spcAft>
            </a:pPr>
            <a:r>
              <a:rPr sz="980" b="0" i="0">
                <a:solidFill>
                  <a:srgbClr val="1E2430"/>
                </a:solidFill>
                <a:latin typeface="Calibri"/>
                <a:ea typeface="Calibri"/>
                <a:cs typeface="Calibri"/>
              </a:rPr>
              <a:t>• Giao diện Web thân thiện, hỗ trợ đầy đủ Desktop &amp; Mobile.
• Form nhập hồ sơ trực quan: Tuổi, chiều cao, cân nặng, bệnh lý (ĐTĐ, Tăng HA).
• Hiển thị lịch thực đơn 7 ngày dạng lưới (Weekly Grid) theo 4 bữa.
• Biểu đồ Radar và Heatmap dinh dưỡng tương tác thời gian thực.</a:t>
            </a:r>
          </a:p>
        </p:txBody>
      </p:sp>
      <p:sp>
        <p:nvSpPr>
          <p:cNvPr id="18" name="Rounded Rectangle 17"/>
          <p:cNvSpPr/>
          <p:nvPr/>
        </p:nvSpPr>
        <p:spPr>
          <a:xfrm>
            <a:off x="6190488" y="1234440"/>
            <a:ext cx="2679192" cy="4983480"/>
          </a:xfrm>
          <a:prstGeom prst="roundRect">
            <a:avLst/>
          </a:prstGeom>
          <a:solidFill>
            <a:srgbClr val="F5F7FB"/>
          </a:solidFill>
          <a:ln w="12700">
            <a:solidFill>
              <a:srgbClr val="D3DB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90488" y="1234440"/>
            <a:ext cx="2679192" cy="73152"/>
          </a:xfrm>
          <a:prstGeom prst="rect">
            <a:avLst/>
          </a:prstGeom>
          <a:solidFill>
            <a:srgbClr val="21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73368" y="1371600"/>
            <a:ext cx="2313432" cy="365760"/>
          </a:xfrm>
          <a:prstGeom prst="rect">
            <a:avLst/>
          </a:prstGeom>
          <a:noFill/>
        </p:spPr>
        <p:txBody>
          <a:bodyPr wrap="square" anchor="t" lIns="0" rIns="0" tIns="0" bIns="0">
            <a:spAutoFit/>
          </a:bodyPr>
          <a:lstStyle/>
          <a:p>
            <a:pPr algn="l">
              <a:lnSpc>
                <a:spcPct val="100000"/>
              </a:lnSpc>
              <a:spcAft>
                <a:spcPts val="0"/>
              </a:spcAft>
            </a:pPr>
            <a:r>
              <a:rPr sz="1200" b="1" i="0">
                <a:solidFill>
                  <a:srgbClr val="217A4B"/>
                </a:solidFill>
                <a:latin typeface="Calibri"/>
                <a:ea typeface="Calibri"/>
                <a:cs typeface="Calibri"/>
              </a:rPr>
              <a:t>3. ĐỔI MÓN &amp; VAI TRÒ ẨM THỰC</a:t>
            </a:r>
          </a:p>
        </p:txBody>
      </p:sp>
      <p:sp>
        <p:nvSpPr>
          <p:cNvPr id="21" name="TextBox 20"/>
          <p:cNvSpPr txBox="1"/>
          <p:nvPr/>
        </p:nvSpPr>
        <p:spPr>
          <a:xfrm>
            <a:off x="6373368" y="1755648"/>
            <a:ext cx="2313432" cy="228600"/>
          </a:xfrm>
          <a:prstGeom prst="rect">
            <a:avLst/>
          </a:prstGeom>
          <a:noFill/>
        </p:spPr>
        <p:txBody>
          <a:bodyPr wrap="square" anchor="t" lIns="0" rIns="0" tIns="0" bIns="0">
            <a:spAutoFit/>
          </a:bodyPr>
          <a:lstStyle/>
          <a:p>
            <a:pPr algn="l">
              <a:lnSpc>
                <a:spcPct val="100000"/>
              </a:lnSpc>
              <a:spcAft>
                <a:spcPts val="0"/>
              </a:spcAft>
            </a:pPr>
            <a:r>
              <a:rPr sz="1000" b="1" i="0">
                <a:solidFill>
                  <a:srgbClr val="1E2430"/>
                </a:solidFill>
                <a:latin typeface="Calibri"/>
                <a:ea typeface="Calibri"/>
                <a:cs typeface="Calibri"/>
              </a:rPr>
              <a:t>Smart Meal Swap &amp; Culinary Slots</a:t>
            </a:r>
          </a:p>
        </p:txBody>
      </p:sp>
      <p:sp>
        <p:nvSpPr>
          <p:cNvPr id="22" name="Rectangle 21"/>
          <p:cNvSpPr/>
          <p:nvPr/>
        </p:nvSpPr>
        <p:spPr>
          <a:xfrm>
            <a:off x="6373368" y="2011680"/>
            <a:ext cx="2313432" cy="1270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73368" y="2148840"/>
            <a:ext cx="2313432" cy="3931920"/>
          </a:xfrm>
          <a:prstGeom prst="rect">
            <a:avLst/>
          </a:prstGeom>
          <a:noFill/>
        </p:spPr>
        <p:txBody>
          <a:bodyPr wrap="square" anchor="t" lIns="0" rIns="0" tIns="0" bIns="0">
            <a:spAutoFit/>
          </a:bodyPr>
          <a:lstStyle/>
          <a:p>
            <a:pPr algn="l">
              <a:lnSpc>
                <a:spcPct val="125000"/>
              </a:lnSpc>
              <a:spcAft>
                <a:spcPts val="0"/>
              </a:spcAft>
            </a:pPr>
            <a:r>
              <a:rPr sz="980" b="0" i="0">
                <a:solidFill>
                  <a:srgbClr val="1E2430"/>
                </a:solidFill>
                <a:latin typeface="Calibri"/>
                <a:ea typeface="Calibri"/>
                <a:cs typeface="Calibri"/>
              </a:rPr>
              <a:t>• Bổ sung DishRole: tinh bột, đạm, rau, canh, món phụ và nguyên liệu.
• Chặn nguyên liệu thô hoặc khẩu phần phi thực tế khỏi vị trí món ăn trực tiếp.
• Khi đổi món, chỉ chọn ứng viên cùng vai trò rồi chạy lại Inner Solver và kiểm tra ràng buộc.</a:t>
            </a:r>
          </a:p>
        </p:txBody>
      </p:sp>
      <p:sp>
        <p:nvSpPr>
          <p:cNvPr id="24" name="Rounded Rectangle 23"/>
          <p:cNvSpPr/>
          <p:nvPr/>
        </p:nvSpPr>
        <p:spPr>
          <a:xfrm>
            <a:off x="9034272" y="1234440"/>
            <a:ext cx="2679192" cy="4983480"/>
          </a:xfrm>
          <a:prstGeom prst="roundRect">
            <a:avLst/>
          </a:prstGeom>
          <a:solidFill>
            <a:srgbClr val="F5F7FB"/>
          </a:solidFill>
          <a:ln w="12700">
            <a:solidFill>
              <a:srgbClr val="D3DB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034272" y="1234440"/>
            <a:ext cx="2679192" cy="73152"/>
          </a:xfrm>
          <a:prstGeom prst="rect">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217152" y="1371600"/>
            <a:ext cx="2313432" cy="365760"/>
          </a:xfrm>
          <a:prstGeom prst="rect">
            <a:avLst/>
          </a:prstGeom>
          <a:noFill/>
        </p:spPr>
        <p:txBody>
          <a:bodyPr wrap="square" anchor="t" lIns="0" rIns="0" tIns="0" bIns="0">
            <a:spAutoFit/>
          </a:bodyPr>
          <a:lstStyle/>
          <a:p>
            <a:pPr algn="l">
              <a:lnSpc>
                <a:spcPct val="100000"/>
              </a:lnSpc>
              <a:spcAft>
                <a:spcPts val="0"/>
              </a:spcAft>
            </a:pPr>
            <a:r>
              <a:rPr sz="1200" b="1" i="0">
                <a:solidFill>
                  <a:srgbClr val="D9822B"/>
                </a:solidFill>
                <a:latin typeface="Calibri"/>
                <a:ea typeface="Calibri"/>
                <a:cs typeface="Calibri"/>
              </a:rPr>
              <a:t>4. KIỂM THỬ &amp; ĐÓNG GÓI HOÀN CHỈNH</a:t>
            </a:r>
          </a:p>
        </p:txBody>
      </p:sp>
      <p:sp>
        <p:nvSpPr>
          <p:cNvPr id="27" name="TextBox 26"/>
          <p:cNvSpPr txBox="1"/>
          <p:nvPr/>
        </p:nvSpPr>
        <p:spPr>
          <a:xfrm>
            <a:off x="9217152" y="1755648"/>
            <a:ext cx="2313432" cy="228600"/>
          </a:xfrm>
          <a:prstGeom prst="rect">
            <a:avLst/>
          </a:prstGeom>
          <a:noFill/>
        </p:spPr>
        <p:txBody>
          <a:bodyPr wrap="square" anchor="t" lIns="0" rIns="0" tIns="0" bIns="0">
            <a:spAutoFit/>
          </a:bodyPr>
          <a:lstStyle/>
          <a:p>
            <a:pPr algn="l">
              <a:lnSpc>
                <a:spcPct val="100000"/>
              </a:lnSpc>
              <a:spcAft>
                <a:spcPts val="0"/>
              </a:spcAft>
            </a:pPr>
            <a:r>
              <a:rPr sz="1000" b="1" i="0">
                <a:solidFill>
                  <a:srgbClr val="1E2430"/>
                </a:solidFill>
                <a:latin typeface="Calibri"/>
                <a:ea typeface="Calibri"/>
                <a:cs typeface="Calibri"/>
              </a:rPr>
              <a:t>System Validation &amp; Deployment</a:t>
            </a:r>
          </a:p>
        </p:txBody>
      </p:sp>
      <p:sp>
        <p:nvSpPr>
          <p:cNvPr id="28" name="Rectangle 27"/>
          <p:cNvSpPr/>
          <p:nvPr/>
        </p:nvSpPr>
        <p:spPr>
          <a:xfrm>
            <a:off x="9217152" y="2011680"/>
            <a:ext cx="2313432" cy="1270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217152" y="2148840"/>
            <a:ext cx="2313432" cy="3931920"/>
          </a:xfrm>
          <a:prstGeom prst="rect">
            <a:avLst/>
          </a:prstGeom>
          <a:noFill/>
        </p:spPr>
        <p:txBody>
          <a:bodyPr wrap="square" anchor="t" lIns="0" rIns="0" tIns="0" bIns="0">
            <a:spAutoFit/>
          </a:bodyPr>
          <a:lstStyle/>
          <a:p>
            <a:pPr algn="l">
              <a:lnSpc>
                <a:spcPct val="125000"/>
              </a:lnSpc>
              <a:spcAft>
                <a:spcPts val="0"/>
              </a:spcAft>
            </a:pPr>
            <a:r>
              <a:rPr sz="980" b="0" i="0">
                <a:solidFill>
                  <a:srgbClr val="1E2430"/>
                </a:solidFill>
                <a:latin typeface="Calibri"/>
                <a:ea typeface="Calibri"/>
                <a:cs typeface="Calibri"/>
              </a:rPr>
              <a:t>• Tích hợp E2E API tests và Unit tests cho toàn bộ luồng giao dịch.
• Đóng gói Docker Container gồm FastAPI backend và Static frontend.
• Đo lường tải (Stress testing) đảm bảo phục vụ đồng thời nhiều người dùng.
• Sẵn sàng cho hội đồng phản biện khóa luận tốt nghiệp.</a:t>
            </a:r>
          </a:p>
        </p:txBody>
      </p:sp>
      <p:sp>
        <p:nvSpPr>
          <p:cNvPr id="30" name="Rectangle 29"/>
          <p:cNvSpPr/>
          <p:nvPr/>
        </p:nvSpPr>
        <p:spPr>
          <a:xfrm>
            <a:off x="502920" y="6437376"/>
            <a:ext cx="11183112" cy="1270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2920" y="6501384"/>
            <a:ext cx="8686800" cy="274320"/>
          </a:xfrm>
          <a:prstGeom prst="rect">
            <a:avLst/>
          </a:prstGeom>
          <a:noFill/>
        </p:spPr>
        <p:txBody>
          <a:bodyPr wrap="square" anchor="t" lIns="0" rIns="0" tIns="0" bIns="0">
            <a:spAutoFit/>
          </a:bodyPr>
          <a:lstStyle/>
          <a:p>
            <a:pPr algn="l">
              <a:lnSpc>
                <a:spcPct val="100000"/>
              </a:lnSpc>
              <a:spcAft>
                <a:spcPts val="0"/>
              </a:spcAft>
            </a:pPr>
            <a:r>
              <a:rPr sz="950" b="0" i="0">
                <a:solidFill>
                  <a:srgbClr val="5A6478"/>
                </a:solidFill>
                <a:latin typeface="Calibri"/>
                <a:ea typeface="Calibri"/>
                <a:cs typeface="Calibri"/>
              </a:rPr>
              <a:t>Kế hoạch nghiên cứu và triển khai Tuần 10 — Hướng tới sản phẩm ứng dụng hoàn chỉnh</a:t>
            </a:r>
          </a:p>
        </p:txBody>
      </p:sp>
      <p:sp>
        <p:nvSpPr>
          <p:cNvPr id="32" name="TextBox 31"/>
          <p:cNvSpPr txBox="1"/>
          <p:nvPr/>
        </p:nvSpPr>
        <p:spPr>
          <a:xfrm>
            <a:off x="9601200" y="6501384"/>
            <a:ext cx="2084831" cy="274320"/>
          </a:xfrm>
          <a:prstGeom prst="rect">
            <a:avLst/>
          </a:prstGeom>
          <a:noFill/>
        </p:spPr>
        <p:txBody>
          <a:bodyPr wrap="square" anchor="t" lIns="0" rIns="0" tIns="0" bIns="0">
            <a:spAutoFit/>
          </a:bodyPr>
          <a:lstStyle/>
          <a:p>
            <a:pPr algn="r">
              <a:lnSpc>
                <a:spcPct val="100000"/>
              </a:lnSpc>
              <a:spcAft>
                <a:spcPts val="0"/>
              </a:spcAft>
            </a:pPr>
            <a:r>
              <a:rPr sz="950" b="1" i="0">
                <a:solidFill>
                  <a:srgbClr val="5A6478"/>
                </a:solidFill>
                <a:latin typeface="Calibri"/>
                <a:ea typeface="Calibri"/>
                <a:cs typeface="Calibri"/>
              </a:rPr>
              <a:t>14 / 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