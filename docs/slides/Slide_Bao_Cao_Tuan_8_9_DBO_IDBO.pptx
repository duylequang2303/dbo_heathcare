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9144" y="9144"/>
            <a:ext cx="12173407"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FB0CE"/>
                </a:solidFill>
                <a:latin typeface="Calibri"/>
                <a:ea typeface="Calibri"/>
                <a:cs typeface="Calibri"/>
              </a:rPr>
              <a:t>TRƯỜNG ĐẠI HỌC CÔNG THƯƠNG TP. HỒ CHÍ MINH — KHOA CÔNG NGHỆ THÔNG TIN</a:t>
            </a:r>
          </a:p>
        </p:txBody>
      </p:sp>
      <p:sp>
        <p:nvSpPr>
          <p:cNvPr id="4" name="Rectangle 3"/>
          <p:cNvSpPr/>
          <p:nvPr/>
        </p:nvSpPr>
        <p:spPr>
          <a:xfrm>
            <a:off x="822960" y="1005840"/>
            <a:ext cx="73152" cy="2743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987552"/>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KHÓA LUẬN TỐT NGHIỆP CỬ NHÂN CNTT · MÃ ĐỀ TÀI: CNTT-KLCN142</a:t>
            </a:r>
          </a:p>
        </p:txBody>
      </p:sp>
      <p:sp>
        <p:nvSpPr>
          <p:cNvPr id="6" name="TextBox 5"/>
          <p:cNvSpPr txBox="1"/>
          <p:nvPr/>
        </p:nvSpPr>
        <p:spPr>
          <a:xfrm>
            <a:off x="822960" y="1417320"/>
            <a:ext cx="10515600" cy="868680"/>
          </a:xfrm>
          <a:prstGeom prst="rect">
            <a:avLst/>
          </a:prstGeom>
          <a:noFill/>
        </p:spPr>
        <p:txBody>
          <a:bodyPr wrap="square" anchor="t" lIns="0" rIns="0" tIns="0" bIns="0">
            <a:spAutoFit/>
          </a:bodyPr>
          <a:lstStyle/>
          <a:p>
            <a:pPr algn="l">
              <a:lnSpc>
                <a:spcPct val="100000"/>
              </a:lnSpc>
              <a:spcAft>
                <a:spcPts val="0"/>
              </a:spcAft>
            </a:pPr>
            <a:r>
              <a:rPr sz="2800" b="1" i="0">
                <a:solidFill>
                  <a:srgbClr val="FFFFFF"/>
                </a:solidFill>
                <a:latin typeface="Calibri"/>
                <a:ea typeface="Calibri"/>
                <a:cs typeface="Calibri"/>
              </a:rPr>
              <a:t>BÁO CÁO TIẾN ĐỘ THỰC HIỆN ĐỀ TÀI (TUẦN 8 – 9)</a:t>
            </a:r>
          </a:p>
        </p:txBody>
      </p:sp>
      <p:sp>
        <p:nvSpPr>
          <p:cNvPr id="7" name="TextBox 6"/>
          <p:cNvSpPr txBox="1"/>
          <p:nvPr/>
        </p:nvSpPr>
        <p:spPr>
          <a:xfrm>
            <a:off x="822960" y="2331720"/>
            <a:ext cx="10515600" cy="365760"/>
          </a:xfrm>
          <a:prstGeom prst="rect">
            <a:avLst/>
          </a:prstGeom>
          <a:noFill/>
        </p:spPr>
        <p:txBody>
          <a:bodyPr wrap="square" anchor="t" lIns="0" rIns="0" tIns="0" bIns="0">
            <a:spAutoFit/>
          </a:bodyPr>
          <a:lstStyle/>
          <a:p>
            <a:pPr algn="l">
              <a:lnSpc>
                <a:spcPct val="100000"/>
              </a:lnSpc>
              <a:spcAft>
                <a:spcPts val="0"/>
              </a:spcAft>
            </a:pPr>
            <a:r>
              <a:rPr sz="1750" b="0" i="0">
                <a:solidFill>
                  <a:srgbClr val="DDE5F5"/>
                </a:solidFill>
                <a:latin typeface="Calibri"/>
                <a:ea typeface="Calibri"/>
                <a:cs typeface="Calibri"/>
              </a:rPr>
              <a:t>Tối Ưu Hóa 2 Tầng (Two-Tier Solver) &amp; Lập Kế Hoạch 7 Ngày Đa Bệnh Lý (IDBO vs DBO)</a:t>
            </a:r>
          </a:p>
        </p:txBody>
      </p:sp>
      <p:sp>
        <p:nvSpPr>
          <p:cNvPr id="8" name="TextBox 7"/>
          <p:cNvSpPr txBox="1"/>
          <p:nvPr/>
        </p:nvSpPr>
        <p:spPr>
          <a:xfrm>
            <a:off x="822960" y="2788920"/>
            <a:ext cx="10515600" cy="320040"/>
          </a:xfrm>
          <a:prstGeom prst="rect">
            <a:avLst/>
          </a:prstGeom>
          <a:noFill/>
        </p:spPr>
        <p:txBody>
          <a:bodyPr wrap="square" anchor="t" lIns="0" rIns="0" tIns="0" bIns="0">
            <a:spAutoFit/>
          </a:bodyPr>
          <a:lstStyle/>
          <a:p>
            <a:pPr algn="l">
              <a:lnSpc>
                <a:spcPct val="100000"/>
              </a:lnSpc>
              <a:spcAft>
                <a:spcPts val="0"/>
              </a:spcAft>
            </a:pPr>
            <a:r>
              <a:rPr sz="1350" b="0" i="0">
                <a:solidFill>
                  <a:srgbClr val="C9D5EA"/>
                </a:solidFill>
                <a:latin typeface="Calibri"/>
                <a:ea typeface="Calibri"/>
                <a:cs typeface="Calibri"/>
              </a:rPr>
              <a:t>Tự chọn món tự do từ 15.929 thực phẩm · Phạt lặp Diversity Penalty · Đánh giá Carbohydrate &amp; Kiểm soát Natri</a:t>
            </a:r>
          </a:p>
        </p:txBody>
      </p:sp>
      <p:sp>
        <p:nvSpPr>
          <p:cNvPr id="9" name="Rectangle 8"/>
          <p:cNvSpPr/>
          <p:nvPr/>
        </p:nvSpPr>
        <p:spPr>
          <a:xfrm>
            <a:off x="822960" y="3246120"/>
            <a:ext cx="2286000" cy="3175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57600"/>
            <a:ext cx="10515600" cy="1463040"/>
          </a:xfrm>
          <a:prstGeom prst="rect">
            <a:avLst/>
          </a:prstGeom>
          <a:noFill/>
        </p:spPr>
        <p:txBody>
          <a:bodyPr wrap="square" anchor="t" lIns="0" rIns="0" tIns="0" bIns="0">
            <a:spAutoFit/>
          </a:bodyPr>
          <a:lstStyle/>
          <a:p>
            <a:pPr algn="l">
              <a:lnSpc>
                <a:spcPct val="128000"/>
              </a:lnSpc>
              <a:spcAft>
                <a:spcPts val="0"/>
              </a:spcAft>
            </a:pPr>
            <a:r>
              <a:rPr sz="1400" b="1" i="0">
                <a:solidFill>
                  <a:srgbClr val="FFFFFF"/>
                </a:solidFill>
                <a:latin typeface="Calibri"/>
                <a:ea typeface="Calibri"/>
                <a:cs typeface="Calibri"/>
              </a:rPr>
              <a:t>Tên đề tài: </a:t>
            </a:r>
            <a:r>
              <a:rPr sz="1400" b="0" i="0">
                <a:solidFill>
                  <a:srgbClr val="C9D5EA"/>
                </a:solidFill>
                <a:latin typeface="Calibri"/>
                <a:ea typeface="Calibri"/>
                <a:cs typeface="Calibri"/>
              </a:rPr>
              <a:t>Hệ thống đề xuất thực đơn dinh dưỡng cá nhân hóa dựa trên thuật toán IDBO</a:t>
            </a:r>
          </a:p>
          <a:p>
            <a:pPr algn="l">
              <a:lnSpc>
                <a:spcPct val="128000"/>
              </a:lnSpc>
              <a:spcAft>
                <a:spcPts val="0"/>
              </a:spcAft>
            </a:pPr>
            <a:r>
              <a:rPr sz="1400" b="1" i="0">
                <a:solidFill>
                  <a:srgbClr val="FFFFFF"/>
                </a:solidFill>
                <a:latin typeface="Calibri"/>
                <a:ea typeface="Calibri"/>
                <a:cs typeface="Calibri"/>
              </a:rPr>
              <a:t>Giảng viên hướng dẫn: </a:t>
            </a:r>
            <a:r>
              <a:rPr sz="1400" b="0" i="0">
                <a:solidFill>
                  <a:srgbClr val="C9D5EA"/>
                </a:solidFill>
                <a:latin typeface="Calibri"/>
                <a:ea typeface="Calibri"/>
                <a:cs typeface="Calibri"/>
              </a:rPr>
              <a:t>ThS. Đinh Nguyễn Trọng Nghĩa</a:t>
            </a:r>
          </a:p>
          <a:p>
            <a:pPr algn="l">
              <a:lnSpc>
                <a:spcPct val="128000"/>
              </a:lnSpc>
              <a:spcAft>
                <a:spcPts val="0"/>
              </a:spcAft>
            </a:pPr>
            <a:r>
              <a:rPr sz="1400" b="1" i="0">
                <a:solidFill>
                  <a:srgbClr val="FFFFFF"/>
                </a:solidFill>
                <a:latin typeface="Calibri"/>
                <a:ea typeface="Calibri"/>
                <a:cs typeface="Calibri"/>
              </a:rPr>
              <a:t>Nhóm sinh viên thực hiện: </a:t>
            </a:r>
            <a:r>
              <a:rPr sz="1400" b="1" i="0">
                <a:solidFill>
                  <a:srgbClr val="FFEECC"/>
                </a:solidFill>
                <a:latin typeface="Calibri"/>
                <a:ea typeface="Calibri"/>
                <a:cs typeface="Calibri"/>
              </a:rPr>
              <a:t>Lê Quang Duy (2001230123) · Đặng Nguyễn Minh Đăng (2001230175) · Hồ Trung Cương (2001230070)</a:t>
            </a:r>
          </a:p>
        </p:txBody>
      </p:sp>
      <p:sp>
        <p:nvSpPr>
          <p:cNvPr id="11" name="TextBox 10"/>
          <p:cNvSpPr txBox="1"/>
          <p:nvPr/>
        </p:nvSpPr>
        <p:spPr>
          <a:xfrm>
            <a:off x="822960" y="6080760"/>
            <a:ext cx="10515600" cy="365760"/>
          </a:xfrm>
          <a:prstGeom prst="rect">
            <a:avLst/>
          </a:prstGeom>
          <a:noFill/>
        </p:spPr>
        <p:txBody>
          <a:bodyPr wrap="square" anchor="t" lIns="0" rIns="0" tIns="0" bIns="0">
            <a:spAutoFit/>
          </a:bodyPr>
          <a:lstStyle/>
          <a:p>
            <a:pPr algn="l">
              <a:lnSpc>
                <a:spcPct val="100000"/>
              </a:lnSpc>
              <a:spcAft>
                <a:spcPts val="0"/>
              </a:spcAft>
            </a:pPr>
            <a:r>
              <a:rPr sz="1200" b="0" i="0">
                <a:solidFill>
                  <a:srgbClr val="9FB0CE"/>
                </a:solidFill>
                <a:latin typeface="Calibri"/>
                <a:ea typeface="Calibri"/>
                <a:cs typeface="Calibri"/>
              </a:rPr>
              <a:t>Thời gian báo cáo: Tuần 8–9 (Tháng 10/2026) · 202/202 Unit Tests PASS · CSDL 15.929 món tích hợp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ĐỘNG LỰC NGHIÊN CỨU &amp; BỐI CẢNH</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Bước Chuyển Từ Tuần 7 Sang Tuần 8–9 &amp; Ba Nội Dung Trọng Tâm</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TUẦN 7: ĐỊNH LƯỢNG CỐ ĐỊNH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Hạn chế cố hữu cần vượt qua</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Cố định trước 8 món ăn cho 4 bữa từ template có sẵn.
• Thuật toán chỉ tối ưu gram x ∈ [25, 350]^8 (liên tục thuần túy).
• Chưa giải quyết bài toán: Người dùng muốn tự do đổi món hàng ngày.
• Chỉ đánh giá trên 1 ngày đơn lẻ, không hỗ trợ lập kế hoạch theo tuần.</a:t>
            </a:r>
          </a:p>
        </p:txBody>
      </p:sp>
      <p:sp>
        <p:nvSpPr>
          <p:cNvPr id="12" name="Rounded Rectangle 11"/>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TUẦN 8: BÀI TOÁN 2 TẦNG (TWO-TIER)</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Mixed-Integer Discrete &amp; Continuous</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Mở rộng không gian chọn món từ toàn bộ CSDL 15.929 thực phẩm.
• Tầng 1 (Outer): Tự chọn tổ hợp món theo cấu trúc bữa (rời rạc).
• Tầng 2 (Inner): Tối ưu định lượng gram theo mục tiêu calo (liên tục).
• Khẩu phần được làm tròn về bội số 5g thực tế chế biến.</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TUẦN 9: CHU KỲ 7 NGÀY &amp; ĐA BỆNH LÝ</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Diversity Penalty &amp; Profile-Specific Nutrition Constraints</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Cơ chế phạt lặp món Diversity Penalty cửa sổ trượt 2 ngày (&gt;= 80% độc nhất).
• Hỗ trợ 3 hồ sơ dinh dưỡng mô phỏng: P1 (Chuẩn), P2 (giảm tải Carbs), P3 (kiểm soát Natri).
• Ràng buộc thực nghiệm: Giảm tải Carbs cho P2; Natri &lt;= 1500mg/ngày cho P3.
• Bộ sinh đa phương án UX (Option A/B/C với các seed độc lập).</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Bối cảnh nghiên cứu và hướng phát triển mô hình Tuần 8–9</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THIẾT KẾ GIẢI THUẬT TUẦN 8</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Kiến Trúc Tối Ưu Hóa 2 Tầng (Mixed-Integer Two-Tier Solver)</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B2A4A"/>
                </a:solidFill>
                <a:latin typeface="Calibri"/>
                <a:ea typeface="Calibri"/>
                <a:cs typeface="Calibri"/>
              </a:rPr>
              <a:t>TẦNG 1 (OUTER): CHỌN TỔ HỢP MÓN RỜI RẠC</a:t>
            </a:r>
          </a:p>
        </p:txBody>
      </p:sp>
      <p:sp>
        <p:nvSpPr>
          <p:cNvPr id="9" name="TextBox 8"/>
          <p:cNvSpPr txBox="1"/>
          <p:nvPr/>
        </p:nvSpPr>
        <p:spPr>
          <a:xfrm>
            <a:off x="731520"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Không gian tìm kiếm: z ∈ [0, 1)^k — Ánh xạ chỉ mục Pool</a:t>
            </a:r>
          </a:p>
        </p:txBody>
      </p:sp>
      <p:sp>
        <p:nvSpPr>
          <p:cNvPr id="10" name="Rectangle 9"/>
          <p:cNvSpPr/>
          <p:nvPr/>
        </p:nvSpPr>
        <p:spPr>
          <a:xfrm>
            <a:off x="731520"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1. Biểu diễn cá thể bọ hung:</a:t>
            </a:r>
          </a:p>
        </p:txBody>
      </p:sp>
      <p:sp>
        <p:nvSpPr>
          <p:cNvPr id="12" name="TextBox 11"/>
          <p:cNvSpPr txBox="1"/>
          <p:nvPr/>
        </p:nvSpPr>
        <p:spPr>
          <a:xfrm>
            <a:off x="731520"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Mỗi cá thể là vector liên tục z = (z₁, z₂, ..., z₈) với z_i ∈ [0, 1).
• Chỉ số món thực phẩm trong Pool ứng viên được giải mã theo công thức:
      idx_i = floor(z_i × |Pool_i|), với Pool_i là danh mục món cho slot i.</a:t>
            </a:r>
          </a:p>
        </p:txBody>
      </p:sp>
      <p:sp>
        <p:nvSpPr>
          <p:cNvPr id="13" name="TextBox 12"/>
          <p:cNvSpPr txBox="1"/>
          <p:nvPr/>
        </p:nvSpPr>
        <p:spPr>
          <a:xfrm>
            <a:off x="731520"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2. Phân loại theo cơ cấu 4 bữa ăn (meal_counts):</a:t>
            </a:r>
          </a:p>
        </p:txBody>
      </p:sp>
      <p:sp>
        <p:nvSpPr>
          <p:cNvPr id="14" name="TextBox 13"/>
          <p:cNvSpPr txBox="1"/>
          <p:nvPr/>
        </p:nvSpPr>
        <p:spPr>
          <a:xfrm>
            <a:off x="731520"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Bữa sáng (2 món): Ngũ cốc, bánh mì, sữa, món điểm tâm.
• Bữa trưa (2 món): Món chính đạm cao (thịt/cá) + Canh/rau củ.
• Bữa tối (2 món): Món chính nhẹ + Rau/củ quả bổ sung.
• Bữa phụ (2 món): Trái cây, hạt dinh dưỡng, sữa chua.</a:t>
            </a:r>
          </a:p>
        </p:txBody>
      </p:sp>
      <p:sp>
        <p:nvSpPr>
          <p:cNvPr id="15" name="TextBox 14"/>
          <p:cNvSpPr txBox="1"/>
          <p:nvPr/>
        </p:nvSpPr>
        <p:spPr>
          <a:xfrm>
            <a:off x="731520"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3. Đánh giá độ thích nghi (Fitness function):</a:t>
            </a:r>
          </a:p>
        </p:txBody>
      </p:sp>
      <p:sp>
        <p:nvSpPr>
          <p:cNvPr id="16" name="TextBox 15"/>
          <p:cNvSpPr txBox="1"/>
          <p:nvPr/>
        </p:nvSpPr>
        <p:spPr>
          <a:xfrm>
            <a:off x="731520"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Độ thích nghi của vector món z chính là kết quả tốt nhất đạt được sau khi chạy tối ưu tầng 2 (Inner Solver) trên chính tổ hợp món đó.</a:t>
            </a:r>
          </a:p>
        </p:txBody>
      </p:sp>
      <p:sp>
        <p:nvSpPr>
          <p:cNvPr id="17" name="Rounded Rectangle 16"/>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D6F6F"/>
                </a:solidFill>
                <a:latin typeface="Calibri"/>
                <a:ea typeface="Calibri"/>
                <a:cs typeface="Calibri"/>
              </a:rPr>
              <a:t>TẦNG 2 (INNER): TỐI ƯU ĐỊNH LƯỢNG KHẨU PHẦN</a:t>
            </a:r>
          </a:p>
        </p:txBody>
      </p:sp>
      <p:sp>
        <p:nvSpPr>
          <p:cNvPr id="20" name="TextBox 19"/>
          <p:cNvSpPr txBox="1"/>
          <p:nvPr/>
        </p:nvSpPr>
        <p:spPr>
          <a:xfrm>
            <a:off x="6473952"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217A4B"/>
                </a:solidFill>
                <a:latin typeface="Calibri"/>
                <a:ea typeface="Calibri"/>
                <a:cs typeface="Calibri"/>
              </a:rPr>
              <a:t>Không gian tìm kiếm: x ∈ [25, 350]^k — Gram khẩu phần liên tục</a:t>
            </a:r>
          </a:p>
        </p:txBody>
      </p:sp>
      <p:sp>
        <p:nvSpPr>
          <p:cNvPr id="21" name="Rectangle 20"/>
          <p:cNvSpPr/>
          <p:nvPr/>
        </p:nvSpPr>
        <p:spPr>
          <a:xfrm>
            <a:off x="6473952"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1. Thiết lập bài toán tối ưu liên tục:</a:t>
            </a:r>
          </a:p>
        </p:txBody>
      </p:sp>
      <p:sp>
        <p:nvSpPr>
          <p:cNvPr id="23" name="TextBox 22"/>
          <p:cNvSpPr txBox="1"/>
          <p:nvPr/>
        </p:nvSpPr>
        <p:spPr>
          <a:xfrm>
            <a:off x="6473952"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Nhận đầu vào là k món ăn cụ thể đã được Tầng 1 cố định.
• Quần thể bọ hung tối ưu vector gram x = (x₁, ..., x_k) trong miền [25g, 350g].
• Sử dụng giải thuật IDBO với toán tử Sine-Tent hỗn loạn &amp; đột biến Cauchy.</a:t>
            </a:r>
          </a:p>
        </p:txBody>
      </p:sp>
      <p:sp>
        <p:nvSpPr>
          <p:cNvPr id="24" name="TextBox 23"/>
          <p:cNvSpPr txBox="1"/>
          <p:nvPr/>
        </p:nvSpPr>
        <p:spPr>
          <a:xfrm>
            <a:off x="6473952"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2. Hàm mục tiêu &amp; Hệ thống hàm phạt đa tầng:</a:t>
            </a:r>
          </a:p>
        </p:txBody>
      </p:sp>
      <p:sp>
        <p:nvSpPr>
          <p:cNvPr id="25" name="TextBox 24"/>
          <p:cNvSpPr txBox="1"/>
          <p:nvPr/>
        </p:nvSpPr>
        <p:spPr>
          <a:xfrm>
            <a:off x="6473952"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Hàm mục tiêu kết hợp phạt vi phạm năng lượng, dinh dưỡng đa lượng và các giới hạn dinh dưỡng có dữ liệu hỗ trợ.
• Thời gian giải nhanh: 0.17–0.30s cho mỗi lần chạy Inner (chạy tốt).</a:t>
            </a:r>
          </a:p>
        </p:txBody>
      </p:sp>
      <p:sp>
        <p:nvSpPr>
          <p:cNvPr id="26" name="TextBox 25"/>
          <p:cNvSpPr txBox="1"/>
          <p:nvPr/>
        </p:nvSpPr>
        <p:spPr>
          <a:xfrm>
            <a:off x="6473952"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3. Làm tròn khẩu phần thực tế (Portion Rounding):</a:t>
            </a:r>
          </a:p>
        </p:txBody>
      </p:sp>
      <p:sp>
        <p:nvSpPr>
          <p:cNvPr id="27" name="TextBox 26"/>
          <p:cNvSpPr txBox="1"/>
          <p:nvPr/>
        </p:nvSpPr>
        <p:spPr>
          <a:xfrm>
            <a:off x="6473952"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Áp dụng module portion_utils: round_portions(x, step=5).
• Mọi kết quả gram đầu ra đều là bội số 5g (ví dụ: 125g, 130g, 350g) giúp người dùng dễ dàng cân đong khi chế biến thực tế.</a:t>
            </a:r>
          </a:p>
        </p:txBody>
      </p:sp>
      <p:sp>
        <p:nvSpPr>
          <p:cNvPr id="28" name="Rectangle 27"/>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Kiến trúc mô hình tối ưu 2 tầng chọn món &amp; định lượng khẩu phần</a:t>
            </a:r>
          </a:p>
        </p:txBody>
      </p:sp>
      <p:sp>
        <p:nvSpPr>
          <p:cNvPr id="30" name="TextBox 29"/>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TIỀN XỬ LÝ &amp; GIẢM CHI PHÍ TÍNH TOÁN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Không Gian Tìm Kiếm &amp; Chiến Lược Lọc Ứng Viên (Candidate Pools)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15.929 Món</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CSDL Gốc Tích Hợp</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Kho thực phẩm sạch USDA &amp; Viện Dinh dưỡng VN</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4 Bể Ứng Viên</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Candidate Pools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Sáng, Trưa, Tối, Phụ theo nhóm dinh dưỡng</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Lọc Ràng Buộc</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Dị Ứng &amp; Sở Thích</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Loại bỏ hải sản, gluten, đậu phộng theo hồ sơ</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Khả Thi 100%</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Bảo Toàn Nghiệm</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Đảm bảo mỗi slot có tối thiểu 50–200 món hợp lệ</a:t>
            </a:r>
          </a:p>
        </p:txBody>
      </p:sp>
      <p:graphicFrame>
        <p:nvGraphicFramePr>
          <p:cNvPr id="26" name="Table 25"/>
          <p:cNvGraphicFramePr>
            <a:graphicFrameLocks noGrp="1"/>
          </p:cNvGraphicFramePr>
          <p:nvPr/>
        </p:nvGraphicFramePr>
        <p:xfrm>
          <a:off x="502920" y="2514600"/>
          <a:ext cx="11183112" cy="3127248"/>
        </p:xfrm>
        <a:graphic>
          <a:graphicData uri="http://schemas.openxmlformats.org/drawingml/2006/table">
            <a:tbl>
              <a:tblPr firstRow="1" bandRow="1">
                <a:tableStyleId>{5C22544A-7EE6-4342-B048-85BDC9FD1C3A}</a:tableStyleId>
              </a:tblPr>
              <a:tblGrid>
                <a:gridCol w="1828800"/>
                <a:gridCol w="4114800"/>
                <a:gridCol w="1645920"/>
                <a:gridCol w="3593592"/>
              </a:tblGrid>
              <a:tr h="384048">
                <a:tc>
                  <a:txBody>
                    <a:bodyPr/>
                    <a:lstStyle/>
                    <a:p>
                      <a:pPr algn="l"/>
                      <a:r>
                        <a:rPr sz="1150" b="1" i="0">
                          <a:solidFill>
                            <a:srgbClr val="FFFFFF"/>
                          </a:solidFill>
                          <a:latin typeface="Calibri"/>
                          <a:ea typeface="Calibri"/>
                          <a:cs typeface="Calibri"/>
                        </a:rPr>
                        <a:t>Bữa ăn (Slot)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Tiêu chí phân loại món ăn (Category / Macro)</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Kích thước Pool</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Ví dụ món ăn tiêu biểu trong CSDL</a:t>
                      </a:r>
                    </a:p>
                  </a:txBody>
                  <a:tcPr marL="73152" marR="73152" marT="27432" marB="27432" anchor="ctr">
                    <a:solidFill>
                      <a:srgbClr val="1B2A4A"/>
                    </a:solidFill>
                  </a:tcPr>
                </a:tc>
              </a:tr>
              <a:tr h="548640">
                <a:tc>
                  <a:txBody>
                    <a:bodyPr/>
                    <a:lstStyle/>
                    <a:p>
                      <a:pPr algn="l"/>
                      <a:r>
                        <a:rPr sz="1000" b="1" i="0">
                          <a:solidFill>
                            <a:srgbClr val="1E2430"/>
                          </a:solidFill>
                          <a:latin typeface="Calibri"/>
                          <a:ea typeface="Calibri"/>
                          <a:cs typeface="Calibri"/>
                        </a:rPr>
                        <a:t>Bữa sáng
(Breakfast)</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Giàu Carbohydrate phức hợp, ngũ cốc, bánh mì, sữa tươi, cháo dinh dưỡng</a:t>
                      </a:r>
                    </a:p>
                  </a:txBody>
                  <a:tcPr marL="73152" marR="73152" marT="27432" marB="27432" anchor="ctr">
                    <a:solidFill>
                      <a:srgbClr val="F5F7FB"/>
                    </a:solidFill>
                  </a:tcPr>
                </a:tc>
                <a:tc>
                  <a:txBody>
                    <a:bodyPr/>
                    <a:lstStyle/>
                    <a:p>
                      <a:pPr algn="ctr"/>
                      <a:r>
                        <a:rPr sz="1000" b="1" i="0">
                          <a:solidFill>
                            <a:srgbClr val="1B2A4A"/>
                          </a:solidFill>
                          <a:latin typeface="Calibri"/>
                          <a:ea typeface="Calibri"/>
                          <a:cs typeface="Calibri"/>
                        </a:rPr>
                        <a:t>2.140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Artisan Bread, Quaker Oats, Sữa đậu nành, Bánh bao chay</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trưa
(Lunch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Hàm lượng Protein cao (thịt heo, bò, gà, cá, tôm, đậu phụ), ít đường</a:t>
                      </a:r>
                    </a:p>
                  </a:txBody>
                  <a:tcPr marL="73152" marR="73152" marT="27432" marB="27432" anchor="ctr">
                    <a:solidFill>
                      <a:srgbClr val="FFFFFF"/>
                    </a:solidFill>
                  </a:tcPr>
                </a:tc>
                <a:tc>
                  <a:txBody>
                    <a:bodyPr/>
                    <a:lstStyle/>
                    <a:p>
                      <a:pPr algn="ctr"/>
                      <a:r>
                        <a:rPr sz="1000" b="1" i="0">
                          <a:solidFill>
                            <a:srgbClr val="1D6F6F"/>
                          </a:solidFill>
                          <a:latin typeface="Calibri"/>
                          <a:ea typeface="Calibri"/>
                          <a:cs typeface="Calibri"/>
                        </a:rPr>
                        <a:t>3.480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Ức gà áp chảo, Cá thu sốt cà, Thịt nạc xào nấm, Trứng hấp</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Canh / Rau trưa
(Lunch Side)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Rau xanh tươi, củ quả, nấm, súp rau củ, giàu chất xơ &amp; khoáng chất</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1.850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Canh mồng tơi nấu tôm, Xà lách trộn dấm, Bông cải xanh hấp</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tối
(Dinner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Đạm dễ tiêu hóa (cá trắng, ức gà, đậu hũ), khống chế Natri &amp; chất béo</a:t>
                      </a:r>
                    </a:p>
                  </a:txBody>
                  <a:tcPr marL="73152" marR="73152" marT="27432" marB="27432" anchor="ctr">
                    <a:solidFill>
                      <a:srgbClr val="FFFFFF"/>
                    </a:solidFill>
                  </a:tcPr>
                </a:tc>
                <a:tc>
                  <a:txBody>
                    <a:bodyPr/>
                    <a:lstStyle/>
                    <a:p>
                      <a:pPr algn="ctr"/>
                      <a:r>
                        <a:rPr sz="1000" b="1" i="0">
                          <a:solidFill>
                            <a:srgbClr val="2D3E63"/>
                          </a:solidFill>
                          <a:latin typeface="Calibri"/>
                          <a:ea typeface="Calibri"/>
                          <a:cs typeface="Calibri"/>
                        </a:rPr>
                        <a:t>3.120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Cá hồi áp chảo, Đậu hũ sốt nấm, Thịt nạc luộc, Quail breast</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Rau / Bữa phụ
(Dinner Side &amp; Snack)</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Trái cây ít ngọt, các loại hạt (hạnh nhân, óc chó), sữa chua Hy Lạp</a:t>
                      </a:r>
                    </a:p>
                  </a:txBody>
                  <a:tcPr marL="73152" marR="73152" marT="27432" marB="27432" anchor="ctr">
                    <a:solidFill>
                      <a:srgbClr val="F5F7FB"/>
                    </a:solidFill>
                  </a:tcPr>
                </a:tc>
                <a:tc>
                  <a:txBody>
                    <a:bodyPr/>
                    <a:lstStyle/>
                    <a:p>
                      <a:pPr algn="ctr"/>
                      <a:r>
                        <a:rPr sz="1000" b="1" i="0">
                          <a:solidFill>
                            <a:srgbClr val="D9822B"/>
                          </a:solidFill>
                          <a:latin typeface="Calibri"/>
                          <a:ea typeface="Calibri"/>
                          <a:cs typeface="Calibri"/>
                        </a:rPr>
                        <a:t>2.680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Táo xanh, Sữa chua không đường, Hạt dẻ cười, Sinh tố bơ</a:t>
                      </a:r>
                    </a:p>
                  </a:txBody>
                  <a:tcPr marL="73152" marR="73152" marT="27432" marB="27432" anchor="ctr">
                    <a:solidFill>
                      <a:srgbClr val="F5F7FB"/>
                    </a:solidFill>
                  </a:tcPr>
                </a:tc>
              </a:tr>
            </a:tbl>
          </a:graphicData>
        </a:graphic>
      </p:graphicFrame>
      <p:sp>
        <p:nvSpPr>
          <p:cNvPr id="27" name="Rectangle 26"/>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Chiến lược phân loại bể ứng viên và lọc tiền xử lý không gian tìm kiếm</a:t>
            </a:r>
          </a:p>
        </p:txBody>
      </p:sp>
      <p:sp>
        <p:nvSpPr>
          <p:cNvPr id="29" name="TextBox 28"/>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ĐỘC LẬP TRÊN PROFILE P1 (10 SEEDS: 8001–8010)</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8: Đối Chuẩn DBO vs IDBO 2 Tầng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99.5106</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Best Fitness Đạt Được</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Cả 2 thuật toán đều tìm được nghiệm phù hợp</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98.2148</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Mean Fitness (10 Runs)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Chạy ổn định tốt (Std 1.0663)</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0.0 / 10</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Vi Phạm Ràng Buộc</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100% lượt chạy không ghi nhận vi phạm trong tập ràng buộc kỹ thuật tuần 8</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7.6s – 8.2s</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Thời Gian Giải TB</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Có tiềm năng tích hợp Web/API sau khi tối ưu thêm hiệu năng</a:t>
            </a:r>
          </a:p>
        </p:txBody>
      </p:sp>
      <p:graphicFrame>
        <p:nvGraphicFramePr>
          <p:cNvPr id="26" name="Table 25"/>
          <p:cNvGraphicFramePr>
            <a:graphicFrameLocks noGrp="1"/>
          </p:cNvGraphicFramePr>
          <p:nvPr/>
        </p:nvGraphicFramePr>
        <p:xfrm>
          <a:off x="502920" y="2514600"/>
          <a:ext cx="11365992" cy="1261872"/>
        </p:xfrm>
        <a:graphic>
          <a:graphicData uri="http://schemas.openxmlformats.org/drawingml/2006/table">
            <a:tbl>
              <a:tblPr firstRow="1" bandRow="1">
                <a:tableStyleId>{5C22544A-7EE6-4342-B048-85BDC9FD1C3A}</a:tableStyleId>
              </a:tblPr>
              <a:tblGrid>
                <a:gridCol w="1645920"/>
                <a:gridCol w="914400"/>
                <a:gridCol w="1188720"/>
                <a:gridCol w="1371600"/>
                <a:gridCol w="1371600"/>
                <a:gridCol w="1280160"/>
                <a:gridCol w="1371600"/>
                <a:gridCol w="1216152"/>
                <a:gridCol w="1005840"/>
              </a:tblGrid>
              <a:tr h="384048">
                <a:tc>
                  <a:txBody>
                    <a:bodyPr/>
                    <a:lstStyle/>
                    <a:p>
                      <a:pPr algn="l"/>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Hồ sơ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lượt chạy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Best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Độ lệch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Worst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Thời gian TB (s)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a:t>
                      </a:r>
                    </a:p>
                  </a:txBody>
                  <a:tcPr marL="73152" marR="73152" marT="27432" marB="27432" anchor="ctr">
                    <a:solidFill>
                      <a:srgbClr val="1B2A4A"/>
                    </a:solidFill>
                  </a:tcPr>
                </a:tc>
              </a:tr>
              <a:tr h="438912">
                <a:tc>
                  <a:txBody>
                    <a:bodyPr/>
                    <a:lstStyle/>
                    <a:p>
                      <a:pPr algn="l"/>
                      <a:r>
                        <a:rPr sz="1100" b="1" i="0">
                          <a:solidFill>
                            <a:srgbClr val="1E2430"/>
                          </a:solidFill>
                          <a:latin typeface="Calibri"/>
                          <a:ea typeface="Calibri"/>
                          <a:cs typeface="Calibri"/>
                        </a:rPr>
                        <a:t>DBO 2-Tier</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5F7FB"/>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7.60s</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5F7FB"/>
                    </a:solidFill>
                  </a:tcPr>
                </a:tc>
              </a:tr>
              <a:tr h="438912">
                <a:tc>
                  <a:txBody>
                    <a:bodyPr/>
                    <a:lstStyle/>
                    <a:p>
                      <a:pPr algn="l"/>
                      <a:r>
                        <a:rPr sz="1100" b="1" i="0">
                          <a:solidFill>
                            <a:srgbClr val="1E2430"/>
                          </a:solidFill>
                          <a:latin typeface="Calibri"/>
                          <a:ea typeface="Calibri"/>
                          <a:cs typeface="Calibri"/>
                        </a:rPr>
                        <a:t>IDBO 2-Tier</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FFFFF"/>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8.25s</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FFFFF"/>
                    </a:solidFill>
                  </a:tcPr>
                </a:tc>
              </a:tr>
            </a:tbl>
          </a:graphicData>
        </a:graphic>
      </p:graphicFrame>
      <p:sp>
        <p:nvSpPr>
          <p:cNvPr id="27" name="Rounded Rectangle 26"/>
          <p:cNvSpPr/>
          <p:nvPr/>
        </p:nvSpPr>
        <p:spPr>
          <a:xfrm>
            <a:off x="502920" y="4160520"/>
            <a:ext cx="11183112"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79392"/>
            <a:ext cx="1069848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PHÂN TÍCH KẾT QUẢ THỰC NGHIỆM ĐỐI CHUẨN TUẦN 8 (10 RUNS ĐỘC LẬP):</a:t>
            </a:r>
          </a:p>
        </p:txBody>
      </p:sp>
      <p:sp>
        <p:nvSpPr>
          <p:cNvPr id="29" name="TextBox 28"/>
          <p:cNvSpPr txBox="1"/>
          <p:nvPr/>
        </p:nvSpPr>
        <p:spPr>
          <a:xfrm>
            <a:off x="731520" y="4617720"/>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1. Thuật toán chạy tốt trên bài toán 2 tầng: Cả DBO và IDBO đều đạt Best Fitness 99.5106 / 100 tại seed 8003, với mức lệch calo thực đơn 8.1 kcal (0.32% so với mục tiêu 2491.6 kcal của Duy).</a:t>
            </a:r>
          </a:p>
        </p:txBody>
      </p:sp>
      <p:sp>
        <p:nvSpPr>
          <p:cNvPr id="30" name="TextBox 29"/>
          <p:cNvSpPr txBox="1"/>
          <p:nvPr/>
        </p:nvSpPr>
        <p:spPr>
          <a:xfrm>
            <a:off x="731520" y="5093208"/>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2. Kết quả so sánh: DBO và IDBO cho cùng Best/Mean Fitness trên 10 seed. Trong cấu hình 25 vòng lặp, telemetry cho thấy perturbation/restart chưa kích hoạt đáng kể; vì vậy chưa có bằng chứng IDBO vượt trội hơn DBO trong phạm vi thử nghiệm này.</a:t>
            </a:r>
          </a:p>
        </p:txBody>
      </p:sp>
      <p:sp>
        <p:nvSpPr>
          <p:cNvPr id="31" name="TextBox 30"/>
          <p:cNvSpPr txBox="1"/>
          <p:nvPr/>
        </p:nvSpPr>
        <p:spPr>
          <a:xfrm>
            <a:off x="731520" y="5568696"/>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3. Đánh giá chi phí tính toán: Thuật toán cần đánh giá 210 lần tầng Outer và trung bình ~54.800 lần tầng Inner. Thời gian 7.60s – 8.25s cho thấy cần tiếp tục tối ưu, cache hoặc xử lý nền trước khi tích hợp Web/API thời gian thực.</a:t>
            </a:r>
          </a:p>
        </p:txBody>
      </p:sp>
      <p:sp>
        <p:nvSpPr>
          <p:cNvPr id="32" name="Rectangle 3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thực nghiệm 10 runs độc lập Two-Tier DBO vs IDBO trên Profile P1</a:t>
            </a:r>
          </a:p>
        </p:txBody>
      </p:sp>
      <p:sp>
        <p:nvSpPr>
          <p:cNvPr id="34" name="TextBox 3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TỐC ĐỘ HỘI TỤ &amp; ĐỘ ỔN ĐỊNH CỦA GIẢI THUẬT</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Đồ Thị Hội Tụ Tầng Ngoài &amp; Phân Phối Nghiệm (W8-F1 &amp; W8-F2)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2tier_p1.png"/>
          <p:cNvPicPr>
            <a:picLocks noChangeAspect="1"/>
          </p:cNvPicPr>
          <p:nvPr/>
        </p:nvPicPr>
        <p:blipFill>
          <a:blip r:embed="rId2"/>
          <a:stretch>
            <a:fillRect/>
          </a:stretch>
        </p:blipFill>
        <p:spPr>
          <a:xfrm>
            <a:off x="502920" y="1234440"/>
            <a:ext cx="5440680" cy="3324860"/>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W8-F1: Đường cong hội tụ tầng ngoài (Outer Iterations 1–25)
• DBO và IDBO cho đường hội tụ gần như trùng nhau trong cấu hình 25 vòng lặp.
• Cơ chế perturbation/restart chưa kích hoạt đáng kể; chưa thể kết luận IDBO tốt hơn DBO.</a:t>
            </a:r>
          </a:p>
        </p:txBody>
      </p:sp>
      <p:pic>
        <p:nvPicPr>
          <p:cNvPr id="9" name="Picture 8" descr="fig_boxplot_2tier_p1.png"/>
          <p:cNvPicPr>
            <a:picLocks noChangeAspect="1"/>
          </p:cNvPicPr>
          <p:nvPr/>
        </p:nvPicPr>
        <p:blipFill>
          <a:blip r:embed="rId3"/>
          <a:stretch>
            <a:fillRect/>
          </a:stretch>
        </p:blipFill>
        <p:spPr>
          <a:xfrm>
            <a:off x="6245352" y="1234440"/>
            <a:ext cx="5004261" cy="3931920"/>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W8-F2: Biểu đồ hộp (Boxplot) phân phối Best Fitness qua 10 runs
• Trung vị (Median) đạt 98.4 điểm, khoảng biến thiên hẹp [96.3, 99.5].
• Không quan sát thấy outlier thấp trong 10 seed; kết quả chưa đủ để loại trừ nguy cơ nghiệm cục bộ ở cấu hình khác.</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Đồ thị hội tụ và phân phối giá trị thích nghi qua 10 lượt chạy thực nghiệm</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MINH HỌA CASE STUDY TRÊN PROFILE P1 (DUY — 2491.6 KCAL)</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Cân Đối Dinh Dưỡng &amp; Minh Họa Nghiệm Tối Ưu Kỹ Thuật (W8-F3 &amp; 5g Portions)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nutrition_p1.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THỰC ĐƠN ĐỀ XUẤT CHO PROFILE P1 (BEST SEED 8003 — FITNESS 99.51)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Tổng Năng lượng: 2483.6 / 2491.6 kcal (Lệch 8.1 kcal, 0.32%) · Vi phạm: 0</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17520"/>
        </p:xfrm>
        <a:graphic>
          <a:graphicData uri="http://schemas.openxmlformats.org/drawingml/2006/table">
            <a:tbl>
              <a:tblPr firstRow="1" bandRow="1">
                <a:tableStyleId>{5C22544A-7EE6-4342-B048-85BDC9FD1C3A}</a:tableStyleId>
              </a:tblPr>
              <a:tblGrid>
                <a:gridCol w="914400"/>
                <a:gridCol w="2862072"/>
                <a:gridCol w="868680"/>
                <a:gridCol w="868680"/>
              </a:tblGrid>
              <a:tr h="384048">
                <a:tc>
                  <a:txBody>
                    <a:bodyPr/>
                    <a:lstStyle/>
                    <a:p>
                      <a:pPr algn="ctr"/>
                      <a:r>
                        <a:rPr sz="1150" b="1" i="0">
                          <a:solidFill>
                            <a:srgbClr val="FFFFFF"/>
                          </a:solidFill>
                          <a:latin typeface="Calibri"/>
                          <a:ea typeface="Calibri"/>
                          <a:cs typeface="Calibri"/>
                        </a:rPr>
                        <a:t>Bữa ăn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Tên món ăn (15.929 CSDL)</a:t>
                      </a:r>
                    </a:p>
                  </a:txBody>
                  <a:tcPr marL="73152" marR="73152" marT="27432" marB="27432" anchor="ctr">
                    <a:solidFill>
                      <a:srgbClr val="1B2A4A"/>
                    </a:solidFill>
                  </a:tcPr>
                </a:tc>
                <a:tc>
                  <a:txBody>
                    <a:bodyPr/>
                    <a:lstStyle/>
                    <a:p>
                      <a:pPr algn="r"/>
                      <a:r>
                        <a:rPr sz="1150" b="1" i="0">
                          <a:solidFill>
                            <a:srgbClr val="FFFFFF"/>
                          </a:solidFill>
                          <a:latin typeface="Calibri"/>
                          <a:ea typeface="Calibri"/>
                          <a:cs typeface="Calibri"/>
                        </a:rPr>
                        <a:t>Gram gốc</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Gram thực tế (5g)</a:t>
                      </a:r>
                    </a:p>
                  </a:txBody>
                  <a:tcPr marL="73152" marR="73152" marT="27432" marB="27432" anchor="ctr">
                    <a:solidFill>
                      <a:srgbClr val="1B2A4A"/>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Apple &amp; Cinnamon Filled Crepes</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Artisan Bread Loaf</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85.1g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Artichoke Hearts Natural</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Chicken, broilers or fryers (thigh)</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26.8g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25g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Quail, breast, meat only, raw</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123.4g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125g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Albacore Solid With Tuna, Olive Oil</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119.3g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120g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 Non-Alcoholic Drink Mix (Mango)</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157.6g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160g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100% Pure Sesame Tahini</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84.9g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bl>
          </a:graphicData>
        </a:graphic>
      </p:graphicFrame>
      <p:sp>
        <p:nvSpPr>
          <p:cNvPr id="13" name="TextBox 12"/>
          <p:cNvSpPr txBox="1"/>
          <p:nvPr/>
        </p:nvSpPr>
        <p:spPr>
          <a:xfrm>
            <a:off x="6080760" y="5669280"/>
            <a:ext cx="5394960" cy="457200"/>
          </a:xfrm>
          <a:prstGeom prst="rect">
            <a:avLst/>
          </a:prstGeom>
          <a:noFill/>
        </p:spPr>
        <p:txBody>
          <a:bodyPr wrap="square" anchor="t" lIns="0" rIns="0" tIns="0" bIns="0">
            <a:spAutoFit/>
          </a:bodyPr>
          <a:lstStyle/>
          <a:p>
            <a:pPr algn="l">
              <a:lnSpc>
                <a:spcPct val="115000"/>
              </a:lnSpc>
              <a:spcAft>
                <a:spcPts val="0"/>
              </a:spcAft>
            </a:pPr>
            <a:r>
              <a:rPr sz="919" b="0" i="0">
                <a:solidFill>
                  <a:srgbClr val="5A6478"/>
                </a:solidFill>
                <a:latin typeface="Calibri"/>
                <a:ea typeface="Calibri"/>
                <a:cs typeface="Calibri"/>
              </a:rPr>
              <a:t>• Đạt chuẩn khẩu phần: Hàm round_portions(x, step=5) loại bỏ hoàn toàn số lẻ thập phân.
• Dinh dưỡng: Protein 122.8g | Carbs 312.4g | Fat 82.1g. Nghiệm chưa áp dụng DishRole và serving bounds theo nhóm; một số tổ hợp chưa phù hợp thực tế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Minh họa nghiệm tối ưu kỹ thuật và giới hạn về tính thực tế ẩm thực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MÔ HÌNH HÓA THỰC ĐƠN TUẦN 9</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Lập Thực Đơn Chu Kỳ 7 Ngày &amp; Cơ Chế Phạt Lặp Món (Diversity Penalty)</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Cơ chế cửa sổ trượt 2 ngày (Lookback Window = 2):</a:t>
            </a:r>
          </a:p>
        </p:txBody>
      </p:sp>
      <p:sp>
        <p:nvSpPr>
          <p:cNvPr id="9" name="Rectangle 8"/>
          <p:cNvSpPr/>
          <p:nvPr/>
        </p:nvSpPr>
        <p:spPr>
          <a:xfrm>
            <a:off x="68580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Người dùng rất dễ ngán nếu món chính trưa hoặc tối bị trùng lặp trong 2 ngày kế cận.
• Thuật toán lưu vết lịch sử món chính: history_food_ids = [d₁, d₂, ..., d_t-1].
• Vị trí kiểm tra món chính: MAIN_SLOTS = ('lunch_0', 'dinner_0').
• Số lần lặp được nhân đôi nếu món xuất hiện ở cả 2 ngày trước đó.</a:t>
            </a:r>
          </a:p>
        </p:txBody>
      </p:sp>
      <p:sp>
        <p:nvSpPr>
          <p:cNvPr id="11" name="Rounded Rectangle 10"/>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Công thức toán học hàm phạt Diversity Penalty:</a:t>
            </a:r>
          </a:p>
        </p:txBody>
      </p:sp>
      <p:sp>
        <p:nvSpPr>
          <p:cNvPr id="14" name="Rectangle 13"/>
          <p:cNvSpPr/>
          <p:nvPr/>
        </p:nvSpPr>
        <p:spPr>
          <a:xfrm>
            <a:off x="448056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Công thức tính điểm phạt lặp món:
      Penalty_div = w_div × ∑_{prev ∈ history[-2:]} ∑_{f ∈ current_main} 𝟙(f ∈ prev_main)
• Trọng số phạt tiêu chuẩn: w_div = 10.0 điểm cho mỗi lượt trùng món chính.
• Điểm thích nghi điều chỉnh: Fitness_adjusted = Fitness_raw - Penalty_div.</a:t>
            </a:r>
          </a:p>
        </p:txBody>
      </p:sp>
      <p:sp>
        <p:nvSpPr>
          <p:cNvPr id="16" name="Rounded Rectangle 15"/>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Chỉ số định lượng độ đa dạng thực đơn tuần:</a:t>
            </a:r>
          </a:p>
        </p:txBody>
      </p:sp>
      <p:sp>
        <p:nvSpPr>
          <p:cNvPr id="19" name="Rectangle 18"/>
          <p:cNvSpPr/>
          <p:nvPr/>
        </p:nvSpPr>
        <p:spPr>
          <a:xfrm>
            <a:off x="827532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Tỷ lệ món chính độc nhất (Unique Main Dish Percentage):
      % Unique = (|Unique Main Dishes in 7 Days| / Total Main Dishes Slots) × 100%
• Chuẩn khoa học đề ra: % Unique &gt;= 80.0% (tối thiểu 12/14 món chính độc nhất).
• Thực nghiệm chứng minh thuật toán đạt từ 85.7% đến 100.0% độ độc nhất.</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Mô hình lập thực đơn chu kỳ 7 ngày và cơ chế Diversity Penalty</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RÀNG BUỘC DINH DƯỠNG THEO BA HỒ SƠ MÔ PHỎNG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Mở Rộng Ba Hồ Sơ Dinh Dưỡng Mô Phỏng (Multi-Profile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PROFILE P1: KHỎE MẠNH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Người dùng chuẩn: Lê Quang Duy (22 tuổi)</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170cm | Nặng: 65kg.
• Mức vận động: MODERATE (Vận động vừa).
• Mục tiêu: Duy trì cân nặng (MAINTAIN).
• Nhu cầu Năng lượng: 2.491,6 kcal/ngày.
• Ràng buộc dinh dưỡng: Phân bổ 50% C - 20% P - 30% F.
• Giới hạn Natri chung: &lt;= 2.300 mg/ngày.
• Cơ cấu bữa: Sáng (2), Trưa (2), Tối (2), Phụ (2).</a:t>
            </a:r>
          </a:p>
        </p:txBody>
      </p:sp>
      <p:sp>
        <p:nvSpPr>
          <p:cNvPr id="12" name="Rounded Rectangle 11"/>
          <p:cNvSpPr/>
          <p:nvPr/>
        </p:nvSpPr>
        <p:spPr>
          <a:xfrm>
            <a:off x="429768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PROFILE P2: ĐỊNH HƯỚNG GIẢM CARBOHYDRATE</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P2: Nguyễn Thị Lan (45 tuổi)</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Nữ | Chiều cao: 158cm | Nặng: 62kg.
• Mức vận động: LIGHT (Vận động nhẹ).
• Mục tiêu: Giảm cân nhẹ (LOSE_WEIGHT, TDEE - 500).
• Nhu cầu Năng lượng: 1.179,6 kcal/ngày.
• Định hướng: giảm Carbs và kiểm soát calo chặt chẽ.
• CSDL chưa có total sugar; proxy 15% Carbs chỉ thử nghiệm kỹ thuật, không dùng để kết luận y tế.
• Cơ cấu bữa: Sáng (2), Trưa (2), Tối (2), Phụ (1).</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PROFILE P3: TĂNG HUYẾT ÁP (HYPERTENSION)</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P3: Trần Văn Minh (55 tuổi)</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168cm | Nặng: 75kg.
• Mức vận động: SEDENTARY (Ít vận động).
• Mục tiêu: Duy trì cân nặng (MAINTAIN).
• Nhu cầu Năng lượng: 1.836,0 kcal/ngày.
• RÀNG BUỘC NGHIÊM NGẶT: Natri &lt;= 1.500 mg/ngày.
• Ngưỡng 1.500 mg/ngày được dùng làm mức tham chiếu thử nghiệm.
• Cơ cấu bữa: Sáng (2), Trưa (2), Tối (2), Phụ (1).</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Thiết lập ba hồ sơ mô phỏng và ràng buộc dinh dưỡng theo hồ sơ</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THUẬT TOÁN VÀ ĐÁNH GIÁ RÀNG BUỘC DINH DƯỠNG THEO HỒ SƠ</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9: Đánh Giá 7 Ngày Trên Ba Hồ Sơ</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34440"/>
          <a:ext cx="11183112" cy="2798064"/>
        </p:xfrm>
        <a:graphic>
          <a:graphicData uri="http://schemas.openxmlformats.org/drawingml/2006/table">
            <a:tbl>
              <a:tblPr firstRow="1" bandRow="1">
                <a:tableStyleId>{5C22544A-7EE6-4342-B048-85BDC9FD1C3A}</a:tableStyleId>
              </a:tblPr>
              <a:tblGrid>
                <a:gridCol w="1097280"/>
                <a:gridCol w="2011680"/>
                <a:gridCol w="914400"/>
                <a:gridCol w="1645920"/>
                <a:gridCol w="1463040"/>
                <a:gridCol w="1188720"/>
                <a:gridCol w="1371600"/>
                <a:gridCol w="1490472"/>
              </a:tblGrid>
              <a:tr h="384048">
                <a:tc>
                  <a:txBody>
                    <a:bodyPr/>
                    <a:lstStyle/>
                    <a:p>
                      <a:pPr algn="ctr"/>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Hồ sơ dinh dưỡng</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 7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Sai lệch Calo TB (%)</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Tỷ lệ món độc nhất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Diễn giải kỹ thuật &amp; giới hạn</a:t>
                      </a:r>
                    </a:p>
                  </a:txBody>
                  <a:tcPr marL="73152" marR="73152" marT="27432" marB="27432" anchor="ctr">
                    <a:solidFill>
                      <a:srgbClr val="1B2A4A"/>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P1 (Khỏe mạnh)</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90.68</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2.37%</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0.43</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Đánh giá kỹ thuật theo năng lượng &amp; đa lượng</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P2 (Giảm Carbs)</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1" i="0">
                          <a:solidFill>
                            <a:srgbClr val="1B2A4A"/>
                          </a:solidFill>
                          <a:latin typeface="Calibri"/>
                          <a:ea typeface="Calibri"/>
                          <a:cs typeface="Calibri"/>
                        </a:rPr>
                        <a:t>79.27</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5.59%</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1.09</a:t>
                      </a:r>
                    </a:p>
                  </a:txBody>
                  <a:tcPr marL="73152" marR="73152" marT="27432" marB="27432" anchor="ctr">
                    <a:solidFill>
                      <a:srgbClr val="FFFFFF"/>
                    </a:solidFill>
                  </a:tcPr>
                </a:tc>
                <a:tc>
                  <a:txBody>
                    <a:bodyPr/>
                    <a:lstStyle/>
                    <a:p>
                      <a:pPr algn="ctr"/>
                      <a:r>
                        <a:rPr sz="980" b="1" i="0">
                          <a:solidFill>
                            <a:srgbClr val="217A4B"/>
                          </a:solidFill>
                          <a:latin typeface="Calibri"/>
                          <a:ea typeface="Calibri"/>
                          <a:cs typeface="Calibri"/>
                        </a:rPr>
                        <a:t>92.9%</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FFFFF"/>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P3 (Giới hạn Natri)</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88.09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1.84%</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0.60</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P1 (Khỏe mạnh)</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90.68</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2.37%</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0.43</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Đánh giá kỹ thuật theo năng lượng &amp; đa lượng</a:t>
                      </a:r>
                    </a:p>
                  </a:txBody>
                  <a:tcPr marL="73152" marR="73152" marT="27432" marB="27432" anchor="ctr">
                    <a:solidFill>
                      <a:srgbClr val="FFFFFF"/>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P2 (Giảm Carbs)</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79.27</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5.59%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1.09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92.9%</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P3 (Giới hạn Natri)</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88.09</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1.84%</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0.60</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FFFFF"/>
                    </a:solidFill>
                  </a:tcPr>
                </a:tc>
              </a:tr>
            </a:tbl>
          </a:graphicData>
        </a:graphic>
      </p:graphicFrame>
      <p:sp>
        <p:nvSpPr>
          <p:cNvPr id="7" name="Rounded Rectangle 6"/>
          <p:cNvSpPr/>
          <p:nvPr/>
        </p:nvSpPr>
        <p:spPr>
          <a:xfrm>
            <a:off x="50292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Kiểm soát Calo chuẩn xác:</a:t>
            </a:r>
          </a:p>
        </p:txBody>
      </p:sp>
      <p:sp>
        <p:nvSpPr>
          <p:cNvPr id="9" name="Rectangle 8"/>
          <p:cNvSpPr/>
          <p:nvPr/>
        </p:nvSpPr>
        <p:spPr>
          <a:xfrm>
            <a:off x="68580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Mức sai lệch calo trung bình so với target: P1 lệch 2.37%, P2 lệch 5.59%, P3 lệch 1.84% (thuật toán chạy tốt, bám sát khuyến nghị).</a:t>
            </a:r>
          </a:p>
        </p:txBody>
      </p:sp>
      <p:sp>
        <p:nvSpPr>
          <p:cNvPr id="11" name="Rounded Rectangle 10"/>
          <p:cNvSpPr/>
          <p:nvPr/>
        </p:nvSpPr>
        <p:spPr>
          <a:xfrm>
            <a:off x="429768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Hiệu quả của Diversity Penalty:</a:t>
            </a:r>
          </a:p>
        </p:txBody>
      </p:sp>
      <p:sp>
        <p:nvSpPr>
          <p:cNvPr id="13" name="Rectangle 12"/>
          <p:cNvSpPr/>
          <p:nvPr/>
        </p:nvSpPr>
        <p:spPr>
          <a:xfrm>
            <a:off x="448056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Tỷ lệ món chính độc nhất đạt từ 92.9% đến 100.0% (đạt yêu cầu trên 80%). Thuật toán hạn chế tốt hiện tượng trùng lặp món ăn trong 2 ngày kế cận.</a:t>
            </a:r>
          </a:p>
        </p:txBody>
      </p:sp>
      <p:sp>
        <p:nvSpPr>
          <p:cNvPr id="15" name="Rounded Rectangle 14"/>
          <p:cNvSpPr/>
          <p:nvPr/>
        </p:nvSpPr>
        <p:spPr>
          <a:xfrm>
            <a:off x="809244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Giới hạn dữ liệu &amp; diễn giải:</a:t>
            </a:r>
          </a:p>
        </p:txBody>
      </p:sp>
      <p:sp>
        <p:nvSpPr>
          <p:cNvPr id="17" name="Rectangle 16"/>
          <p:cNvSpPr/>
          <p:nvPr/>
        </p:nvSpPr>
        <p:spPr>
          <a:xfrm>
            <a:off x="827532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P2 chưa có dữ liệu total sugar: chỉ đánh giá năng lượng, Carbs và đa lượng; proxy 15% Carbs không dùng để kết luận an toàn. P3 kiểm tra Natri trực tiếp theo ngưỡng cấu hình 1.500mg/ngày và cần báo cáo tỷ lệ ngày đạt ngưỡng.</a:t>
            </a:r>
          </a:p>
        </p:txBody>
      </p:sp>
      <p:sp>
        <p:nvSpPr>
          <p:cNvPr id="19" name="Rectangle 1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Bảng tổng hợp kết quả kỹ thuật 7 ngày trên ba hồ sơ dinh dưỡng mô phỏng</a:t>
            </a:r>
          </a:p>
        </p:txBody>
      </p:sp>
      <p:sp>
        <p:nvSpPr>
          <p:cNvPr id="21" name="TextBox 2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TRỰC QUAN HÓA KẾT QUẢ THỰC NGHIỆM CHU KỲ TUẦN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Heatmap Dinh Dưỡng 7 Ngày &amp; Biểu Đồ Đối Chuẩn 3 Hồ Sơ (W9-F1 &amp; W9-F2)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heatmap_nutrition_7days.png"/>
          <p:cNvPicPr>
            <a:picLocks noChangeAspect="1"/>
          </p:cNvPicPr>
          <p:nvPr/>
        </p:nvPicPr>
        <p:blipFill>
          <a:blip r:embed="rId2"/>
          <a:stretch>
            <a:fillRect/>
          </a:stretch>
        </p:blipFill>
        <p:spPr>
          <a:xfrm>
            <a:off x="502920" y="1234440"/>
            <a:ext cx="5440680" cy="3436218"/>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W9-F1: Heatmap tỷ lệ đáp ứng dinh dưỡng 7 ngày (Profile P1)
• Năng lượng nhìn chung bám mục tiêu, nhưng chất xơ biến động giữa các ngày.
• Natri vượt giới hạn ở một số ngày; đây là hạn chế cần xử lý bằng ràng buộc trực tiếp.</a:t>
            </a:r>
          </a:p>
        </p:txBody>
      </p:sp>
      <p:pic>
        <p:nvPicPr>
          <p:cNvPr id="9" name="Picture 8" descr="fig_barchart_profiles_p1_p2_p3.png"/>
          <p:cNvPicPr>
            <a:picLocks noChangeAspect="1"/>
          </p:cNvPicPr>
          <p:nvPr/>
        </p:nvPicPr>
        <p:blipFill>
          <a:blip r:embed="rId3"/>
          <a:stretch>
            <a:fillRect/>
          </a:stretch>
        </p:blipFill>
        <p:spPr>
          <a:xfrm>
            <a:off x="6245352" y="1234440"/>
            <a:ext cx="5440680" cy="3740467"/>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W9-F2: Đối chuẩn Mean Fitness &amp; Độ lệch Calo trên 3 hồ sơ
• Mean Fitness theo CSV: P1 (90.68), P2 (79.27), P3 (88.09).
• Sai lệch calo: P1 2.37%, P2 5.59%, P3 1.84%; P2 cần tiếp tục cải thiện.</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Heatmap tỷ lệ dinh dưỡng hàng ngày và đối chuẩn hiệu năng trên 3 hồ sơ</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ĐỀ XUẤT 3 PHƯƠNG ÁN THỰC ĐƠN ĐỘC LẬP TÙY BIẾN CHO NGƯỜI DÙNG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Đa Dạng Hóa Trải Nghiệm Người Dùng (UX Multi-Option A/B/C &amp; W9-F3)</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options_abc.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BẢNG SO SÁNH 3 PHƯƠNG ÁN THỰC ĐƠN TUẦN (PROFILE P1)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0" i="0">
                <a:solidFill>
                  <a:srgbClr val="5A6478"/>
                </a:solidFill>
                <a:latin typeface="Calibri"/>
                <a:ea typeface="Calibri"/>
                <a:cs typeface="Calibri"/>
              </a:rPr>
              <a:t>Sinh tự động bằng 3 seed ngẫu nhiên độc lập (9001, 9002, 9003) — CSDL 15.929 món</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72384"/>
        </p:xfrm>
        <a:graphic>
          <a:graphicData uri="http://schemas.openxmlformats.org/drawingml/2006/table">
            <a:tbl>
              <a:tblPr firstRow="1" bandRow="1">
                <a:tableStyleId>{5C22544A-7EE6-4342-B048-85BDC9FD1C3A}</a:tableStyleId>
              </a:tblPr>
              <a:tblGrid>
                <a:gridCol w="1645920"/>
                <a:gridCol w="1289304"/>
                <a:gridCol w="1289304"/>
                <a:gridCol w="1289304"/>
              </a:tblGrid>
              <a:tr h="384048">
                <a:tc>
                  <a:txBody>
                    <a:bodyPr/>
                    <a:lstStyle/>
                    <a:p>
                      <a:pPr algn="l"/>
                      <a:r>
                        <a:rPr sz="1150" b="1" i="0">
                          <a:solidFill>
                            <a:srgbClr val="FFFFFF"/>
                          </a:solidFill>
                          <a:latin typeface="Calibri"/>
                          <a:ea typeface="Calibri"/>
                          <a:cs typeface="Calibri"/>
                        </a:rPr>
                        <a:t>Chỉ tiêu đánh giá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A (9001)</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B (9002)</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C (9003)</a:t>
                      </a:r>
                    </a:p>
                  </a:txBody>
                  <a:tcPr marL="73152" marR="73152" marT="27432" marB="27432" anchor="ctr">
                    <a:solidFill>
                      <a:srgbClr val="1B2A4A"/>
                    </a:solidFill>
                  </a:tcPr>
                </a:tc>
              </a:tr>
              <a:tr h="384048">
                <a:tc>
                  <a:txBody>
                    <a:bodyPr/>
                    <a:lstStyle/>
                    <a:p>
                      <a:pPr algn="l"/>
                      <a:r>
                        <a:rPr sz="919" b="1" i="0">
                          <a:solidFill>
                            <a:srgbClr val="1E2430"/>
                          </a:solidFill>
                          <a:latin typeface="Calibri"/>
                          <a:ea typeface="Calibri"/>
                          <a:cs typeface="Calibri"/>
                        </a:rPr>
                        <a:t>Mean Fitness 7 ngày</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90.67 điểm</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86.55 điểm</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91.35 điểm</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Sai lệch Calo TB</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+42.3 kcal/ngày</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+76.8 kcal/ngày</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+14.7 kcal/ngày</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 Món chính độc nhất</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85.7 % (12/14)</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Sáng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Artisan French Baguette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American Cage Free Egg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100% Whole Wheat Bread</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Mẫu món Trưa Ngày 1</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Grain Quinoa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Wheat Pasta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Quaker Instant Oatmeal</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Tối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Basmati Long Grain Rice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Chinese Cabbage (Peking)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Vegetarian Meatloaf Mix</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Đặc điểm đo được</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9001 · Độc nhất 100%</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9002 · Độc nhất 85.7%</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9003 · Lệch calo thấp nhất</a:t>
                      </a:r>
                    </a:p>
                  </a:txBody>
                  <a:tcPr marL="73152" marR="73152" marT="27432" marB="27432" anchor="ctr">
                    <a:solidFill>
                      <a:srgbClr val="F5F7FB"/>
                    </a:solidFill>
                  </a:tcPr>
                </a:tc>
              </a:tr>
            </a:tbl>
          </a:graphicData>
        </a:graphic>
      </p:graphicFrame>
      <p:sp>
        <p:nvSpPr>
          <p:cNvPr id="13" name="TextBox 12"/>
          <p:cNvSpPr txBox="1"/>
          <p:nvPr/>
        </p:nvSpPr>
        <p:spPr>
          <a:xfrm>
            <a:off x="6080760" y="5715000"/>
            <a:ext cx="5394960" cy="411480"/>
          </a:xfrm>
          <a:prstGeom prst="rect">
            <a:avLst/>
          </a:prstGeom>
          <a:noFill/>
        </p:spPr>
        <p:txBody>
          <a:bodyPr wrap="square" anchor="t" lIns="0" rIns="0" tIns="0" bIns="0">
            <a:spAutoFit/>
          </a:bodyPr>
          <a:lstStyle/>
          <a:p>
            <a:pPr algn="l">
              <a:lnSpc>
                <a:spcPct val="115000"/>
              </a:lnSpc>
              <a:spcAft>
                <a:spcPts val="0"/>
              </a:spcAft>
            </a:pPr>
            <a:r>
              <a:rPr sz="919" b="0" i="0">
                <a:solidFill>
                  <a:srgbClr val="1E2430"/>
                </a:solidFill>
                <a:latin typeface="Calibri"/>
                <a:ea typeface="Calibri"/>
                <a:cs typeface="Calibri"/>
              </a:rPr>
              <a:t>• Ba phương án được sinh từ seed độc lập và so sánh bằng fitness, sai lệch calo, độ đa dạng. Hệ thống chưa đánh giá khẩu vị hoặc phong cách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Đa dạng hóa trải nghiệm người dùng qua 3 phương án thực đơn A/B/C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KIỂM THỬ TỰ ĐỘNG &amp; QUẢN TRỊ DỰ 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Đảm Bảo Chất Lượng Phần Mềm (202/202 Tests PASS) &amp; Phân Công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HỆ THỐNG KIỂM THỬ TỰ ĐỘNG: 202/202 TESTS PASS (100%)</a:t>
            </a:r>
          </a:p>
        </p:txBody>
      </p:sp>
      <p:sp>
        <p:nvSpPr>
          <p:cNvPr id="9" name="Rectangle 8"/>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640080" y="1828800"/>
          <a:ext cx="5166359" cy="3236976"/>
        </p:xfrm>
        <a:graphic>
          <a:graphicData uri="http://schemas.openxmlformats.org/drawingml/2006/table">
            <a:tbl>
              <a:tblPr firstRow="1" bandRow="1">
                <a:tableStyleId>{5C22544A-7EE6-4342-B048-85BDC9FD1C3A}</a:tableStyleId>
              </a:tblPr>
              <a:tblGrid>
                <a:gridCol w="1645920"/>
                <a:gridCol w="822960"/>
                <a:gridCol w="1874519"/>
                <a:gridCol w="822960"/>
              </a:tblGrid>
              <a:tr h="384048">
                <a:tc>
                  <a:txBody>
                    <a:bodyPr/>
                    <a:lstStyle/>
                    <a:p>
                      <a:pPr algn="l"/>
                      <a:r>
                        <a:rPr sz="1150" b="1" i="0">
                          <a:solidFill>
                            <a:srgbClr val="FFFFFF"/>
                          </a:solidFill>
                          <a:latin typeface="Calibri"/>
                          <a:ea typeface="Calibri"/>
                          <a:cs typeface="Calibri"/>
                        </a:rPr>
                        <a:t>Module kiểm thử</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test cases</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Nội dung xác thực chính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Kết quả</a:t>
                      </a:r>
                    </a:p>
                  </a:txBody>
                  <a:tcPr marL="73152" marR="73152" marT="27432" marB="27432" anchor="ctr">
                    <a:solidFill>
                      <a:srgbClr val="1B2A4A"/>
                    </a:solidFill>
                  </a:tcPr>
                </a:tc>
              </a:tr>
              <a:tr h="356616">
                <a:tc>
                  <a:txBody>
                    <a:bodyPr/>
                    <a:lstStyle/>
                    <a:p>
                      <a:pPr algn="l"/>
                      <a:r>
                        <a:rPr sz="760" b="1" i="0">
                          <a:solidFill>
                            <a:srgbClr val="1E2430"/>
                          </a:solidFill>
                          <a:latin typeface="Calibri"/>
                          <a:ea typeface="Calibri"/>
                          <a:cs typeface="Calibri"/>
                        </a:rPr>
                        <a:t>test_two_tier_solver.py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12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Tối ưu 2 tầng Outer/Inner, cấu hình seed, bounds</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test_food_selector.py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Lọc Pool theo bữa, loại trừ dị ứng, giải mã z</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test_diversity_penalty.py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Phạt lặp lookback 2 ngày, % món chính độc nhất</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test_portion_utils.py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10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Làm tròn bội số 5g, giữ cận biên [25, 350]</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test_experiment_week8.py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8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Pipeline chạy benchmark 10 runs, CSV/PNG Tuần 8</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test_experiment_week9.py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12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Pipeline 7 ngày, Carbs proxy minh bạch &amp; Natri P1/P2/P3</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Data, Culinary &amp; Constraints</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Schema dữ liệu, ẩm thực Slot &amp; Natri huyết áp</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Module kế thừa Tuần 1–7</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BMR/TDEE, DBO, IDBO, Objective, Benchmarks CEC</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bl>
          </a:graphicData>
        </a:graphic>
      </p:graphicFrame>
      <p:sp>
        <p:nvSpPr>
          <p:cNvPr id="11" name="Rounded Rectangle 10"/>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PHÂN CÔNG TRÁCH NHIỆM &amp; ĐÓNG GÓP THÀNH VIÊN</a:t>
            </a:r>
          </a:p>
        </p:txBody>
      </p:sp>
      <p:sp>
        <p:nvSpPr>
          <p:cNvPr id="14" name="Rectangle 13"/>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8745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Lê Quang Duy (Nhóm trưởng):</a:t>
            </a:r>
          </a:p>
        </p:txBody>
      </p:sp>
      <p:sp>
        <p:nvSpPr>
          <p:cNvPr id="16" name="TextBox 15"/>
          <p:cNvSpPr txBox="1"/>
          <p:nvPr/>
        </p:nvSpPr>
        <p:spPr>
          <a:xfrm>
            <a:off x="6473952" y="21031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&amp; cài đặt Two-Tier Solver (two_tier_solver.py) và Candidate Pools.
• Cài đặt module làm tròn khẩu phần 5g (portion_utils.py).
• Viết kịch bản demo_week8.py, demo_week9.py và tổng hợp slide báo cáo.
• Đóng góp phần Báo cáo Word Mục 1, 3, 5 Tuần 8.</a:t>
            </a:r>
          </a:p>
        </p:txBody>
      </p:sp>
      <p:sp>
        <p:nvSpPr>
          <p:cNvPr id="17" name="TextBox 16"/>
          <p:cNvSpPr txBox="1"/>
          <p:nvPr/>
        </p:nvSpPr>
        <p:spPr>
          <a:xfrm>
            <a:off x="6473952" y="32461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Hồ Trung Cương:</a:t>
            </a:r>
          </a:p>
        </p:txBody>
      </p:sp>
      <p:sp>
        <p:nvSpPr>
          <p:cNvPr id="18" name="TextBox 17"/>
          <p:cNvSpPr txBox="1"/>
          <p:nvPr/>
        </p:nvSpPr>
        <p:spPr>
          <a:xfrm>
            <a:off x="6473952" y="34747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cơ chế phạt lặp món (diversity_penalty.py) cửa sổ trượt 2 ngày.
• Cài đặt bộ đo lường tỷ lệ món chính độc nhất calculate_unique_main_dish_pct.
• Đóng góp phần Báo cáo Word Mục 2, 4 Tuần 8 và Mục 2 Tuần 9.
• Thiết kế thuật toán ánh xạ chỉ mục bọ hung rời rạc.</a:t>
            </a:r>
          </a:p>
        </p:txBody>
      </p:sp>
      <p:sp>
        <p:nvSpPr>
          <p:cNvPr id="19" name="TextBox 18"/>
          <p:cNvSpPr txBox="1"/>
          <p:nvPr/>
        </p:nvSpPr>
        <p:spPr>
          <a:xfrm>
            <a:off x="6473952" y="46177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Đặng Nguyễn Minh Đăng:</a:t>
            </a:r>
          </a:p>
        </p:txBody>
      </p:sp>
      <p:sp>
        <p:nvSpPr>
          <p:cNvPr id="20" name="TextBox 19"/>
          <p:cNvSpPr txBox="1"/>
          <p:nvPr/>
        </p:nvSpPr>
        <p:spPr>
          <a:xfrm>
            <a:off x="6473952" y="48463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Xây dựng kịch bản thực nghiệm Tuần 9 (experiment_week9.py, 3 profiles).
• Cài đặt bộ vẽ đồ thị plot_week8.py &amp; plot_week9.py (Heatmap, Radar, Bar chart).
• Triển khai bộ sinh đa phương án UX generate_options_week9.py (Option A/B/C).
• Phân tích số liệu và hoàn thiện báo cáo Word Mục 3, 4, 5 Tuần 9.</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kiểm thử tự động 202/202 tests PASS và phân công trách nhiệm thành viên</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ĐỊNH HƯỚNG TRIỂN KHAI VÀ HOÀN THIỆN ĐỀ TÀI</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 Hoạch Nghiên Cứu Tuần 10: Tích Hợp Web UI &amp; Dịch Vụ API FastAPI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26791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1. BACKEND RESTFUL API</a:t>
            </a:r>
          </a:p>
        </p:txBody>
      </p:sp>
      <p:sp>
        <p:nvSpPr>
          <p:cNvPr id="9" name="TextBox 8"/>
          <p:cNvSpPr txBox="1"/>
          <p:nvPr/>
        </p:nvSpPr>
        <p:spPr>
          <a:xfrm>
            <a:off x="685800"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Dịch vụ FastAPI tiêu chuẩn</a:t>
            </a:r>
          </a:p>
        </p:txBody>
      </p:sp>
      <p:sp>
        <p:nvSpPr>
          <p:cNvPr id="10" name="Rectangle 9"/>
          <p:cNvSpPr/>
          <p:nvPr/>
        </p:nvSpPr>
        <p:spPr>
          <a:xfrm>
            <a:off x="685800"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Đóng gói Two-Tier Solver &amp; 7-Day Planner thành dịch vụ API chuẩn hóa.
• Endpoint /api/menu/generate: Tiếp nhận UserProfile, sinh 3 options A/B/C.
• Endpoint /api/menu/swap: Cho phép đổi 1 món ăn cụ thể và tự động cân chỉnh lại gram các món còn lại.
• Mục tiêu sau tối ưu: hướng tới dưới 1.5 giây/ngày bằng cache, warm start, thu gọn candidate pool và xử lý song song.</a:t>
            </a:r>
          </a:p>
        </p:txBody>
      </p:sp>
      <p:sp>
        <p:nvSpPr>
          <p:cNvPr id="12" name="Rounded Rectangle 11"/>
          <p:cNvSpPr/>
          <p:nvPr/>
        </p:nvSpPr>
        <p:spPr>
          <a:xfrm>
            <a:off x="3346704"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46704" y="1234440"/>
            <a:ext cx="26791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D6F6F"/>
                </a:solidFill>
                <a:latin typeface="Calibri"/>
                <a:ea typeface="Calibri"/>
                <a:cs typeface="Calibri"/>
              </a:rPr>
              <a:t>2. GIAO DIỆN WEB HIỆN ĐẠI</a:t>
            </a:r>
          </a:p>
        </p:txBody>
      </p:sp>
      <p:sp>
        <p:nvSpPr>
          <p:cNvPr id="15" name="TextBox 14"/>
          <p:cNvSpPr txBox="1"/>
          <p:nvPr/>
        </p:nvSpPr>
        <p:spPr>
          <a:xfrm>
            <a:off x="3529584"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Frontend tương tác trực quan</a:t>
            </a:r>
          </a:p>
        </p:txBody>
      </p:sp>
      <p:sp>
        <p:nvSpPr>
          <p:cNvPr id="16" name="Rectangle 15"/>
          <p:cNvSpPr/>
          <p:nvPr/>
        </p:nvSpPr>
        <p:spPr>
          <a:xfrm>
            <a:off x="3529584"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9584"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Giao diện Web thân thiện, hỗ trợ đầy đủ Desktop &amp; Mobile.
• Form nhập hồ sơ trực quan: Tuổi, chiều cao, cân nặng, bệnh lý (ĐTĐ, Tăng HA).
• Hiển thị lịch thực đơn 7 ngày dạng lưới (Weekly Grid) theo 4 bữa.
• Biểu đồ Radar và Heatmap dinh dưỡng tương tác thời gian thực.</a:t>
            </a:r>
          </a:p>
        </p:txBody>
      </p:sp>
      <p:sp>
        <p:nvSpPr>
          <p:cNvPr id="18" name="Rounded Rectangle 17"/>
          <p:cNvSpPr/>
          <p:nvPr/>
        </p:nvSpPr>
        <p:spPr>
          <a:xfrm>
            <a:off x="6190488"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0488" y="1234440"/>
            <a:ext cx="26791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217A4B"/>
                </a:solidFill>
                <a:latin typeface="Calibri"/>
                <a:ea typeface="Calibri"/>
                <a:cs typeface="Calibri"/>
              </a:rPr>
              <a:t>3. ĐỔI MÓN &amp; VAI TRÒ ẨM THỰC</a:t>
            </a:r>
          </a:p>
        </p:txBody>
      </p:sp>
      <p:sp>
        <p:nvSpPr>
          <p:cNvPr id="21" name="TextBox 20"/>
          <p:cNvSpPr txBox="1"/>
          <p:nvPr/>
        </p:nvSpPr>
        <p:spPr>
          <a:xfrm>
            <a:off x="6373368"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Smart Meal Swap &amp; Culinary Slots</a:t>
            </a:r>
          </a:p>
        </p:txBody>
      </p:sp>
      <p:sp>
        <p:nvSpPr>
          <p:cNvPr id="22" name="Rectangle 21"/>
          <p:cNvSpPr/>
          <p:nvPr/>
        </p:nvSpPr>
        <p:spPr>
          <a:xfrm>
            <a:off x="6373368"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Bổ sung DishRole: tinh bột, đạm, rau, canh, món phụ và nguyên liệu.
• Chặn nguyên liệu thô hoặc khẩu phần phi thực tế khỏi vị trí món ăn trực tiếp.
• Khi đổi món, chỉ chọn ứng viên cùng vai trò rồi chạy lại Inner Solver và kiểm tra ràng buộc.</a:t>
            </a:r>
          </a:p>
        </p:txBody>
      </p:sp>
      <p:sp>
        <p:nvSpPr>
          <p:cNvPr id="24" name="Rounded Rectangle 23"/>
          <p:cNvSpPr/>
          <p:nvPr/>
        </p:nvSpPr>
        <p:spPr>
          <a:xfrm>
            <a:off x="9034272"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34272" y="1234440"/>
            <a:ext cx="26791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7152"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D9822B"/>
                </a:solidFill>
                <a:latin typeface="Calibri"/>
                <a:ea typeface="Calibri"/>
                <a:cs typeface="Calibri"/>
              </a:rPr>
              <a:t>4. KIỂM THỬ &amp; ĐÓNG GÓI HOÀN CHỈNH</a:t>
            </a:r>
          </a:p>
        </p:txBody>
      </p:sp>
      <p:sp>
        <p:nvSpPr>
          <p:cNvPr id="27" name="TextBox 26"/>
          <p:cNvSpPr txBox="1"/>
          <p:nvPr/>
        </p:nvSpPr>
        <p:spPr>
          <a:xfrm>
            <a:off x="9217152"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System Validation &amp; Deployment</a:t>
            </a:r>
          </a:p>
        </p:txBody>
      </p:sp>
      <p:sp>
        <p:nvSpPr>
          <p:cNvPr id="28" name="Rectangle 27"/>
          <p:cNvSpPr/>
          <p:nvPr/>
        </p:nvSpPr>
        <p:spPr>
          <a:xfrm>
            <a:off x="9217152"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Tích hợp E2E API tests và Unit tests cho toàn bộ luồng giao dịch.
• Đóng gói Docker Container gồm FastAPI backend và Static frontend.
• Đo lường tải (Stress testing) đảm bảo phục vụ đồng thời nhiều người dùng.
• Sẵn sàng cho hội đồng phản biện khóa luận tốt nghiệp.</a:t>
            </a:r>
          </a:p>
        </p:txBody>
      </p:sp>
      <p:sp>
        <p:nvSpPr>
          <p:cNvPr id="30" name="Rectangle 2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 hoạch nghiên cứu và triển khai Tuần 10 — Hướng tới sản phẩm ứng dụng hoàn chỉnh</a:t>
            </a:r>
          </a:p>
        </p:txBody>
      </p:sp>
      <p:sp>
        <p:nvSpPr>
          <p:cNvPr id="32" name="TextBox 3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