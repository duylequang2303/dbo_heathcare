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4" name="Rectangle 3"/>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6" name="TextBox 5"/>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7" name="TextBox 6"/>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8" name="TextBox 7"/>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9" name="Rectangle 8"/>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1" name="TextBox 10"/>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202/202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các giới hạn dinh dưỡng có dữ liệu hỗ trợ.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11183112"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9392"/>
            <a:ext cx="10698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PHÂN TÍCH KẾT QUẢ THỰC NGHIỆM ĐỐI CHUẨN TUẦN 8 (10 RUNS ĐỘC LẬP):</a:t>
            </a:r>
          </a:p>
        </p:txBody>
      </p:sp>
      <p:sp>
        <p:nvSpPr>
          <p:cNvPr id="29" name="TextBox 28"/>
          <p:cNvSpPr txBox="1"/>
          <p:nvPr/>
        </p:nvSpPr>
        <p:spPr>
          <a:xfrm>
            <a:off x="731520" y="4617720"/>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1. Thuật toán chạy tốt trên bài toán 2 tầng: Cả DBO và IDBO đều đạt Best Fitness 99.5106 / 100 tại seed 8003, với mức lệch calo thực đơn 8.1 kcal (0.32% so với mục tiêu 2491.6 kcal của Duy).</a:t>
            </a:r>
          </a:p>
        </p:txBody>
      </p:sp>
      <p:sp>
        <p:nvSpPr>
          <p:cNvPr id="30" name="TextBox 29"/>
          <p:cNvSpPr txBox="1"/>
          <p:nvPr/>
        </p:nvSpPr>
        <p:spPr>
          <a:xfrm>
            <a:off x="731520" y="5093208"/>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2. Kết quả so sánh: DBO và IDBO cho cùng Best/Mean Fitness trên 10 seed. Trong cấu hình 25 vòng lặp, telemetry cho thấy perturbation/restart chưa kích hoạt đáng kể; vì vậy chưa có bằng chứng IDBO vượt trội hơn DBO trong phạm vi thử nghiệm này.</a:t>
            </a:r>
          </a:p>
        </p:txBody>
      </p:sp>
      <p:sp>
        <p:nvSpPr>
          <p:cNvPr id="31" name="TextBox 30"/>
          <p:cNvSpPr txBox="1"/>
          <p:nvPr/>
        </p:nvSpPr>
        <p:spPr>
          <a:xfrm>
            <a:off x="731520" y="5568696"/>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3. Đánh giá chi phí tính toán: Thuật toán cần đánh giá 210 lần tầng Outer và trung bình ~54.800 lần tầng Inner. Thời gian 7.60s – 8.25s cho thấy cần tiếp tục tối ưu, cache hoặc xử lý nền trước khi tích hợp Web/API thời gian thực.</a:t>
            </a:r>
          </a:p>
        </p:txBody>
      </p:sp>
      <p:sp>
        <p:nvSpPr>
          <p:cNvPr id="32" name="Rectangle 3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34" name="TextBox 3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DBO và IDBO cho đường hội tụ gần như trùng nhau trong cấu hình 25 vòng lặp.
• Cơ chế perturbation/restart chưa kích hoạt đáng kể; chưa thể kết luận IDBO tốt hơn 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Hàm round_portions(x, step=5) loại bỏ hoàn toàn số lẻ thập phân.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RÀNG BUỘC DINH DƯỠNG THEO HỒ SƠ</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188720"/>
          <a:ext cx="11183112" cy="2304288"/>
        </p:xfrm>
        <a:graphic>
          <a:graphicData uri="http://schemas.openxmlformats.org/drawingml/2006/table">
            <a:tbl>
              <a:tblPr firstRow="1" bandRow="1">
                <a:tableStyleId>{5C22544A-7EE6-4342-B048-85BDC9FD1C3A}</a:tableStyleId>
              </a:tblPr>
              <a:tblGrid>
                <a:gridCol w="822960"/>
                <a:gridCol w="1554480"/>
                <a:gridCol w="777240"/>
                <a:gridCol w="1280160"/>
                <a:gridCol w="1097280"/>
                <a:gridCol w="1005840"/>
                <a:gridCol w="1188720"/>
                <a:gridCol w="345643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dinh dưỡng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theo CSV: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(202/202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202/202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3236976"/>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Module kiểm thử</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356616">
                <a:tc>
                  <a:txBody>
                    <a:bodyPr/>
                    <a:lstStyle/>
                    <a:p>
                      <a:pPr algn="l"/>
                      <a:r>
                        <a:rPr sz="760" b="1" i="0">
                          <a:solidFill>
                            <a:srgbClr val="1E2430"/>
                          </a:solidFill>
                          <a:latin typeface="Calibri"/>
                          <a:ea typeface="Calibri"/>
                          <a:cs typeface="Calibri"/>
                        </a:rPr>
                        <a:t>test_two_tier_solver.py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Tối ưu 2 tầng Outer/Inner, cấu hình seed, bounds</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test_food_selector.py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test_diversity_penalty.py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test_portion_utils.py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test_experiment_week8.py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Pipeline chạy benchmark 10 runs, CSV/PNG Tuần 8</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test_experiment_week9.py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Pipeline 7 ngày, Carbs proxy minh bạch &amp; Natri P1/P2/P3</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Data, Culinary &amp; Constraints</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Schema dữ liệu, ẩm thực Slot &amp; Natri huyết áp</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Module kế thừa Tuần 1–7</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Two-Tier Solver (two_tier_solver.py) và Candidate Pools.
• Cài đặt module làm tròn khẩu phần 5g (portion_utils.py).
• Viết kịch bản demo_week8.py, demo_week9.py và tổng hợp slide báo cáo.
• Đóng góp phần Báo cáo Word Mục 1, 3, 5 Tuần 8.</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(diversity_penalty.py) cửa sổ trượt 2 ngày.
• Cài đặt bộ đo lường tỷ lệ món chính độc nhất calculate_unique_main_dish_pct.
• Đóng góp phần Báo cáo Word Mục 2, 4 Tuần 8 và Mục 2 Tuần 9.
• Thiết kế thuật toán ánh xạ chỉ mục bọ hung rời rạc.</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(experiment_week9.py, 3 profiles).
• Cài đặt bộ vẽ đồ thị plot_week8.py &amp; plot_week9.py (Heatmap, Radar, Bar chart).
• Triển khai bộ sinh đa phương án UX generate_options_week9.py (Option A/B/C).
• Phân tích số liệu và hoàn thiện báo cáo Word Mục 3, 4, 5 Tuần 9.</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202/202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candidate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