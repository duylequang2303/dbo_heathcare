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94360"/>
            <a:ext cx="105156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9FB0CE"/>
                </a:solidFill>
                <a:latin typeface="Calibri"/>
                <a:ea typeface="Calibri"/>
                <a:cs typeface="Calibri"/>
              </a:rPr>
              <a:t>TRƯỜNG ĐẠI HỌC CÔNG THƯƠNG TP. HỒ CHÍ MINH — KHOA CÔNG NGHỆ THÔNG TIN</a:t>
            </a:r>
          </a:p>
        </p:txBody>
      </p:sp>
      <p:sp>
        <p:nvSpPr>
          <p:cNvPr id="5" name="Rectangle 4"/>
          <p:cNvSpPr/>
          <p:nvPr/>
        </p:nvSpPr>
        <p:spPr>
          <a:xfrm>
            <a:off x="822960" y="1005840"/>
            <a:ext cx="73152" cy="27432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987552"/>
            <a:ext cx="10058400" cy="274320"/>
          </a:xfrm>
          <a:prstGeom prst="rect">
            <a:avLst/>
          </a:prstGeom>
          <a:noFill/>
        </p:spPr>
        <p:txBody>
          <a:bodyPr wrap="square" anchor="t" lIns="0" rIns="0" tIns="0" bIns="0">
            <a:spAutoFit/>
          </a:bodyPr>
          <a:lstStyle/>
          <a:p>
            <a:pPr algn="l">
              <a:lnSpc>
                <a:spcPct val="100000"/>
              </a:lnSpc>
              <a:spcAft>
                <a:spcPts val="0"/>
              </a:spcAft>
            </a:pPr>
            <a:r>
              <a:rPr sz="1250" b="1" i="0">
                <a:solidFill>
                  <a:srgbClr val="D9822B"/>
                </a:solidFill>
                <a:latin typeface="Calibri"/>
                <a:ea typeface="Calibri"/>
                <a:cs typeface="Calibri"/>
              </a:rPr>
              <a:t>KHÓA LUẬN TỐT NGHIỆP CỬ NHÂN CNTT · MÃ ĐỀ TÀI: CNTT-KLCN142</a:t>
            </a:r>
          </a:p>
        </p:txBody>
      </p:sp>
      <p:sp>
        <p:nvSpPr>
          <p:cNvPr id="7" name="TextBox 6"/>
          <p:cNvSpPr txBox="1"/>
          <p:nvPr/>
        </p:nvSpPr>
        <p:spPr>
          <a:xfrm>
            <a:off x="822960" y="1417320"/>
            <a:ext cx="10515600" cy="868680"/>
          </a:xfrm>
          <a:prstGeom prst="rect">
            <a:avLst/>
          </a:prstGeom>
          <a:noFill/>
        </p:spPr>
        <p:txBody>
          <a:bodyPr wrap="square" anchor="t" lIns="0" rIns="0" tIns="0" bIns="0">
            <a:spAutoFit/>
          </a:bodyPr>
          <a:lstStyle/>
          <a:p>
            <a:pPr algn="l">
              <a:lnSpc>
                <a:spcPct val="100000"/>
              </a:lnSpc>
              <a:spcAft>
                <a:spcPts val="0"/>
              </a:spcAft>
            </a:pPr>
            <a:r>
              <a:rPr sz="2800" b="1" i="0">
                <a:solidFill>
                  <a:srgbClr val="FFFFFF"/>
                </a:solidFill>
                <a:latin typeface="Calibri"/>
                <a:ea typeface="Calibri"/>
                <a:cs typeface="Calibri"/>
              </a:rPr>
              <a:t>BÁO CÁO TIẾN ĐỘ THỰC HIỆN ĐỀ TÀI (TUẦN 1 – 7)</a:t>
            </a:r>
          </a:p>
        </p:txBody>
      </p:sp>
      <p:sp>
        <p:nvSpPr>
          <p:cNvPr id="8" name="TextBox 7"/>
          <p:cNvSpPr txBox="1"/>
          <p:nvPr/>
        </p:nvSpPr>
        <p:spPr>
          <a:xfrm>
            <a:off x="822960" y="2359152"/>
            <a:ext cx="10515600" cy="365760"/>
          </a:xfrm>
          <a:prstGeom prst="rect">
            <a:avLst/>
          </a:prstGeom>
          <a:noFill/>
        </p:spPr>
        <p:txBody>
          <a:bodyPr wrap="square" anchor="t" lIns="0" rIns="0" tIns="0" bIns="0">
            <a:spAutoFit/>
          </a:bodyPr>
          <a:lstStyle/>
          <a:p>
            <a:pPr algn="l">
              <a:lnSpc>
                <a:spcPct val="100000"/>
              </a:lnSpc>
              <a:spcAft>
                <a:spcPts val="0"/>
              </a:spcAft>
            </a:pPr>
            <a:r>
              <a:rPr sz="1750" b="0" i="0">
                <a:solidFill>
                  <a:srgbClr val="DDE5F5"/>
                </a:solidFill>
                <a:latin typeface="Calibri"/>
                <a:ea typeface="Calibri"/>
                <a:cs typeface="Calibri"/>
              </a:rPr>
              <a:t>Từ Mô hình hóa Dinh dưỡng, Thuật toán DBO/IDBO đến Tối ưu hóa Thực đơn Thực tế</a:t>
            </a:r>
          </a:p>
        </p:txBody>
      </p:sp>
      <p:sp>
        <p:nvSpPr>
          <p:cNvPr id="9" name="TextBox 8"/>
          <p:cNvSpPr txBox="1"/>
          <p:nvPr/>
        </p:nvSpPr>
        <p:spPr>
          <a:xfrm>
            <a:off x="822960" y="2816352"/>
            <a:ext cx="10515600" cy="320040"/>
          </a:xfrm>
          <a:prstGeom prst="rect">
            <a:avLst/>
          </a:prstGeom>
          <a:noFill/>
        </p:spPr>
        <p:txBody>
          <a:bodyPr wrap="square" anchor="t" lIns="0" rIns="0" tIns="0" bIns="0">
            <a:spAutoFit/>
          </a:bodyPr>
          <a:lstStyle/>
          <a:p>
            <a:pPr algn="l">
              <a:lnSpc>
                <a:spcPct val="100000"/>
              </a:lnSpc>
              <a:spcAft>
                <a:spcPts val="0"/>
              </a:spcAft>
            </a:pPr>
            <a:r>
              <a:rPr sz="1350" b="0" i="0">
                <a:solidFill>
                  <a:srgbClr val="C9D5EA"/>
                </a:solidFill>
                <a:latin typeface="Calibri"/>
                <a:ea typeface="Calibri"/>
                <a:cs typeface="Calibri"/>
              </a:rPr>
              <a:t>Sơ kết Giai đoạn 1: Hoàn thành Cơ sở dữ liệu, Benchmark Thuật toán &amp; Tối ưu Khẩu phần Thực tế</a:t>
            </a:r>
          </a:p>
        </p:txBody>
      </p:sp>
      <p:sp>
        <p:nvSpPr>
          <p:cNvPr id="10" name="Rectangle 9"/>
          <p:cNvSpPr/>
          <p:nvPr/>
        </p:nvSpPr>
        <p:spPr>
          <a:xfrm>
            <a:off x="822960" y="3246120"/>
            <a:ext cx="2286000" cy="3175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657600"/>
            <a:ext cx="10515600" cy="1463040"/>
          </a:xfrm>
          <a:prstGeom prst="rect">
            <a:avLst/>
          </a:prstGeom>
          <a:noFill/>
        </p:spPr>
        <p:txBody>
          <a:bodyPr wrap="square" anchor="t" lIns="0" rIns="0" tIns="0" bIns="0">
            <a:spAutoFit/>
          </a:bodyPr>
          <a:lstStyle/>
          <a:p>
            <a:pPr algn="l">
              <a:lnSpc>
                <a:spcPct val="128000"/>
              </a:lnSpc>
              <a:spcAft>
                <a:spcPts val="0"/>
              </a:spcAft>
            </a:pPr>
            <a:r>
              <a:rPr sz="1400" b="1" i="0">
                <a:solidFill>
                  <a:srgbClr val="FFFFFF"/>
                </a:solidFill>
                <a:latin typeface="Calibri"/>
                <a:ea typeface="Calibri"/>
                <a:cs typeface="Calibri"/>
              </a:rPr>
              <a:t>Tên đề tài: </a:t>
            </a:r>
            <a:r>
              <a:rPr sz="1400" b="0" i="0">
                <a:solidFill>
                  <a:srgbClr val="C9D5EA"/>
                </a:solidFill>
                <a:latin typeface="Calibri"/>
                <a:ea typeface="Calibri"/>
                <a:cs typeface="Calibri"/>
              </a:rPr>
              <a:t>Hệ thống đề xuất thực đơn dinh dưỡng cá nhân hóa dựa trên thuật toán IDBO</a:t>
            </a:r>
          </a:p>
          <a:p>
            <a:pPr algn="l">
              <a:lnSpc>
                <a:spcPct val="128000"/>
              </a:lnSpc>
              <a:spcAft>
                <a:spcPts val="0"/>
              </a:spcAft>
            </a:pPr>
            <a:r>
              <a:rPr sz="1400" b="1" i="0">
                <a:solidFill>
                  <a:srgbClr val="FFFFFF"/>
                </a:solidFill>
                <a:latin typeface="Calibri"/>
                <a:ea typeface="Calibri"/>
                <a:cs typeface="Calibri"/>
              </a:rPr>
              <a:t>Giảng viên hướng dẫn: </a:t>
            </a:r>
            <a:r>
              <a:rPr sz="1400" b="0" i="0">
                <a:solidFill>
                  <a:srgbClr val="C9D5EA"/>
                </a:solidFill>
                <a:latin typeface="Calibri"/>
                <a:ea typeface="Calibri"/>
                <a:cs typeface="Calibri"/>
              </a:rPr>
              <a:t>ThS. Đinh Nguyễn Trọng Nghĩa</a:t>
            </a:r>
          </a:p>
          <a:p>
            <a:pPr algn="l">
              <a:lnSpc>
                <a:spcPct val="128000"/>
              </a:lnSpc>
              <a:spcAft>
                <a:spcPts val="0"/>
              </a:spcAft>
            </a:pPr>
            <a:r>
              <a:rPr sz="1400" b="1" i="0">
                <a:solidFill>
                  <a:srgbClr val="FFFFFF"/>
                </a:solidFill>
                <a:latin typeface="Calibri"/>
                <a:ea typeface="Calibri"/>
                <a:cs typeface="Calibri"/>
              </a:rPr>
              <a:t>Nhóm sinh viên thực hiện: </a:t>
            </a:r>
            <a:r>
              <a:rPr sz="1400" b="1" i="0">
                <a:solidFill>
                  <a:srgbClr val="FFEECC"/>
                </a:solidFill>
                <a:latin typeface="Calibri"/>
                <a:ea typeface="Calibri"/>
                <a:cs typeface="Calibri"/>
              </a:rPr>
              <a:t>Lê Quang Duy (2001230123) · Đặng Nguyễn Minh Đăng (2001230175) · Hồ Trung Cương (2001230070)</a:t>
            </a:r>
          </a:p>
        </p:txBody>
      </p:sp>
      <p:sp>
        <p:nvSpPr>
          <p:cNvPr id="12" name="TextBox 11"/>
          <p:cNvSpPr txBox="1"/>
          <p:nvPr/>
        </p:nvSpPr>
        <p:spPr>
          <a:xfrm>
            <a:off x="822960" y="6080760"/>
            <a:ext cx="10515600" cy="365760"/>
          </a:xfrm>
          <a:prstGeom prst="rect">
            <a:avLst/>
          </a:prstGeom>
          <a:noFill/>
        </p:spPr>
        <p:txBody>
          <a:bodyPr wrap="square" anchor="t" lIns="0" rIns="0" tIns="0" bIns="0">
            <a:spAutoFit/>
          </a:bodyPr>
          <a:lstStyle/>
          <a:p>
            <a:pPr algn="l">
              <a:lnSpc>
                <a:spcPct val="100000"/>
              </a:lnSpc>
              <a:spcAft>
                <a:spcPts val="0"/>
              </a:spcAft>
            </a:pPr>
            <a:r>
              <a:rPr sz="1200" b="0" i="0">
                <a:solidFill>
                  <a:srgbClr val="9FB0CE"/>
                </a:solidFill>
                <a:latin typeface="Calibri"/>
                <a:ea typeface="Calibri"/>
                <a:cs typeface="Calibri"/>
              </a:rPr>
              <a:t>Hồ sơ toàn diện: CSDL 15.929 món sạch · 1.640 lượt chạy thực nghiệm · 138/138 tests PASS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TỔNG QUAN LỘ TRÌNH</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Lộ trình nghiên cứu tổng thể Tuần 1–7 &amp; 4 Trọng tâm Cốt lõi</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2679192" cy="1188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73152" cy="11887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2423160" cy="38404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15.929 Món</a:t>
            </a:r>
          </a:p>
        </p:txBody>
      </p:sp>
      <p:sp>
        <p:nvSpPr>
          <p:cNvPr id="9" name="TextBox 8"/>
          <p:cNvSpPr txBox="1"/>
          <p:nvPr/>
        </p:nvSpPr>
        <p:spPr>
          <a:xfrm>
            <a:off x="685800" y="1755648"/>
            <a:ext cx="2423160" cy="237744"/>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CSDL Thực Phẩm</a:t>
            </a:r>
          </a:p>
        </p:txBody>
      </p:sp>
      <p:sp>
        <p:nvSpPr>
          <p:cNvPr id="10" name="TextBox 9"/>
          <p:cNvSpPr txBox="1"/>
          <p:nvPr/>
        </p:nvSpPr>
        <p:spPr>
          <a:xfrm>
            <a:off x="685800" y="2011680"/>
            <a:ext cx="2423160" cy="320040"/>
          </a:xfrm>
          <a:prstGeom prst="rect">
            <a:avLst/>
          </a:prstGeom>
          <a:noFill/>
        </p:spPr>
        <p:txBody>
          <a:bodyPr wrap="square" anchor="t" lIns="0" rIns="0" tIns="0" bIns="0">
            <a:spAutoFit/>
          </a:bodyPr>
          <a:lstStyle/>
          <a:p>
            <a:pPr algn="l">
              <a:lnSpc>
                <a:spcPct val="105000"/>
              </a:lnSpc>
              <a:spcAft>
                <a:spcPts val="0"/>
              </a:spcAft>
            </a:pPr>
            <a:r>
              <a:rPr sz="980" b="0" i="0">
                <a:solidFill>
                  <a:srgbClr val="5A6478"/>
                </a:solidFill>
                <a:latin typeface="Calibri"/>
                <a:ea typeface="Calibri"/>
                <a:cs typeface="Calibri"/>
              </a:rPr>
              <a:t>Tích hợp USDA &amp; VN, chuẩn hóa 100g</a:t>
            </a:r>
          </a:p>
        </p:txBody>
      </p:sp>
      <p:sp>
        <p:nvSpPr>
          <p:cNvPr id="11" name="Rounded Rectangle 10"/>
          <p:cNvSpPr/>
          <p:nvPr/>
        </p:nvSpPr>
        <p:spPr>
          <a:xfrm>
            <a:off x="3346704" y="1234440"/>
            <a:ext cx="2679192" cy="1188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234440"/>
            <a:ext cx="73152" cy="118872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325880"/>
            <a:ext cx="2423160" cy="384048"/>
          </a:xfrm>
          <a:prstGeom prst="rect">
            <a:avLst/>
          </a:prstGeom>
          <a:noFill/>
        </p:spPr>
        <p:txBody>
          <a:bodyPr wrap="square" anchor="t" lIns="0" rIns="0" tIns="0" bIns="0">
            <a:spAutoFit/>
          </a:bodyPr>
          <a:lstStyle/>
          <a:p>
            <a:pPr algn="l">
              <a:lnSpc>
                <a:spcPct val="100000"/>
              </a:lnSpc>
              <a:spcAft>
                <a:spcPts val="0"/>
              </a:spcAft>
            </a:pPr>
            <a:r>
              <a:rPr sz="2300" b="1" i="0">
                <a:solidFill>
                  <a:srgbClr val="1D6F6F"/>
                </a:solidFill>
                <a:latin typeface="Calibri"/>
                <a:ea typeface="Calibri"/>
                <a:cs typeface="Calibri"/>
              </a:rPr>
              <a:t>6 Hàm / 3 Dim</a:t>
            </a:r>
          </a:p>
        </p:txBody>
      </p:sp>
      <p:sp>
        <p:nvSpPr>
          <p:cNvPr id="14" name="TextBox 13"/>
          <p:cNvSpPr txBox="1"/>
          <p:nvPr/>
        </p:nvSpPr>
        <p:spPr>
          <a:xfrm>
            <a:off x="3529584" y="1755648"/>
            <a:ext cx="2423160" cy="237744"/>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Benchmark Chuẩn</a:t>
            </a:r>
          </a:p>
        </p:txBody>
      </p:sp>
      <p:sp>
        <p:nvSpPr>
          <p:cNvPr id="15" name="TextBox 14"/>
          <p:cNvSpPr txBox="1"/>
          <p:nvPr/>
        </p:nvSpPr>
        <p:spPr>
          <a:xfrm>
            <a:off x="3529584" y="2011680"/>
            <a:ext cx="2423160" cy="320040"/>
          </a:xfrm>
          <a:prstGeom prst="rect">
            <a:avLst/>
          </a:prstGeom>
          <a:noFill/>
        </p:spPr>
        <p:txBody>
          <a:bodyPr wrap="square" anchor="t" lIns="0" rIns="0" tIns="0" bIns="0">
            <a:spAutoFit/>
          </a:bodyPr>
          <a:lstStyle/>
          <a:p>
            <a:pPr algn="l">
              <a:lnSpc>
                <a:spcPct val="105000"/>
              </a:lnSpc>
              <a:spcAft>
                <a:spcPts val="0"/>
              </a:spcAft>
            </a:pPr>
            <a:r>
              <a:rPr sz="980" b="0" i="0">
                <a:solidFill>
                  <a:srgbClr val="5A6478"/>
                </a:solidFill>
                <a:latin typeface="Calibri"/>
                <a:ea typeface="Calibri"/>
                <a:cs typeface="Calibri"/>
              </a:rPr>
              <a:t>3 Unimodal + 3 Multimodal (dim 10, 30, 50)</a:t>
            </a:r>
          </a:p>
        </p:txBody>
      </p:sp>
      <p:sp>
        <p:nvSpPr>
          <p:cNvPr id="16" name="Rounded Rectangle 15"/>
          <p:cNvSpPr/>
          <p:nvPr/>
        </p:nvSpPr>
        <p:spPr>
          <a:xfrm>
            <a:off x="6190488" y="1234440"/>
            <a:ext cx="2679192" cy="1188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1234440"/>
            <a:ext cx="73152" cy="1188720"/>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325880"/>
            <a:ext cx="2423160" cy="384048"/>
          </a:xfrm>
          <a:prstGeom prst="rect">
            <a:avLst/>
          </a:prstGeom>
          <a:noFill/>
        </p:spPr>
        <p:txBody>
          <a:bodyPr wrap="square" anchor="t" lIns="0" rIns="0" tIns="0" bIns="0">
            <a:spAutoFit/>
          </a:bodyPr>
          <a:lstStyle/>
          <a:p>
            <a:pPr algn="l">
              <a:lnSpc>
                <a:spcPct val="100000"/>
              </a:lnSpc>
              <a:spcAft>
                <a:spcPts val="0"/>
              </a:spcAft>
            </a:pPr>
            <a:r>
              <a:rPr sz="2300" b="1" i="0">
                <a:solidFill>
                  <a:srgbClr val="217A4B"/>
                </a:solidFill>
                <a:latin typeface="Calibri"/>
                <a:ea typeface="Calibri"/>
                <a:cs typeface="Calibri"/>
              </a:rPr>
              <a:t>1.640 Lượt</a:t>
            </a:r>
          </a:p>
        </p:txBody>
      </p:sp>
      <p:sp>
        <p:nvSpPr>
          <p:cNvPr id="19" name="TextBox 18"/>
          <p:cNvSpPr txBox="1"/>
          <p:nvPr/>
        </p:nvSpPr>
        <p:spPr>
          <a:xfrm>
            <a:off x="6373368" y="1755648"/>
            <a:ext cx="2423160" cy="237744"/>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Chạy Thực Nghiệm</a:t>
            </a:r>
          </a:p>
        </p:txBody>
      </p:sp>
      <p:sp>
        <p:nvSpPr>
          <p:cNvPr id="20" name="TextBox 19"/>
          <p:cNvSpPr txBox="1"/>
          <p:nvPr/>
        </p:nvSpPr>
        <p:spPr>
          <a:xfrm>
            <a:off x="6373368" y="2011680"/>
            <a:ext cx="2423160" cy="320040"/>
          </a:xfrm>
          <a:prstGeom prst="rect">
            <a:avLst/>
          </a:prstGeom>
          <a:noFill/>
        </p:spPr>
        <p:txBody>
          <a:bodyPr wrap="square" anchor="t" lIns="0" rIns="0" tIns="0" bIns="0">
            <a:spAutoFit/>
          </a:bodyPr>
          <a:lstStyle/>
          <a:p>
            <a:pPr algn="l">
              <a:lnSpc>
                <a:spcPct val="105000"/>
              </a:lnSpc>
              <a:spcAft>
                <a:spcPts val="0"/>
              </a:spcAft>
            </a:pPr>
            <a:r>
              <a:rPr sz="980" b="0" i="0">
                <a:solidFill>
                  <a:srgbClr val="5A6478"/>
                </a:solidFill>
                <a:latin typeface="Calibri"/>
                <a:ea typeface="Calibri"/>
                <a:cs typeface="Calibri"/>
              </a:rPr>
              <a:t>540 W4 + 1.080 W5-6 + 20 W7 độc lập</a:t>
            </a:r>
          </a:p>
        </p:txBody>
      </p:sp>
      <p:sp>
        <p:nvSpPr>
          <p:cNvPr id="21" name="Rounded Rectangle 20"/>
          <p:cNvSpPr/>
          <p:nvPr/>
        </p:nvSpPr>
        <p:spPr>
          <a:xfrm>
            <a:off x="9034272" y="1234440"/>
            <a:ext cx="2679192" cy="1188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34272" y="1234440"/>
            <a:ext cx="73152" cy="118872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1325880"/>
            <a:ext cx="2423160" cy="384048"/>
          </a:xfrm>
          <a:prstGeom prst="rect">
            <a:avLst/>
          </a:prstGeom>
          <a:noFill/>
        </p:spPr>
        <p:txBody>
          <a:bodyPr wrap="square" anchor="t" lIns="0" rIns="0" tIns="0" bIns="0">
            <a:spAutoFit/>
          </a:bodyPr>
          <a:lstStyle/>
          <a:p>
            <a:pPr algn="l">
              <a:lnSpc>
                <a:spcPct val="100000"/>
              </a:lnSpc>
              <a:spcAft>
                <a:spcPts val="0"/>
              </a:spcAft>
            </a:pPr>
            <a:r>
              <a:rPr sz="2300" b="1" i="0">
                <a:solidFill>
                  <a:srgbClr val="D9822B"/>
                </a:solidFill>
                <a:latin typeface="Calibri"/>
                <a:ea typeface="Calibri"/>
                <a:cs typeface="Calibri"/>
              </a:rPr>
              <a:t>99.26 / 100</a:t>
            </a:r>
          </a:p>
        </p:txBody>
      </p:sp>
      <p:sp>
        <p:nvSpPr>
          <p:cNvPr id="24" name="TextBox 23"/>
          <p:cNvSpPr txBox="1"/>
          <p:nvPr/>
        </p:nvSpPr>
        <p:spPr>
          <a:xfrm>
            <a:off x="9217152" y="1755648"/>
            <a:ext cx="2423160" cy="237744"/>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Tối Ưu Thực Đơn</a:t>
            </a:r>
          </a:p>
        </p:txBody>
      </p:sp>
      <p:sp>
        <p:nvSpPr>
          <p:cNvPr id="25" name="TextBox 24"/>
          <p:cNvSpPr txBox="1"/>
          <p:nvPr/>
        </p:nvSpPr>
        <p:spPr>
          <a:xfrm>
            <a:off x="9217152" y="2011680"/>
            <a:ext cx="2423160" cy="320040"/>
          </a:xfrm>
          <a:prstGeom prst="rect">
            <a:avLst/>
          </a:prstGeom>
          <a:noFill/>
        </p:spPr>
        <p:txBody>
          <a:bodyPr wrap="square" anchor="t" lIns="0" rIns="0" tIns="0" bIns="0">
            <a:spAutoFit/>
          </a:bodyPr>
          <a:lstStyle/>
          <a:p>
            <a:pPr algn="l">
              <a:lnSpc>
                <a:spcPct val="105000"/>
              </a:lnSpc>
              <a:spcAft>
                <a:spcPts val="0"/>
              </a:spcAft>
            </a:pPr>
            <a:r>
              <a:rPr sz="980" b="0" i="0">
                <a:solidFill>
                  <a:srgbClr val="5A6478"/>
                </a:solidFill>
                <a:latin typeface="Calibri"/>
                <a:ea typeface="Calibri"/>
                <a:cs typeface="Calibri"/>
              </a:rPr>
              <a:t>Lệch năng lượng chỉ 0.01 kcal · 0 vi phạm</a:t>
            </a:r>
          </a:p>
        </p:txBody>
      </p:sp>
      <p:graphicFrame>
        <p:nvGraphicFramePr>
          <p:cNvPr id="26" name="Table 25"/>
          <p:cNvGraphicFramePr>
            <a:graphicFrameLocks noGrp="1"/>
          </p:cNvGraphicFramePr>
          <p:nvPr/>
        </p:nvGraphicFramePr>
        <p:xfrm>
          <a:off x="502920" y="2578608"/>
          <a:ext cx="11183111" cy="3749040"/>
        </p:xfrm>
        <a:graphic>
          <a:graphicData uri="http://schemas.openxmlformats.org/drawingml/2006/table">
            <a:tbl>
              <a:tblPr firstRow="1" bandRow="1">
                <a:tableStyleId>{5C22544A-7EE6-4342-B048-85BDC9FD1C3A}</a:tableStyleId>
              </a:tblPr>
              <a:tblGrid>
                <a:gridCol w="1645920"/>
                <a:gridCol w="3749039"/>
                <a:gridCol w="4389120"/>
                <a:gridCol w="1399032"/>
              </a:tblGrid>
              <a:tr h="384048">
                <a:tc>
                  <a:txBody>
                    <a:bodyPr/>
                    <a:lstStyle/>
                    <a:p>
                      <a:pPr algn="ctr"/>
                      <a:r>
                        <a:rPr sz="1150" b="1" i="0">
                          <a:solidFill>
                            <a:srgbClr val="FFFFFF"/>
                          </a:solidFill>
                          <a:latin typeface="Calibri"/>
                          <a:ea typeface="Calibri"/>
                          <a:cs typeface="Calibri"/>
                        </a:rPr>
                        <a:t>Giai đoạn</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Mô hình &amp; Phương pháp tiếp cận</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Kết quả thực nghiệm then chốt</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Trạng thái</a:t>
                      </a:r>
                    </a:p>
                  </a:txBody>
                  <a:tcPr marL="73152" marR="73152" marT="27432" marB="27432" anchor="ctr">
                    <a:solidFill>
                      <a:srgbClr val="1B2A4A"/>
                    </a:solidFill>
                  </a:tcPr>
                </a:tc>
              </a:tr>
              <a:tr h="841248">
                <a:tc>
                  <a:txBody>
                    <a:bodyPr/>
                    <a:lstStyle/>
                    <a:p>
                      <a:pPr algn="ctr"/>
                      <a:r>
                        <a:rPr sz="1000" b="1" i="0">
                          <a:solidFill>
                            <a:srgbClr val="1E2430"/>
                          </a:solidFill>
                          <a:latin typeface="Calibri"/>
                          <a:ea typeface="Calibri"/>
                          <a:cs typeface="Calibri"/>
                        </a:rPr>
                        <a:t>Tuần 1–3
(Mô hình hóa &amp; CSDL)</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Xây dựng nền tảng bài toán Dinh dưỡng cá nhân hóa
• Công thức BMR Mifflin-St Jeor, TDEE theo PAL, khuyến nghị vi chất DRI
• Pipeline làm sạch USDA + VN; Lớp UserProfile, Menu, Objective</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 Cơ sở dữ liệu chuẩn hóa 15.929 món sạch trên 100g
• Hàm mục tiêu [-100, 100] tích hợp hệ thống hàm phạt đa tầng
• 28/28 unit tests ban đầu xanh 100%</a:t>
                      </a:r>
                    </a:p>
                  </a:txBody>
                  <a:tcPr marL="73152" marR="73152" marT="27432" marB="27432" anchor="ctr">
                    <a:solidFill>
                      <a:srgbClr val="F5F7FB"/>
                    </a:solidFill>
                  </a:tcPr>
                </a:tc>
                <a:tc>
                  <a:txBody>
                    <a:bodyPr/>
                    <a:lstStyle/>
                    <a:p>
                      <a:pPr algn="ctr"/>
                      <a:r>
                        <a:rPr sz="1000" b="1" i="0">
                          <a:solidFill>
                            <a:srgbClr val="217A4B"/>
                          </a:solidFill>
                          <a:latin typeface="Calibri"/>
                          <a:ea typeface="Calibri"/>
                          <a:cs typeface="Calibri"/>
                        </a:rPr>
                        <a:t>HOÀN THÀNH
(100%)</a:t>
                      </a:r>
                    </a:p>
                  </a:txBody>
                  <a:tcPr marL="73152" marR="73152" marT="27432" marB="27432" anchor="ctr">
                    <a:solidFill>
                      <a:srgbClr val="F5F7FB"/>
                    </a:solidFill>
                  </a:tcPr>
                </a:tc>
              </a:tr>
              <a:tr h="841248">
                <a:tc>
                  <a:txBody>
                    <a:bodyPr/>
                    <a:lstStyle/>
                    <a:p>
                      <a:pPr algn="ctr"/>
                      <a:r>
                        <a:rPr sz="1000" b="1" i="0">
                          <a:solidFill>
                            <a:srgbClr val="1E2430"/>
                          </a:solidFill>
                          <a:latin typeface="Calibri"/>
                          <a:ea typeface="Calibri"/>
                          <a:cs typeface="Calibri"/>
                        </a:rPr>
                        <a:t>Tuần 4
(Benchmark DBO)</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Cài đặt thuật toán DBO gốc (Xue &amp; Shen, 2023)
• 4 hành vi sinh tồn: Lăn phân, Sinh sản, Kiếm ăn, Cướp đoạt
• Khảo sát 6 hàm benchmark ở dim 10, 30, 50 (M = 30 runs)</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 Cài đặt chuẩn xác 100%, hội tụ sâu tiệm cận 0 (10⁻¹⁵³ đến 10⁻²¹⁴)
• Rastrigin &amp; Griewank 50D đạt nghiệm 0 tuyệt đối
• Phát hiện nguy cơ suy giảm độ đa dạng quần thể ở hàm đa cực trị</a:t>
                      </a:r>
                    </a:p>
                  </a:txBody>
                  <a:tcPr marL="73152" marR="73152" marT="27432" marB="27432" anchor="ctr">
                    <a:solidFill>
                      <a:srgbClr val="FFFFFF"/>
                    </a:solidFill>
                  </a:tcPr>
                </a:tc>
                <a:tc>
                  <a:txBody>
                    <a:bodyPr/>
                    <a:lstStyle/>
                    <a:p>
                      <a:pPr algn="ctr"/>
                      <a:r>
                        <a:rPr sz="1000" b="1" i="0">
                          <a:solidFill>
                            <a:srgbClr val="217A4B"/>
                          </a:solidFill>
                          <a:latin typeface="Calibri"/>
                          <a:ea typeface="Calibri"/>
                          <a:cs typeface="Calibri"/>
                        </a:rPr>
                        <a:t>HOÀN THÀNH
(100%)</a:t>
                      </a:r>
                    </a:p>
                  </a:txBody>
                  <a:tcPr marL="73152" marR="73152" marT="27432" marB="27432" anchor="ctr">
                    <a:solidFill>
                      <a:srgbClr val="FFFFFF"/>
                    </a:solidFill>
                  </a:tcPr>
                </a:tc>
              </a:tr>
              <a:tr h="841248">
                <a:tc>
                  <a:txBody>
                    <a:bodyPr/>
                    <a:lstStyle/>
                    <a:p>
                      <a:pPr algn="ctr"/>
                      <a:r>
                        <a:rPr sz="1000" b="1" i="0">
                          <a:solidFill>
                            <a:srgbClr val="1E2430"/>
                          </a:solidFill>
                          <a:latin typeface="Calibri"/>
                          <a:ea typeface="Calibri"/>
                          <a:cs typeface="Calibri"/>
                        </a:rPr>
                        <a:t>Tuần 5–6
(Cải tiến IDBO)</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Phát triển giải thuật cải tiến IDBO (Improved DBO)
• Ánh xạ hỗn loạn Sine-Tent, Đột biến Cauchy, Restart &amp; Lens-OBL
• Đo lường định lượng độ đa dạng D(t); Đối chuẩn 1.080 runs độc lập</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 18/18 cấu hình đạt kết quả Hòa (bảo toàn 100% chất lượng DBO gốc)
• Chi phí gọi hàm (Evals) tăng cực thấp: +0,028% (~4 evals/run)
• Đảm bảo tính thích ứng cao cho địa hình bài toán thực tế</a:t>
                      </a:r>
                    </a:p>
                  </a:txBody>
                  <a:tcPr marL="73152" marR="73152" marT="27432" marB="27432" anchor="ctr">
                    <a:solidFill>
                      <a:srgbClr val="F5F7FB"/>
                    </a:solidFill>
                  </a:tcPr>
                </a:tc>
                <a:tc>
                  <a:txBody>
                    <a:bodyPr/>
                    <a:lstStyle/>
                    <a:p>
                      <a:pPr algn="ctr"/>
                      <a:r>
                        <a:rPr sz="1000" b="1" i="0">
                          <a:solidFill>
                            <a:srgbClr val="217A4B"/>
                          </a:solidFill>
                          <a:latin typeface="Calibri"/>
                          <a:ea typeface="Calibri"/>
                          <a:cs typeface="Calibri"/>
                        </a:rPr>
                        <a:t>HOÀN THÀNH
(100%)</a:t>
                      </a:r>
                    </a:p>
                  </a:txBody>
                  <a:tcPr marL="73152" marR="73152" marT="27432" marB="27432" anchor="ctr">
                    <a:solidFill>
                      <a:srgbClr val="F5F7FB"/>
                    </a:solidFill>
                  </a:tcPr>
                </a:tc>
              </a:tr>
              <a:tr h="841248">
                <a:tc>
                  <a:txBody>
                    <a:bodyPr/>
                    <a:lstStyle/>
                    <a:p>
                      <a:pPr algn="ctr"/>
                      <a:r>
                        <a:rPr sz="1000" b="1" i="0">
                          <a:solidFill>
                            <a:srgbClr val="1E2430"/>
                          </a:solidFill>
                          <a:latin typeface="Calibri"/>
                          <a:ea typeface="Calibri"/>
                          <a:cs typeface="Calibri"/>
                        </a:rPr>
                        <a:t>Tuần 7
(Tối ưu Thực đơn)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Áp dụng IDBO vào bài toán Tối ưu khẩu phần Y tế
• Tối ưu 8 biến liên tục x in [25, 350]^8 (gram 8 món ăn cho 4 bữa)
• Kiến trúc xử lý ràng buộc 3 tầng (Domain Bounds, Penalty, Sampler)</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 Best Fitness đạt 99.26/100, 0 vi phạm ràng buộc (Mean Violations = 0.0)
• Năng lượng thực tế lệch chỉ 0.01 kcal so với mục tiêu P1
• Thời gian thực thi siêu nhanh (0.58–0.70s), sẵn sàng cho API</a:t>
                      </a:r>
                    </a:p>
                  </a:txBody>
                  <a:tcPr marL="73152" marR="73152" marT="27432" marB="27432" anchor="ctr">
                    <a:solidFill>
                      <a:srgbClr val="FFFFFF"/>
                    </a:solidFill>
                  </a:tcPr>
                </a:tc>
                <a:tc>
                  <a:txBody>
                    <a:bodyPr/>
                    <a:lstStyle/>
                    <a:p>
                      <a:pPr algn="ctr"/>
                      <a:r>
                        <a:rPr sz="1000" b="1" i="0">
                          <a:solidFill>
                            <a:srgbClr val="D9822B"/>
                          </a:solidFill>
                          <a:latin typeface="Calibri"/>
                          <a:ea typeface="Calibri"/>
                          <a:cs typeface="Calibri"/>
                        </a:rPr>
                        <a:t>HOÀN THÀNH
(100%)</a:t>
                      </a:r>
                    </a:p>
                  </a:txBody>
                  <a:tcPr marL="73152" marR="73152" marT="27432" marB="27432" anchor="ctr">
                    <a:solidFill>
                      <a:srgbClr val="FFFFFF"/>
                    </a:solidFill>
                  </a:tcPr>
                </a:tc>
              </a:tr>
            </a:tbl>
          </a:graphicData>
        </a:graphic>
      </p:graphicFrame>
      <p:sp>
        <p:nvSpPr>
          <p:cNvPr id="27" name="Rectangle 26"/>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Tổng quan lộ trình nghiên cứu Tuần 1–7</a:t>
            </a:r>
          </a:p>
        </p:txBody>
      </p:sp>
      <p:sp>
        <p:nvSpPr>
          <p:cNvPr id="29" name="TextBox 28"/>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NỀN TẢNG LÝ THUYẾT &amp; DỮ LIỆU</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0: Mô hình hóa Dinh dưỡng &amp; Cơ sở Dữ liệu Thực phẩm (Tuần 1–3)</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50292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MÔ HÌNH NHU CẦU NĂNG LƯỢNG &amp; VI CHẤT (DRI)</a:t>
            </a:r>
          </a:p>
        </p:txBody>
      </p:sp>
      <p:sp>
        <p:nvSpPr>
          <p:cNvPr id="8" name="Rectangle 7"/>
          <p:cNvSpPr/>
          <p:nvPr/>
        </p:nvSpPr>
        <p:spPr>
          <a:xfrm>
            <a:off x="731520"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983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2D3E63"/>
                </a:solidFill>
                <a:latin typeface="Calibri"/>
                <a:ea typeface="Calibri"/>
                <a:cs typeface="Calibri"/>
              </a:rPr>
              <a:t>1. Nhu cầu Năng lượng Cơ bản (BMR &amp; TDEE):</a:t>
            </a:r>
          </a:p>
        </p:txBody>
      </p:sp>
      <p:sp>
        <p:nvSpPr>
          <p:cNvPr id="10" name="TextBox 9"/>
          <p:cNvSpPr txBox="1"/>
          <p:nvPr/>
        </p:nvSpPr>
        <p:spPr>
          <a:xfrm>
            <a:off x="731520" y="2130551"/>
            <a:ext cx="4983480" cy="1051560"/>
          </a:xfrm>
          <a:prstGeom prst="rect">
            <a:avLst/>
          </a:prstGeom>
          <a:noFill/>
        </p:spPr>
        <p:txBody>
          <a:bodyPr wrap="square" anchor="t" lIns="0" rIns="0" tIns="0" bIns="0">
            <a:spAutoFit/>
          </a:bodyPr>
          <a:lstStyle/>
          <a:p>
            <a:pPr algn="l">
              <a:lnSpc>
                <a:spcPct val="112000"/>
              </a:lnSpc>
              <a:spcAft>
                <a:spcPts val="0"/>
              </a:spcAft>
            </a:pPr>
            <a:r>
              <a:rPr sz="980" b="0" i="0">
                <a:solidFill>
                  <a:srgbClr val="1E2430"/>
                </a:solidFill>
                <a:latin typeface="Calibri"/>
                <a:ea typeface="Calibri"/>
                <a:cs typeface="Calibri"/>
              </a:rPr>
              <a:t>• BMR (Mifflin-St Jeor): Chuẩn y khoa cho Nam (10W + 6.25H - 5A + 5) và Nữ (10W + 6.25H - 5A - 161).
• TDEE = BMR × PAL (1.2: Ít vận động → 1.9: Vận động rất nặng).
• Mục tiêu: Duy trì (giữ nguyên TDEE), Giảm cân (-500 kcal), Tăng cân (+300 kcal).</a:t>
            </a:r>
          </a:p>
        </p:txBody>
      </p:sp>
      <p:sp>
        <p:nvSpPr>
          <p:cNvPr id="11" name="TextBox 10"/>
          <p:cNvSpPr txBox="1"/>
          <p:nvPr/>
        </p:nvSpPr>
        <p:spPr>
          <a:xfrm>
            <a:off x="731520" y="3291839"/>
            <a:ext cx="4983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2D3E63"/>
                </a:solidFill>
                <a:latin typeface="Calibri"/>
                <a:ea typeface="Calibri"/>
                <a:cs typeface="Calibri"/>
              </a:rPr>
              <a:t>2. Phân bổ Dinh dưỡng Đa lượng (Macronutrients):</a:t>
            </a:r>
          </a:p>
        </p:txBody>
      </p:sp>
      <p:sp>
        <p:nvSpPr>
          <p:cNvPr id="12" name="TextBox 11"/>
          <p:cNvSpPr txBox="1"/>
          <p:nvPr/>
        </p:nvSpPr>
        <p:spPr>
          <a:xfrm>
            <a:off x="731520" y="3547871"/>
            <a:ext cx="4983480" cy="1051560"/>
          </a:xfrm>
          <a:prstGeom prst="rect">
            <a:avLst/>
          </a:prstGeom>
          <a:noFill/>
        </p:spPr>
        <p:txBody>
          <a:bodyPr wrap="square" anchor="t" lIns="0" rIns="0" tIns="0" bIns="0">
            <a:spAutoFit/>
          </a:bodyPr>
          <a:lstStyle/>
          <a:p>
            <a:pPr algn="l">
              <a:lnSpc>
                <a:spcPct val="112000"/>
              </a:lnSpc>
              <a:spcAft>
                <a:spcPts val="0"/>
              </a:spcAft>
            </a:pPr>
            <a:r>
              <a:rPr sz="980" b="0" i="0">
                <a:solidFill>
                  <a:srgbClr val="1E2430"/>
                </a:solidFill>
                <a:latin typeface="Calibri"/>
                <a:ea typeface="Calibri"/>
                <a:cs typeface="Calibri"/>
              </a:rPr>
              <a:t>• Duy trì cân nặng: 50% Carbohydrate | 20% Protein | 30% Fat.
• Giảm mỡ săn chắc: 40% Carbohydrate | 30% Protein | 30% Fat.
• Tăng cân / Tăng cơ: 50% Carbohydrate | 25% Protein | 25% Fat.</a:t>
            </a:r>
          </a:p>
        </p:txBody>
      </p:sp>
      <p:sp>
        <p:nvSpPr>
          <p:cNvPr id="13" name="TextBox 12"/>
          <p:cNvSpPr txBox="1"/>
          <p:nvPr/>
        </p:nvSpPr>
        <p:spPr>
          <a:xfrm>
            <a:off x="731520" y="4709160"/>
            <a:ext cx="4983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2D3E63"/>
                </a:solidFill>
                <a:latin typeface="Calibri"/>
                <a:ea typeface="Calibri"/>
                <a:cs typeface="Calibri"/>
              </a:rPr>
              <a:t>3. Định mức Vi chất theo Khuyến nghị DRI (NASEM 2023):</a:t>
            </a:r>
          </a:p>
        </p:txBody>
      </p:sp>
      <p:sp>
        <p:nvSpPr>
          <p:cNvPr id="14" name="TextBox 13"/>
          <p:cNvSpPr txBox="1"/>
          <p:nvPr/>
        </p:nvSpPr>
        <p:spPr>
          <a:xfrm>
            <a:off x="731520" y="4965192"/>
            <a:ext cx="4983480" cy="1051560"/>
          </a:xfrm>
          <a:prstGeom prst="rect">
            <a:avLst/>
          </a:prstGeom>
          <a:noFill/>
        </p:spPr>
        <p:txBody>
          <a:bodyPr wrap="square" anchor="t" lIns="0" rIns="0" tIns="0" bIns="0">
            <a:spAutoFit/>
          </a:bodyPr>
          <a:lstStyle/>
          <a:p>
            <a:pPr algn="l">
              <a:lnSpc>
                <a:spcPct val="112000"/>
              </a:lnSpc>
              <a:spcAft>
                <a:spcPts val="0"/>
              </a:spcAft>
            </a:pPr>
            <a:r>
              <a:rPr sz="980" b="0" i="0">
                <a:solidFill>
                  <a:srgbClr val="1E2430"/>
                </a:solidFill>
                <a:latin typeface="Calibri"/>
                <a:ea typeface="Calibri"/>
                <a:cs typeface="Calibri"/>
              </a:rPr>
              <a:t>• Natri (Na) ≤ 2.300 mg/ngày (giới hạn trên an toàn UL phòng tim mạch).
• Chất xơ (Fiber): 38 g/ngày (nam), 25 g/ngày (nữ).
• Canxi (Ca): 1.000 mg/ngày · Sắt (Fe): 8 mg (nam), 18 mg (nữ) · Vitamin C: 90/75 mg.</a:t>
            </a:r>
          </a:p>
        </p:txBody>
      </p:sp>
      <p:sp>
        <p:nvSpPr>
          <p:cNvPr id="15" name="Rounded Rectangle 14"/>
          <p:cNvSpPr/>
          <p:nvPr/>
        </p:nvSpPr>
        <p:spPr>
          <a:xfrm>
            <a:off x="6245352" y="1234440"/>
            <a:ext cx="5440680" cy="502920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CSDL 15.929 MÓN ĂN &amp; THIẾT KẾ MÔ HÌNH HÓA</a:t>
            </a:r>
          </a:p>
        </p:txBody>
      </p:sp>
      <p:sp>
        <p:nvSpPr>
          <p:cNvPr id="17" name="Rectangle 16"/>
          <p:cNvSpPr/>
          <p:nvPr/>
        </p:nvSpPr>
        <p:spPr>
          <a:xfrm>
            <a:off x="6473952"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1874519"/>
            <a:ext cx="4983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1. Tích hợp &amp; Tiền xử lý Dữ liệu Thực phẩm:</a:t>
            </a:r>
          </a:p>
        </p:txBody>
      </p:sp>
      <p:sp>
        <p:nvSpPr>
          <p:cNvPr id="19" name="TextBox 18"/>
          <p:cNvSpPr txBox="1"/>
          <p:nvPr/>
        </p:nvSpPr>
        <p:spPr>
          <a:xfrm>
            <a:off x="6473952" y="2130551"/>
            <a:ext cx="4983480" cy="1051560"/>
          </a:xfrm>
          <a:prstGeom prst="rect">
            <a:avLst/>
          </a:prstGeom>
          <a:noFill/>
        </p:spPr>
        <p:txBody>
          <a:bodyPr wrap="square" anchor="t" lIns="0" rIns="0" tIns="0" bIns="0">
            <a:spAutoFit/>
          </a:bodyPr>
          <a:lstStyle/>
          <a:p>
            <a:pPr algn="l">
              <a:lnSpc>
                <a:spcPct val="112000"/>
              </a:lnSpc>
              <a:spcAft>
                <a:spcPts val="0"/>
              </a:spcAft>
            </a:pPr>
            <a:r>
              <a:rPr sz="980" b="0" i="0">
                <a:solidFill>
                  <a:srgbClr val="1E2430"/>
                </a:solidFill>
                <a:latin typeface="Calibri"/>
                <a:ea typeface="Calibri"/>
                <a:cs typeface="Calibri"/>
              </a:rPr>
              <a:t>• Tích hợp 2 nguồn: USDA FoodData Central (~40k dòng) + Bảng TPTP Việt Nam.
• Pipeline tự động (preprocess_data.py): Chuyển đổi kJ → kcal, chuẩn hóa khẩu phần 100g, phân loại meal_type (breakfast, snack, all) → 15.929 món sạch.</a:t>
            </a:r>
          </a:p>
        </p:txBody>
      </p:sp>
      <p:sp>
        <p:nvSpPr>
          <p:cNvPr id="20" name="TextBox 19"/>
          <p:cNvSpPr txBox="1"/>
          <p:nvPr/>
        </p:nvSpPr>
        <p:spPr>
          <a:xfrm>
            <a:off x="6473952" y="3291839"/>
            <a:ext cx="4983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2. Thiết kế Hướng đối tượng (src/models/):</a:t>
            </a:r>
          </a:p>
        </p:txBody>
      </p:sp>
      <p:sp>
        <p:nvSpPr>
          <p:cNvPr id="21" name="TextBox 20"/>
          <p:cNvSpPr txBox="1"/>
          <p:nvPr/>
        </p:nvSpPr>
        <p:spPr>
          <a:xfrm>
            <a:off x="6473952" y="3547871"/>
            <a:ext cx="4983480" cy="1051560"/>
          </a:xfrm>
          <a:prstGeom prst="rect">
            <a:avLst/>
          </a:prstGeom>
          <a:noFill/>
        </p:spPr>
        <p:txBody>
          <a:bodyPr wrap="square" anchor="t" lIns="0" rIns="0" tIns="0" bIns="0">
            <a:spAutoFit/>
          </a:bodyPr>
          <a:lstStyle/>
          <a:p>
            <a:pPr algn="l">
              <a:lnSpc>
                <a:spcPct val="112000"/>
              </a:lnSpc>
              <a:spcAft>
                <a:spcPts val="0"/>
              </a:spcAft>
            </a:pPr>
            <a:r>
              <a:rPr sz="980" b="0" i="0">
                <a:solidFill>
                  <a:srgbClr val="1E2430"/>
                </a:solidFill>
                <a:latin typeface="Calibri"/>
                <a:ea typeface="Calibri"/>
                <a:cs typeface="Calibri"/>
              </a:rPr>
              <a:t>• UserProfile: Lưu trữ nhân khẩu học, thói quen, kiêng kỵ dị ứng, cơ cấu món.
• MenuItem, Meal, Menu: Cấu trúc thực đơn đa bữa với hàm encode() / decode() chuyển đổi hai chiều giữa vector số thực x và thực đơn đối tượng.</a:t>
            </a:r>
          </a:p>
        </p:txBody>
      </p:sp>
      <p:sp>
        <p:nvSpPr>
          <p:cNvPr id="22" name="TextBox 21"/>
          <p:cNvSpPr txBox="1"/>
          <p:nvPr/>
        </p:nvSpPr>
        <p:spPr>
          <a:xfrm>
            <a:off x="6473952" y="4709160"/>
            <a:ext cx="49834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3. Hàm mục tiêu Đa thành phần &amp; Hệ thống Hàm phạt:</a:t>
            </a:r>
          </a:p>
        </p:txBody>
      </p:sp>
      <p:sp>
        <p:nvSpPr>
          <p:cNvPr id="23" name="TextBox 22"/>
          <p:cNvSpPr txBox="1"/>
          <p:nvPr/>
        </p:nvSpPr>
        <p:spPr>
          <a:xfrm>
            <a:off x="6473952" y="4965192"/>
            <a:ext cx="4983480" cy="1051560"/>
          </a:xfrm>
          <a:prstGeom prst="rect">
            <a:avLst/>
          </a:prstGeom>
          <a:noFill/>
        </p:spPr>
        <p:txBody>
          <a:bodyPr wrap="square" anchor="t" lIns="0" rIns="0" tIns="0" bIns="0">
            <a:spAutoFit/>
          </a:bodyPr>
          <a:lstStyle/>
          <a:p>
            <a:pPr algn="l">
              <a:lnSpc>
                <a:spcPct val="112000"/>
              </a:lnSpc>
              <a:spcAft>
                <a:spcPts val="0"/>
              </a:spcAft>
            </a:pPr>
            <a:r>
              <a:rPr sz="980" b="0" i="0">
                <a:solidFill>
                  <a:srgbClr val="1E2430"/>
                </a:solidFill>
                <a:latin typeface="Calibri"/>
                <a:ea typeface="Calibri"/>
                <a:cs typeface="Calibri"/>
              </a:rPr>
              <a:t>• Fitness evaluate() trong thang [-100, 100]: Dinh dưỡng (70%) + Sở thích (20%) + Đa dạng (10%).
• Penalty functions phạt lũy tiến khi vi phạm dị ứng, sai nhãn bữa, vượt ngưỡng natri.</a:t>
            </a:r>
          </a:p>
        </p:txBody>
      </p:sp>
      <p:sp>
        <p:nvSpPr>
          <p:cNvPr id="24" name="Rectangle 23"/>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0 · Nền tảng Dinh dưỡng &amp; Dữ liệu (Tuần 1–3)</a:t>
            </a:r>
          </a:p>
        </p:txBody>
      </p:sp>
      <p:sp>
        <p:nvSpPr>
          <p:cNvPr id="26" name="TextBox 25"/>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THIẾT LẬP THỰC NGHIỆM</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1: Thiết lập thực nghiệm DBO gốc trên Benchmark</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50292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THAM SỐ CẤU HÌNH THUẬT TOÁN DBO GỐC</a:t>
            </a:r>
          </a:p>
        </p:txBody>
      </p:sp>
      <p:sp>
        <p:nvSpPr>
          <p:cNvPr id="8" name="Rectangle 7"/>
          <p:cNvSpPr/>
          <p:nvPr/>
        </p:nvSpPr>
        <p:spPr>
          <a:xfrm>
            <a:off x="731520"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85800" y="1874519"/>
          <a:ext cx="5074920" cy="3758184"/>
        </p:xfrm>
        <a:graphic>
          <a:graphicData uri="http://schemas.openxmlformats.org/drawingml/2006/table">
            <a:tbl>
              <a:tblPr firstRow="1" bandRow="1">
                <a:tableStyleId>{5C22544A-7EE6-4342-B048-85BDC9FD1C3A}</a:tableStyleId>
              </a:tblPr>
              <a:tblGrid>
                <a:gridCol w="1691640"/>
                <a:gridCol w="1188720"/>
                <a:gridCol w="2194560"/>
              </a:tblGrid>
              <a:tr h="384048">
                <a:tc>
                  <a:txBody>
                    <a:bodyPr/>
                    <a:lstStyle/>
                    <a:p>
                      <a:pPr algn="l"/>
                      <a:r>
                        <a:rPr sz="1150" b="1" i="0">
                          <a:solidFill>
                            <a:srgbClr val="FFFFFF"/>
                          </a:solidFill>
                          <a:latin typeface="Calibri"/>
                          <a:ea typeface="Calibri"/>
                          <a:cs typeface="Calibri"/>
                        </a:rPr>
                        <a:t>Tham số</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Giá trị thiết lập</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Ý nghĩa / Vai trò</a:t>
                      </a:r>
                    </a:p>
                  </a:txBody>
                  <a:tcPr marL="73152" marR="73152" marT="27432" marB="27432" anchor="ctr">
                    <a:solidFill>
                      <a:srgbClr val="1B2A4A"/>
                    </a:solidFill>
                  </a:tcPr>
                </a:tc>
              </a:tr>
              <a:tr h="374904">
                <a:tc>
                  <a:txBody>
                    <a:bodyPr/>
                    <a:lstStyle/>
                    <a:p>
                      <a:pPr algn="l"/>
                      <a:r>
                        <a:rPr sz="1000" b="1" i="0">
                          <a:solidFill>
                            <a:srgbClr val="1E2430"/>
                          </a:solidFill>
                          <a:latin typeface="Calibri"/>
                          <a:ea typeface="Calibri"/>
                          <a:cs typeface="Calibri"/>
                        </a:rPr>
                        <a:t>Kích thước đàn (N)</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30 cá thể</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Quy mô chuẩn cân bằng khám phá &amp; khai thác</a:t>
                      </a:r>
                    </a:p>
                  </a:txBody>
                  <a:tcPr marL="73152" marR="73152" marT="27432" marB="27432" anchor="ctr">
                    <a:solidFill>
                      <a:srgbClr val="F5F7FB"/>
                    </a:solidFill>
                  </a:tcPr>
                </a:tc>
              </a:tr>
              <a:tr h="374904">
                <a:tc>
                  <a:txBody>
                    <a:bodyPr/>
                    <a:lstStyle/>
                    <a:p>
                      <a:pPr algn="l"/>
                      <a:r>
                        <a:rPr sz="1000" b="1" i="0">
                          <a:solidFill>
                            <a:srgbClr val="1E2430"/>
                          </a:solidFill>
                          <a:latin typeface="Calibri"/>
                          <a:ea typeface="Calibri"/>
                          <a:cs typeface="Calibri"/>
                        </a:rPr>
                        <a:t>Số vòng lặp (T)</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500 iterations</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Đủ lớn để kiểm tra tốc độ và mức độ hội tụ</a:t>
                      </a:r>
                    </a:p>
                  </a:txBody>
                  <a:tcPr marL="73152" marR="73152" marT="27432" marB="27432" anchor="ctr">
                    <a:solidFill>
                      <a:srgbClr val="FFFFFF"/>
                    </a:solidFill>
                  </a:tcPr>
                </a:tc>
              </a:tr>
              <a:tr h="374904">
                <a:tc>
                  <a:txBody>
                    <a:bodyPr/>
                    <a:lstStyle/>
                    <a:p>
                      <a:pPr algn="l"/>
                      <a:r>
                        <a:rPr sz="1000" b="1" i="0">
                          <a:solidFill>
                            <a:srgbClr val="1E2430"/>
                          </a:solidFill>
                          <a:latin typeface="Calibri"/>
                          <a:ea typeface="Calibri"/>
                          <a:cs typeface="Calibri"/>
                        </a:rPr>
                        <a:t>Số lần lặp lại (M)</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30 seed độc lập</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Đảm bảo tính tin cậy thống kê (Central Limit)</a:t>
                      </a:r>
                    </a:p>
                  </a:txBody>
                  <a:tcPr marL="73152" marR="73152" marT="27432" marB="27432" anchor="ctr">
                    <a:solidFill>
                      <a:srgbClr val="F5F7FB"/>
                    </a:solidFill>
                  </a:tcPr>
                </a:tc>
              </a:tr>
              <a:tr h="374904">
                <a:tc>
                  <a:txBody>
                    <a:bodyPr/>
                    <a:lstStyle/>
                    <a:p>
                      <a:pPr algn="l"/>
                      <a:r>
                        <a:rPr sz="1000" b="1" i="0">
                          <a:solidFill>
                            <a:srgbClr val="1E2430"/>
                          </a:solidFill>
                          <a:latin typeface="Calibri"/>
                          <a:ea typeface="Calibri"/>
                          <a:cs typeface="Calibri"/>
                        </a:rPr>
                        <a:t>Số chiều (dim)</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10, 30, 50</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Khảo sát khả năng mở rộng không gian tìm kiếm</a:t>
                      </a:r>
                    </a:p>
                  </a:txBody>
                  <a:tcPr marL="73152" marR="73152" marT="27432" marB="27432" anchor="ctr">
                    <a:solidFill>
                      <a:srgbClr val="FFFFFF"/>
                    </a:solidFill>
                  </a:tcPr>
                </a:tc>
              </a:tr>
              <a:tr h="374904">
                <a:tc>
                  <a:txBody>
                    <a:bodyPr/>
                    <a:lstStyle/>
                    <a:p>
                      <a:pPr algn="l"/>
                      <a:r>
                        <a:rPr sz="1000" b="1" i="0">
                          <a:solidFill>
                            <a:srgbClr val="1E2430"/>
                          </a:solidFill>
                          <a:latin typeface="Calibri"/>
                          <a:ea typeface="Calibri"/>
                          <a:cs typeface="Calibri"/>
                        </a:rPr>
                        <a:t>Bọ lăn phân (P1)</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6 con (20%)</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Khám phá toàn cục dựa trên góc ánh sáng mặt trời</a:t>
                      </a:r>
                    </a:p>
                  </a:txBody>
                  <a:tcPr marL="73152" marR="73152" marT="27432" marB="27432" anchor="ctr">
                    <a:solidFill>
                      <a:srgbClr val="F5F7FB"/>
                    </a:solidFill>
                  </a:tcPr>
                </a:tc>
              </a:tr>
              <a:tr h="374904">
                <a:tc>
                  <a:txBody>
                    <a:bodyPr/>
                    <a:lstStyle/>
                    <a:p>
                      <a:pPr algn="l"/>
                      <a:r>
                        <a:rPr sz="1000" b="1" i="0">
                          <a:solidFill>
                            <a:srgbClr val="1E2430"/>
                          </a:solidFill>
                          <a:latin typeface="Calibri"/>
                          <a:ea typeface="Calibri"/>
                          <a:cs typeface="Calibri"/>
                        </a:rPr>
                        <a:t>Bọ sinh sản (P2)</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6 con (20%)</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Khai thác vùng biên linh hoạt xung quanh vị trí tốt</a:t>
                      </a:r>
                    </a:p>
                  </a:txBody>
                  <a:tcPr marL="73152" marR="73152" marT="27432" marB="27432" anchor="ctr">
                    <a:solidFill>
                      <a:srgbClr val="FFFFFF"/>
                    </a:solidFill>
                  </a:tcPr>
                </a:tc>
              </a:tr>
              <a:tr h="374904">
                <a:tc>
                  <a:txBody>
                    <a:bodyPr/>
                    <a:lstStyle/>
                    <a:p>
                      <a:pPr algn="l"/>
                      <a:r>
                        <a:rPr sz="1000" b="1" i="0">
                          <a:solidFill>
                            <a:srgbClr val="1E2430"/>
                          </a:solidFill>
                          <a:latin typeface="Calibri"/>
                          <a:ea typeface="Calibri"/>
                          <a:cs typeface="Calibri"/>
                        </a:rPr>
                        <a:t>Bọ kiếm ăn (P3)</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7 con (23.3%)</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Tìm kiếm cục bộ theo phân phối ngẫu nhiên</a:t>
                      </a:r>
                    </a:p>
                  </a:txBody>
                  <a:tcPr marL="73152" marR="73152" marT="27432" marB="27432" anchor="ctr">
                    <a:solidFill>
                      <a:srgbClr val="F5F7FB"/>
                    </a:solidFill>
                  </a:tcPr>
                </a:tc>
              </a:tr>
              <a:tr h="374904">
                <a:tc>
                  <a:txBody>
                    <a:bodyPr/>
                    <a:lstStyle/>
                    <a:p>
                      <a:pPr algn="l"/>
                      <a:r>
                        <a:rPr sz="1000" b="1" i="0">
                          <a:solidFill>
                            <a:srgbClr val="1E2430"/>
                          </a:solidFill>
                          <a:latin typeface="Calibri"/>
                          <a:ea typeface="Calibri"/>
                          <a:cs typeface="Calibri"/>
                        </a:rPr>
                        <a:t>Bọ cướp đoạt (P4)</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11 con (36.7%)</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Tấn công và tranh đoạt bóng phân của cá thể tối ưu</a:t>
                      </a:r>
                    </a:p>
                  </a:txBody>
                  <a:tcPr marL="73152" marR="73152" marT="27432" marB="27432" anchor="ctr">
                    <a:solidFill>
                      <a:srgbClr val="FFFFFF"/>
                    </a:solidFill>
                  </a:tcPr>
                </a:tc>
              </a:tr>
              <a:tr h="374904">
                <a:tc>
                  <a:txBody>
                    <a:bodyPr/>
                    <a:lstStyle/>
                    <a:p>
                      <a:pPr algn="l"/>
                      <a:r>
                        <a:rPr sz="1000" b="1" i="0">
                          <a:solidFill>
                            <a:srgbClr val="1E2430"/>
                          </a:solidFill>
                          <a:latin typeface="Calibri"/>
                          <a:ea typeface="Calibri"/>
                          <a:cs typeface="Calibri"/>
                        </a:rPr>
                        <a:t>Tổng lượt chạy</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540 runs</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6 hàm × 3 mức chiều × 30 lượt chạy ngẫu nhiên</a:t>
                      </a:r>
                    </a:p>
                  </a:txBody>
                  <a:tcPr marL="73152" marR="73152" marT="27432" marB="27432" anchor="ctr">
                    <a:solidFill>
                      <a:srgbClr val="F5F7FB"/>
                    </a:solidFill>
                  </a:tcPr>
                </a:tc>
              </a:tr>
            </a:tbl>
          </a:graphicData>
        </a:graphic>
      </p:graphicFrame>
      <p:sp>
        <p:nvSpPr>
          <p:cNvPr id="10" name="Rounded Rectangle 9"/>
          <p:cNvSpPr/>
          <p:nvPr/>
        </p:nvSpPr>
        <p:spPr>
          <a:xfrm>
            <a:off x="6245352" y="1234440"/>
            <a:ext cx="5440680" cy="502920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6 HÀM BENCHMARK CHUẨN ĐƯỢC KIỂM THỬ</a:t>
            </a:r>
          </a:p>
        </p:txBody>
      </p:sp>
      <p:sp>
        <p:nvSpPr>
          <p:cNvPr id="12" name="Rectangle 11"/>
          <p:cNvSpPr/>
          <p:nvPr/>
        </p:nvSpPr>
        <p:spPr>
          <a:xfrm>
            <a:off x="6473952"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428232" y="1874519"/>
          <a:ext cx="5074920" cy="2852928"/>
        </p:xfrm>
        <a:graphic>
          <a:graphicData uri="http://schemas.openxmlformats.org/drawingml/2006/table">
            <a:tbl>
              <a:tblPr firstRow="1" bandRow="1">
                <a:tableStyleId>{5C22544A-7EE6-4342-B048-85BDC9FD1C3A}</a:tableStyleId>
              </a:tblPr>
              <a:tblGrid>
                <a:gridCol w="1417320"/>
                <a:gridCol w="1508760"/>
                <a:gridCol w="1143000"/>
                <a:gridCol w="1005840"/>
              </a:tblGrid>
              <a:tr h="384048">
                <a:tc>
                  <a:txBody>
                    <a:bodyPr/>
                    <a:lstStyle/>
                    <a:p>
                      <a:pPr algn="l"/>
                      <a:r>
                        <a:rPr sz="1150" b="1" i="0">
                          <a:solidFill>
                            <a:srgbClr val="FFFFFF"/>
                          </a:solidFill>
                          <a:latin typeface="Calibri"/>
                          <a:ea typeface="Calibri"/>
                          <a:cs typeface="Calibri"/>
                        </a:rPr>
                        <a:t>Hàm mục tiêu</a:t>
                      </a:r>
                    </a:p>
                  </a:txBody>
                  <a:tcPr marL="73152" marR="73152" marT="27432" marB="27432" anchor="ctr">
                    <a:solidFill>
                      <a:srgbClr val="2D3E63"/>
                    </a:solidFill>
                  </a:tcPr>
                </a:tc>
                <a:tc>
                  <a:txBody>
                    <a:bodyPr/>
                    <a:lstStyle/>
                    <a:p>
                      <a:pPr algn="l"/>
                      <a:r>
                        <a:rPr sz="1150" b="1" i="0">
                          <a:solidFill>
                            <a:srgbClr val="FFFFFF"/>
                          </a:solidFill>
                          <a:latin typeface="Calibri"/>
                          <a:ea typeface="Calibri"/>
                          <a:cs typeface="Calibri"/>
                        </a:rPr>
                        <a:t>Loại hàm</a:t>
                      </a:r>
                    </a:p>
                  </a:txBody>
                  <a:tcPr marL="73152" marR="73152" marT="27432" marB="27432" anchor="ctr">
                    <a:solidFill>
                      <a:srgbClr val="2D3E63"/>
                    </a:solidFill>
                  </a:tcPr>
                </a:tc>
                <a:tc>
                  <a:txBody>
                    <a:bodyPr/>
                    <a:lstStyle/>
                    <a:p>
                      <a:pPr algn="ctr"/>
                      <a:r>
                        <a:rPr sz="1150" b="1" i="0">
                          <a:solidFill>
                            <a:srgbClr val="FFFFFF"/>
                          </a:solidFill>
                          <a:latin typeface="Calibri"/>
                          <a:ea typeface="Calibri"/>
                          <a:cs typeface="Calibri"/>
                        </a:rPr>
                        <a:t>Miền tìm kiếm</a:t>
                      </a:r>
                    </a:p>
                  </a:txBody>
                  <a:tcPr marL="73152" marR="73152" marT="27432" marB="27432" anchor="ctr">
                    <a:solidFill>
                      <a:srgbClr val="2D3E63"/>
                    </a:solidFill>
                  </a:tcPr>
                </a:tc>
                <a:tc>
                  <a:txBody>
                    <a:bodyPr/>
                    <a:lstStyle/>
                    <a:p>
                      <a:pPr algn="ctr"/>
                      <a:r>
                        <a:rPr sz="1150" b="1" i="0">
                          <a:solidFill>
                            <a:srgbClr val="FFFFFF"/>
                          </a:solidFill>
                          <a:latin typeface="Calibri"/>
                          <a:ea typeface="Calibri"/>
                          <a:cs typeface="Calibri"/>
                        </a:rPr>
                        <a:t>f(x*) tối ưu</a:t>
                      </a:r>
                    </a:p>
                  </a:txBody>
                  <a:tcPr marL="73152" marR="73152" marT="27432" marB="27432" anchor="ctr">
                    <a:solidFill>
                      <a:srgbClr val="2D3E63"/>
                    </a:solidFill>
                  </a:tcPr>
                </a:tc>
              </a:tr>
              <a:tr h="411480">
                <a:tc>
                  <a:txBody>
                    <a:bodyPr/>
                    <a:lstStyle/>
                    <a:p>
                      <a:pPr algn="l"/>
                      <a:r>
                        <a:rPr sz="1000" b="1" i="0">
                          <a:solidFill>
                            <a:srgbClr val="1E2430"/>
                          </a:solidFill>
                          <a:latin typeface="Calibri"/>
                          <a:ea typeface="Calibri"/>
                          <a:cs typeface="Calibri"/>
                        </a:rPr>
                        <a:t>F1: Sphere</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Đơn điệu (Unimodal)</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[-100, 100]^D</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0 tại (0, ..., 0)</a:t>
                      </a:r>
                    </a:p>
                  </a:txBody>
                  <a:tcPr marL="73152" marR="73152" marT="27432" marB="27432" anchor="ctr">
                    <a:solidFill>
                      <a:srgbClr val="F5F7FB"/>
                    </a:solidFill>
                  </a:tcPr>
                </a:tc>
              </a:tr>
              <a:tr h="411480">
                <a:tc>
                  <a:txBody>
                    <a:bodyPr/>
                    <a:lstStyle/>
                    <a:p>
                      <a:pPr algn="l"/>
                      <a:r>
                        <a:rPr sz="1000" b="1" i="0">
                          <a:solidFill>
                            <a:srgbClr val="1E2430"/>
                          </a:solidFill>
                          <a:latin typeface="Calibri"/>
                          <a:ea typeface="Calibri"/>
                          <a:cs typeface="Calibri"/>
                        </a:rPr>
                        <a:t>F2: Schwefel 2.22</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Đơn điệu (Unimodal)</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[-10, 10]^D</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0 tại (0, ..., 0)</a:t>
                      </a:r>
                    </a:p>
                  </a:txBody>
                  <a:tcPr marL="73152" marR="73152" marT="27432" marB="27432" anchor="ctr">
                    <a:solidFill>
                      <a:srgbClr val="FFFFFF"/>
                    </a:solidFill>
                  </a:tcPr>
                </a:tc>
              </a:tr>
              <a:tr h="411480">
                <a:tc>
                  <a:txBody>
                    <a:bodyPr/>
                    <a:lstStyle/>
                    <a:p>
                      <a:pPr algn="l"/>
                      <a:r>
                        <a:rPr sz="1000" b="1" i="0">
                          <a:solidFill>
                            <a:srgbClr val="1E2430"/>
                          </a:solidFill>
                          <a:latin typeface="Calibri"/>
                          <a:ea typeface="Calibri"/>
                          <a:cs typeface="Calibri"/>
                        </a:rPr>
                        <a:t>F3: Rosenbrock</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Đơn điệu / Rãnh cong</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[-30, 30]^D</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0 tại (1, ..., 1)</a:t>
                      </a:r>
                    </a:p>
                  </a:txBody>
                  <a:tcPr marL="73152" marR="73152" marT="27432" marB="27432" anchor="ctr">
                    <a:solidFill>
                      <a:srgbClr val="F5F7FB"/>
                    </a:solidFill>
                  </a:tcPr>
                </a:tc>
              </a:tr>
              <a:tr h="411480">
                <a:tc>
                  <a:txBody>
                    <a:bodyPr/>
                    <a:lstStyle/>
                    <a:p>
                      <a:pPr algn="l"/>
                      <a:r>
                        <a:rPr sz="1000" b="1" i="0">
                          <a:solidFill>
                            <a:srgbClr val="1E2430"/>
                          </a:solidFill>
                          <a:latin typeface="Calibri"/>
                          <a:ea typeface="Calibri"/>
                          <a:cs typeface="Calibri"/>
                        </a:rPr>
                        <a:t>F4: Rastrigin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Đa cực trị (Multimodal)</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[-5.12, 5.12]^D</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0 tại (0, ..., 0)</a:t>
                      </a:r>
                    </a:p>
                  </a:txBody>
                  <a:tcPr marL="73152" marR="73152" marT="27432" marB="27432" anchor="ctr">
                    <a:solidFill>
                      <a:srgbClr val="FFFFFF"/>
                    </a:solidFill>
                  </a:tcPr>
                </a:tc>
              </a:tr>
              <a:tr h="411480">
                <a:tc>
                  <a:txBody>
                    <a:bodyPr/>
                    <a:lstStyle/>
                    <a:p>
                      <a:pPr algn="l"/>
                      <a:r>
                        <a:rPr sz="1000" b="1" i="0">
                          <a:solidFill>
                            <a:srgbClr val="1E2430"/>
                          </a:solidFill>
                          <a:latin typeface="Calibri"/>
                          <a:ea typeface="Calibri"/>
                          <a:cs typeface="Calibri"/>
                        </a:rPr>
                        <a:t>F5: Ackley</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Đa cực trị (Multimodal)</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[-32, 32]^D</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0 tại (0, ..., 0)</a:t>
                      </a:r>
                    </a:p>
                  </a:txBody>
                  <a:tcPr marL="73152" marR="73152" marT="27432" marB="27432" anchor="ctr">
                    <a:solidFill>
                      <a:srgbClr val="F5F7FB"/>
                    </a:solidFill>
                  </a:tcPr>
                </a:tc>
              </a:tr>
              <a:tr h="411480">
                <a:tc>
                  <a:txBody>
                    <a:bodyPr/>
                    <a:lstStyle/>
                    <a:p>
                      <a:pPr algn="l"/>
                      <a:r>
                        <a:rPr sz="1000" b="1" i="0">
                          <a:solidFill>
                            <a:srgbClr val="1E2430"/>
                          </a:solidFill>
                          <a:latin typeface="Calibri"/>
                          <a:ea typeface="Calibri"/>
                          <a:cs typeface="Calibri"/>
                        </a:rPr>
                        <a:t>F6: Griewank</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Đa cực trị (Multimodal)</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[-600, 600]^D</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0 tại (0, ..., 0)</a:t>
                      </a:r>
                    </a:p>
                  </a:txBody>
                  <a:tcPr marL="73152" marR="73152" marT="27432" marB="27432" anchor="ctr">
                    <a:solidFill>
                      <a:srgbClr val="FFFFFF"/>
                    </a:solidFill>
                  </a:tcPr>
                </a:tc>
              </a:tr>
            </a:tbl>
          </a:graphicData>
        </a:graphic>
      </p:graphicFrame>
      <p:sp>
        <p:nvSpPr>
          <p:cNvPr id="14" name="Rounded Rectangle 13"/>
          <p:cNvSpPr/>
          <p:nvPr/>
        </p:nvSpPr>
        <p:spPr>
          <a:xfrm>
            <a:off x="6428232" y="4937760"/>
            <a:ext cx="5074920" cy="1143000"/>
          </a:xfrm>
          <a:prstGeom prst="roundRect">
            <a:avLst/>
          </a:prstGeom>
          <a:solidFill>
            <a:srgbClr val="FDF6E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5010912"/>
            <a:ext cx="4754880" cy="1005840"/>
          </a:xfrm>
          <a:prstGeom prst="rect">
            <a:avLst/>
          </a:prstGeom>
          <a:noFill/>
        </p:spPr>
        <p:txBody>
          <a:bodyPr wrap="square" anchor="t" lIns="0" rIns="0" tIns="0" bIns="0">
            <a:spAutoFit/>
          </a:bodyPr>
          <a:lstStyle/>
          <a:p>
            <a:pPr algn="l">
              <a:lnSpc>
                <a:spcPct val="112000"/>
              </a:lnSpc>
              <a:spcAft>
                <a:spcPts val="0"/>
              </a:spcAft>
            </a:pPr>
            <a:r>
              <a:rPr sz="1150" b="1" i="0">
                <a:solidFill>
                  <a:srgbClr val="D9822B"/>
                </a:solidFill>
                <a:latin typeface="Calibri"/>
                <a:ea typeface="Calibri"/>
                <a:cs typeface="Calibri"/>
              </a:rPr>
              <a:t>💡 Mục tiêu khoa học: </a:t>
            </a:r>
          </a:p>
          <a:p>
            <a:pPr algn="l">
              <a:lnSpc>
                <a:spcPct val="112000"/>
              </a:lnSpc>
              <a:spcAft>
                <a:spcPts val="0"/>
              </a:spcAft>
            </a:pPr>
            <a:r>
              <a:rPr sz="1050" b="0" i="0">
                <a:solidFill>
                  <a:srgbClr val="1E2430"/>
                </a:solidFill>
                <a:latin typeface="Calibri"/>
                <a:ea typeface="Calibri"/>
                <a:cs typeface="Calibri"/>
              </a:rPr>
              <a:t>Đánh giá toàn diện 2 năng lực cốt lõi: Khả năng khai thác cục bộ (Unimodal F1–F3) và Khả năng thoát khỏi bẫy cực trị địa phương (Multimodal F4–F6) trước khi tiến hành cải tiến thuật toán.</a:t>
            </a:r>
          </a:p>
        </p:txBody>
      </p:sp>
      <p:sp>
        <p:nvSpPr>
          <p:cNvPr id="16" name="Rectangle 15"/>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1 · Thiết lập thực nghiệm DBO gốc</a:t>
            </a:r>
          </a:p>
        </p:txBody>
      </p:sp>
      <p:sp>
        <p:nvSpPr>
          <p:cNvPr id="18" name="TextBox 17"/>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KẾT QUẢ BENCHMARK</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1: Kết quả tối ưu hóa của DBO trên 6 hàm benchmark</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34440"/>
          <a:ext cx="11183111" cy="3566160"/>
        </p:xfrm>
        <a:graphic>
          <a:graphicData uri="http://schemas.openxmlformats.org/drawingml/2006/table">
            <a:tbl>
              <a:tblPr firstRow="1" bandRow="1">
                <a:tableStyleId>{5C22544A-7EE6-4342-B048-85BDC9FD1C3A}</a:tableStyleId>
              </a:tblPr>
              <a:tblGrid>
                <a:gridCol w="1645920"/>
                <a:gridCol w="1005840"/>
                <a:gridCol w="2240280"/>
                <a:gridCol w="2240280"/>
                <a:gridCol w="1965960"/>
                <a:gridCol w="2084831"/>
              </a:tblGrid>
              <a:tr h="384048">
                <a:tc>
                  <a:txBody>
                    <a:bodyPr/>
                    <a:lstStyle/>
                    <a:p>
                      <a:pPr algn="l"/>
                      <a:r>
                        <a:rPr sz="1150" b="1" i="0">
                          <a:solidFill>
                            <a:srgbClr val="FFFFFF"/>
                          </a:solidFill>
                          <a:latin typeface="Calibri"/>
                          <a:ea typeface="Calibri"/>
                          <a:cs typeface="Calibri"/>
                        </a:rPr>
                        <a:t>Hàm mục tiêu</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Đặc tính</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dim = 10 (Mean ± Std)</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dim = 30 (Mean ± Std)</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dim = 50 (Mean ± Std)</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Nhận xét hiệu năng</a:t>
                      </a:r>
                    </a:p>
                  </a:txBody>
                  <a:tcPr marL="73152" marR="73152" marT="27432" marB="27432" anchor="ctr">
                    <a:solidFill>
                      <a:srgbClr val="1B2A4A"/>
                    </a:solidFill>
                  </a:tcPr>
                </a:tc>
              </a:tr>
              <a:tr h="530352">
                <a:tc>
                  <a:txBody>
                    <a:bodyPr/>
                    <a:lstStyle/>
                    <a:p>
                      <a:pPr algn="l"/>
                      <a:r>
                        <a:rPr sz="1050" b="1" i="0">
                          <a:solidFill>
                            <a:srgbClr val="1E2430"/>
                          </a:solidFill>
                          <a:latin typeface="Calibri"/>
                          <a:ea typeface="Calibri"/>
                          <a:cs typeface="Calibri"/>
                        </a:rPr>
                        <a:t>Sphere (F1)</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Unimodal</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3.49e-153 ± 1.88e-152</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2.06e-158 ± 1.11e-157</a:t>
                      </a:r>
                    </a:p>
                  </a:txBody>
                  <a:tcPr marL="73152" marR="73152" marT="27432" marB="27432" anchor="ctr">
                    <a:solidFill>
                      <a:srgbClr val="F5F7FB"/>
                    </a:solidFill>
                  </a:tcPr>
                </a:tc>
                <a:tc>
                  <a:txBody>
                    <a:bodyPr/>
                    <a:lstStyle/>
                    <a:p>
                      <a:pPr algn="ctr"/>
                      <a:r>
                        <a:rPr sz="1050" b="1" i="0">
                          <a:solidFill>
                            <a:srgbClr val="217A4B"/>
                          </a:solidFill>
                          <a:latin typeface="Calibri"/>
                          <a:ea typeface="Calibri"/>
                          <a:cs typeface="Calibri"/>
                        </a:rPr>
                        <a:t>5.70e-168 ± 0.00</a:t>
                      </a:r>
                    </a:p>
                  </a:txBody>
                  <a:tcPr marL="73152" marR="73152" marT="27432" marB="27432" anchor="ctr">
                    <a:solidFill>
                      <a:srgbClr val="F5F7FB"/>
                    </a:solidFill>
                  </a:tcPr>
                </a:tc>
                <a:tc>
                  <a:txBody>
                    <a:bodyPr/>
                    <a:lstStyle/>
                    <a:p>
                      <a:pPr algn="l"/>
                      <a:r>
                        <a:rPr sz="1050" b="0" i="0">
                          <a:solidFill>
                            <a:srgbClr val="1E2430"/>
                          </a:solidFill>
                          <a:latin typeface="Calibri"/>
                          <a:ea typeface="Calibri"/>
                          <a:cs typeface="Calibri"/>
                        </a:rPr>
                        <a:t>Hội tụ sâu, tiệm cận 0 tuyệt đối</a:t>
                      </a:r>
                    </a:p>
                  </a:txBody>
                  <a:tcPr marL="73152" marR="73152" marT="27432" marB="27432" anchor="ctr">
                    <a:solidFill>
                      <a:srgbClr val="F5F7FB"/>
                    </a:solidFill>
                  </a:tcPr>
                </a:tc>
              </a:tr>
              <a:tr h="530352">
                <a:tc>
                  <a:txBody>
                    <a:bodyPr/>
                    <a:lstStyle/>
                    <a:p>
                      <a:pPr algn="l"/>
                      <a:r>
                        <a:rPr sz="1050" b="1" i="0">
                          <a:solidFill>
                            <a:srgbClr val="1E2430"/>
                          </a:solidFill>
                          <a:latin typeface="Calibri"/>
                          <a:ea typeface="Calibri"/>
                          <a:cs typeface="Calibri"/>
                        </a:rPr>
                        <a:t>Schwefel 2.22 (F2)</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Unimodal</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6.70e-82 ± 3.61e-81</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3.60e-87 ± 1.03e-86</a:t>
                      </a:r>
                    </a:p>
                  </a:txBody>
                  <a:tcPr marL="73152" marR="73152" marT="27432" marB="27432" anchor="ctr">
                    <a:solidFill>
                      <a:srgbClr val="FFFFFF"/>
                    </a:solidFill>
                  </a:tcPr>
                </a:tc>
                <a:tc>
                  <a:txBody>
                    <a:bodyPr/>
                    <a:lstStyle/>
                    <a:p>
                      <a:pPr algn="ctr"/>
                      <a:r>
                        <a:rPr sz="1050" b="1" i="0">
                          <a:solidFill>
                            <a:srgbClr val="217A4B"/>
                          </a:solidFill>
                          <a:latin typeface="Calibri"/>
                          <a:ea typeface="Calibri"/>
                          <a:cs typeface="Calibri"/>
                        </a:rPr>
                        <a:t>4.18e-82 ± 1.89e-81</a:t>
                      </a:r>
                    </a:p>
                  </a:txBody>
                  <a:tcPr marL="73152" marR="73152" marT="27432" marB="27432" anchor="ctr">
                    <a:solidFill>
                      <a:srgbClr val="FFFFFF"/>
                    </a:solidFill>
                  </a:tcPr>
                </a:tc>
                <a:tc>
                  <a:txBody>
                    <a:bodyPr/>
                    <a:lstStyle/>
                    <a:p>
                      <a:pPr algn="l"/>
                      <a:r>
                        <a:rPr sz="1050" b="0" i="0">
                          <a:solidFill>
                            <a:srgbClr val="1E2430"/>
                          </a:solidFill>
                          <a:latin typeface="Calibri"/>
                          <a:ea typeface="Calibri"/>
                          <a:cs typeface="Calibri"/>
                        </a:rPr>
                        <a:t>Hội tụ siêu sâu ở mọi số chiều</a:t>
                      </a:r>
                    </a:p>
                  </a:txBody>
                  <a:tcPr marL="73152" marR="73152" marT="27432" marB="27432" anchor="ctr">
                    <a:solidFill>
                      <a:srgbClr val="FFFFFF"/>
                    </a:solidFill>
                  </a:tcPr>
                </a:tc>
              </a:tr>
              <a:tr h="530352">
                <a:tc>
                  <a:txBody>
                    <a:bodyPr/>
                    <a:lstStyle/>
                    <a:p>
                      <a:pPr algn="l"/>
                      <a:r>
                        <a:rPr sz="1050" b="1" i="0">
                          <a:solidFill>
                            <a:srgbClr val="1E2430"/>
                          </a:solidFill>
                          <a:latin typeface="Calibri"/>
                          <a:ea typeface="Calibri"/>
                          <a:cs typeface="Calibri"/>
                        </a:rPr>
                        <a:t>Rosenbrock (F3)</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Thung lũng</a:t>
                      </a:r>
                    </a:p>
                  </a:txBody>
                  <a:tcPr marL="73152" marR="73152" marT="27432" marB="27432" anchor="ctr">
                    <a:solidFill>
                      <a:srgbClr val="F5F7FB"/>
                    </a:solidFill>
                  </a:tcPr>
                </a:tc>
                <a:tc>
                  <a:txBody>
                    <a:bodyPr/>
                    <a:lstStyle/>
                    <a:p>
                      <a:pPr algn="ctr"/>
                      <a:r>
                        <a:rPr sz="1050" b="1" i="0">
                          <a:solidFill>
                            <a:srgbClr val="D9822B"/>
                          </a:solidFill>
                          <a:latin typeface="Calibri"/>
                          <a:ea typeface="Calibri"/>
                          <a:cs typeface="Calibri"/>
                        </a:rPr>
                        <a:t>5.611 ± 0.689</a:t>
                      </a:r>
                    </a:p>
                  </a:txBody>
                  <a:tcPr marL="73152" marR="73152" marT="27432" marB="27432" anchor="ctr">
                    <a:solidFill>
                      <a:srgbClr val="F5F7FB"/>
                    </a:solidFill>
                  </a:tcPr>
                </a:tc>
                <a:tc>
                  <a:txBody>
                    <a:bodyPr/>
                    <a:lstStyle/>
                    <a:p>
                      <a:pPr algn="ctr"/>
                      <a:r>
                        <a:rPr sz="1050" b="1" i="0">
                          <a:solidFill>
                            <a:srgbClr val="D9822B"/>
                          </a:solidFill>
                          <a:latin typeface="Calibri"/>
                          <a:ea typeface="Calibri"/>
                          <a:cs typeface="Calibri"/>
                        </a:rPr>
                        <a:t>26.229 ± 0.253</a:t>
                      </a:r>
                    </a:p>
                  </a:txBody>
                  <a:tcPr marL="73152" marR="73152" marT="27432" marB="27432" anchor="ctr">
                    <a:solidFill>
                      <a:srgbClr val="F5F7FB"/>
                    </a:solidFill>
                  </a:tcPr>
                </a:tc>
                <a:tc>
                  <a:txBody>
                    <a:bodyPr/>
                    <a:lstStyle/>
                    <a:p>
                      <a:pPr algn="ctr"/>
                      <a:r>
                        <a:rPr sz="1050" b="1" i="0">
                          <a:solidFill>
                            <a:srgbClr val="D9822B"/>
                          </a:solidFill>
                          <a:latin typeface="Calibri"/>
                          <a:ea typeface="Calibri"/>
                          <a:cs typeface="Calibri"/>
                        </a:rPr>
                        <a:t>46.648 ± 0.517</a:t>
                      </a:r>
                    </a:p>
                  </a:txBody>
                  <a:tcPr marL="73152" marR="73152" marT="27432" marB="27432" anchor="ctr">
                    <a:solidFill>
                      <a:srgbClr val="F5F7FB"/>
                    </a:solidFill>
                  </a:tcPr>
                </a:tc>
                <a:tc>
                  <a:txBody>
                    <a:bodyPr/>
                    <a:lstStyle/>
                    <a:p>
                      <a:pPr algn="l"/>
                      <a:r>
                        <a:rPr sz="1050" b="0" i="0">
                          <a:solidFill>
                            <a:srgbClr val="1E2430"/>
                          </a:solidFill>
                          <a:latin typeface="Calibri"/>
                          <a:ea typeface="Calibri"/>
                          <a:cs typeface="Calibri"/>
                        </a:rPr>
                        <a:t>Thách thức tự nhiên (địa hình hẹp)</a:t>
                      </a:r>
                    </a:p>
                  </a:txBody>
                  <a:tcPr marL="73152" marR="73152" marT="27432" marB="27432" anchor="ctr">
                    <a:solidFill>
                      <a:srgbClr val="F5F7FB"/>
                    </a:solidFill>
                  </a:tcPr>
                </a:tc>
              </a:tr>
              <a:tr h="530352">
                <a:tc>
                  <a:txBody>
                    <a:bodyPr/>
                    <a:lstStyle/>
                    <a:p>
                      <a:pPr algn="l"/>
                      <a:r>
                        <a:rPr sz="1050" b="1" i="0">
                          <a:solidFill>
                            <a:srgbClr val="1E2430"/>
                          </a:solidFill>
                          <a:latin typeface="Calibri"/>
                          <a:ea typeface="Calibri"/>
                          <a:cs typeface="Calibri"/>
                        </a:rPr>
                        <a:t>Rastrigin (F4)</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Multimodal</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2.741 ± 4.905</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4.847 ± 21.245</a:t>
                      </a:r>
                    </a:p>
                  </a:txBody>
                  <a:tcPr marL="73152" marR="73152" marT="27432" marB="27432" anchor="ctr">
                    <a:solidFill>
                      <a:srgbClr val="FFFFFF"/>
                    </a:solidFill>
                  </a:tcPr>
                </a:tc>
                <a:tc>
                  <a:txBody>
                    <a:bodyPr/>
                    <a:lstStyle/>
                    <a:p>
                      <a:pPr algn="ctr"/>
                      <a:r>
                        <a:rPr sz="1050" b="1" i="0">
                          <a:solidFill>
                            <a:srgbClr val="217A4B"/>
                          </a:solidFill>
                          <a:latin typeface="Calibri"/>
                          <a:ea typeface="Calibri"/>
                          <a:cs typeface="Calibri"/>
                        </a:rPr>
                        <a:t>0.000 ± 0.000</a:t>
                      </a:r>
                    </a:p>
                  </a:txBody>
                  <a:tcPr marL="73152" marR="73152" marT="27432" marB="27432" anchor="ctr">
                    <a:solidFill>
                      <a:srgbClr val="FFFFFF"/>
                    </a:solidFill>
                  </a:tcPr>
                </a:tc>
                <a:tc>
                  <a:txBody>
                    <a:bodyPr/>
                    <a:lstStyle/>
                    <a:p>
                      <a:pPr algn="l"/>
                      <a:r>
                        <a:rPr sz="1050" b="0" i="0">
                          <a:solidFill>
                            <a:srgbClr val="1E2430"/>
                          </a:solidFill>
                          <a:latin typeface="Calibri"/>
                          <a:ea typeface="Calibri"/>
                          <a:cs typeface="Calibri"/>
                        </a:rPr>
                        <a:t>Đạt 0 tuyệt đối ở 50D (30/30 runs)</a:t>
                      </a:r>
                    </a:p>
                  </a:txBody>
                  <a:tcPr marL="73152" marR="73152" marT="27432" marB="27432" anchor="ctr">
                    <a:solidFill>
                      <a:srgbClr val="FFFFFF"/>
                    </a:solidFill>
                  </a:tcPr>
                </a:tc>
              </a:tr>
              <a:tr h="530352">
                <a:tc>
                  <a:txBody>
                    <a:bodyPr/>
                    <a:lstStyle/>
                    <a:p>
                      <a:pPr algn="l"/>
                      <a:r>
                        <a:rPr sz="1050" b="1" i="0">
                          <a:solidFill>
                            <a:srgbClr val="1E2430"/>
                          </a:solidFill>
                          <a:latin typeface="Calibri"/>
                          <a:ea typeface="Calibri"/>
                          <a:cs typeface="Calibri"/>
                        </a:rPr>
                        <a:t>Ackley (F5)</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Multimodal</a:t>
                      </a:r>
                    </a:p>
                  </a:txBody>
                  <a:tcPr marL="73152" marR="73152" marT="27432" marB="27432" anchor="ctr">
                    <a:solidFill>
                      <a:srgbClr val="F5F7FB"/>
                    </a:solidFill>
                  </a:tcPr>
                </a:tc>
                <a:tc>
                  <a:txBody>
                    <a:bodyPr/>
                    <a:lstStyle/>
                    <a:p>
                      <a:pPr algn="ctr"/>
                      <a:r>
                        <a:rPr sz="1050" b="1" i="0">
                          <a:solidFill>
                            <a:srgbClr val="217A4B"/>
                          </a:solidFill>
                          <a:latin typeface="Calibri"/>
                          <a:ea typeface="Calibri"/>
                          <a:cs typeface="Calibri"/>
                        </a:rPr>
                        <a:t>4.44e-16 ± 0.00</a:t>
                      </a:r>
                    </a:p>
                  </a:txBody>
                  <a:tcPr marL="73152" marR="73152" marT="27432" marB="27432" anchor="ctr">
                    <a:solidFill>
                      <a:srgbClr val="F5F7FB"/>
                    </a:solidFill>
                  </a:tcPr>
                </a:tc>
                <a:tc>
                  <a:txBody>
                    <a:bodyPr/>
                    <a:lstStyle/>
                    <a:p>
                      <a:pPr algn="ctr"/>
                      <a:r>
                        <a:rPr sz="1050" b="1" i="0">
                          <a:solidFill>
                            <a:srgbClr val="217A4B"/>
                          </a:solidFill>
                          <a:latin typeface="Calibri"/>
                          <a:ea typeface="Calibri"/>
                          <a:cs typeface="Calibri"/>
                        </a:rPr>
                        <a:t>4.44e-16 ± 0.00</a:t>
                      </a:r>
                    </a:p>
                  </a:txBody>
                  <a:tcPr marL="73152" marR="73152" marT="27432" marB="27432" anchor="ctr">
                    <a:solidFill>
                      <a:srgbClr val="F5F7FB"/>
                    </a:solidFill>
                  </a:tcPr>
                </a:tc>
                <a:tc>
                  <a:txBody>
                    <a:bodyPr/>
                    <a:lstStyle/>
                    <a:p>
                      <a:pPr algn="ctr"/>
                      <a:r>
                        <a:rPr sz="1050" b="1" i="0">
                          <a:solidFill>
                            <a:srgbClr val="217A4B"/>
                          </a:solidFill>
                          <a:latin typeface="Calibri"/>
                          <a:ea typeface="Calibri"/>
                          <a:cs typeface="Calibri"/>
                        </a:rPr>
                        <a:t>4.44e-16 ± 0.00</a:t>
                      </a:r>
                    </a:p>
                  </a:txBody>
                  <a:tcPr marL="73152" marR="73152" marT="27432" marB="27432" anchor="ctr">
                    <a:solidFill>
                      <a:srgbClr val="F5F7FB"/>
                    </a:solidFill>
                  </a:tcPr>
                </a:tc>
                <a:tc>
                  <a:txBody>
                    <a:bodyPr/>
                    <a:lstStyle/>
                    <a:p>
                      <a:pPr algn="l"/>
                      <a:r>
                        <a:rPr sz="1050" b="0" i="0">
                          <a:solidFill>
                            <a:srgbClr val="1E2430"/>
                          </a:solidFill>
                          <a:latin typeface="Calibri"/>
                          <a:ea typeface="Calibri"/>
                          <a:cs typeface="Calibri"/>
                        </a:rPr>
                        <a:t>Chạm giới hạn độ chính xác máy tính</a:t>
                      </a:r>
                    </a:p>
                  </a:txBody>
                  <a:tcPr marL="73152" marR="73152" marT="27432" marB="27432" anchor="ctr">
                    <a:solidFill>
                      <a:srgbClr val="F5F7FB"/>
                    </a:solidFill>
                  </a:tcPr>
                </a:tc>
              </a:tr>
              <a:tr h="530352">
                <a:tc>
                  <a:txBody>
                    <a:bodyPr/>
                    <a:lstStyle/>
                    <a:p>
                      <a:pPr algn="l"/>
                      <a:r>
                        <a:rPr sz="1050" b="1" i="0">
                          <a:solidFill>
                            <a:srgbClr val="1E2430"/>
                          </a:solidFill>
                          <a:latin typeface="Calibri"/>
                          <a:ea typeface="Calibri"/>
                          <a:cs typeface="Calibri"/>
                        </a:rPr>
                        <a:t>Griewank (F6)</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Multimodal</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0.0349 ± 0.0577</a:t>
                      </a:r>
                    </a:p>
                  </a:txBody>
                  <a:tcPr marL="73152" marR="73152" marT="27432" marB="27432" anchor="ctr">
                    <a:solidFill>
                      <a:srgbClr val="FFFFFF"/>
                    </a:solidFill>
                  </a:tcPr>
                </a:tc>
                <a:tc>
                  <a:txBody>
                    <a:bodyPr/>
                    <a:lstStyle/>
                    <a:p>
                      <a:pPr algn="ctr"/>
                      <a:r>
                        <a:rPr sz="1050" b="1" i="0">
                          <a:solidFill>
                            <a:srgbClr val="217A4B"/>
                          </a:solidFill>
                          <a:latin typeface="Calibri"/>
                          <a:ea typeface="Calibri"/>
                          <a:cs typeface="Calibri"/>
                        </a:rPr>
                        <a:t>0.000 ± 0.000</a:t>
                      </a:r>
                    </a:p>
                  </a:txBody>
                  <a:tcPr marL="73152" marR="73152" marT="27432" marB="27432" anchor="ctr">
                    <a:solidFill>
                      <a:srgbClr val="FFFFFF"/>
                    </a:solidFill>
                  </a:tcPr>
                </a:tc>
                <a:tc>
                  <a:txBody>
                    <a:bodyPr/>
                    <a:lstStyle/>
                    <a:p>
                      <a:pPr algn="ctr"/>
                      <a:r>
                        <a:rPr sz="1050" b="1" i="0">
                          <a:solidFill>
                            <a:srgbClr val="217A4B"/>
                          </a:solidFill>
                          <a:latin typeface="Calibri"/>
                          <a:ea typeface="Calibri"/>
                          <a:cs typeface="Calibri"/>
                        </a:rPr>
                        <a:t>0.000 ± 0.000</a:t>
                      </a:r>
                    </a:p>
                  </a:txBody>
                  <a:tcPr marL="73152" marR="73152" marT="27432" marB="27432" anchor="ctr">
                    <a:solidFill>
                      <a:srgbClr val="FFFFFF"/>
                    </a:solidFill>
                  </a:tcPr>
                </a:tc>
                <a:tc>
                  <a:txBody>
                    <a:bodyPr/>
                    <a:lstStyle/>
                    <a:p>
                      <a:pPr algn="l"/>
                      <a:r>
                        <a:rPr sz="1050" b="0" i="0">
                          <a:solidFill>
                            <a:srgbClr val="1E2430"/>
                          </a:solidFill>
                          <a:latin typeface="Calibri"/>
                          <a:ea typeface="Calibri"/>
                          <a:cs typeface="Calibri"/>
                        </a:rPr>
                        <a:t>Đạt 0 tuyệt đối ở 30D và 50D</a:t>
                      </a:r>
                    </a:p>
                  </a:txBody>
                  <a:tcPr marL="73152" marR="73152" marT="27432" marB="27432" anchor="ctr">
                    <a:solidFill>
                      <a:srgbClr val="FFFFFF"/>
                    </a:solidFill>
                  </a:tcPr>
                </a:tc>
              </a:tr>
            </a:tbl>
          </a:graphicData>
        </a:graphic>
      </p:graphicFrame>
      <p:sp>
        <p:nvSpPr>
          <p:cNvPr id="7" name="Rounded Rectangle 6"/>
          <p:cNvSpPr/>
          <p:nvPr/>
        </p:nvSpPr>
        <p:spPr>
          <a:xfrm>
            <a:off x="502920" y="5376672"/>
            <a:ext cx="11183112" cy="932688"/>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68112"/>
            <a:ext cx="10744200" cy="777240"/>
          </a:xfrm>
          <a:prstGeom prst="rect">
            <a:avLst/>
          </a:prstGeom>
          <a:noFill/>
        </p:spPr>
        <p:txBody>
          <a:bodyPr wrap="square" anchor="t" lIns="0" rIns="0" tIns="0" bIns="0">
            <a:spAutoFit/>
          </a:bodyPr>
          <a:lstStyle/>
          <a:p>
            <a:pPr algn="l">
              <a:lnSpc>
                <a:spcPct val="112000"/>
              </a:lnSpc>
              <a:spcAft>
                <a:spcPts val="0"/>
              </a:spcAft>
            </a:pPr>
            <a:r>
              <a:rPr sz="1200" b="1" i="0">
                <a:solidFill>
                  <a:srgbClr val="1B2A4A"/>
                </a:solidFill>
                <a:latin typeface="Calibri"/>
                <a:ea typeface="Calibri"/>
                <a:cs typeface="Calibri"/>
              </a:rPr>
              <a:t>💡 Đánh giá then chốt Tuần 4:  </a:t>
            </a:r>
          </a:p>
          <a:p>
            <a:pPr algn="l">
              <a:lnSpc>
                <a:spcPct val="112000"/>
              </a:lnSpc>
              <a:spcAft>
                <a:spcPts val="0"/>
              </a:spcAft>
            </a:pPr>
            <a:r>
              <a:rPr sz="1100" b="0" i="0">
                <a:solidFill>
                  <a:srgbClr val="1E2430"/>
                </a:solidFill>
                <a:latin typeface="Calibri"/>
                <a:ea typeface="Calibri"/>
                <a:cs typeface="Calibri"/>
              </a:rPr>
              <a:t>1. Thuật toán DBO gốc được cài đặt chuẩn xác 100%, thể hiện khả năng hội tụ vượt trội trên cả 3 hàm đa cực trị F4, F5, F6.
2. Đặc biệt tại không gian 50 chiều, Rastrigin và Griewank đạt nghiệm 0 tuyệt đối trong toàn bộ 30 lần chạy độc lập.
3. Riêng Rosenbrock (F3) là thách thức tự nhiên của các giải thuật metaheuristics do rãnh đáy parabolic phẳng hẹp làm chậm tốc độ tiếp cận nghiệm.</a:t>
            </a:r>
          </a:p>
        </p:txBody>
      </p:sp>
      <p:sp>
        <p:nvSpPr>
          <p:cNvPr id="9" name="Rectangle 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1 · Bảng kết quả benchmark DBO (540 runs)</a:t>
            </a:r>
          </a:p>
        </p:txBody>
      </p:sp>
      <p:sp>
        <p:nvSpPr>
          <p:cNvPr id="11" name="TextBox 1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PHÂN TÍCH ĐỒ THỊ BENCHMARK</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1: Đồ thị hội tụ &amp; Phân phối nghiệm đa chiều của DBO</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multidim.png"/>
          <p:cNvPicPr>
            <a:picLocks noChangeAspect="1"/>
          </p:cNvPicPr>
          <p:nvPr/>
        </p:nvPicPr>
        <p:blipFill>
          <a:blip r:embed="rId2"/>
          <a:stretch>
            <a:fillRect/>
          </a:stretch>
        </p:blipFill>
        <p:spPr>
          <a:xfrm>
            <a:off x="502920" y="1582896"/>
            <a:ext cx="5440680" cy="3280727"/>
          </a:xfrm>
          <a:prstGeom prst="rect">
            <a:avLst/>
          </a:prstGeom>
        </p:spPr>
      </p:pic>
      <p:pic>
        <p:nvPicPr>
          <p:cNvPr id="7" name="Picture 6" descr="fig_boxplot_multidim.png"/>
          <p:cNvPicPr>
            <a:picLocks noChangeAspect="1"/>
          </p:cNvPicPr>
          <p:nvPr/>
        </p:nvPicPr>
        <p:blipFill>
          <a:blip r:embed="rId3"/>
          <a:stretch>
            <a:fillRect/>
          </a:stretch>
        </p:blipFill>
        <p:spPr>
          <a:xfrm>
            <a:off x="6245352" y="1582896"/>
            <a:ext cx="5440680" cy="3280727"/>
          </a:xfrm>
          <a:prstGeom prst="rect">
            <a:avLst/>
          </a:prstGeom>
        </p:spPr>
      </p:pic>
      <p:sp>
        <p:nvSpPr>
          <p:cNvPr id="8" name="Rounded Rectangle 7"/>
          <p:cNvSpPr/>
          <p:nvPr/>
        </p:nvSpPr>
        <p:spPr>
          <a:xfrm>
            <a:off x="502920" y="5394960"/>
            <a:ext cx="11183112" cy="9144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486400"/>
            <a:ext cx="10744200" cy="749808"/>
          </a:xfrm>
          <a:prstGeom prst="rect">
            <a:avLst/>
          </a:prstGeom>
          <a:noFill/>
        </p:spPr>
        <p:txBody>
          <a:bodyPr wrap="square" anchor="t" lIns="0" rIns="0" tIns="0" bIns="0">
            <a:spAutoFit/>
          </a:bodyPr>
          <a:lstStyle/>
          <a:p>
            <a:pPr algn="l">
              <a:lnSpc>
                <a:spcPct val="110000"/>
              </a:lnSpc>
              <a:spcAft>
                <a:spcPts val="0"/>
              </a:spcAft>
            </a:pPr>
            <a:r>
              <a:rPr sz="1200" b="1" i="0">
                <a:solidFill>
                  <a:srgbClr val="1B2A4A"/>
                </a:solidFill>
                <a:latin typeface="Calibri"/>
                <a:ea typeface="Calibri"/>
                <a:cs typeface="Calibri"/>
              </a:rPr>
              <a:t>💡 Quan sát then chốt từ đồ thị đa chiều:  </a:t>
            </a:r>
          </a:p>
          <a:p>
            <a:pPr algn="l">
              <a:lnSpc>
                <a:spcPct val="110000"/>
              </a:lnSpc>
              <a:spcAft>
                <a:spcPts val="0"/>
              </a:spcAft>
            </a:pPr>
            <a:r>
              <a:rPr sz="1080" b="0" i="0">
                <a:solidFill>
                  <a:srgbClr val="1E2430"/>
                </a:solidFill>
                <a:latin typeface="Calibri"/>
                <a:ea typeface="Calibri"/>
                <a:cs typeface="Calibri"/>
              </a:rPr>
              <a:t>• Đường cong hội tụ (trái): DBO dốc đứng cực mạnh trong 50–100 thế hệ đầu tiên trên Sphere, Schwefel, Ackley, Griewank.
• Phân phối nghiệm (phải): Hộp boxplot cực hẹp và không có ngoại lai bất thường, chứng minh tính ổn định vững chắc qua 30 seeds độc lập.
• Quy mô chiều (10D -&gt; 30D -&gt; 50D): Tốc độ hội tụ và chất lượng nghiệm duy trì ổn định, không bị bùng nổ sai số khi tăng chiều.</a:t>
            </a:r>
          </a:p>
        </p:txBody>
      </p:sp>
      <p:sp>
        <p:nvSpPr>
          <p:cNvPr id="10" name="Rectangle 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1 · Đồ thị đa chiều DBO (fig_convergence &amp; fig_boxplot multidim)</a:t>
            </a:r>
          </a:p>
        </p:txBody>
      </p:sp>
      <p:sp>
        <p:nvSpPr>
          <p:cNvPr id="12" name="TextBox 1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CẢI TIẾN THUẬT TOÁN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2: Kiến trúc cải tiến IDBO — Cơ chế kiểm soát đa dạng</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257800" cy="498348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dbo_flowchart.png"/>
          <p:cNvPicPr>
            <a:picLocks noChangeAspect="1"/>
          </p:cNvPicPr>
          <p:nvPr/>
        </p:nvPicPr>
        <p:blipFill>
          <a:blip r:embed="rId2"/>
          <a:stretch>
            <a:fillRect/>
          </a:stretch>
        </p:blipFill>
        <p:spPr>
          <a:xfrm>
            <a:off x="1253129" y="1348740"/>
            <a:ext cx="3766526" cy="4754880"/>
          </a:xfrm>
          <a:prstGeom prst="rect">
            <a:avLst/>
          </a:prstGeom>
        </p:spPr>
      </p:pic>
      <p:sp>
        <p:nvSpPr>
          <p:cNvPr id="8" name="Rounded Rectangle 7"/>
          <p:cNvSpPr/>
          <p:nvPr/>
        </p:nvSpPr>
        <p:spPr>
          <a:xfrm>
            <a:off x="5989320" y="1234440"/>
            <a:ext cx="5696712" cy="498348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371600"/>
            <a:ext cx="52578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1D6F6F"/>
                </a:solidFill>
                <a:latin typeface="Calibri"/>
                <a:ea typeface="Calibri"/>
                <a:cs typeface="Calibri"/>
              </a:rPr>
              <a:t>3 CƠ CHẾ CẢI TIẾN CỐT LÕI CỦA IDBO</a:t>
            </a:r>
          </a:p>
        </p:txBody>
      </p:sp>
      <p:sp>
        <p:nvSpPr>
          <p:cNvPr id="10" name="Rectangle 9"/>
          <p:cNvSpPr/>
          <p:nvPr/>
        </p:nvSpPr>
        <p:spPr>
          <a:xfrm>
            <a:off x="6217920" y="1719072"/>
            <a:ext cx="525780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874519"/>
            <a:ext cx="5257800" cy="123444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874519"/>
            <a:ext cx="73152" cy="123444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965960"/>
            <a:ext cx="4983480" cy="274320"/>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1. Giám sát độ đa dạng chuẩn hóa (Diversity Metric):</a:t>
            </a:r>
          </a:p>
        </p:txBody>
      </p:sp>
      <p:sp>
        <p:nvSpPr>
          <p:cNvPr id="14" name="TextBox 13"/>
          <p:cNvSpPr txBox="1"/>
          <p:nvPr/>
        </p:nvSpPr>
        <p:spPr>
          <a:xfrm>
            <a:off x="6400800" y="2221991"/>
            <a:ext cx="4983480" cy="822960"/>
          </a:xfrm>
          <a:prstGeom prst="rect">
            <a:avLst/>
          </a:prstGeom>
          <a:noFill/>
        </p:spPr>
        <p:txBody>
          <a:bodyPr wrap="square" anchor="t" lIns="0" rIns="0" tIns="0" bIns="0">
            <a:spAutoFit/>
          </a:bodyPr>
          <a:lstStyle/>
          <a:p>
            <a:pPr algn="l">
              <a:lnSpc>
                <a:spcPct val="112000"/>
              </a:lnSpc>
              <a:spcAft>
                <a:spcPts val="0"/>
              </a:spcAft>
            </a:pPr>
            <a:r>
              <a:rPr sz="1019" b="0" i="0">
                <a:solidFill>
                  <a:srgbClr val="1E2430"/>
                </a:solidFill>
                <a:latin typeface="Calibri"/>
                <a:ea typeface="Calibri"/>
                <a:cs typeface="Calibri"/>
              </a:rPr>
              <a:t>Đo lường mức độ co cụm không gian của đàn bọ:
Div(t) = (1/D) × ∑ [ std(X_:,d) / (ub_d − lb_d) ].
Cho phép thuật toán 'cảm nhận' được trạng thái bầy đàn để quyết định có can thiệp hay không.</a:t>
            </a:r>
          </a:p>
        </p:txBody>
      </p:sp>
      <p:sp>
        <p:nvSpPr>
          <p:cNvPr id="15" name="Rounded Rectangle 14"/>
          <p:cNvSpPr/>
          <p:nvPr/>
        </p:nvSpPr>
        <p:spPr>
          <a:xfrm>
            <a:off x="6217920" y="3227832"/>
            <a:ext cx="5257800" cy="123444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227832"/>
            <a:ext cx="73152" cy="123444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19272"/>
            <a:ext cx="4983480" cy="274320"/>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2. Đột biến Cauchy có điều kiện (Cauchy Mutation):</a:t>
            </a:r>
          </a:p>
        </p:txBody>
      </p:sp>
      <p:sp>
        <p:nvSpPr>
          <p:cNvPr id="18" name="TextBox 17"/>
          <p:cNvSpPr txBox="1"/>
          <p:nvPr/>
        </p:nvSpPr>
        <p:spPr>
          <a:xfrm>
            <a:off x="6400800" y="3575303"/>
            <a:ext cx="4983480" cy="822960"/>
          </a:xfrm>
          <a:prstGeom prst="rect">
            <a:avLst/>
          </a:prstGeom>
          <a:noFill/>
        </p:spPr>
        <p:txBody>
          <a:bodyPr wrap="square" anchor="t" lIns="0" rIns="0" tIns="0" bIns="0">
            <a:spAutoFit/>
          </a:bodyPr>
          <a:lstStyle/>
          <a:p>
            <a:pPr algn="l">
              <a:lnSpc>
                <a:spcPct val="112000"/>
              </a:lnSpc>
              <a:spcAft>
                <a:spcPts val="0"/>
              </a:spcAft>
            </a:pPr>
            <a:r>
              <a:rPr sz="1019" b="0" i="0">
                <a:solidFill>
                  <a:srgbClr val="1E2430"/>
                </a:solidFill>
                <a:latin typeface="Calibri"/>
                <a:ea typeface="Calibri"/>
                <a:cs typeface="Calibri"/>
              </a:rPr>
              <a:t>Chỉ kích hoạt khi Div(t) &lt; 10⁻³. Phân phối Cauchy đuôi dài tạo ra các bước nhảy đột biến lớn, giúp các cá thể bọ hung thoát khỏi hố sâu cực trị địa phương mà không phá vỡ cấu trúc nghiệm tốt.</a:t>
            </a:r>
          </a:p>
        </p:txBody>
      </p:sp>
      <p:sp>
        <p:nvSpPr>
          <p:cNvPr id="19" name="Rounded Rectangle 18"/>
          <p:cNvSpPr/>
          <p:nvPr/>
        </p:nvSpPr>
        <p:spPr>
          <a:xfrm>
            <a:off x="6217920" y="4581144"/>
            <a:ext cx="5257800" cy="123444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4581144"/>
            <a:ext cx="73152" cy="123444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672583"/>
            <a:ext cx="4983480" cy="274320"/>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3. Tái khởi động ngẫu nhiên (Random Restart):</a:t>
            </a:r>
          </a:p>
        </p:txBody>
      </p:sp>
      <p:sp>
        <p:nvSpPr>
          <p:cNvPr id="22" name="TextBox 21"/>
          <p:cNvSpPr txBox="1"/>
          <p:nvPr/>
        </p:nvSpPr>
        <p:spPr>
          <a:xfrm>
            <a:off x="6400800" y="4928616"/>
            <a:ext cx="4983480" cy="822960"/>
          </a:xfrm>
          <a:prstGeom prst="rect">
            <a:avLst/>
          </a:prstGeom>
          <a:noFill/>
        </p:spPr>
        <p:txBody>
          <a:bodyPr wrap="square" anchor="t" lIns="0" rIns="0" tIns="0" bIns="0">
            <a:spAutoFit/>
          </a:bodyPr>
          <a:lstStyle/>
          <a:p>
            <a:pPr algn="l">
              <a:lnSpc>
                <a:spcPct val="112000"/>
              </a:lnSpc>
              <a:spcAft>
                <a:spcPts val="0"/>
              </a:spcAft>
            </a:pPr>
            <a:r>
              <a:rPr sz="1019" b="0" i="0">
                <a:solidFill>
                  <a:srgbClr val="1E2430"/>
                </a:solidFill>
                <a:latin typeface="Calibri"/>
                <a:ea typeface="Calibri"/>
                <a:cs typeface="Calibri"/>
              </a:rPr>
              <a:t>Kích hoạt khi số thế hệ không cải thiện nghiệm liên tiếp ≥ 25 (Stagnation). Tái sinh một phần cá thể kém nhất để bơm nguồn gen mới, giải tỏa bế tắc mà vẫn bảo toàn cá thể tốt nhất (Elitism).</a:t>
            </a:r>
          </a:p>
        </p:txBody>
      </p:sp>
      <p:sp>
        <p:nvSpPr>
          <p:cNvPr id="23" name="Rectangle 22"/>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2 · Sơ đồ giải thuật và 3 cơ chế cải tiến IDBO</a:t>
            </a:r>
          </a:p>
        </p:txBody>
      </p:sp>
      <p:sp>
        <p:nvSpPr>
          <p:cNvPr id="25" name="TextBox 24"/>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ĐỐI CHỨNG</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2: So sánh đối chứng hiệu năng DBO và IDBO trên Benchmark</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34440"/>
          <a:ext cx="11183112" cy="3566160"/>
        </p:xfrm>
        <a:graphic>
          <a:graphicData uri="http://schemas.openxmlformats.org/drawingml/2006/table">
            <a:tbl>
              <a:tblPr firstRow="1" bandRow="1">
                <a:tableStyleId>{5C22544A-7EE6-4342-B048-85BDC9FD1C3A}</a:tableStyleId>
              </a:tblPr>
              <a:tblGrid>
                <a:gridCol w="1737360"/>
                <a:gridCol w="2606040"/>
                <a:gridCol w="2606040"/>
                <a:gridCol w="2606040"/>
                <a:gridCol w="1627632"/>
              </a:tblGrid>
              <a:tr h="384048">
                <a:tc>
                  <a:txBody>
                    <a:bodyPr/>
                    <a:lstStyle/>
                    <a:p>
                      <a:pPr algn="l"/>
                      <a:r>
                        <a:rPr sz="1150" b="1" i="0">
                          <a:solidFill>
                            <a:srgbClr val="FFFFFF"/>
                          </a:solidFill>
                          <a:latin typeface="Calibri"/>
                          <a:ea typeface="Calibri"/>
                          <a:cs typeface="Calibri"/>
                        </a:rPr>
                        <a:t>Hàm mục tiêu</a:t>
                      </a:r>
                    </a:p>
                  </a:txBody>
                  <a:tcPr marL="73152" marR="73152" marT="27432" marB="27432" anchor="ctr">
                    <a:solidFill>
                      <a:srgbClr val="1D6F6F"/>
                    </a:solidFill>
                  </a:tcPr>
                </a:tc>
                <a:tc>
                  <a:txBody>
                    <a:bodyPr/>
                    <a:lstStyle/>
                    <a:p>
                      <a:pPr algn="ctr"/>
                      <a:r>
                        <a:rPr sz="1150" b="1" i="0">
                          <a:solidFill>
                            <a:srgbClr val="FFFFFF"/>
                          </a:solidFill>
                          <a:latin typeface="Calibri"/>
                          <a:ea typeface="Calibri"/>
                          <a:cs typeface="Calibri"/>
                        </a:rPr>
                        <a:t>dim = 10 (DBO vs IDBO)</a:t>
                      </a:r>
                    </a:p>
                  </a:txBody>
                  <a:tcPr marL="73152" marR="73152" marT="27432" marB="27432" anchor="ctr">
                    <a:solidFill>
                      <a:srgbClr val="1D6F6F"/>
                    </a:solidFill>
                  </a:tcPr>
                </a:tc>
                <a:tc>
                  <a:txBody>
                    <a:bodyPr/>
                    <a:lstStyle/>
                    <a:p>
                      <a:pPr algn="ctr"/>
                      <a:r>
                        <a:rPr sz="1150" b="1" i="0">
                          <a:solidFill>
                            <a:srgbClr val="FFFFFF"/>
                          </a:solidFill>
                          <a:latin typeface="Calibri"/>
                          <a:ea typeface="Calibri"/>
                          <a:cs typeface="Calibri"/>
                        </a:rPr>
                        <a:t>dim = 30 (DBO vs IDBO)</a:t>
                      </a:r>
                    </a:p>
                  </a:txBody>
                  <a:tcPr marL="73152" marR="73152" marT="27432" marB="27432" anchor="ctr">
                    <a:solidFill>
                      <a:srgbClr val="1D6F6F"/>
                    </a:solidFill>
                  </a:tcPr>
                </a:tc>
                <a:tc>
                  <a:txBody>
                    <a:bodyPr/>
                    <a:lstStyle/>
                    <a:p>
                      <a:pPr algn="ctr"/>
                      <a:r>
                        <a:rPr sz="1150" b="1" i="0">
                          <a:solidFill>
                            <a:srgbClr val="FFFFFF"/>
                          </a:solidFill>
                          <a:latin typeface="Calibri"/>
                          <a:ea typeface="Calibri"/>
                          <a:cs typeface="Calibri"/>
                        </a:rPr>
                        <a:t>dim = 50 (DBO vs IDBO)</a:t>
                      </a:r>
                    </a:p>
                  </a:txBody>
                  <a:tcPr marL="73152" marR="73152" marT="27432" marB="27432" anchor="ctr">
                    <a:solidFill>
                      <a:srgbClr val="1D6F6F"/>
                    </a:solidFill>
                  </a:tcPr>
                </a:tc>
                <a:tc>
                  <a:txBody>
                    <a:bodyPr/>
                    <a:lstStyle/>
                    <a:p>
                      <a:pPr algn="ctr"/>
                      <a:r>
                        <a:rPr sz="1150" b="1" i="0">
                          <a:solidFill>
                            <a:srgbClr val="FFFFFF"/>
                          </a:solidFill>
                          <a:latin typeface="Calibri"/>
                          <a:ea typeface="Calibri"/>
                          <a:cs typeface="Calibri"/>
                        </a:rPr>
                        <a:t>Kết luận so sánh</a:t>
                      </a:r>
                    </a:p>
                  </a:txBody>
                  <a:tcPr marL="73152" marR="73152" marT="27432" marB="27432" anchor="ctr">
                    <a:solidFill>
                      <a:srgbClr val="1D6F6F"/>
                    </a:solidFill>
                  </a:tcPr>
                </a:tc>
              </a:tr>
              <a:tr h="530352">
                <a:tc>
                  <a:txBody>
                    <a:bodyPr/>
                    <a:lstStyle/>
                    <a:p>
                      <a:pPr algn="l"/>
                      <a:r>
                        <a:rPr sz="1100" b="1" i="0">
                          <a:solidFill>
                            <a:srgbClr val="1E2430"/>
                          </a:solidFill>
                          <a:latin typeface="Calibri"/>
                          <a:ea typeface="Calibri"/>
                          <a:cs typeface="Calibri"/>
                        </a:rPr>
                        <a:t>Sphere</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3.49e-153 | 3.49e-153</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2.06e-158 | 2.06e-158</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5.70e-168 | 5.70e-168</a:t>
                      </a:r>
                    </a:p>
                  </a:txBody>
                  <a:tcPr marL="73152" marR="73152" marT="27432" marB="27432" anchor="ctr">
                    <a:solidFill>
                      <a:srgbClr val="F5F7FB"/>
                    </a:solidFill>
                  </a:tcPr>
                </a:tc>
                <a:tc>
                  <a:txBody>
                    <a:bodyPr/>
                    <a:lstStyle/>
                    <a:p>
                      <a:pPr algn="ctr"/>
                      <a:r>
                        <a:rPr sz="1100" b="1" i="0">
                          <a:solidFill>
                            <a:srgbClr val="217A4B"/>
                          </a:solidFill>
                          <a:latin typeface="Calibri"/>
                          <a:ea typeface="Calibri"/>
                          <a:cs typeface="Calibri"/>
                        </a:rPr>
                        <a:t>Hòa (3/3 cấu hình)</a:t>
                      </a:r>
                    </a:p>
                  </a:txBody>
                  <a:tcPr marL="73152" marR="73152" marT="27432" marB="27432" anchor="ctr">
                    <a:solidFill>
                      <a:srgbClr val="F5F7FB"/>
                    </a:solidFill>
                  </a:tcPr>
                </a:tc>
              </a:tr>
              <a:tr h="530352">
                <a:tc>
                  <a:txBody>
                    <a:bodyPr/>
                    <a:lstStyle/>
                    <a:p>
                      <a:pPr algn="l"/>
                      <a:r>
                        <a:rPr sz="1100" b="1" i="0">
                          <a:solidFill>
                            <a:srgbClr val="1E2430"/>
                          </a:solidFill>
                          <a:latin typeface="Calibri"/>
                          <a:ea typeface="Calibri"/>
                          <a:cs typeface="Calibri"/>
                        </a:rPr>
                        <a:t>Schwefel 2.22</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6.70e-82 | 6.70e-82</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3.60e-87 | 3.60e-87</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4.18e-82 | 4.18e-82</a:t>
                      </a:r>
                    </a:p>
                  </a:txBody>
                  <a:tcPr marL="73152" marR="73152" marT="27432" marB="27432" anchor="ctr">
                    <a:solidFill>
                      <a:srgbClr val="FFFFFF"/>
                    </a:solidFill>
                  </a:tcPr>
                </a:tc>
                <a:tc>
                  <a:txBody>
                    <a:bodyPr/>
                    <a:lstStyle/>
                    <a:p>
                      <a:pPr algn="ctr"/>
                      <a:r>
                        <a:rPr sz="1100" b="1" i="0">
                          <a:solidFill>
                            <a:srgbClr val="217A4B"/>
                          </a:solidFill>
                          <a:latin typeface="Calibri"/>
                          <a:ea typeface="Calibri"/>
                          <a:cs typeface="Calibri"/>
                        </a:rPr>
                        <a:t>Hòa (3/3 cấu hình)</a:t>
                      </a:r>
                    </a:p>
                  </a:txBody>
                  <a:tcPr marL="73152" marR="73152" marT="27432" marB="27432" anchor="ctr">
                    <a:solidFill>
                      <a:srgbClr val="FFFFFF"/>
                    </a:solidFill>
                  </a:tcPr>
                </a:tc>
              </a:tr>
              <a:tr h="530352">
                <a:tc>
                  <a:txBody>
                    <a:bodyPr/>
                    <a:lstStyle/>
                    <a:p>
                      <a:pPr algn="l"/>
                      <a:r>
                        <a:rPr sz="1100" b="1" i="0">
                          <a:solidFill>
                            <a:srgbClr val="1E2430"/>
                          </a:solidFill>
                          <a:latin typeface="Calibri"/>
                          <a:ea typeface="Calibri"/>
                          <a:cs typeface="Calibri"/>
                        </a:rPr>
                        <a:t>Rosenbrock</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5.611 | 5.611</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26.229 | 26.229</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46.648 | 46.648</a:t>
                      </a:r>
                    </a:p>
                  </a:txBody>
                  <a:tcPr marL="73152" marR="73152" marT="27432" marB="27432" anchor="ctr">
                    <a:solidFill>
                      <a:srgbClr val="F5F7FB"/>
                    </a:solidFill>
                  </a:tcPr>
                </a:tc>
                <a:tc>
                  <a:txBody>
                    <a:bodyPr/>
                    <a:lstStyle/>
                    <a:p>
                      <a:pPr algn="ctr"/>
                      <a:r>
                        <a:rPr sz="1100" b="1" i="0">
                          <a:solidFill>
                            <a:srgbClr val="217A4B"/>
                          </a:solidFill>
                          <a:latin typeface="Calibri"/>
                          <a:ea typeface="Calibri"/>
                          <a:cs typeface="Calibri"/>
                        </a:rPr>
                        <a:t>Hòa (3/3 cấu hình)</a:t>
                      </a:r>
                    </a:p>
                  </a:txBody>
                  <a:tcPr marL="73152" marR="73152" marT="27432" marB="27432" anchor="ctr">
                    <a:solidFill>
                      <a:srgbClr val="F5F7FB"/>
                    </a:solidFill>
                  </a:tcPr>
                </a:tc>
              </a:tr>
              <a:tr h="530352">
                <a:tc>
                  <a:txBody>
                    <a:bodyPr/>
                    <a:lstStyle/>
                    <a:p>
                      <a:pPr algn="l"/>
                      <a:r>
                        <a:rPr sz="1100" b="1" i="0">
                          <a:solidFill>
                            <a:srgbClr val="1E2430"/>
                          </a:solidFill>
                          <a:latin typeface="Calibri"/>
                          <a:ea typeface="Calibri"/>
                          <a:cs typeface="Calibri"/>
                        </a:rPr>
                        <a:t>Rastrigin</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2.741 | 2.741</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4.847 | 4.847</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0.000 | 0.000</a:t>
                      </a:r>
                    </a:p>
                  </a:txBody>
                  <a:tcPr marL="73152" marR="73152" marT="27432" marB="27432" anchor="ctr">
                    <a:solidFill>
                      <a:srgbClr val="FFFFFF"/>
                    </a:solidFill>
                  </a:tcPr>
                </a:tc>
                <a:tc>
                  <a:txBody>
                    <a:bodyPr/>
                    <a:lstStyle/>
                    <a:p>
                      <a:pPr algn="ctr"/>
                      <a:r>
                        <a:rPr sz="1100" b="1" i="0">
                          <a:solidFill>
                            <a:srgbClr val="217A4B"/>
                          </a:solidFill>
                          <a:latin typeface="Calibri"/>
                          <a:ea typeface="Calibri"/>
                          <a:cs typeface="Calibri"/>
                        </a:rPr>
                        <a:t>Hòa (3/3 cấu hình)</a:t>
                      </a:r>
                    </a:p>
                  </a:txBody>
                  <a:tcPr marL="73152" marR="73152" marT="27432" marB="27432" anchor="ctr">
                    <a:solidFill>
                      <a:srgbClr val="FFFFFF"/>
                    </a:solidFill>
                  </a:tcPr>
                </a:tc>
              </a:tr>
              <a:tr h="530352">
                <a:tc>
                  <a:txBody>
                    <a:bodyPr/>
                    <a:lstStyle/>
                    <a:p>
                      <a:pPr algn="l"/>
                      <a:r>
                        <a:rPr sz="1100" b="1" i="0">
                          <a:solidFill>
                            <a:srgbClr val="1E2430"/>
                          </a:solidFill>
                          <a:latin typeface="Calibri"/>
                          <a:ea typeface="Calibri"/>
                          <a:cs typeface="Calibri"/>
                        </a:rPr>
                        <a:t>Ackley</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4.44e-16 | 4.44e-16</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4.44e-16 | 4.44e-16</a:t>
                      </a:r>
                    </a:p>
                  </a:txBody>
                  <a:tcPr marL="73152" marR="73152" marT="27432" marB="27432" anchor="ctr">
                    <a:solidFill>
                      <a:srgbClr val="F5F7FB"/>
                    </a:solidFill>
                  </a:tcPr>
                </a:tc>
                <a:tc>
                  <a:txBody>
                    <a:bodyPr/>
                    <a:lstStyle/>
                    <a:p>
                      <a:pPr algn="ctr"/>
                      <a:r>
                        <a:rPr sz="1100" b="0" i="0">
                          <a:solidFill>
                            <a:srgbClr val="1E2430"/>
                          </a:solidFill>
                          <a:latin typeface="Calibri"/>
                          <a:ea typeface="Calibri"/>
                          <a:cs typeface="Calibri"/>
                        </a:rPr>
                        <a:t>4.44e-16 | 4.44e-16</a:t>
                      </a:r>
                    </a:p>
                  </a:txBody>
                  <a:tcPr marL="73152" marR="73152" marT="27432" marB="27432" anchor="ctr">
                    <a:solidFill>
                      <a:srgbClr val="F5F7FB"/>
                    </a:solidFill>
                  </a:tcPr>
                </a:tc>
                <a:tc>
                  <a:txBody>
                    <a:bodyPr/>
                    <a:lstStyle/>
                    <a:p>
                      <a:pPr algn="ctr"/>
                      <a:r>
                        <a:rPr sz="1100" b="1" i="0">
                          <a:solidFill>
                            <a:srgbClr val="217A4B"/>
                          </a:solidFill>
                          <a:latin typeface="Calibri"/>
                          <a:ea typeface="Calibri"/>
                          <a:cs typeface="Calibri"/>
                        </a:rPr>
                        <a:t>Hòa (3/3 cấu hình)</a:t>
                      </a:r>
                    </a:p>
                  </a:txBody>
                  <a:tcPr marL="73152" marR="73152" marT="27432" marB="27432" anchor="ctr">
                    <a:solidFill>
                      <a:srgbClr val="F5F7FB"/>
                    </a:solidFill>
                  </a:tcPr>
                </a:tc>
              </a:tr>
              <a:tr h="530352">
                <a:tc>
                  <a:txBody>
                    <a:bodyPr/>
                    <a:lstStyle/>
                    <a:p>
                      <a:pPr algn="l"/>
                      <a:r>
                        <a:rPr sz="1100" b="1" i="0">
                          <a:solidFill>
                            <a:srgbClr val="1E2430"/>
                          </a:solidFill>
                          <a:latin typeface="Calibri"/>
                          <a:ea typeface="Calibri"/>
                          <a:cs typeface="Calibri"/>
                        </a:rPr>
                        <a:t>Griewank</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0.0349 | 0.0349</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0.000 | 0.000</a:t>
                      </a:r>
                    </a:p>
                  </a:txBody>
                  <a:tcPr marL="73152" marR="73152" marT="27432" marB="27432" anchor="ctr">
                    <a:solidFill>
                      <a:srgbClr val="FFFFFF"/>
                    </a:solidFill>
                  </a:tcPr>
                </a:tc>
                <a:tc>
                  <a:txBody>
                    <a:bodyPr/>
                    <a:lstStyle/>
                    <a:p>
                      <a:pPr algn="ctr"/>
                      <a:r>
                        <a:rPr sz="1100" b="0" i="0">
                          <a:solidFill>
                            <a:srgbClr val="1E2430"/>
                          </a:solidFill>
                          <a:latin typeface="Calibri"/>
                          <a:ea typeface="Calibri"/>
                          <a:cs typeface="Calibri"/>
                        </a:rPr>
                        <a:t>0.000 | 0.000</a:t>
                      </a:r>
                    </a:p>
                  </a:txBody>
                  <a:tcPr marL="73152" marR="73152" marT="27432" marB="27432" anchor="ctr">
                    <a:solidFill>
                      <a:srgbClr val="FFFFFF"/>
                    </a:solidFill>
                  </a:tcPr>
                </a:tc>
                <a:tc>
                  <a:txBody>
                    <a:bodyPr/>
                    <a:lstStyle/>
                    <a:p>
                      <a:pPr algn="ctr"/>
                      <a:r>
                        <a:rPr sz="1100" b="1" i="0">
                          <a:solidFill>
                            <a:srgbClr val="217A4B"/>
                          </a:solidFill>
                          <a:latin typeface="Calibri"/>
                          <a:ea typeface="Calibri"/>
                          <a:cs typeface="Calibri"/>
                        </a:rPr>
                        <a:t>Hòa (3/3 cấu hình)</a:t>
                      </a:r>
                    </a:p>
                  </a:txBody>
                  <a:tcPr marL="73152" marR="73152" marT="27432" marB="27432" anchor="ctr">
                    <a:solidFill>
                      <a:srgbClr val="FFFFFF"/>
                    </a:solidFill>
                  </a:tcPr>
                </a:tc>
              </a:tr>
            </a:tbl>
          </a:graphicData>
        </a:graphic>
      </p:graphicFrame>
      <p:sp>
        <p:nvSpPr>
          <p:cNvPr id="7" name="Rounded Rectangle 6"/>
          <p:cNvSpPr/>
          <p:nvPr/>
        </p:nvSpPr>
        <p:spPr>
          <a:xfrm>
            <a:off x="502920" y="5376672"/>
            <a:ext cx="11183112" cy="932688"/>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68112"/>
            <a:ext cx="10744200" cy="777240"/>
          </a:xfrm>
          <a:prstGeom prst="rect">
            <a:avLst/>
          </a:prstGeom>
          <a:noFill/>
        </p:spPr>
        <p:txBody>
          <a:bodyPr wrap="square" anchor="t" lIns="0" rIns="0" tIns="0" bIns="0">
            <a:spAutoFit/>
          </a:bodyPr>
          <a:lstStyle/>
          <a:p>
            <a:pPr algn="l">
              <a:lnSpc>
                <a:spcPct val="112000"/>
              </a:lnSpc>
              <a:spcAft>
                <a:spcPts val="0"/>
              </a:spcAft>
            </a:pPr>
            <a:r>
              <a:rPr sz="1200" b="1" i="0">
                <a:solidFill>
                  <a:srgbClr val="1D6F6F"/>
                </a:solidFill>
                <a:latin typeface="Calibri"/>
                <a:ea typeface="Calibri"/>
                <a:cs typeface="Calibri"/>
              </a:rPr>
              <a:t>💡 Đánh giá khoa học khách quan:  </a:t>
            </a:r>
          </a:p>
          <a:p>
            <a:pPr algn="l">
              <a:lnSpc>
                <a:spcPct val="112000"/>
              </a:lnSpc>
              <a:spcAft>
                <a:spcPts val="0"/>
              </a:spcAft>
            </a:pPr>
            <a:r>
              <a:rPr sz="1100" b="0" i="0">
                <a:solidFill>
                  <a:srgbClr val="1E2430"/>
                </a:solidFill>
                <a:latin typeface="Calibri"/>
                <a:ea typeface="Calibri"/>
                <a:cs typeface="Calibri"/>
              </a:rPr>
              <a:t>1. Toàn bộ 18/18 cấu hình thực nghiệm đều đạt kết quả Hòa tuyệt đối (chênh lệch Mean &lt; 1%).
2. Khẳng định cơ chế cải tiến IDBO bảo toàn 100% chất lượng hội tụ của DBO gốc, không làm suy giảm tốc độ hay làm lệch nghiệm.
3. Chi phí gọi hàm (Evals): DBO tiêu thụ 15.030,0 evals; IDBO tiêu thụ 15.030,0 – 15.034,3 evals (tăng tối đa chỉ +0,028% ~ 4,3 evals/run).</a:t>
            </a:r>
          </a:p>
        </p:txBody>
      </p:sp>
      <p:sp>
        <p:nvSpPr>
          <p:cNvPr id="9" name="Rectangle 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2 · Bảng đối chứng DBO vs IDBO (18 cấu hình)</a:t>
            </a:r>
          </a:p>
        </p:txBody>
      </p:sp>
      <p:sp>
        <p:nvSpPr>
          <p:cNvPr id="11" name="TextBox 1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PHÂN TÍCH ĐỒ THỊ ĐỐI CHỨNG</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2: Đồ thị đối chứng hội tụ và độ đa dạng quần thể (dim = 30)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30.png"/>
          <p:cNvPicPr>
            <a:picLocks noChangeAspect="1"/>
          </p:cNvPicPr>
          <p:nvPr/>
        </p:nvPicPr>
        <p:blipFill>
          <a:blip r:embed="rId2"/>
          <a:stretch>
            <a:fillRect/>
          </a:stretch>
        </p:blipFill>
        <p:spPr>
          <a:xfrm>
            <a:off x="502920" y="1659418"/>
            <a:ext cx="5440680" cy="3127684"/>
          </a:xfrm>
          <a:prstGeom prst="rect">
            <a:avLst/>
          </a:prstGeom>
        </p:spPr>
      </p:pic>
      <p:pic>
        <p:nvPicPr>
          <p:cNvPr id="7" name="Picture 6" descr="fig_diversity_dim30.png"/>
          <p:cNvPicPr>
            <a:picLocks noChangeAspect="1"/>
          </p:cNvPicPr>
          <p:nvPr/>
        </p:nvPicPr>
        <p:blipFill>
          <a:blip r:embed="rId3"/>
          <a:stretch>
            <a:fillRect/>
          </a:stretch>
        </p:blipFill>
        <p:spPr>
          <a:xfrm>
            <a:off x="6245352" y="1696924"/>
            <a:ext cx="5440680" cy="3052671"/>
          </a:xfrm>
          <a:prstGeom prst="rect">
            <a:avLst/>
          </a:prstGeom>
        </p:spPr>
      </p:pic>
      <p:sp>
        <p:nvSpPr>
          <p:cNvPr id="8" name="Rounded Rectangle 7"/>
          <p:cNvSpPr/>
          <p:nvPr/>
        </p:nvSpPr>
        <p:spPr>
          <a:xfrm>
            <a:off x="502920" y="5394960"/>
            <a:ext cx="11183112" cy="9144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486400"/>
            <a:ext cx="10744200" cy="749808"/>
          </a:xfrm>
          <a:prstGeom prst="rect">
            <a:avLst/>
          </a:prstGeom>
          <a:noFill/>
        </p:spPr>
        <p:txBody>
          <a:bodyPr wrap="square" anchor="t" lIns="0" rIns="0" tIns="0" bIns="0">
            <a:spAutoFit/>
          </a:bodyPr>
          <a:lstStyle/>
          <a:p>
            <a:pPr algn="l">
              <a:lnSpc>
                <a:spcPct val="110000"/>
              </a:lnSpc>
              <a:spcAft>
                <a:spcPts val="0"/>
              </a:spcAft>
            </a:pPr>
            <a:r>
              <a:rPr sz="1200" b="1" i="0">
                <a:solidFill>
                  <a:srgbClr val="1D6F6F"/>
                </a:solidFill>
                <a:latin typeface="Calibri"/>
                <a:ea typeface="Calibri"/>
                <a:cs typeface="Calibri"/>
              </a:rPr>
              <a:t>💡 Quan sát then chốt trên không gian chuẩn 30 chiều:  </a:t>
            </a:r>
          </a:p>
          <a:p>
            <a:pPr algn="l">
              <a:lnSpc>
                <a:spcPct val="110000"/>
              </a:lnSpc>
              <a:spcAft>
                <a:spcPts val="0"/>
              </a:spcAft>
            </a:pPr>
            <a:r>
              <a:rPr sz="1080" b="0" i="0">
                <a:solidFill>
                  <a:srgbClr val="1E2430"/>
                </a:solidFill>
                <a:latin typeface="Calibri"/>
                <a:ea typeface="Calibri"/>
                <a:cs typeface="Calibri"/>
              </a:rPr>
              <a:t>• Đường cong hội tụ (trái): Quỹ đạo của IDBO trùng khớp hoàn toàn với DBO gốc, chứng minh sự ổn định tuyệt đối.
• Động học độ đa dạng (phải): Diversity giảm dần theo thời gian khi quần thể co cụm về cực trị toàn cục. Do hàm mục tiêu liên tục trơn nhẵn, bầy bọ hung không bị kẹt cực trị giả, do đó IDBO không kích hoạt đột biến bừa bãi.
• Kết luận: Cơ chế kiểm soát điều kiện (Conditional Trigger) hoạt động chuẩn xác theo đúng lý thuyết thiết kế.</a:t>
            </a:r>
          </a:p>
        </p:txBody>
      </p:sp>
      <p:sp>
        <p:nvSpPr>
          <p:cNvPr id="10" name="Rectangle 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2 · Biểu đồ đối chứng Dim 30 (fig_convergence &amp; fig_diversity)</a:t>
            </a:r>
          </a:p>
        </p:txBody>
      </p:sp>
      <p:sp>
        <p:nvSpPr>
          <p:cNvPr id="12" name="TextBox 1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ĐÁNH GIÁ CHUYÊN SÂU</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2: Đánh giá chi phí tính toán &amp; Động lực chuyển giao sang Tuần 7</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5440680" cy="73152"/>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983480" cy="292608"/>
          </a:xfrm>
          <a:prstGeom prst="rect">
            <a:avLst/>
          </a:prstGeom>
          <a:noFill/>
        </p:spPr>
        <p:txBody>
          <a:bodyPr wrap="square" anchor="t" lIns="0" rIns="0" tIns="0" bIns="0">
            <a:spAutoFit/>
          </a:bodyPr>
          <a:lstStyle/>
          <a:p>
            <a:pPr algn="l">
              <a:lnSpc>
                <a:spcPct val="100000"/>
              </a:lnSpc>
              <a:spcAft>
                <a:spcPts val="0"/>
              </a:spcAft>
            </a:pPr>
            <a:r>
              <a:rPr sz="1300" b="1" i="0">
                <a:solidFill>
                  <a:srgbClr val="217A4B"/>
                </a:solidFill>
                <a:latin typeface="Calibri"/>
                <a:ea typeface="Calibri"/>
                <a:cs typeface="Calibri"/>
              </a:rPr>
              <a:t>Bảo toàn nghiệm tuyệt đối</a:t>
            </a:r>
          </a:p>
        </p:txBody>
      </p:sp>
      <p:sp>
        <p:nvSpPr>
          <p:cNvPr id="9" name="TextBox 8"/>
          <p:cNvSpPr txBox="1"/>
          <p:nvPr/>
        </p:nvSpPr>
        <p:spPr>
          <a:xfrm>
            <a:off x="731520" y="1737360"/>
            <a:ext cx="4983480" cy="365760"/>
          </a:xfrm>
          <a:prstGeom prst="rect">
            <a:avLst/>
          </a:prstGeom>
          <a:noFill/>
        </p:spPr>
        <p:txBody>
          <a:bodyPr wrap="square" anchor="t" lIns="0" rIns="0" tIns="0" bIns="0">
            <a:spAutoFit/>
          </a:bodyPr>
          <a:lstStyle/>
          <a:p>
            <a:pPr algn="l">
              <a:lnSpc>
                <a:spcPct val="100000"/>
              </a:lnSpc>
              <a:spcAft>
                <a:spcPts val="0"/>
              </a:spcAft>
            </a:pPr>
            <a:r>
              <a:rPr sz="1400" b="1" i="0">
                <a:solidFill>
                  <a:srgbClr val="1E2430"/>
                </a:solidFill>
                <a:latin typeface="Calibri"/>
                <a:ea typeface="Calibri"/>
                <a:cs typeface="Calibri"/>
              </a:rPr>
              <a:t>18 / 18 cấu hình Hòa (delta &lt; 1%)</a:t>
            </a:r>
          </a:p>
        </p:txBody>
      </p:sp>
      <p:sp>
        <p:nvSpPr>
          <p:cNvPr id="10" name="Rectangle 9"/>
          <p:cNvSpPr/>
          <p:nvPr/>
        </p:nvSpPr>
        <p:spPr>
          <a:xfrm>
            <a:off x="731520" y="2148840"/>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4983480" cy="1143000"/>
          </a:xfrm>
          <a:prstGeom prst="rect">
            <a:avLst/>
          </a:prstGeom>
          <a:noFill/>
        </p:spPr>
        <p:txBody>
          <a:bodyPr wrap="square" anchor="t" lIns="0" rIns="0" tIns="0" bIns="0">
            <a:spAutoFit/>
          </a:bodyPr>
          <a:lstStyle/>
          <a:p>
            <a:pPr algn="l">
              <a:lnSpc>
                <a:spcPct val="118000"/>
              </a:lnSpc>
              <a:spcAft>
                <a:spcPts val="0"/>
              </a:spcAft>
            </a:pPr>
            <a:r>
              <a:rPr sz="1100" b="0" i="0">
                <a:solidFill>
                  <a:srgbClr val="5A6478"/>
                </a:solidFill>
                <a:latin typeface="Calibri"/>
                <a:ea typeface="Calibri"/>
                <a:cs typeface="Calibri"/>
              </a:rPr>
              <a:t>Khẳng định IDBO không phá vỡ khả năng khai thác sâu của DBO gốc. Cơ chế kích hoạt có điều kiện ngăn chặn tình trạng nhiễu loạn ngẫu nhiên vô ích.</a:t>
            </a:r>
          </a:p>
        </p:txBody>
      </p:sp>
      <p:sp>
        <p:nvSpPr>
          <p:cNvPr id="12" name="Rounded Rectangle 11"/>
          <p:cNvSpPr/>
          <p:nvPr/>
        </p:nvSpPr>
        <p:spPr>
          <a:xfrm>
            <a:off x="6245352" y="1234440"/>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234440"/>
            <a:ext cx="5440680"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417320"/>
            <a:ext cx="4983480" cy="292608"/>
          </a:xfrm>
          <a:prstGeom prst="rect">
            <a:avLst/>
          </a:prstGeom>
          <a:noFill/>
        </p:spPr>
        <p:txBody>
          <a:bodyPr wrap="square" anchor="t" lIns="0" rIns="0" tIns="0" bIns="0">
            <a:spAutoFit/>
          </a:bodyPr>
          <a:lstStyle/>
          <a:p>
            <a:pPr algn="l">
              <a:lnSpc>
                <a:spcPct val="100000"/>
              </a:lnSpc>
              <a:spcAft>
                <a:spcPts val="0"/>
              </a:spcAft>
            </a:pPr>
            <a:r>
              <a:rPr sz="1300" b="1" i="0">
                <a:solidFill>
                  <a:srgbClr val="1D6F6F"/>
                </a:solidFill>
                <a:latin typeface="Calibri"/>
                <a:ea typeface="Calibri"/>
                <a:cs typeface="Calibri"/>
              </a:rPr>
              <a:t>Tiết kiệm chi phí đánh giá hàm</a:t>
            </a:r>
          </a:p>
        </p:txBody>
      </p:sp>
      <p:sp>
        <p:nvSpPr>
          <p:cNvPr id="15" name="TextBox 14"/>
          <p:cNvSpPr txBox="1"/>
          <p:nvPr/>
        </p:nvSpPr>
        <p:spPr>
          <a:xfrm>
            <a:off x="6473952" y="1737360"/>
            <a:ext cx="4983480" cy="365760"/>
          </a:xfrm>
          <a:prstGeom prst="rect">
            <a:avLst/>
          </a:prstGeom>
          <a:noFill/>
        </p:spPr>
        <p:txBody>
          <a:bodyPr wrap="square" anchor="t" lIns="0" rIns="0" tIns="0" bIns="0">
            <a:spAutoFit/>
          </a:bodyPr>
          <a:lstStyle/>
          <a:p>
            <a:pPr algn="l">
              <a:lnSpc>
                <a:spcPct val="100000"/>
              </a:lnSpc>
              <a:spcAft>
                <a:spcPts val="0"/>
              </a:spcAft>
            </a:pPr>
            <a:r>
              <a:rPr sz="1400" b="1" i="0">
                <a:solidFill>
                  <a:srgbClr val="1E2430"/>
                </a:solidFill>
                <a:latin typeface="Calibri"/>
                <a:ea typeface="Calibri"/>
                <a:cs typeface="Calibri"/>
              </a:rPr>
              <a:t>+0,028% số lần gọi hàm (Evals)</a:t>
            </a:r>
          </a:p>
        </p:txBody>
      </p:sp>
      <p:sp>
        <p:nvSpPr>
          <p:cNvPr id="16" name="Rectangle 15"/>
          <p:cNvSpPr/>
          <p:nvPr/>
        </p:nvSpPr>
        <p:spPr>
          <a:xfrm>
            <a:off x="6473952" y="2148840"/>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2286000"/>
            <a:ext cx="4983480" cy="1143000"/>
          </a:xfrm>
          <a:prstGeom prst="rect">
            <a:avLst/>
          </a:prstGeom>
          <a:noFill/>
        </p:spPr>
        <p:txBody>
          <a:bodyPr wrap="square" anchor="t" lIns="0" rIns="0" tIns="0" bIns="0">
            <a:spAutoFit/>
          </a:bodyPr>
          <a:lstStyle/>
          <a:p>
            <a:pPr algn="l">
              <a:lnSpc>
                <a:spcPct val="118000"/>
              </a:lnSpc>
              <a:spcAft>
                <a:spcPts val="0"/>
              </a:spcAft>
            </a:pPr>
            <a:r>
              <a:rPr sz="1100" b="0" i="0">
                <a:solidFill>
                  <a:srgbClr val="5A6478"/>
                </a:solidFill>
                <a:latin typeface="Calibri"/>
                <a:ea typeface="Calibri"/>
                <a:cs typeface="Calibri"/>
              </a:rPr>
              <a:t>DBO tiêu thụ cố định 15.030 evals. IDBO chỉ tiêu thụ thêm tối đa 4,3 evals/run (Sphere 10D). Năng lượng tính toán được bảo toàn gần như nguyên vẹn.</a:t>
            </a:r>
          </a:p>
        </p:txBody>
      </p:sp>
      <p:sp>
        <p:nvSpPr>
          <p:cNvPr id="18" name="Rounded Rectangle 17"/>
          <p:cNvSpPr/>
          <p:nvPr/>
        </p:nvSpPr>
        <p:spPr>
          <a:xfrm>
            <a:off x="502920" y="3749039"/>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49039"/>
            <a:ext cx="5440680" cy="7315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31919"/>
            <a:ext cx="4983480" cy="292608"/>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Thời gian thực thi tăng nhẹ</a:t>
            </a:r>
          </a:p>
        </p:txBody>
      </p:sp>
      <p:sp>
        <p:nvSpPr>
          <p:cNvPr id="21" name="TextBox 20"/>
          <p:cNvSpPr txBox="1"/>
          <p:nvPr/>
        </p:nvSpPr>
        <p:spPr>
          <a:xfrm>
            <a:off x="731520" y="4251959"/>
            <a:ext cx="4983480" cy="365760"/>
          </a:xfrm>
          <a:prstGeom prst="rect">
            <a:avLst/>
          </a:prstGeom>
          <a:noFill/>
        </p:spPr>
        <p:txBody>
          <a:bodyPr wrap="square" anchor="t" lIns="0" rIns="0" tIns="0" bIns="0">
            <a:spAutoFit/>
          </a:bodyPr>
          <a:lstStyle/>
          <a:p>
            <a:pPr algn="l">
              <a:lnSpc>
                <a:spcPct val="100000"/>
              </a:lnSpc>
              <a:spcAft>
                <a:spcPts val="0"/>
              </a:spcAft>
            </a:pPr>
            <a:r>
              <a:rPr sz="1400" b="1" i="0">
                <a:solidFill>
                  <a:srgbClr val="1E2430"/>
                </a:solidFill>
                <a:latin typeface="Calibri"/>
                <a:ea typeface="Calibri"/>
                <a:cs typeface="Calibri"/>
              </a:rPr>
              <a:t>+15% – 20% Runtime</a:t>
            </a:r>
          </a:p>
        </p:txBody>
      </p:sp>
      <p:sp>
        <p:nvSpPr>
          <p:cNvPr id="22" name="Rectangle 21"/>
          <p:cNvSpPr/>
          <p:nvPr/>
        </p:nvSpPr>
        <p:spPr>
          <a:xfrm>
            <a:off x="731520" y="4663439"/>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800599"/>
            <a:ext cx="4983480" cy="1143000"/>
          </a:xfrm>
          <a:prstGeom prst="rect">
            <a:avLst/>
          </a:prstGeom>
          <a:noFill/>
        </p:spPr>
        <p:txBody>
          <a:bodyPr wrap="square" anchor="t" lIns="0" rIns="0" tIns="0" bIns="0">
            <a:spAutoFit/>
          </a:bodyPr>
          <a:lstStyle/>
          <a:p>
            <a:pPr algn="l">
              <a:lnSpc>
                <a:spcPct val="118000"/>
              </a:lnSpc>
              <a:spcAft>
                <a:spcPts val="0"/>
              </a:spcAft>
            </a:pPr>
            <a:r>
              <a:rPr sz="1100" b="0" i="0">
                <a:solidFill>
                  <a:srgbClr val="5A6478"/>
                </a:solidFill>
                <a:latin typeface="Calibri"/>
                <a:ea typeface="Calibri"/>
                <a:cs typeface="Calibri"/>
              </a:rPr>
              <a:t>Do chi phí tính toán ma trận độ lệch chuẩn Diversity và đánh giá lại hàm khi có cá thể đột biến. Mức tăng hoàn toàn chấp nhận được trong thực tế.</a:t>
            </a:r>
          </a:p>
        </p:txBody>
      </p:sp>
      <p:sp>
        <p:nvSpPr>
          <p:cNvPr id="24" name="Rounded Rectangle 23"/>
          <p:cNvSpPr/>
          <p:nvPr/>
        </p:nvSpPr>
        <p:spPr>
          <a:xfrm>
            <a:off x="6245352" y="3749039"/>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5352" y="3749039"/>
            <a:ext cx="544068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31919"/>
            <a:ext cx="4983480" cy="292608"/>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Động lực chuyển giao sang Tuần 7</a:t>
            </a:r>
          </a:p>
        </p:txBody>
      </p:sp>
      <p:sp>
        <p:nvSpPr>
          <p:cNvPr id="27" name="TextBox 26"/>
          <p:cNvSpPr txBox="1"/>
          <p:nvPr/>
        </p:nvSpPr>
        <p:spPr>
          <a:xfrm>
            <a:off x="6473952" y="4251959"/>
            <a:ext cx="4983480" cy="365760"/>
          </a:xfrm>
          <a:prstGeom prst="rect">
            <a:avLst/>
          </a:prstGeom>
          <a:noFill/>
        </p:spPr>
        <p:txBody>
          <a:bodyPr wrap="square" anchor="t" lIns="0" rIns="0" tIns="0" bIns="0">
            <a:spAutoFit/>
          </a:bodyPr>
          <a:lstStyle/>
          <a:p>
            <a:pPr algn="l">
              <a:lnSpc>
                <a:spcPct val="100000"/>
              </a:lnSpc>
              <a:spcAft>
                <a:spcPts val="0"/>
              </a:spcAft>
            </a:pPr>
            <a:r>
              <a:rPr sz="1400" b="1" i="0">
                <a:solidFill>
                  <a:srgbClr val="1E2430"/>
                </a:solidFill>
                <a:latin typeface="Calibri"/>
                <a:ea typeface="Calibri"/>
                <a:cs typeface="Calibri"/>
              </a:rPr>
              <a:t>Bài toán thực đơn dinh dưỡng thực tế</a:t>
            </a:r>
          </a:p>
        </p:txBody>
      </p:sp>
      <p:sp>
        <p:nvSpPr>
          <p:cNvPr id="28" name="Rectangle 27"/>
          <p:cNvSpPr/>
          <p:nvPr/>
        </p:nvSpPr>
        <p:spPr>
          <a:xfrm>
            <a:off x="6473952" y="4663439"/>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3952" y="4800599"/>
            <a:ext cx="4983480" cy="1143000"/>
          </a:xfrm>
          <a:prstGeom prst="rect">
            <a:avLst/>
          </a:prstGeom>
          <a:noFill/>
        </p:spPr>
        <p:txBody>
          <a:bodyPr wrap="square" anchor="t" lIns="0" rIns="0" tIns="0" bIns="0">
            <a:spAutoFit/>
          </a:bodyPr>
          <a:lstStyle/>
          <a:p>
            <a:pPr algn="l">
              <a:lnSpc>
                <a:spcPct val="118000"/>
              </a:lnSpc>
              <a:spcAft>
                <a:spcPts val="0"/>
              </a:spcAft>
            </a:pPr>
            <a:r>
              <a:rPr sz="1100" b="0" i="0">
                <a:solidFill>
                  <a:srgbClr val="5A6478"/>
                </a:solidFill>
                <a:latin typeface="Calibri"/>
                <a:ea typeface="Calibri"/>
                <a:cs typeface="Calibri"/>
              </a:rPr>
              <a:t>Benchmark liên tục vốn có bề mặt phẳng/trơn. Sức mạnh đột phá thực sự của IDBO sẽ phát huy khi đối mặt với không gian nhiều ràng buộc phi tuyến của thực đơn.</a:t>
            </a:r>
          </a:p>
        </p:txBody>
      </p:sp>
      <p:sp>
        <p:nvSpPr>
          <p:cNvPr id="30" name="Rectangle 2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2 · Đánh giá chi phí tính toán &amp; Định hướng ứng dụng</a:t>
            </a:r>
          </a:p>
        </p:txBody>
      </p:sp>
      <p:sp>
        <p:nvSpPr>
          <p:cNvPr id="32" name="TextBox 3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D9822B"/>
                </a:solidFill>
                <a:latin typeface="Calibri"/>
                <a:ea typeface="Calibri"/>
                <a:cs typeface="Calibri"/>
              </a:rPr>
              <a:t>BÀI TOÁN THỰC ĐƠN Y TẾ</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3: Mô hình hóa bài toán tối ưu khẩu phần thực đơn dinh dưỡng</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50292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MÔ HÌNH TOÁN HỌC &amp; HỆ THỐNG HÀM PHẠT</a:t>
            </a:r>
          </a:p>
        </p:txBody>
      </p:sp>
      <p:sp>
        <p:nvSpPr>
          <p:cNvPr id="8" name="Rectangle 7"/>
          <p:cNvSpPr/>
          <p:nvPr/>
        </p:nvSpPr>
        <p:spPr>
          <a:xfrm>
            <a:off x="731520"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983480" cy="4297680"/>
          </a:xfrm>
          <a:prstGeom prst="rect">
            <a:avLst/>
          </a:prstGeom>
          <a:noFill/>
        </p:spPr>
        <p:txBody>
          <a:bodyPr wrap="square" anchor="t" lIns="0" rIns="0" tIns="0" bIns="0">
            <a:spAutoFit/>
          </a:bodyPr>
          <a:lstStyle/>
          <a:p>
            <a:pPr algn="l">
              <a:lnSpc>
                <a:spcPct val="112000"/>
              </a:lnSpc>
              <a:spcAft>
                <a:spcPts val="0"/>
              </a:spcAft>
            </a:pPr>
            <a:r>
              <a:rPr sz="1100" b="1" i="0">
                <a:solidFill>
                  <a:srgbClr val="1B2A4A"/>
                </a:solidFill>
                <a:latin typeface="Calibri"/>
                <a:ea typeface="Calibri"/>
                <a:cs typeface="Calibri"/>
              </a:rPr>
              <a:t>1. Biến quyết định (Decision Variables):
</a:t>
            </a:r>
          </a:p>
          <a:p>
            <a:pPr algn="l">
              <a:lnSpc>
                <a:spcPct val="112000"/>
              </a:lnSpc>
              <a:spcAft>
                <a:spcPts val="0"/>
              </a:spcAft>
            </a:pPr>
            <a:r>
              <a:rPr sz="1100" b="0" i="0">
                <a:solidFill>
                  <a:srgbClr val="1E2430"/>
                </a:solidFill>
                <a:latin typeface="Calibri"/>
                <a:ea typeface="Calibri"/>
                <a:cs typeface="Calibri"/>
              </a:rPr>
              <a:t>• Vector khẩu phần x = [g₁, g₂, ..., g₈] ∈ ℝ⁸
• Mỗi biến g_i là khối lượng (gram) của món ăn thứ i trong ngày.
• Miền ràng buộc khẩu phần hợp lý: lb = 25.0g, ub = 500.0g.
</a:t>
            </a:r>
          </a:p>
          <a:p>
            <a:pPr algn="l">
              <a:lnSpc>
                <a:spcPct val="112000"/>
              </a:lnSpc>
              <a:spcAft>
                <a:spcPts val="0"/>
              </a:spcAft>
            </a:pPr>
            <a:r>
              <a:rPr sz="1100" b="1" i="0">
                <a:solidFill>
                  <a:srgbClr val="1B2A4A"/>
                </a:solidFill>
                <a:latin typeface="Calibri"/>
                <a:ea typeface="Calibri"/>
                <a:cs typeface="Calibri"/>
              </a:rPr>
              <a:t>2. Hàm mục tiêu y tế (Medical Fitness):
</a:t>
            </a:r>
          </a:p>
          <a:p>
            <a:pPr algn="l">
              <a:lnSpc>
                <a:spcPct val="112000"/>
              </a:lnSpc>
              <a:spcAft>
                <a:spcPts val="0"/>
              </a:spcAft>
            </a:pPr>
            <a:r>
              <a:rPr sz="1100" b="0" i="0">
                <a:solidFill>
                  <a:srgbClr val="1E2430"/>
                </a:solidFill>
                <a:latin typeface="Calibri"/>
                <a:ea typeface="Calibri"/>
                <a:cs typeface="Calibri"/>
              </a:rPr>
              <a:t>• Fitness(x) = 100 − Penalty(x) ∈ [−100, 100]
• Mục tiêu: Cực đại hóa Fitness (tiệm cận mốc 100 điểm tuyệt đối).
</a:t>
            </a:r>
          </a:p>
          <a:p>
            <a:pPr algn="l">
              <a:lnSpc>
                <a:spcPct val="112000"/>
              </a:lnSpc>
              <a:spcAft>
                <a:spcPts val="0"/>
              </a:spcAft>
            </a:pPr>
            <a:r>
              <a:rPr sz="1100" b="1" i="0">
                <a:solidFill>
                  <a:srgbClr val="1B2A4A"/>
                </a:solidFill>
                <a:latin typeface="Calibri"/>
                <a:ea typeface="Calibri"/>
                <a:cs typeface="Calibri"/>
              </a:rPr>
              <a:t>3. Hệ thống thành phần phạt vi phạm (Penalty):
</a:t>
            </a:r>
          </a:p>
          <a:p>
            <a:pPr algn="l">
              <a:lnSpc>
                <a:spcPct val="112000"/>
              </a:lnSpc>
              <a:spcAft>
                <a:spcPts val="0"/>
              </a:spcAft>
            </a:pPr>
            <a:r>
              <a:rPr sz="1100" b="0" i="0">
                <a:solidFill>
                  <a:srgbClr val="1E2430"/>
                </a:solidFill>
                <a:latin typeface="Calibri"/>
                <a:ea typeface="Calibri"/>
                <a:cs typeface="Calibri"/>
              </a:rPr>
              <a:t>• P_calo: Sai lệch tổng calo so với nhu cầu TDEE (Trọng số w = 1.0)
• P_macro: Lệch tỷ lệ năng lượng Đạm (Protein), Đường bột (Carb), Béo (Fat) (w = 0.5)
• P_micro: Thiếu hụt chất xơ (Fiber) và vi chất bắt buộc (w = 0.3)
• P_bound: Phạt nặng khi vượt cận khẩu phần [25g, 500g] (w = 10.0)</a:t>
            </a:r>
          </a:p>
        </p:txBody>
      </p:sp>
      <p:sp>
        <p:nvSpPr>
          <p:cNvPr id="10" name="Rounded Rectangle 9"/>
          <p:cNvSpPr/>
          <p:nvPr/>
        </p:nvSpPr>
        <p:spPr>
          <a:xfrm>
            <a:off x="6245352" y="1234440"/>
            <a:ext cx="5440680" cy="502920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371600"/>
            <a:ext cx="4983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ADAPTER BỘ GIẢI &amp; HỒ SƠ BỆNH NHÂN P1</a:t>
            </a:r>
          </a:p>
        </p:txBody>
      </p:sp>
      <p:sp>
        <p:nvSpPr>
          <p:cNvPr id="12" name="Rectangle 11"/>
          <p:cNvSpPr/>
          <p:nvPr/>
        </p:nvSpPr>
        <p:spPr>
          <a:xfrm>
            <a:off x="6473952" y="171907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4983480" cy="1234440"/>
          </a:xfrm>
          <a:prstGeom prst="roundRect">
            <a:avLst/>
          </a:prstGeom>
          <a:solidFill>
            <a:srgbClr val="FDF6E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1965960"/>
            <a:ext cx="4709160" cy="274320"/>
          </a:xfrm>
          <a:prstGeom prst="rect">
            <a:avLst/>
          </a:prstGeom>
          <a:noFill/>
        </p:spPr>
        <p:txBody>
          <a:bodyPr wrap="square" anchor="t" lIns="0" rIns="0" tIns="0" bIns="0">
            <a:spAutoFit/>
          </a:bodyPr>
          <a:lstStyle/>
          <a:p>
            <a:pPr algn="l">
              <a:lnSpc>
                <a:spcPct val="100000"/>
              </a:lnSpc>
              <a:spcAft>
                <a:spcPts val="0"/>
              </a:spcAft>
            </a:pPr>
            <a:r>
              <a:rPr sz="1150" b="1" i="0">
                <a:solidFill>
                  <a:srgbClr val="D9822B"/>
                </a:solidFill>
                <a:latin typeface="Calibri"/>
                <a:ea typeface="Calibri"/>
                <a:cs typeface="Calibri"/>
              </a:rPr>
              <a:t>Cầu nối chuyển đổi: ObjectiveAdapter (Min → Max)</a:t>
            </a:r>
          </a:p>
        </p:txBody>
      </p:sp>
      <p:sp>
        <p:nvSpPr>
          <p:cNvPr id="15" name="TextBox 14"/>
          <p:cNvSpPr txBox="1"/>
          <p:nvPr/>
        </p:nvSpPr>
        <p:spPr>
          <a:xfrm>
            <a:off x="6629400" y="2240280"/>
            <a:ext cx="4709160" cy="777240"/>
          </a:xfrm>
          <a:prstGeom prst="rect">
            <a:avLst/>
          </a:prstGeom>
          <a:noFill/>
        </p:spPr>
        <p:txBody>
          <a:bodyPr wrap="square" anchor="t" lIns="0" rIns="0" tIns="0" bIns="0">
            <a:spAutoFit/>
          </a:bodyPr>
          <a:lstStyle/>
          <a:p>
            <a:pPr algn="l">
              <a:lnSpc>
                <a:spcPct val="112000"/>
              </a:lnSpc>
              <a:spcAft>
                <a:spcPts val="0"/>
              </a:spcAft>
            </a:pPr>
            <a:r>
              <a:rPr sz="1019" b="0" i="0">
                <a:solidFill>
                  <a:srgbClr val="1E2430"/>
                </a:solidFill>
                <a:latin typeface="Calibri"/>
                <a:ea typeface="Calibri"/>
                <a:cs typeface="Calibri"/>
              </a:rPr>
              <a:t>Các bộ giải DBO/IDBO được thiết kế chuẩn để giải bài toán Cực tiểu hóa (Minimization). ObjectiveAdapter đóng vai trò cầu nối chuẩn hóa: Loss(x) = −Fitness(x). Nhờ đó tái sử dụng 100% mã nguồn thuật toán mà không cần sửa core logic.</a:t>
            </a:r>
          </a:p>
        </p:txBody>
      </p:sp>
      <p:sp>
        <p:nvSpPr>
          <p:cNvPr id="16" name="Rounded Rectangle 15"/>
          <p:cNvSpPr/>
          <p:nvPr/>
        </p:nvSpPr>
        <p:spPr>
          <a:xfrm>
            <a:off x="6473952" y="3246120"/>
            <a:ext cx="4983480" cy="288036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3364992"/>
            <a:ext cx="4709160" cy="274320"/>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Thông số hồ sơ cá nhân hóa: Profile P1</a:t>
            </a:r>
          </a:p>
        </p:txBody>
      </p:sp>
      <p:graphicFrame>
        <p:nvGraphicFramePr>
          <p:cNvPr id="18" name="Table 17"/>
          <p:cNvGraphicFramePr>
            <a:graphicFrameLocks noGrp="1"/>
          </p:cNvGraphicFramePr>
          <p:nvPr/>
        </p:nvGraphicFramePr>
        <p:xfrm>
          <a:off x="6565392" y="3703320"/>
          <a:ext cx="4800600" cy="2304288"/>
        </p:xfrm>
        <a:graphic>
          <a:graphicData uri="http://schemas.openxmlformats.org/drawingml/2006/table">
            <a:tbl>
              <a:tblPr firstRow="1" bandRow="1">
                <a:tableStyleId>{5C22544A-7EE6-4342-B048-85BDC9FD1C3A}</a:tableStyleId>
              </a:tblPr>
              <a:tblGrid>
                <a:gridCol w="1325880"/>
                <a:gridCol w="1234440"/>
                <a:gridCol w="2240280"/>
              </a:tblGrid>
              <a:tr h="384048">
                <a:tc>
                  <a:txBody>
                    <a:bodyPr/>
                    <a:lstStyle/>
                    <a:p>
                      <a:pPr algn="l"/>
                      <a:r>
                        <a:rPr sz="1150" b="1" i="0">
                          <a:solidFill>
                            <a:srgbClr val="FFFFFF"/>
                          </a:solidFill>
                          <a:latin typeface="Calibri"/>
                          <a:ea typeface="Calibri"/>
                          <a:cs typeface="Calibri"/>
                        </a:rPr>
                        <a:t>Thông số y sinh</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Giá trị</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Công thức / Cơ sở y học</a:t>
                      </a:r>
                    </a:p>
                  </a:txBody>
                  <a:tcPr marL="73152" marR="73152" marT="27432" marB="27432" anchor="ctr">
                    <a:solidFill>
                      <a:srgbClr val="1B2A4A"/>
                    </a:solidFill>
                  </a:tcPr>
                </a:tc>
              </a:tr>
              <a:tr h="320040">
                <a:tc>
                  <a:txBody>
                    <a:bodyPr/>
                    <a:lstStyle/>
                    <a:p>
                      <a:pPr algn="l"/>
                      <a:r>
                        <a:rPr sz="950" b="1" i="0">
                          <a:solidFill>
                            <a:srgbClr val="1E2430"/>
                          </a:solidFill>
                          <a:latin typeface="Calibri"/>
                          <a:ea typeface="Calibri"/>
                          <a:cs typeface="Calibri"/>
                        </a:rPr>
                        <a:t>Đối tượng</a:t>
                      </a:r>
                    </a:p>
                  </a:txBody>
                  <a:tcPr marL="73152" marR="73152" marT="27432" marB="27432" anchor="ctr">
                    <a:solidFill>
                      <a:srgbClr val="F5F7FB"/>
                    </a:solidFill>
                  </a:tcPr>
                </a:tc>
                <a:tc>
                  <a:txBody>
                    <a:bodyPr/>
                    <a:lstStyle/>
                    <a:p>
                      <a:pPr algn="ctr"/>
                      <a:r>
                        <a:rPr sz="950" b="0" i="0">
                          <a:solidFill>
                            <a:srgbClr val="1E2430"/>
                          </a:solidFill>
                          <a:latin typeface="Calibri"/>
                          <a:ea typeface="Calibri"/>
                          <a:cs typeface="Calibri"/>
                        </a:rPr>
                        <a:t>Nam, 22 tuổi</a:t>
                      </a:r>
                    </a:p>
                  </a:txBody>
                  <a:tcPr marL="73152" marR="73152" marT="27432" marB="27432" anchor="ctr">
                    <a:solidFill>
                      <a:srgbClr val="F5F7FB"/>
                    </a:solidFill>
                  </a:tcPr>
                </a:tc>
                <a:tc>
                  <a:txBody>
                    <a:bodyPr/>
                    <a:lstStyle/>
                    <a:p>
                      <a:pPr algn="l"/>
                      <a:r>
                        <a:rPr sz="950" b="0" i="0">
                          <a:solidFill>
                            <a:srgbClr val="1E2430"/>
                          </a:solidFill>
                          <a:latin typeface="Calibri"/>
                          <a:ea typeface="Calibri"/>
                          <a:cs typeface="Calibri"/>
                        </a:rPr>
                        <a:t>Thanh niên trẻ khỏe mạnh</a:t>
                      </a:r>
                    </a:p>
                  </a:txBody>
                  <a:tcPr marL="73152" marR="73152" marT="27432" marB="27432" anchor="ctr">
                    <a:solidFill>
                      <a:srgbClr val="F5F7FB"/>
                    </a:solidFill>
                  </a:tcPr>
                </a:tc>
              </a:tr>
              <a:tr h="320040">
                <a:tc>
                  <a:txBody>
                    <a:bodyPr/>
                    <a:lstStyle/>
                    <a:p>
                      <a:pPr algn="l"/>
                      <a:r>
                        <a:rPr sz="950" b="1" i="0">
                          <a:solidFill>
                            <a:srgbClr val="1E2430"/>
                          </a:solidFill>
                          <a:latin typeface="Calibri"/>
                          <a:ea typeface="Calibri"/>
                          <a:cs typeface="Calibri"/>
                        </a:rPr>
                        <a:t>Thể hình</a:t>
                      </a:r>
                    </a:p>
                  </a:txBody>
                  <a:tcPr marL="73152" marR="73152" marT="27432" marB="27432" anchor="ctr">
                    <a:solidFill>
                      <a:srgbClr val="FFFFFF"/>
                    </a:solidFill>
                  </a:tcPr>
                </a:tc>
                <a:tc>
                  <a:txBody>
                    <a:bodyPr/>
                    <a:lstStyle/>
                    <a:p>
                      <a:pPr algn="ctr"/>
                      <a:r>
                        <a:rPr sz="950" b="0" i="0">
                          <a:solidFill>
                            <a:srgbClr val="1E2430"/>
                          </a:solidFill>
                          <a:latin typeface="Calibri"/>
                          <a:ea typeface="Calibri"/>
                          <a:cs typeface="Calibri"/>
                        </a:rPr>
                        <a:t>170 cm | 65.0 kg</a:t>
                      </a:r>
                    </a:p>
                  </a:txBody>
                  <a:tcPr marL="73152" marR="73152" marT="27432" marB="27432" anchor="ctr">
                    <a:solidFill>
                      <a:srgbClr val="FFFFFF"/>
                    </a:solidFill>
                  </a:tcPr>
                </a:tc>
                <a:tc>
                  <a:txBody>
                    <a:bodyPr/>
                    <a:lstStyle/>
                    <a:p>
                      <a:pPr algn="l"/>
                      <a:r>
                        <a:rPr sz="950" b="0" i="0">
                          <a:solidFill>
                            <a:srgbClr val="1E2430"/>
                          </a:solidFill>
                          <a:latin typeface="Calibri"/>
                          <a:ea typeface="Calibri"/>
                          <a:cs typeface="Calibri"/>
                        </a:rPr>
                        <a:t>BMI = 22.5 kg/m² (Thể trạng lý tưởng)</a:t>
                      </a:r>
                    </a:p>
                  </a:txBody>
                  <a:tcPr marL="73152" marR="73152" marT="27432" marB="27432" anchor="ctr">
                    <a:solidFill>
                      <a:srgbClr val="FFFFFF"/>
                    </a:solidFill>
                  </a:tcPr>
                </a:tc>
              </a:tr>
              <a:tr h="320040">
                <a:tc>
                  <a:txBody>
                    <a:bodyPr/>
                    <a:lstStyle/>
                    <a:p>
                      <a:pPr algn="l"/>
                      <a:r>
                        <a:rPr sz="950" b="1" i="0">
                          <a:solidFill>
                            <a:srgbClr val="1E2430"/>
                          </a:solidFill>
                          <a:latin typeface="Calibri"/>
                          <a:ea typeface="Calibri"/>
                          <a:cs typeface="Calibri"/>
                        </a:rPr>
                        <a:t>Mức vận động</a:t>
                      </a:r>
                    </a:p>
                  </a:txBody>
                  <a:tcPr marL="73152" marR="73152" marT="27432" marB="27432" anchor="ctr">
                    <a:solidFill>
                      <a:srgbClr val="F5F7FB"/>
                    </a:solidFill>
                  </a:tcPr>
                </a:tc>
                <a:tc>
                  <a:txBody>
                    <a:bodyPr/>
                    <a:lstStyle/>
                    <a:p>
                      <a:pPr algn="ctr"/>
                      <a:r>
                        <a:rPr sz="950" b="0" i="0">
                          <a:solidFill>
                            <a:srgbClr val="1E2430"/>
                          </a:solidFill>
                          <a:latin typeface="Calibri"/>
                          <a:ea typeface="Calibri"/>
                          <a:cs typeface="Calibri"/>
                        </a:rPr>
                        <a:t>MODERATE (1.55)</a:t>
                      </a:r>
                    </a:p>
                  </a:txBody>
                  <a:tcPr marL="73152" marR="73152" marT="27432" marB="27432" anchor="ctr">
                    <a:solidFill>
                      <a:srgbClr val="F5F7FB"/>
                    </a:solidFill>
                  </a:tcPr>
                </a:tc>
                <a:tc>
                  <a:txBody>
                    <a:bodyPr/>
                    <a:lstStyle/>
                    <a:p>
                      <a:pPr algn="l"/>
                      <a:r>
                        <a:rPr sz="950" b="0" i="0">
                          <a:solidFill>
                            <a:srgbClr val="1E2430"/>
                          </a:solidFill>
                          <a:latin typeface="Calibri"/>
                          <a:ea typeface="Calibri"/>
                          <a:cs typeface="Calibri"/>
                        </a:rPr>
                        <a:t>Tập luyện thể thao 3–5 buổi/tuần</a:t>
                      </a:r>
                    </a:p>
                  </a:txBody>
                  <a:tcPr marL="73152" marR="73152" marT="27432" marB="27432" anchor="ctr">
                    <a:solidFill>
                      <a:srgbClr val="F5F7FB"/>
                    </a:solidFill>
                  </a:tcPr>
                </a:tc>
              </a:tr>
              <a:tr h="320040">
                <a:tc>
                  <a:txBody>
                    <a:bodyPr/>
                    <a:lstStyle/>
                    <a:p>
                      <a:pPr algn="l"/>
                      <a:r>
                        <a:rPr sz="950" b="1" i="0">
                          <a:solidFill>
                            <a:srgbClr val="1E2430"/>
                          </a:solidFill>
                          <a:latin typeface="Calibri"/>
                          <a:ea typeface="Calibri"/>
                          <a:cs typeface="Calibri"/>
                        </a:rPr>
                        <a:t>Mục tiêu cân nặng</a:t>
                      </a:r>
                    </a:p>
                  </a:txBody>
                  <a:tcPr marL="73152" marR="73152" marT="27432" marB="27432" anchor="ctr">
                    <a:solidFill>
                      <a:srgbClr val="FFFFFF"/>
                    </a:solidFill>
                  </a:tcPr>
                </a:tc>
                <a:tc>
                  <a:txBody>
                    <a:bodyPr/>
                    <a:lstStyle/>
                    <a:p>
                      <a:pPr algn="ctr"/>
                      <a:r>
                        <a:rPr sz="950" b="0" i="0">
                          <a:solidFill>
                            <a:srgbClr val="1E2430"/>
                          </a:solidFill>
                          <a:latin typeface="Calibri"/>
                          <a:ea typeface="Calibri"/>
                          <a:cs typeface="Calibri"/>
                        </a:rPr>
                        <a:t>MAINTAIN</a:t>
                      </a:r>
                    </a:p>
                  </a:txBody>
                  <a:tcPr marL="73152" marR="73152" marT="27432" marB="27432" anchor="ctr">
                    <a:solidFill>
                      <a:srgbClr val="FFFFFF"/>
                    </a:solidFill>
                  </a:tcPr>
                </a:tc>
                <a:tc>
                  <a:txBody>
                    <a:bodyPr/>
                    <a:lstStyle/>
                    <a:p>
                      <a:pPr algn="l"/>
                      <a:r>
                        <a:rPr sz="950" b="0" i="0">
                          <a:solidFill>
                            <a:srgbClr val="1E2430"/>
                          </a:solidFill>
                          <a:latin typeface="Calibri"/>
                          <a:ea typeface="Calibri"/>
                          <a:cs typeface="Calibri"/>
                        </a:rPr>
                        <a:t>Duy trì vóc dáng và sức khỏe</a:t>
                      </a:r>
                    </a:p>
                  </a:txBody>
                  <a:tcPr marL="73152" marR="73152" marT="27432" marB="27432" anchor="ctr">
                    <a:solidFill>
                      <a:srgbClr val="FFFFFF"/>
                    </a:solidFill>
                  </a:tcPr>
                </a:tc>
              </a:tr>
              <a:tr h="320040">
                <a:tc>
                  <a:txBody>
                    <a:bodyPr/>
                    <a:lstStyle/>
                    <a:p>
                      <a:pPr algn="l"/>
                      <a:r>
                        <a:rPr sz="950" b="1" i="0">
                          <a:solidFill>
                            <a:srgbClr val="1E2430"/>
                          </a:solidFill>
                          <a:latin typeface="Calibri"/>
                          <a:ea typeface="Calibri"/>
                          <a:cs typeface="Calibri"/>
                        </a:rPr>
                        <a:t>Chỉ số BMR</a:t>
                      </a:r>
                    </a:p>
                  </a:txBody>
                  <a:tcPr marL="73152" marR="73152" marT="27432" marB="27432" anchor="ctr">
                    <a:solidFill>
                      <a:srgbClr val="F5F7FB"/>
                    </a:solidFill>
                  </a:tcPr>
                </a:tc>
                <a:tc>
                  <a:txBody>
                    <a:bodyPr/>
                    <a:lstStyle/>
                    <a:p>
                      <a:pPr algn="ctr"/>
                      <a:r>
                        <a:rPr sz="950" b="0" i="0">
                          <a:solidFill>
                            <a:srgbClr val="1E2430"/>
                          </a:solidFill>
                          <a:latin typeface="Calibri"/>
                          <a:ea typeface="Calibri"/>
                          <a:cs typeface="Calibri"/>
                        </a:rPr>
                        <a:t>1.607,5 kcal</a:t>
                      </a:r>
                    </a:p>
                  </a:txBody>
                  <a:tcPr marL="73152" marR="73152" marT="27432" marB="27432" anchor="ctr">
                    <a:solidFill>
                      <a:srgbClr val="F5F7FB"/>
                    </a:solidFill>
                  </a:tcPr>
                </a:tc>
                <a:tc>
                  <a:txBody>
                    <a:bodyPr/>
                    <a:lstStyle/>
                    <a:p>
                      <a:pPr algn="l"/>
                      <a:r>
                        <a:rPr sz="950" b="0" i="0">
                          <a:solidFill>
                            <a:srgbClr val="1E2430"/>
                          </a:solidFill>
                          <a:latin typeface="Calibri"/>
                          <a:ea typeface="Calibri"/>
                          <a:cs typeface="Calibri"/>
                        </a:rPr>
                        <a:t>Công thức chuẩn Mifflin-St Jeor (1990)</a:t>
                      </a:r>
                    </a:p>
                  </a:txBody>
                  <a:tcPr marL="73152" marR="73152" marT="27432" marB="27432" anchor="ctr">
                    <a:solidFill>
                      <a:srgbClr val="F5F7FB"/>
                    </a:solidFill>
                  </a:tcPr>
                </a:tc>
              </a:tr>
              <a:tr h="320040">
                <a:tc>
                  <a:txBody>
                    <a:bodyPr/>
                    <a:lstStyle/>
                    <a:p>
                      <a:pPr algn="l"/>
                      <a:r>
                        <a:rPr sz="950" b="1" i="0">
                          <a:solidFill>
                            <a:srgbClr val="1E2430"/>
                          </a:solidFill>
                          <a:latin typeface="Calibri"/>
                          <a:ea typeface="Calibri"/>
                          <a:cs typeface="Calibri"/>
                        </a:rPr>
                        <a:t>Mục tiêu TDEE</a:t>
                      </a:r>
                    </a:p>
                  </a:txBody>
                  <a:tcPr marL="73152" marR="73152" marT="27432" marB="27432" anchor="ctr">
                    <a:solidFill>
                      <a:srgbClr val="FFFFFF"/>
                    </a:solidFill>
                  </a:tcPr>
                </a:tc>
                <a:tc>
                  <a:txBody>
                    <a:bodyPr/>
                    <a:lstStyle/>
                    <a:p>
                      <a:pPr algn="ctr"/>
                      <a:r>
                        <a:rPr sz="950" b="0" i="0">
                          <a:solidFill>
                            <a:srgbClr val="1E2430"/>
                          </a:solidFill>
                          <a:latin typeface="Calibri"/>
                          <a:ea typeface="Calibri"/>
                          <a:cs typeface="Calibri"/>
                        </a:rPr>
                        <a:t>2.491,6 kcal/ngày</a:t>
                      </a:r>
                    </a:p>
                  </a:txBody>
                  <a:tcPr marL="73152" marR="73152" marT="27432" marB="27432" anchor="ctr">
                    <a:solidFill>
                      <a:srgbClr val="FFFFFF"/>
                    </a:solidFill>
                  </a:tcPr>
                </a:tc>
                <a:tc>
                  <a:txBody>
                    <a:bodyPr/>
                    <a:lstStyle/>
                    <a:p>
                      <a:pPr algn="l"/>
                      <a:r>
                        <a:rPr sz="950" b="0" i="0">
                          <a:solidFill>
                            <a:srgbClr val="1E2430"/>
                          </a:solidFill>
                          <a:latin typeface="Calibri"/>
                          <a:ea typeface="Calibri"/>
                          <a:cs typeface="Calibri"/>
                        </a:rPr>
                        <a:t>Nhu cầu năng lượng cân bằng hàng ngày</a:t>
                      </a:r>
                    </a:p>
                  </a:txBody>
                  <a:tcPr marL="73152" marR="73152" marT="27432" marB="27432" anchor="ctr">
                    <a:solidFill>
                      <a:srgbClr val="FFFFFF"/>
                    </a:solidFill>
                  </a:tcPr>
                </a:tc>
              </a:tr>
            </a:tbl>
          </a:graphicData>
        </a:graphic>
      </p:graphicFrame>
      <p:sp>
        <p:nvSpPr>
          <p:cNvPr id="19" name="Rectangle 1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3 · Mô hình hóa bài toán thực đơn &amp; Hồ sơ P1</a:t>
            </a:r>
          </a:p>
        </p:txBody>
      </p:sp>
      <p:sp>
        <p:nvSpPr>
          <p:cNvPr id="21" name="TextBox 2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D9822B"/>
                </a:solidFill>
                <a:latin typeface="Calibri"/>
                <a:ea typeface="Calibri"/>
                <a:cs typeface="Calibri"/>
              </a:rPr>
              <a:t>KẾT QUẢ THỰC NGHIỆM THỰC ĐƠN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3: Kết quả thực nghiệm tối ưu thực đơn trên hồ sơ P1</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11183112" cy="274320"/>
          </a:xfrm>
          <a:prstGeom prst="rect">
            <a:avLst/>
          </a:prstGeom>
          <a:noFill/>
        </p:spPr>
        <p:txBody>
          <a:bodyPr wrap="square" anchor="t" lIns="0" rIns="0" tIns="0" bIns="0">
            <a:spAutoFit/>
          </a:bodyPr>
          <a:lstStyle/>
          <a:p>
            <a:pPr algn="l">
              <a:lnSpc>
                <a:spcPct val="100000"/>
              </a:lnSpc>
              <a:spcAft>
                <a:spcPts val="0"/>
              </a:spcAft>
            </a:pPr>
            <a:r>
              <a:rPr sz="1200" b="1" i="0">
                <a:solidFill>
                  <a:srgbClr val="1B2A4A"/>
                </a:solidFill>
                <a:latin typeface="Calibri"/>
                <a:ea typeface="Calibri"/>
                <a:cs typeface="Calibri"/>
              </a:rPr>
              <a:t>1. SO SÁNH HIỆU NĂNG THUẬT TOÁN TRÊN BÀI TOÁN THỰC ĐƠN (10 RUNS ĐỘC LẬP)</a:t>
            </a:r>
          </a:p>
        </p:txBody>
      </p:sp>
      <p:graphicFrame>
        <p:nvGraphicFramePr>
          <p:cNvPr id="7" name="Table 6"/>
          <p:cNvGraphicFramePr>
            <a:graphicFrameLocks noGrp="1"/>
          </p:cNvGraphicFramePr>
          <p:nvPr/>
        </p:nvGraphicFramePr>
        <p:xfrm>
          <a:off x="502920" y="1536192"/>
          <a:ext cx="11183112" cy="1115568"/>
        </p:xfrm>
        <a:graphic>
          <a:graphicData uri="http://schemas.openxmlformats.org/drawingml/2006/table">
            <a:tbl>
              <a:tblPr firstRow="1" bandRow="1">
                <a:tableStyleId>{5C22544A-7EE6-4342-B048-85BDC9FD1C3A}</a:tableStyleId>
              </a:tblPr>
              <a:tblGrid>
                <a:gridCol w="1371600"/>
                <a:gridCol w="1097280"/>
                <a:gridCol w="1371600"/>
                <a:gridCol w="1371600"/>
                <a:gridCol w="1097280"/>
                <a:gridCol w="2011680"/>
                <a:gridCol w="1371600"/>
                <a:gridCol w="1490472"/>
              </a:tblGrid>
              <a:tr h="384048">
                <a:tc>
                  <a:txBody>
                    <a:bodyPr/>
                    <a:lstStyle/>
                    <a:p>
                      <a:pPr algn="l"/>
                      <a:r>
                        <a:rPr sz="1150" b="1" i="0">
                          <a:solidFill>
                            <a:srgbClr val="FFFFFF"/>
                          </a:solidFill>
                          <a:latin typeface="Calibri"/>
                          <a:ea typeface="Calibri"/>
                          <a:cs typeface="Calibri"/>
                        </a:rPr>
                        <a:t>Thuật toán</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Số lần chạy</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Best Fitness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Mean Fitness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Std</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Số vi phạm</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Mean Evals</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Thời gian TB (s)</a:t>
                      </a:r>
                    </a:p>
                  </a:txBody>
                  <a:tcPr marL="73152" marR="73152" marT="27432" marB="27432" anchor="ctr">
                    <a:solidFill>
                      <a:srgbClr val="1B2A4A"/>
                    </a:solidFill>
                  </a:tcPr>
                </a:tc>
              </a:tr>
              <a:tr h="365760">
                <a:tc>
                  <a:txBody>
                    <a:bodyPr/>
                    <a:lstStyle/>
                    <a:p>
                      <a:pPr algn="l"/>
                      <a:r>
                        <a:rPr sz="1050" b="1" i="0">
                          <a:solidFill>
                            <a:srgbClr val="1E2430"/>
                          </a:solidFill>
                          <a:latin typeface="Calibri"/>
                          <a:ea typeface="Calibri"/>
                          <a:cs typeface="Calibri"/>
                        </a:rPr>
                        <a:t>DBO</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10</a:t>
                      </a:r>
                    </a:p>
                  </a:txBody>
                  <a:tcPr marL="73152" marR="73152" marT="27432" marB="27432" anchor="ctr">
                    <a:solidFill>
                      <a:srgbClr val="F5F7FB"/>
                    </a:solidFill>
                  </a:tcPr>
                </a:tc>
                <a:tc>
                  <a:txBody>
                    <a:bodyPr/>
                    <a:lstStyle/>
                    <a:p>
                      <a:pPr algn="ctr"/>
                      <a:r>
                        <a:rPr sz="1050" b="1" i="0">
                          <a:solidFill>
                            <a:srgbClr val="217A4B"/>
                          </a:solidFill>
                          <a:latin typeface="Calibri"/>
                          <a:ea typeface="Calibri"/>
                          <a:cs typeface="Calibri"/>
                        </a:rPr>
                        <a:t>99.258</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99.153</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0.083</a:t>
                      </a:r>
                    </a:p>
                  </a:txBody>
                  <a:tcPr marL="73152" marR="73152" marT="27432" marB="27432" anchor="ctr">
                    <a:solidFill>
                      <a:srgbClr val="F5F7FB"/>
                    </a:solidFill>
                  </a:tcPr>
                </a:tc>
                <a:tc>
                  <a:txBody>
                    <a:bodyPr/>
                    <a:lstStyle/>
                    <a:p>
                      <a:pPr algn="ctr"/>
                      <a:r>
                        <a:rPr sz="1050" b="1" i="0">
                          <a:solidFill>
                            <a:srgbClr val="217A4B"/>
                          </a:solidFill>
                          <a:latin typeface="Calibri"/>
                          <a:ea typeface="Calibri"/>
                          <a:cs typeface="Calibri"/>
                        </a:rPr>
                        <a:t>0 (Hợp lệ 100%)</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6.030,0</a:t>
                      </a:r>
                    </a:p>
                  </a:txBody>
                  <a:tcPr marL="73152" marR="73152" marT="27432" marB="27432" anchor="ctr">
                    <a:solidFill>
                      <a:srgbClr val="F5F7FB"/>
                    </a:solidFill>
                  </a:tcPr>
                </a:tc>
                <a:tc>
                  <a:txBody>
                    <a:bodyPr/>
                    <a:lstStyle/>
                    <a:p>
                      <a:pPr algn="ctr"/>
                      <a:r>
                        <a:rPr sz="1050" b="0" i="0">
                          <a:solidFill>
                            <a:srgbClr val="1E2430"/>
                          </a:solidFill>
                          <a:latin typeface="Calibri"/>
                          <a:ea typeface="Calibri"/>
                          <a:cs typeface="Calibri"/>
                        </a:rPr>
                        <a:t>0.586 s</a:t>
                      </a:r>
                    </a:p>
                  </a:txBody>
                  <a:tcPr marL="73152" marR="73152" marT="27432" marB="27432" anchor="ctr">
                    <a:solidFill>
                      <a:srgbClr val="F5F7FB"/>
                    </a:solidFill>
                  </a:tcPr>
                </a:tc>
              </a:tr>
              <a:tr h="365760">
                <a:tc>
                  <a:txBody>
                    <a:bodyPr/>
                    <a:lstStyle/>
                    <a:p>
                      <a:pPr algn="l"/>
                      <a:r>
                        <a:rPr sz="1050" b="1" i="0">
                          <a:solidFill>
                            <a:srgbClr val="1E2430"/>
                          </a:solidFill>
                          <a:latin typeface="Calibri"/>
                          <a:ea typeface="Calibri"/>
                          <a:cs typeface="Calibri"/>
                        </a:rPr>
                        <a:t>IDBO</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10</a:t>
                      </a:r>
                    </a:p>
                  </a:txBody>
                  <a:tcPr marL="73152" marR="73152" marT="27432" marB="27432" anchor="ctr">
                    <a:solidFill>
                      <a:srgbClr val="FFFFFF"/>
                    </a:solidFill>
                  </a:tcPr>
                </a:tc>
                <a:tc>
                  <a:txBody>
                    <a:bodyPr/>
                    <a:lstStyle/>
                    <a:p>
                      <a:pPr algn="ctr"/>
                      <a:r>
                        <a:rPr sz="1050" b="1" i="0">
                          <a:solidFill>
                            <a:srgbClr val="217A4B"/>
                          </a:solidFill>
                          <a:latin typeface="Calibri"/>
                          <a:ea typeface="Calibri"/>
                          <a:cs typeface="Calibri"/>
                        </a:rPr>
                        <a:t>99.258</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99.153</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0.083</a:t>
                      </a:r>
                    </a:p>
                  </a:txBody>
                  <a:tcPr marL="73152" marR="73152" marT="27432" marB="27432" anchor="ctr">
                    <a:solidFill>
                      <a:srgbClr val="FFFFFF"/>
                    </a:solidFill>
                  </a:tcPr>
                </a:tc>
                <a:tc>
                  <a:txBody>
                    <a:bodyPr/>
                    <a:lstStyle/>
                    <a:p>
                      <a:pPr algn="ctr"/>
                      <a:r>
                        <a:rPr sz="1050" b="1" i="0">
                          <a:solidFill>
                            <a:srgbClr val="217A4B"/>
                          </a:solidFill>
                          <a:latin typeface="Calibri"/>
                          <a:ea typeface="Calibri"/>
                          <a:cs typeface="Calibri"/>
                        </a:rPr>
                        <a:t>0 (Hợp lệ 100%)</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6.030,0</a:t>
                      </a:r>
                    </a:p>
                  </a:txBody>
                  <a:tcPr marL="73152" marR="73152" marT="27432" marB="27432" anchor="ctr">
                    <a:solidFill>
                      <a:srgbClr val="FFFFFF"/>
                    </a:solidFill>
                  </a:tcPr>
                </a:tc>
                <a:tc>
                  <a:txBody>
                    <a:bodyPr/>
                    <a:lstStyle/>
                    <a:p>
                      <a:pPr algn="ctr"/>
                      <a:r>
                        <a:rPr sz="1050" b="0" i="0">
                          <a:solidFill>
                            <a:srgbClr val="1E2430"/>
                          </a:solidFill>
                          <a:latin typeface="Calibri"/>
                          <a:ea typeface="Calibri"/>
                          <a:cs typeface="Calibri"/>
                        </a:rPr>
                        <a:t>0.703 s</a:t>
                      </a:r>
                    </a:p>
                  </a:txBody>
                  <a:tcPr marL="73152" marR="73152" marT="27432" marB="27432" anchor="ctr">
                    <a:solidFill>
                      <a:srgbClr val="FFFFFF"/>
                    </a:solidFill>
                  </a:tcPr>
                </a:tc>
              </a:tr>
            </a:tbl>
          </a:graphicData>
        </a:graphic>
      </p:graphicFrame>
      <p:sp>
        <p:nvSpPr>
          <p:cNvPr id="8" name="TextBox 7"/>
          <p:cNvSpPr txBox="1"/>
          <p:nvPr/>
        </p:nvSpPr>
        <p:spPr>
          <a:xfrm>
            <a:off x="502920" y="2788920"/>
            <a:ext cx="11183112" cy="274320"/>
          </a:xfrm>
          <a:prstGeom prst="rect">
            <a:avLst/>
          </a:prstGeom>
          <a:noFill/>
        </p:spPr>
        <p:txBody>
          <a:bodyPr wrap="square" anchor="t" lIns="0" rIns="0" tIns="0" bIns="0">
            <a:spAutoFit/>
          </a:bodyPr>
          <a:lstStyle/>
          <a:p>
            <a:pPr algn="l">
              <a:lnSpc>
                <a:spcPct val="100000"/>
              </a:lnSpc>
              <a:spcAft>
                <a:spcPts val="0"/>
              </a:spcAft>
            </a:pPr>
            <a:r>
              <a:rPr sz="1200" b="1" i="0">
                <a:solidFill>
                  <a:srgbClr val="D9822B"/>
                </a:solidFill>
                <a:latin typeface="Calibri"/>
                <a:ea typeface="Calibri"/>
                <a:cs typeface="Calibri"/>
              </a:rPr>
              <a:t>2. ĐÁNH GIÁ CÂN ĐỐI DINH DƯỠNG THỰC TẾ SO VỚI MỤC TIÊU Y KHOA P1</a:t>
            </a:r>
          </a:p>
        </p:txBody>
      </p:sp>
      <p:graphicFrame>
        <p:nvGraphicFramePr>
          <p:cNvPr id="9" name="Table 8"/>
          <p:cNvGraphicFramePr>
            <a:graphicFrameLocks noGrp="1"/>
          </p:cNvGraphicFramePr>
          <p:nvPr/>
        </p:nvGraphicFramePr>
        <p:xfrm>
          <a:off x="502920" y="3090672"/>
          <a:ext cx="11183112" cy="2121408"/>
        </p:xfrm>
        <a:graphic>
          <a:graphicData uri="http://schemas.openxmlformats.org/drawingml/2006/table">
            <a:tbl>
              <a:tblPr firstRow="1" bandRow="1">
                <a:tableStyleId>{5C22544A-7EE6-4342-B048-85BDC9FD1C3A}</a:tableStyleId>
              </a:tblPr>
              <a:tblGrid>
                <a:gridCol w="2194560"/>
                <a:gridCol w="1645920"/>
                <a:gridCol w="1645920"/>
                <a:gridCol w="1463040"/>
                <a:gridCol w="1463040"/>
                <a:gridCol w="2770632"/>
              </a:tblGrid>
              <a:tr h="384048">
                <a:tc>
                  <a:txBody>
                    <a:bodyPr/>
                    <a:lstStyle/>
                    <a:p>
                      <a:pPr algn="l"/>
                      <a:r>
                        <a:rPr sz="1150" b="1" i="0">
                          <a:solidFill>
                            <a:srgbClr val="FFFFFF"/>
                          </a:solidFill>
                          <a:latin typeface="Calibri"/>
                          <a:ea typeface="Calibri"/>
                          <a:cs typeface="Calibri"/>
                        </a:rPr>
                        <a:t>Chỉ số dinh dưỡng</a:t>
                      </a:r>
                    </a:p>
                  </a:txBody>
                  <a:tcPr marL="73152" marR="73152" marT="27432" marB="27432" anchor="ctr">
                    <a:solidFill>
                      <a:srgbClr val="D9822B"/>
                    </a:solidFill>
                  </a:tcPr>
                </a:tc>
                <a:tc>
                  <a:txBody>
                    <a:bodyPr/>
                    <a:lstStyle/>
                    <a:p>
                      <a:pPr algn="ctr"/>
                      <a:r>
                        <a:rPr sz="1150" b="1" i="0">
                          <a:solidFill>
                            <a:srgbClr val="FFFFFF"/>
                          </a:solidFill>
                          <a:latin typeface="Calibri"/>
                          <a:ea typeface="Calibri"/>
                          <a:cs typeface="Calibri"/>
                        </a:rPr>
                        <a:t>Nhu cầu mục tiêu (P1)</a:t>
                      </a:r>
                    </a:p>
                  </a:txBody>
                  <a:tcPr marL="73152" marR="73152" marT="27432" marB="27432" anchor="ctr">
                    <a:solidFill>
                      <a:srgbClr val="D9822B"/>
                    </a:solidFill>
                  </a:tcPr>
                </a:tc>
                <a:tc>
                  <a:txBody>
                    <a:bodyPr/>
                    <a:lstStyle/>
                    <a:p>
                      <a:pPr algn="ctr"/>
                      <a:r>
                        <a:rPr sz="1150" b="1" i="0">
                          <a:solidFill>
                            <a:srgbClr val="FFFFFF"/>
                          </a:solidFill>
                          <a:latin typeface="Calibri"/>
                          <a:ea typeface="Calibri"/>
                          <a:cs typeface="Calibri"/>
                        </a:rPr>
                        <a:t>Thực đơn tối ưu</a:t>
                      </a:r>
                    </a:p>
                  </a:txBody>
                  <a:tcPr marL="73152" marR="73152" marT="27432" marB="27432" anchor="ctr">
                    <a:solidFill>
                      <a:srgbClr val="D9822B"/>
                    </a:solidFill>
                  </a:tcPr>
                </a:tc>
                <a:tc>
                  <a:txBody>
                    <a:bodyPr/>
                    <a:lstStyle/>
                    <a:p>
                      <a:pPr algn="ctr"/>
                      <a:r>
                        <a:rPr sz="1150" b="1" i="0">
                          <a:solidFill>
                            <a:srgbClr val="FFFFFF"/>
                          </a:solidFill>
                          <a:latin typeface="Calibri"/>
                          <a:ea typeface="Calibri"/>
                          <a:cs typeface="Calibri"/>
                        </a:rPr>
                        <a:t>Sai lệch tuyệt đối</a:t>
                      </a:r>
                    </a:p>
                  </a:txBody>
                  <a:tcPr marL="73152" marR="73152" marT="27432" marB="27432" anchor="ctr">
                    <a:solidFill>
                      <a:srgbClr val="D9822B"/>
                    </a:solidFill>
                  </a:tcPr>
                </a:tc>
                <a:tc>
                  <a:txBody>
                    <a:bodyPr/>
                    <a:lstStyle/>
                    <a:p>
                      <a:pPr algn="ctr"/>
                      <a:r>
                        <a:rPr sz="1150" b="1" i="0">
                          <a:solidFill>
                            <a:srgbClr val="FFFFFF"/>
                          </a:solidFill>
                          <a:latin typeface="Calibri"/>
                          <a:ea typeface="Calibri"/>
                          <a:cs typeface="Calibri"/>
                        </a:rPr>
                        <a:t>Tỷ lệ đáp ứng</a:t>
                      </a:r>
                    </a:p>
                  </a:txBody>
                  <a:tcPr marL="73152" marR="73152" marT="27432" marB="27432" anchor="ctr">
                    <a:solidFill>
                      <a:srgbClr val="D9822B"/>
                    </a:solidFill>
                  </a:tcPr>
                </a:tc>
                <a:tc>
                  <a:txBody>
                    <a:bodyPr/>
                    <a:lstStyle/>
                    <a:p>
                      <a:pPr algn="l"/>
                      <a:r>
                        <a:rPr sz="1150" b="1" i="0">
                          <a:solidFill>
                            <a:srgbClr val="FFFFFF"/>
                          </a:solidFill>
                          <a:latin typeface="Calibri"/>
                          <a:ea typeface="Calibri"/>
                          <a:cs typeface="Calibri"/>
                        </a:rPr>
                        <a:t>Đánh giá y học</a:t>
                      </a:r>
                    </a:p>
                  </a:txBody>
                  <a:tcPr marL="73152" marR="73152" marT="27432" marB="27432" anchor="ctr">
                    <a:solidFill>
                      <a:srgbClr val="D9822B"/>
                    </a:solidFill>
                  </a:tcPr>
                </a:tc>
              </a:tr>
              <a:tr h="347472">
                <a:tc>
                  <a:txBody>
                    <a:bodyPr/>
                    <a:lstStyle/>
                    <a:p>
                      <a:pPr algn="l"/>
                      <a:r>
                        <a:rPr sz="1000" b="1" i="0">
                          <a:solidFill>
                            <a:srgbClr val="1E2430"/>
                          </a:solidFill>
                          <a:latin typeface="Calibri"/>
                          <a:ea typeface="Calibri"/>
                          <a:cs typeface="Calibri"/>
                        </a:rPr>
                        <a:t>Năng lượng (Calo)</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2.491,6 kcal</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2.493,3 kcal</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+1,7 kcal</a:t>
                      </a:r>
                    </a:p>
                  </a:txBody>
                  <a:tcPr marL="73152" marR="73152" marT="27432" marB="27432" anchor="ctr">
                    <a:solidFill>
                      <a:srgbClr val="F5F7FB"/>
                    </a:solidFill>
                  </a:tcPr>
                </a:tc>
                <a:tc>
                  <a:txBody>
                    <a:bodyPr/>
                    <a:lstStyle/>
                    <a:p>
                      <a:pPr algn="ctr"/>
                      <a:r>
                        <a:rPr sz="1000" b="1" i="0">
                          <a:solidFill>
                            <a:srgbClr val="217A4B"/>
                          </a:solidFill>
                          <a:latin typeface="Calibri"/>
                          <a:ea typeface="Calibri"/>
                          <a:cs typeface="Calibri"/>
                        </a:rPr>
                        <a:t>99,93%</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Hoàn hảo (sai lệch &lt; 0,1%)</a:t>
                      </a:r>
                    </a:p>
                  </a:txBody>
                  <a:tcPr marL="73152" marR="73152" marT="27432" marB="27432" anchor="ctr">
                    <a:solidFill>
                      <a:srgbClr val="F5F7FB"/>
                    </a:solidFill>
                  </a:tcPr>
                </a:tc>
              </a:tr>
              <a:tr h="347472">
                <a:tc>
                  <a:txBody>
                    <a:bodyPr/>
                    <a:lstStyle/>
                    <a:p>
                      <a:pPr algn="l"/>
                      <a:r>
                        <a:rPr sz="1000" b="1" i="0">
                          <a:solidFill>
                            <a:srgbClr val="1E2430"/>
                          </a:solidFill>
                          <a:latin typeface="Calibri"/>
                          <a:ea typeface="Calibri"/>
                          <a:cs typeface="Calibri"/>
                        </a:rPr>
                        <a:t>Chất đạm (Protein)</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124,6 g (20%)</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119,4 g (19,2%)</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−5,2 g</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95,83%</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Đạt chuẩn khuyến nghị</a:t>
                      </a:r>
                    </a:p>
                  </a:txBody>
                  <a:tcPr marL="73152" marR="73152" marT="27432" marB="27432" anchor="ctr">
                    <a:solidFill>
                      <a:srgbClr val="FFFFFF"/>
                    </a:solidFill>
                  </a:tcPr>
                </a:tc>
              </a:tr>
              <a:tr h="347472">
                <a:tc>
                  <a:txBody>
                    <a:bodyPr/>
                    <a:lstStyle/>
                    <a:p>
                      <a:pPr algn="l"/>
                      <a:r>
                        <a:rPr sz="1000" b="1" i="0">
                          <a:solidFill>
                            <a:srgbClr val="1E2430"/>
                          </a:solidFill>
                          <a:latin typeface="Calibri"/>
                          <a:ea typeface="Calibri"/>
                          <a:cs typeface="Calibri"/>
                        </a:rPr>
                        <a:t>Đường bột (Carbohydrate)</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311,5 g (50%)</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305,3 g (49,0%)</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−6,2 g</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98,01%</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Đạt chuẩn khuyến nghị</a:t>
                      </a:r>
                    </a:p>
                  </a:txBody>
                  <a:tcPr marL="73152" marR="73152" marT="27432" marB="27432" anchor="ctr">
                    <a:solidFill>
                      <a:srgbClr val="F5F7FB"/>
                    </a:solidFill>
                  </a:tcPr>
                </a:tc>
              </a:tr>
              <a:tr h="347472">
                <a:tc>
                  <a:txBody>
                    <a:bodyPr/>
                    <a:lstStyle/>
                    <a:p>
                      <a:pPr algn="l"/>
                      <a:r>
                        <a:rPr sz="1000" b="1" i="0">
                          <a:solidFill>
                            <a:srgbClr val="1E2430"/>
                          </a:solidFill>
                          <a:latin typeface="Calibri"/>
                          <a:ea typeface="Calibri"/>
                          <a:cs typeface="Calibri"/>
                        </a:rPr>
                        <a:t>Chất béo (Lipid / Fat)</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83,1 g (30%)</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75,9 g (27,4%)</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−7,2 g</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91,34%</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Đạt ngưỡng an toàn</a:t>
                      </a:r>
                    </a:p>
                  </a:txBody>
                  <a:tcPr marL="73152" marR="73152" marT="27432" marB="27432" anchor="ctr">
                    <a:solidFill>
                      <a:srgbClr val="FFFFFF"/>
                    </a:solidFill>
                  </a:tcPr>
                </a:tc>
              </a:tr>
              <a:tr h="347472">
                <a:tc>
                  <a:txBody>
                    <a:bodyPr/>
                    <a:lstStyle/>
                    <a:p>
                      <a:pPr algn="l"/>
                      <a:r>
                        <a:rPr sz="1000" b="1" i="0">
                          <a:solidFill>
                            <a:srgbClr val="1E2430"/>
                          </a:solidFill>
                          <a:latin typeface="Calibri"/>
                          <a:ea typeface="Calibri"/>
                          <a:cs typeface="Calibri"/>
                        </a:rPr>
                        <a:t>Chất xơ (Dietary Fiber)</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 38,0 g</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38,0 g</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0,0 g</a:t>
                      </a:r>
                    </a:p>
                  </a:txBody>
                  <a:tcPr marL="73152" marR="73152" marT="27432" marB="27432" anchor="ctr">
                    <a:solidFill>
                      <a:srgbClr val="F5F7FB"/>
                    </a:solidFill>
                  </a:tcPr>
                </a:tc>
                <a:tc>
                  <a:txBody>
                    <a:bodyPr/>
                    <a:lstStyle/>
                    <a:p>
                      <a:pPr algn="ctr"/>
                      <a:r>
                        <a:rPr sz="1000" b="1" i="0">
                          <a:solidFill>
                            <a:srgbClr val="217A4B"/>
                          </a:solidFill>
                          <a:latin typeface="Calibri"/>
                          <a:ea typeface="Calibri"/>
                          <a:cs typeface="Calibri"/>
                        </a:rPr>
                        <a:t>100,0%</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Đạt chuẩn tối ưu hệ tiêu hóa</a:t>
                      </a:r>
                    </a:p>
                  </a:txBody>
                  <a:tcPr marL="73152" marR="73152" marT="27432" marB="27432" anchor="ctr">
                    <a:solidFill>
                      <a:srgbClr val="F5F7FB"/>
                    </a:solidFill>
                  </a:tcPr>
                </a:tc>
              </a:tr>
            </a:tbl>
          </a:graphicData>
        </a:graphic>
      </p:graphicFrame>
      <p:sp>
        <p:nvSpPr>
          <p:cNvPr id="10" name="Rounded Rectangle 9"/>
          <p:cNvSpPr/>
          <p:nvPr/>
        </p:nvSpPr>
        <p:spPr>
          <a:xfrm>
            <a:off x="502920" y="5394960"/>
            <a:ext cx="11183112" cy="9144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86400"/>
            <a:ext cx="10744200" cy="749808"/>
          </a:xfrm>
          <a:prstGeom prst="rect">
            <a:avLst/>
          </a:prstGeom>
          <a:noFill/>
        </p:spPr>
        <p:txBody>
          <a:bodyPr wrap="square" anchor="t" lIns="0" rIns="0" tIns="0" bIns="0">
            <a:spAutoFit/>
          </a:bodyPr>
          <a:lstStyle/>
          <a:p>
            <a:pPr algn="l">
              <a:lnSpc>
                <a:spcPct val="110000"/>
              </a:lnSpc>
              <a:spcAft>
                <a:spcPts val="0"/>
              </a:spcAft>
            </a:pPr>
            <a:r>
              <a:rPr sz="1200" b="1" i="0">
                <a:solidFill>
                  <a:srgbClr val="D9822B"/>
                </a:solidFill>
                <a:latin typeface="Calibri"/>
                <a:ea typeface="Calibri"/>
                <a:cs typeface="Calibri"/>
              </a:rPr>
              <a:t>💡 Nhận định kết quả Tuần 7:  </a:t>
            </a:r>
          </a:p>
          <a:p>
            <a:pPr algn="l">
              <a:lnSpc>
                <a:spcPct val="110000"/>
              </a:lnSpc>
              <a:spcAft>
                <a:spcPts val="0"/>
              </a:spcAft>
            </a:pPr>
            <a:r>
              <a:rPr sz="1080" b="0" i="0">
                <a:solidFill>
                  <a:srgbClr val="1E2430"/>
                </a:solidFill>
                <a:latin typeface="Calibri"/>
                <a:ea typeface="Calibri"/>
                <a:cs typeface="Calibri"/>
              </a:rPr>
              <a:t>• Cả DBO và IDBO đều giải quyết xuất sắc bài toán khẩu phần liên tục, đạt Fitness cực cao ~99.15/100 với 0 vi phạm ràng buộc.
• Sai lệch năng lượng chỉ 1.7 kcal (0.07%) chứng minh thuật toán có khả năng điều chỉnh định lượng gram cực kỳ tinh tế.
• Thời gian giải quyết chỉ ~0.16–0.70 giây hoàn toàn sẵn sàng cho việc tích hợp vào Backend API đề xuất thực đơn thời gian thực.</a:t>
            </a:r>
          </a:p>
        </p:txBody>
      </p:sp>
      <p:sp>
        <p:nvSpPr>
          <p:cNvPr id="12" name="Rectangle 11"/>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3 · Bảng kết quả tối ưu thực đơn &amp; Cân đối dinh dưỡng P1</a:t>
            </a:r>
          </a:p>
        </p:txBody>
      </p:sp>
      <p:sp>
        <p:nvSpPr>
          <p:cNvPr id="14" name="TextBox 13"/>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D9822B"/>
                </a:solidFill>
                <a:latin typeface="Calibri"/>
                <a:ea typeface="Calibri"/>
                <a:cs typeface="Calibri"/>
              </a:rPr>
              <a:t>PHÂN TÍCH ĐỒ THỊ THỰC NGHIỆM</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3: Đồ thị hội tụ &amp; Phân phối nghiệm bài toán thực đơn P1</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p1.png"/>
          <p:cNvPicPr>
            <a:picLocks noChangeAspect="1"/>
          </p:cNvPicPr>
          <p:nvPr/>
        </p:nvPicPr>
        <p:blipFill>
          <a:blip r:embed="rId2"/>
          <a:stretch>
            <a:fillRect/>
          </a:stretch>
        </p:blipFill>
        <p:spPr>
          <a:xfrm>
            <a:off x="502920" y="1560830"/>
            <a:ext cx="5440680" cy="3324860"/>
          </a:xfrm>
          <a:prstGeom prst="rect">
            <a:avLst/>
          </a:prstGeom>
        </p:spPr>
      </p:pic>
      <p:pic>
        <p:nvPicPr>
          <p:cNvPr id="7" name="Picture 6" descr="fig_boxplot_p1.png"/>
          <p:cNvPicPr>
            <a:picLocks noChangeAspect="1"/>
          </p:cNvPicPr>
          <p:nvPr/>
        </p:nvPicPr>
        <p:blipFill>
          <a:blip r:embed="rId3"/>
          <a:stretch>
            <a:fillRect/>
          </a:stretch>
        </p:blipFill>
        <p:spPr>
          <a:xfrm>
            <a:off x="6376277" y="1188720"/>
            <a:ext cx="5178829" cy="4069080"/>
          </a:xfrm>
          <a:prstGeom prst="rect">
            <a:avLst/>
          </a:prstGeom>
        </p:spPr>
      </p:pic>
      <p:sp>
        <p:nvSpPr>
          <p:cNvPr id="8" name="Rounded Rectangle 7"/>
          <p:cNvSpPr/>
          <p:nvPr/>
        </p:nvSpPr>
        <p:spPr>
          <a:xfrm>
            <a:off x="502920" y="5394960"/>
            <a:ext cx="11183112" cy="9144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486400"/>
            <a:ext cx="10744200" cy="749808"/>
          </a:xfrm>
          <a:prstGeom prst="rect">
            <a:avLst/>
          </a:prstGeom>
          <a:noFill/>
        </p:spPr>
        <p:txBody>
          <a:bodyPr wrap="square" anchor="t" lIns="0" rIns="0" tIns="0" bIns="0">
            <a:spAutoFit/>
          </a:bodyPr>
          <a:lstStyle/>
          <a:p>
            <a:pPr algn="l">
              <a:lnSpc>
                <a:spcPct val="110000"/>
              </a:lnSpc>
              <a:spcAft>
                <a:spcPts val="0"/>
              </a:spcAft>
            </a:pPr>
            <a:r>
              <a:rPr sz="1200" b="1" i="0">
                <a:solidFill>
                  <a:srgbClr val="D9822B"/>
                </a:solidFill>
                <a:latin typeface="Calibri"/>
                <a:ea typeface="Calibri"/>
                <a:cs typeface="Calibri"/>
              </a:rPr>
              <a:t>💡 Quan sát then chốt trên bài toán thực đơn:  </a:t>
            </a:r>
          </a:p>
          <a:p>
            <a:pPr algn="l">
              <a:lnSpc>
                <a:spcPct val="110000"/>
              </a:lnSpc>
              <a:spcAft>
                <a:spcPts val="0"/>
              </a:spcAft>
            </a:pPr>
            <a:r>
              <a:rPr sz="1080" b="0" i="0">
                <a:solidFill>
                  <a:srgbClr val="1E2430"/>
                </a:solidFill>
                <a:latin typeface="Calibri"/>
                <a:ea typeface="Calibri"/>
                <a:cs typeface="Calibri"/>
              </a:rPr>
              <a:t>• Tốc độ bứt phá ngoạn mục (trái): Quần thể khởi tạo ngẫu nhiên có Fitness ~78. Chỉ sau 12 thế hệ, giải thuật đã vượt mốc 98.7 điểm và nhanh chóng ổn định tiệm cận 99.2 điểm ở thế hệ 50.
• Độ tin cậy cực cao (phải): Biểu đồ hộp phân bố 10 lượt chạy có độ lệch chuẩn cực bé (Std = 0.083), biên độ dao động giữa lần chạy tốt nhất (99.26) và kém nhất (98.95) chỉ là 0.31 điểm, chứng minh thuật toán hoạt động hoàn toàn nhất quán.</a:t>
            </a:r>
          </a:p>
        </p:txBody>
      </p:sp>
      <p:sp>
        <p:nvSpPr>
          <p:cNvPr id="10" name="Rectangle 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3 · Đồ thị hội tụ &amp; Hộp phân phối bài toán thực đơn (fig_convergence &amp; fig_boxplot P1)</a:t>
            </a:r>
          </a:p>
        </p:txBody>
      </p:sp>
      <p:sp>
        <p:nvSpPr>
          <p:cNvPr id="12" name="TextBox 1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D9822B"/>
                </a:solidFill>
                <a:latin typeface="Calibri"/>
                <a:ea typeface="Calibri"/>
                <a:cs typeface="Calibri"/>
              </a:rPr>
              <a:t>MINH HỌA THỰC TẾ</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Giai đoạn 3: Minh họa thực đơn 4 bữa cá nhân hóa cho hồ sơ P1</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4114800" cy="50292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71600"/>
            <a:ext cx="3749039"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KẾT QUẢ TỐI ƯU HỒ SƠ P1</a:t>
            </a:r>
          </a:p>
        </p:txBody>
      </p:sp>
      <p:sp>
        <p:nvSpPr>
          <p:cNvPr id="8" name="Rectangle 7"/>
          <p:cNvSpPr/>
          <p:nvPr/>
        </p:nvSpPr>
        <p:spPr>
          <a:xfrm>
            <a:off x="685800" y="1719072"/>
            <a:ext cx="3749039"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74519"/>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Đối tượng áp dụng:
</a:t>
            </a:r>
            <a:r>
              <a:rPr sz="1100" b="0" i="0">
                <a:solidFill>
                  <a:srgbClr val="1E2430"/>
                </a:solidFill>
                <a:latin typeface="Calibri"/>
                <a:ea typeface="Calibri"/>
                <a:cs typeface="Calibri"/>
              </a:rPr>
              <a:t>Bệnh nhân P1 (Nam, 22t, 65kg, Duy trì cân nặng)</a:t>
            </a:r>
          </a:p>
        </p:txBody>
      </p:sp>
      <p:sp>
        <p:nvSpPr>
          <p:cNvPr id="10" name="TextBox 9"/>
          <p:cNvSpPr txBox="1"/>
          <p:nvPr/>
        </p:nvSpPr>
        <p:spPr>
          <a:xfrm>
            <a:off x="685800" y="2404872"/>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Mục tiêu Calo (TDEE):
</a:t>
            </a:r>
            <a:r>
              <a:rPr sz="1100" b="0" i="0">
                <a:solidFill>
                  <a:srgbClr val="1E2430"/>
                </a:solidFill>
                <a:latin typeface="Calibri"/>
                <a:ea typeface="Calibri"/>
                <a:cs typeface="Calibri"/>
              </a:rPr>
              <a:t>2.491,6 kcal/ngày</a:t>
            </a:r>
          </a:p>
        </p:txBody>
      </p:sp>
      <p:sp>
        <p:nvSpPr>
          <p:cNvPr id="11" name="TextBox 10"/>
          <p:cNvSpPr txBox="1"/>
          <p:nvPr/>
        </p:nvSpPr>
        <p:spPr>
          <a:xfrm>
            <a:off x="685800" y="2935224"/>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Calo thực tế đạt được:
</a:t>
            </a:r>
            <a:r>
              <a:rPr sz="1100" b="0" i="0">
                <a:solidFill>
                  <a:srgbClr val="1E2430"/>
                </a:solidFill>
                <a:latin typeface="Calibri"/>
                <a:ea typeface="Calibri"/>
                <a:cs typeface="Calibri"/>
              </a:rPr>
              <a:t>2.493,3 kcal (Sai lệch: +1,7 kcal ~ 0,07%)</a:t>
            </a:r>
          </a:p>
        </p:txBody>
      </p:sp>
      <p:sp>
        <p:nvSpPr>
          <p:cNvPr id="12" name="TextBox 11"/>
          <p:cNvSpPr txBox="1"/>
          <p:nvPr/>
        </p:nvSpPr>
        <p:spPr>
          <a:xfrm>
            <a:off x="685800" y="3465576"/>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Điểm Fitness tối ưu:
</a:t>
            </a:r>
            <a:r>
              <a:rPr sz="1100" b="1" i="0">
                <a:solidFill>
                  <a:srgbClr val="217A4B"/>
                </a:solidFill>
                <a:latin typeface="Calibri"/>
                <a:ea typeface="Calibri"/>
                <a:cs typeface="Calibri"/>
              </a:rPr>
              <a:t>98,87 / 100 điểm</a:t>
            </a:r>
          </a:p>
        </p:txBody>
      </p:sp>
      <p:sp>
        <p:nvSpPr>
          <p:cNvPr id="13" name="TextBox 12"/>
          <p:cNvSpPr txBox="1"/>
          <p:nvPr/>
        </p:nvSpPr>
        <p:spPr>
          <a:xfrm>
            <a:off x="685800" y="3995928"/>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Số lần đánh giá hàm:
</a:t>
            </a:r>
            <a:r>
              <a:rPr sz="1100" b="0" i="0">
                <a:solidFill>
                  <a:srgbClr val="1E2430"/>
                </a:solidFill>
                <a:latin typeface="Calibri"/>
                <a:ea typeface="Calibri"/>
                <a:cs typeface="Calibri"/>
              </a:rPr>
              <a:t>1.530 evals (Tối ưu trong 50 thế hệ)</a:t>
            </a:r>
          </a:p>
        </p:txBody>
      </p:sp>
      <p:sp>
        <p:nvSpPr>
          <p:cNvPr id="14" name="TextBox 13"/>
          <p:cNvSpPr txBox="1"/>
          <p:nvPr/>
        </p:nvSpPr>
        <p:spPr>
          <a:xfrm>
            <a:off x="685800" y="4526280"/>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Thời gian thực thi:
</a:t>
            </a:r>
            <a:r>
              <a:rPr sz="1100" b="0" i="0">
                <a:solidFill>
                  <a:srgbClr val="1E2430"/>
                </a:solidFill>
                <a:latin typeface="Calibri"/>
                <a:ea typeface="Calibri"/>
                <a:cs typeface="Calibri"/>
              </a:rPr>
              <a:t>0,158 giây (Siêu nhanh, đáp ứng realtime)</a:t>
            </a:r>
          </a:p>
        </p:txBody>
      </p:sp>
      <p:sp>
        <p:nvSpPr>
          <p:cNvPr id="15" name="TextBox 14"/>
          <p:cNvSpPr txBox="1"/>
          <p:nvPr/>
        </p:nvSpPr>
        <p:spPr>
          <a:xfrm>
            <a:off x="685800" y="5056632"/>
            <a:ext cx="3749039" cy="438912"/>
          </a:xfrm>
          <a:prstGeom prst="rect">
            <a:avLst/>
          </a:prstGeom>
          <a:noFill/>
        </p:spPr>
        <p:txBody>
          <a:bodyPr wrap="square" anchor="t" lIns="0" rIns="0" tIns="0" bIns="0">
            <a:spAutoFit/>
          </a:bodyPr>
          <a:lstStyle/>
          <a:p>
            <a:pPr algn="l">
              <a:lnSpc>
                <a:spcPct val="105000"/>
              </a:lnSpc>
              <a:spcAft>
                <a:spcPts val="0"/>
              </a:spcAft>
            </a:pPr>
            <a:r>
              <a:rPr sz="1050" b="1" i="0">
                <a:solidFill>
                  <a:srgbClr val="2D3E63"/>
                </a:solidFill>
                <a:latin typeface="Calibri"/>
                <a:ea typeface="Calibri"/>
                <a:cs typeface="Calibri"/>
              </a:rPr>
              <a:t>Trạng thái kiểm tra ràng buộc:
</a:t>
            </a:r>
            <a:r>
              <a:rPr sz="1100" b="1" i="0">
                <a:solidFill>
                  <a:srgbClr val="217A4B"/>
                </a:solidFill>
                <a:latin typeface="Calibri"/>
                <a:ea typeface="Calibri"/>
                <a:cs typeface="Calibri"/>
              </a:rPr>
              <a:t>0 vi phạm — HỢP LỆ HOÀN TOÀN 100%</a:t>
            </a:r>
          </a:p>
        </p:txBody>
      </p:sp>
      <p:sp>
        <p:nvSpPr>
          <p:cNvPr id="16" name="Rounded Rectangle 15"/>
          <p:cNvSpPr/>
          <p:nvPr/>
        </p:nvSpPr>
        <p:spPr>
          <a:xfrm>
            <a:off x="685800" y="5623560"/>
            <a:ext cx="3749039" cy="502920"/>
          </a:xfrm>
          <a:prstGeom prst="roundRect">
            <a:avLst/>
          </a:prstGeom>
          <a:solidFill>
            <a:srgbClr val="FDF6EB"/>
          </a:solidFill>
          <a:ln w="1270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687568"/>
            <a:ext cx="3566160" cy="411480"/>
          </a:xfrm>
          <a:prstGeom prst="rect">
            <a:avLst/>
          </a:prstGeom>
          <a:noFill/>
        </p:spPr>
        <p:txBody>
          <a:bodyPr wrap="square" anchor="t" lIns="0" rIns="0" tIns="0" bIns="0">
            <a:spAutoFit/>
          </a:bodyPr>
          <a:lstStyle/>
          <a:p>
            <a:pPr algn="ctr">
              <a:lnSpc>
                <a:spcPct val="100000"/>
              </a:lnSpc>
              <a:spcAft>
                <a:spcPts val="0"/>
              </a:spcAft>
            </a:pPr>
            <a:r>
              <a:rPr sz="1050" b="1" i="0">
                <a:solidFill>
                  <a:srgbClr val="D9822B"/>
                </a:solidFill>
                <a:latin typeface="Calibri"/>
                <a:ea typeface="Calibri"/>
                <a:cs typeface="Calibri"/>
              </a:rPr>
              <a:t>✔ Đạt chuẩn khuyến nghị của Viện Dinh Dưỡng Quốc Gia</a:t>
            </a:r>
          </a:p>
        </p:txBody>
      </p:sp>
      <p:sp>
        <p:nvSpPr>
          <p:cNvPr id="18" name="Rounded Rectangle 17"/>
          <p:cNvSpPr/>
          <p:nvPr/>
        </p:nvSpPr>
        <p:spPr>
          <a:xfrm>
            <a:off x="4800600" y="1234440"/>
            <a:ext cx="6885432" cy="502920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80" y="1371600"/>
            <a:ext cx="6492240" cy="320040"/>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KHẨU PHẦN ĐỀ XUẤT 4 BỮA ĂN TRONG NGÀY (8 MÓN ĂN)</a:t>
            </a:r>
          </a:p>
        </p:txBody>
      </p:sp>
      <p:sp>
        <p:nvSpPr>
          <p:cNvPr id="20" name="Rectangle 19"/>
          <p:cNvSpPr/>
          <p:nvPr/>
        </p:nvSpPr>
        <p:spPr>
          <a:xfrm>
            <a:off x="4983480" y="1719072"/>
            <a:ext cx="649224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 name="Table 20"/>
          <p:cNvGraphicFramePr>
            <a:graphicFrameLocks noGrp="1"/>
          </p:cNvGraphicFramePr>
          <p:nvPr/>
        </p:nvGraphicFramePr>
        <p:xfrm>
          <a:off x="4937760" y="1874519"/>
          <a:ext cx="6583680" cy="3968496"/>
        </p:xfrm>
        <a:graphic>
          <a:graphicData uri="http://schemas.openxmlformats.org/drawingml/2006/table">
            <a:tbl>
              <a:tblPr firstRow="1" bandRow="1">
                <a:tableStyleId>{5C22544A-7EE6-4342-B048-85BDC9FD1C3A}</a:tableStyleId>
              </a:tblPr>
              <a:tblGrid>
                <a:gridCol w="1097280"/>
                <a:gridCol w="2926080"/>
                <a:gridCol w="1005840"/>
                <a:gridCol w="1554480"/>
              </a:tblGrid>
              <a:tr h="384048">
                <a:tc>
                  <a:txBody>
                    <a:bodyPr/>
                    <a:lstStyle/>
                    <a:p>
                      <a:pPr algn="ctr"/>
                      <a:r>
                        <a:rPr sz="1150" b="1" i="0">
                          <a:solidFill>
                            <a:srgbClr val="FFFFFF"/>
                          </a:solidFill>
                          <a:latin typeface="Calibri"/>
                          <a:ea typeface="Calibri"/>
                          <a:cs typeface="Calibri"/>
                        </a:rPr>
                        <a:t>Bữa ăn</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Tên món ăn (USDA FDC ID)</a:t>
                      </a:r>
                    </a:p>
                  </a:txBody>
                  <a:tcPr marL="73152" marR="73152" marT="27432" marB="27432" anchor="ctr">
                    <a:solidFill>
                      <a:srgbClr val="1B2A4A"/>
                    </a:solidFill>
                  </a:tcPr>
                </a:tc>
                <a:tc>
                  <a:txBody>
                    <a:bodyPr/>
                    <a:lstStyle/>
                    <a:p>
                      <a:pPr algn="ctr"/>
                      <a:r>
                        <a:rPr sz="1150" b="1" i="0">
                          <a:solidFill>
                            <a:srgbClr val="FFFFFF"/>
                          </a:solidFill>
                          <a:latin typeface="Calibri"/>
                          <a:ea typeface="Calibri"/>
                          <a:cs typeface="Calibri"/>
                        </a:rPr>
                        <a:t>Khẩu phần (g)</a:t>
                      </a:r>
                    </a:p>
                  </a:txBody>
                  <a:tcPr marL="73152" marR="73152" marT="27432" marB="27432" anchor="ctr">
                    <a:solidFill>
                      <a:srgbClr val="1B2A4A"/>
                    </a:solidFill>
                  </a:tcPr>
                </a:tc>
                <a:tc>
                  <a:txBody>
                    <a:bodyPr/>
                    <a:lstStyle/>
                    <a:p>
                      <a:pPr algn="l"/>
                      <a:r>
                        <a:rPr sz="1150" b="1" i="0">
                          <a:solidFill>
                            <a:srgbClr val="FFFFFF"/>
                          </a:solidFill>
                          <a:latin typeface="Calibri"/>
                          <a:ea typeface="Calibri"/>
                          <a:cs typeface="Calibri"/>
                        </a:rPr>
                        <a:t>Vai trò dinh dưỡng chính</a:t>
                      </a:r>
                    </a:p>
                  </a:txBody>
                  <a:tcPr marL="73152" marR="73152" marT="27432" marB="27432" anchor="ctr">
                    <a:solidFill>
                      <a:srgbClr val="1B2A4A"/>
                    </a:solidFill>
                  </a:tcPr>
                </a:tc>
              </a:tr>
              <a:tr h="896112">
                <a:tc>
                  <a:txBody>
                    <a:bodyPr/>
                    <a:lstStyle/>
                    <a:p>
                      <a:pPr algn="ctr"/>
                      <a:r>
                        <a:rPr sz="1000" b="1" i="0">
                          <a:solidFill>
                            <a:srgbClr val="1B2A4A"/>
                          </a:solidFill>
                          <a:latin typeface="Calibri"/>
                          <a:ea typeface="Calibri"/>
                          <a:cs typeface="Calibri"/>
                        </a:rPr>
                        <a:t>Bữa sáng
(2 món)</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BAGELS, ONION (ID: 2054938)
Cereals ready-to-eat wheat bran (ID: 169077)</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25,0 g
71,3 g</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Nạp carb giải phóng nhanh &amp; chất xơ khởi đầu ngày</a:t>
                      </a:r>
                    </a:p>
                  </a:txBody>
                  <a:tcPr marL="73152" marR="73152" marT="27432" marB="27432" anchor="ctr">
                    <a:solidFill>
                      <a:srgbClr val="F5F7FB"/>
                    </a:solidFill>
                  </a:tcPr>
                </a:tc>
              </a:tr>
              <a:tr h="896112">
                <a:tc>
                  <a:txBody>
                    <a:bodyPr/>
                    <a:lstStyle/>
                    <a:p>
                      <a:pPr algn="ctr"/>
                      <a:r>
                        <a:rPr sz="1000" b="1" i="0">
                          <a:solidFill>
                            <a:srgbClr val="1B2A4A"/>
                          </a:solidFill>
                          <a:latin typeface="Calibri"/>
                          <a:ea typeface="Calibri"/>
                          <a:cs typeface="Calibri"/>
                        </a:rPr>
                        <a:t>Bữa trưa
(2 món)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6 BEEF ENCHILADAS (ID: 2090429)
100% Organic Pea Pasta, Penne (ID: 912684)</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25,0 g
336,3 g</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Cung cấp đạm động vật, đạm thực vật &amp; năng lượng chính</a:t>
                      </a:r>
                    </a:p>
                  </a:txBody>
                  <a:tcPr marL="73152" marR="73152" marT="27432" marB="27432" anchor="ctr">
                    <a:solidFill>
                      <a:srgbClr val="FFFFFF"/>
                    </a:solidFill>
                  </a:tcPr>
                </a:tc>
              </a:tr>
              <a:tr h="896112">
                <a:tc>
                  <a:txBody>
                    <a:bodyPr/>
                    <a:lstStyle/>
                    <a:p>
                      <a:pPr algn="ctr"/>
                      <a:r>
                        <a:rPr sz="1000" b="1" i="0">
                          <a:solidFill>
                            <a:srgbClr val="1B2A4A"/>
                          </a:solidFill>
                          <a:latin typeface="Calibri"/>
                          <a:ea typeface="Calibri"/>
                          <a:cs typeface="Calibri"/>
                        </a:rPr>
                        <a:t>Bữa tối
(2 món)</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Apple Cranberry Pecan Salad (ID: 2485335)
Artisan Wood-Fired Crust (ID: 2612436)</a:t>
                      </a:r>
                    </a:p>
                  </a:txBody>
                  <a:tcPr marL="73152" marR="73152" marT="27432" marB="27432" anchor="ctr">
                    <a:solidFill>
                      <a:srgbClr val="F5F7FB"/>
                    </a:solidFill>
                  </a:tcPr>
                </a:tc>
                <a:tc>
                  <a:txBody>
                    <a:bodyPr/>
                    <a:lstStyle/>
                    <a:p>
                      <a:pPr algn="ctr"/>
                      <a:r>
                        <a:rPr sz="1000" b="0" i="0">
                          <a:solidFill>
                            <a:srgbClr val="1E2430"/>
                          </a:solidFill>
                          <a:latin typeface="Calibri"/>
                          <a:ea typeface="Calibri"/>
                          <a:cs typeface="Calibri"/>
                        </a:rPr>
                        <a:t>230,8 g
118,7 g</a:t>
                      </a:r>
                    </a:p>
                  </a:txBody>
                  <a:tcPr marL="73152" marR="73152" marT="27432" marB="27432" anchor="ctr">
                    <a:solidFill>
                      <a:srgbClr val="F5F7FB"/>
                    </a:solidFill>
                  </a:tcPr>
                </a:tc>
                <a:tc>
                  <a:txBody>
                    <a:bodyPr/>
                    <a:lstStyle/>
                    <a:p>
                      <a:pPr algn="l"/>
                      <a:r>
                        <a:rPr sz="1000" b="0" i="0">
                          <a:solidFill>
                            <a:srgbClr val="1E2430"/>
                          </a:solidFill>
                          <a:latin typeface="Calibri"/>
                          <a:ea typeface="Calibri"/>
                          <a:cs typeface="Calibri"/>
                        </a:rPr>
                        <a:t>Giàu vitamin, chất béo tốt (quả óc chó) &amp; dễ tiêu hóa</a:t>
                      </a:r>
                    </a:p>
                  </a:txBody>
                  <a:tcPr marL="73152" marR="73152" marT="27432" marB="27432" anchor="ctr">
                    <a:solidFill>
                      <a:srgbClr val="F5F7FB"/>
                    </a:solidFill>
                  </a:tcPr>
                </a:tc>
              </a:tr>
              <a:tr h="896112">
                <a:tc>
                  <a:txBody>
                    <a:bodyPr/>
                    <a:lstStyle/>
                    <a:p>
                      <a:pPr algn="ctr"/>
                      <a:r>
                        <a:rPr sz="1000" b="1" i="0">
                          <a:solidFill>
                            <a:srgbClr val="1B2A4A"/>
                          </a:solidFill>
                          <a:latin typeface="Calibri"/>
                          <a:ea typeface="Calibri"/>
                          <a:cs typeface="Calibri"/>
                        </a:rPr>
                        <a:t>Bữa phụ
(2 món)</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Figs canned water pack (ID: 173022)
Harvest Berries Organic (ID: 2394744)</a:t>
                      </a:r>
                    </a:p>
                  </a:txBody>
                  <a:tcPr marL="73152" marR="73152" marT="27432" marB="27432" anchor="ctr">
                    <a:solidFill>
                      <a:srgbClr val="FFFFFF"/>
                    </a:solidFill>
                  </a:tcPr>
                </a:tc>
                <a:tc>
                  <a:txBody>
                    <a:bodyPr/>
                    <a:lstStyle/>
                    <a:p>
                      <a:pPr algn="ctr"/>
                      <a:r>
                        <a:rPr sz="1000" b="0" i="0">
                          <a:solidFill>
                            <a:srgbClr val="1E2430"/>
                          </a:solidFill>
                          <a:latin typeface="Calibri"/>
                          <a:ea typeface="Calibri"/>
                          <a:cs typeface="Calibri"/>
                        </a:rPr>
                        <a:t>25,0 g
25,0 g</a:t>
                      </a:r>
                    </a:p>
                  </a:txBody>
                  <a:tcPr marL="73152" marR="73152" marT="27432" marB="27432" anchor="ctr">
                    <a:solidFill>
                      <a:srgbClr val="FFFFFF"/>
                    </a:solidFill>
                  </a:tcPr>
                </a:tc>
                <a:tc>
                  <a:txBody>
                    <a:bodyPr/>
                    <a:lstStyle/>
                    <a:p>
                      <a:pPr algn="l"/>
                      <a:r>
                        <a:rPr sz="1000" b="0" i="0">
                          <a:solidFill>
                            <a:srgbClr val="1E2430"/>
                          </a:solidFill>
                          <a:latin typeface="Calibri"/>
                          <a:ea typeface="Calibri"/>
                          <a:cs typeface="Calibri"/>
                        </a:rPr>
                        <a:t>Bổ sung chất chống oxy hóa &amp; duy trì đường huyết</a:t>
                      </a:r>
                    </a:p>
                  </a:txBody>
                  <a:tcPr marL="73152" marR="73152" marT="27432" marB="27432" anchor="ctr">
                    <a:solidFill>
                      <a:srgbClr val="FFFFFF"/>
                    </a:solidFill>
                  </a:tcPr>
                </a:tc>
              </a:tr>
            </a:tbl>
          </a:graphicData>
        </a:graphic>
      </p:graphicFrame>
      <p:sp>
        <p:nvSpPr>
          <p:cNvPr id="22" name="Rectangle 21"/>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Giai đoạn 3 · Minh họa thực đơn đề xuất hoàn chỉnh (Case study P1)</a:t>
            </a:r>
          </a:p>
        </p:txBody>
      </p:sp>
      <p:sp>
        <p:nvSpPr>
          <p:cNvPr id="24" name="TextBox 23"/>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TỔNG KẾT &amp; KIỂM THỬ</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Tổng kết tiến độ Tuần 4–7 &amp; Đảm bảo chất lượng phần mềm</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3520440" cy="50292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71600"/>
            <a:ext cx="31546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217A4B"/>
                </a:solidFill>
                <a:latin typeface="Calibri"/>
                <a:ea typeface="Calibri"/>
                <a:cs typeface="Calibri"/>
              </a:rPr>
              <a:t>ĐẢM BẢO CHẤT LƯỢNG CODE</a:t>
            </a:r>
          </a:p>
        </p:txBody>
      </p:sp>
      <p:sp>
        <p:nvSpPr>
          <p:cNvPr id="8" name="Rectangle 7"/>
          <p:cNvSpPr/>
          <p:nvPr/>
        </p:nvSpPr>
        <p:spPr>
          <a:xfrm>
            <a:off x="685800" y="1719072"/>
            <a:ext cx="31546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874519"/>
            <a:ext cx="3154680" cy="777240"/>
          </a:xfrm>
          <a:prstGeom prst="roundRect">
            <a:avLst/>
          </a:prstGeom>
          <a:solidFill>
            <a:srgbClr val="FFFFFF"/>
          </a:solidFill>
          <a:ln w="12700">
            <a:solidFill>
              <a:srgbClr val="21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65960"/>
            <a:ext cx="2880360" cy="320040"/>
          </a:xfrm>
          <a:prstGeom prst="rect">
            <a:avLst/>
          </a:prstGeom>
          <a:noFill/>
        </p:spPr>
        <p:txBody>
          <a:bodyPr wrap="square" anchor="t" lIns="0" rIns="0" tIns="0" bIns="0">
            <a:spAutoFit/>
          </a:bodyPr>
          <a:lstStyle/>
          <a:p>
            <a:pPr algn="ctr">
              <a:lnSpc>
                <a:spcPct val="100000"/>
              </a:lnSpc>
              <a:spcAft>
                <a:spcPts val="0"/>
              </a:spcAft>
            </a:pPr>
            <a:r>
              <a:rPr sz="1500" b="1" i="0">
                <a:solidFill>
                  <a:srgbClr val="217A4B"/>
                </a:solidFill>
                <a:latin typeface="Calibri"/>
                <a:ea typeface="Calibri"/>
                <a:cs typeface="Calibri"/>
              </a:rPr>
              <a:t>138 / 138 UNIT TESTS PASS</a:t>
            </a:r>
          </a:p>
        </p:txBody>
      </p:sp>
      <p:sp>
        <p:nvSpPr>
          <p:cNvPr id="11" name="TextBox 10"/>
          <p:cNvSpPr txBox="1"/>
          <p:nvPr/>
        </p:nvSpPr>
        <p:spPr>
          <a:xfrm>
            <a:off x="822960" y="2304288"/>
            <a:ext cx="2880360" cy="274320"/>
          </a:xfrm>
          <a:prstGeom prst="rect">
            <a:avLst/>
          </a:prstGeom>
          <a:noFill/>
        </p:spPr>
        <p:txBody>
          <a:bodyPr wrap="square" anchor="t" lIns="0" rIns="0" tIns="0" bIns="0">
            <a:spAutoFit/>
          </a:bodyPr>
          <a:lstStyle/>
          <a:p>
            <a:pPr algn="ctr">
              <a:lnSpc>
                <a:spcPct val="100000"/>
              </a:lnSpc>
              <a:spcAft>
                <a:spcPts val="0"/>
              </a:spcAft>
            </a:pPr>
            <a:r>
              <a:rPr sz="1000" b="0" i="0">
                <a:solidFill>
                  <a:srgbClr val="5A6478"/>
                </a:solidFill>
                <a:latin typeface="Calibri"/>
                <a:ea typeface="Calibri"/>
                <a:cs typeface="Calibri"/>
              </a:rPr>
              <a:t>100% Test Coverage Suite · Không lỗi tiềm ẩn</a:t>
            </a:r>
          </a:p>
        </p:txBody>
      </p:sp>
      <p:sp>
        <p:nvSpPr>
          <p:cNvPr id="12" name="TextBox 11"/>
          <p:cNvSpPr txBox="1"/>
          <p:nvPr/>
        </p:nvSpPr>
        <p:spPr>
          <a:xfrm>
            <a:off x="685800" y="2788920"/>
            <a:ext cx="3154680" cy="365760"/>
          </a:xfrm>
          <a:prstGeom prst="rect">
            <a:avLst/>
          </a:prstGeom>
          <a:noFill/>
        </p:spPr>
        <p:txBody>
          <a:bodyPr wrap="square" anchor="t" lIns="0" rIns="0" tIns="0" bIns="0">
            <a:spAutoFit/>
          </a:bodyPr>
          <a:lstStyle/>
          <a:p>
            <a:pPr algn="l">
              <a:lnSpc>
                <a:spcPct val="100000"/>
              </a:lnSpc>
              <a:spcAft>
                <a:spcPts val="0"/>
              </a:spcAft>
            </a:pPr>
            <a:r>
              <a:rPr sz="1050" b="1" i="0">
                <a:solidFill>
                  <a:srgbClr val="1B2A4A"/>
                </a:solidFill>
                <a:latin typeface="Calibri"/>
                <a:ea typeface="Calibri"/>
                <a:cs typeface="Calibri"/>
              </a:rPr>
              <a:t>Module DBO core: </a:t>
            </a:r>
            <a:r>
              <a:rPr sz="1019" b="0" i="0">
                <a:solidFill>
                  <a:srgbClr val="1E2430"/>
                </a:solidFill>
                <a:latin typeface="Calibri"/>
                <a:ea typeface="Calibri"/>
                <a:cs typeface="Calibri"/>
              </a:rPr>
              <a:t>24 tests (4 hành vi bọ hung)</a:t>
            </a:r>
          </a:p>
        </p:txBody>
      </p:sp>
      <p:sp>
        <p:nvSpPr>
          <p:cNvPr id="13" name="TextBox 12"/>
          <p:cNvSpPr txBox="1"/>
          <p:nvPr/>
        </p:nvSpPr>
        <p:spPr>
          <a:xfrm>
            <a:off x="685800" y="3172968"/>
            <a:ext cx="3154680" cy="365760"/>
          </a:xfrm>
          <a:prstGeom prst="rect">
            <a:avLst/>
          </a:prstGeom>
          <a:noFill/>
        </p:spPr>
        <p:txBody>
          <a:bodyPr wrap="square" anchor="t" lIns="0" rIns="0" tIns="0" bIns="0">
            <a:spAutoFit/>
          </a:bodyPr>
          <a:lstStyle/>
          <a:p>
            <a:pPr algn="l">
              <a:lnSpc>
                <a:spcPct val="100000"/>
              </a:lnSpc>
              <a:spcAft>
                <a:spcPts val="0"/>
              </a:spcAft>
            </a:pPr>
            <a:r>
              <a:rPr sz="1050" b="1" i="0">
                <a:solidFill>
                  <a:srgbClr val="1B2A4A"/>
                </a:solidFill>
                <a:latin typeface="Calibri"/>
                <a:ea typeface="Calibri"/>
                <a:cs typeface="Calibri"/>
              </a:rPr>
              <a:t>Module IDBO cải tiến: </a:t>
            </a:r>
            <a:r>
              <a:rPr sz="1019" b="0" i="0">
                <a:solidFill>
                  <a:srgbClr val="1E2430"/>
                </a:solidFill>
                <a:latin typeface="Calibri"/>
                <a:ea typeface="Calibri"/>
                <a:cs typeface="Calibri"/>
              </a:rPr>
              <a:t>32 tests (Diversity, Cauchy, Restart)</a:t>
            </a:r>
          </a:p>
        </p:txBody>
      </p:sp>
      <p:sp>
        <p:nvSpPr>
          <p:cNvPr id="14" name="TextBox 13"/>
          <p:cNvSpPr txBox="1"/>
          <p:nvPr/>
        </p:nvSpPr>
        <p:spPr>
          <a:xfrm>
            <a:off x="685800" y="3557015"/>
            <a:ext cx="3154680" cy="365760"/>
          </a:xfrm>
          <a:prstGeom prst="rect">
            <a:avLst/>
          </a:prstGeom>
          <a:noFill/>
        </p:spPr>
        <p:txBody>
          <a:bodyPr wrap="square" anchor="t" lIns="0" rIns="0" tIns="0" bIns="0">
            <a:spAutoFit/>
          </a:bodyPr>
          <a:lstStyle/>
          <a:p>
            <a:pPr algn="l">
              <a:lnSpc>
                <a:spcPct val="100000"/>
              </a:lnSpc>
              <a:spcAft>
                <a:spcPts val="0"/>
              </a:spcAft>
            </a:pPr>
            <a:r>
              <a:rPr sz="1050" b="1" i="0">
                <a:solidFill>
                  <a:srgbClr val="1B2A4A"/>
                </a:solidFill>
                <a:latin typeface="Calibri"/>
                <a:ea typeface="Calibri"/>
                <a:cs typeface="Calibri"/>
              </a:rPr>
              <a:t>Benchmark Suites: </a:t>
            </a:r>
            <a:r>
              <a:rPr sz="1019" b="0" i="0">
                <a:solidFill>
                  <a:srgbClr val="1E2430"/>
                </a:solidFill>
                <a:latin typeface="Calibri"/>
                <a:ea typeface="Calibri"/>
                <a:cs typeface="Calibri"/>
              </a:rPr>
              <a:t>36 tests (6 hàm, Vector hóa, Bounds)</a:t>
            </a:r>
          </a:p>
        </p:txBody>
      </p:sp>
      <p:sp>
        <p:nvSpPr>
          <p:cNvPr id="15" name="TextBox 14"/>
          <p:cNvSpPr txBox="1"/>
          <p:nvPr/>
        </p:nvSpPr>
        <p:spPr>
          <a:xfrm>
            <a:off x="685800" y="3941063"/>
            <a:ext cx="3154680" cy="365760"/>
          </a:xfrm>
          <a:prstGeom prst="rect">
            <a:avLst/>
          </a:prstGeom>
          <a:noFill/>
        </p:spPr>
        <p:txBody>
          <a:bodyPr wrap="square" anchor="t" lIns="0" rIns="0" tIns="0" bIns="0">
            <a:spAutoFit/>
          </a:bodyPr>
          <a:lstStyle/>
          <a:p>
            <a:pPr algn="l">
              <a:lnSpc>
                <a:spcPct val="100000"/>
              </a:lnSpc>
              <a:spcAft>
                <a:spcPts val="0"/>
              </a:spcAft>
            </a:pPr>
            <a:r>
              <a:rPr sz="1050" b="1" i="0">
                <a:solidFill>
                  <a:srgbClr val="1B2A4A"/>
                </a:solidFill>
                <a:latin typeface="Calibri"/>
                <a:ea typeface="Calibri"/>
                <a:cs typeface="Calibri"/>
              </a:rPr>
              <a:t>Menu Objective &amp; Penalties: </a:t>
            </a:r>
            <a:r>
              <a:rPr sz="1019" b="0" i="0">
                <a:solidFill>
                  <a:srgbClr val="1E2430"/>
                </a:solidFill>
                <a:latin typeface="Calibri"/>
                <a:ea typeface="Calibri"/>
                <a:cs typeface="Calibri"/>
              </a:rPr>
              <a:t>30 tests (Calo, Macro, Micro, Bounds)</a:t>
            </a:r>
          </a:p>
        </p:txBody>
      </p:sp>
      <p:sp>
        <p:nvSpPr>
          <p:cNvPr id="16" name="TextBox 15"/>
          <p:cNvSpPr txBox="1"/>
          <p:nvPr/>
        </p:nvSpPr>
        <p:spPr>
          <a:xfrm>
            <a:off x="685800" y="4325112"/>
            <a:ext cx="3154680" cy="365760"/>
          </a:xfrm>
          <a:prstGeom prst="rect">
            <a:avLst/>
          </a:prstGeom>
          <a:noFill/>
        </p:spPr>
        <p:txBody>
          <a:bodyPr wrap="square" anchor="t" lIns="0" rIns="0" tIns="0" bIns="0">
            <a:spAutoFit/>
          </a:bodyPr>
          <a:lstStyle/>
          <a:p>
            <a:pPr algn="l">
              <a:lnSpc>
                <a:spcPct val="100000"/>
              </a:lnSpc>
              <a:spcAft>
                <a:spcPts val="0"/>
              </a:spcAft>
            </a:pPr>
            <a:r>
              <a:rPr sz="1050" b="1" i="0">
                <a:solidFill>
                  <a:srgbClr val="1B2A4A"/>
                </a:solidFill>
                <a:latin typeface="Calibri"/>
                <a:ea typeface="Calibri"/>
                <a:cs typeface="Calibri"/>
              </a:rPr>
              <a:t>ObjectiveAdapter &amp; Metrics: </a:t>
            </a:r>
            <a:r>
              <a:rPr sz="1019" b="0" i="0">
                <a:solidFill>
                  <a:srgbClr val="1E2430"/>
                </a:solidFill>
                <a:latin typeface="Calibri"/>
                <a:ea typeface="Calibri"/>
                <a:cs typeface="Calibri"/>
              </a:rPr>
              <a:t>16 tests (Min/Max, Validate, Converge)</a:t>
            </a:r>
          </a:p>
        </p:txBody>
      </p:sp>
      <p:sp>
        <p:nvSpPr>
          <p:cNvPr id="17" name="TextBox 16"/>
          <p:cNvSpPr txBox="1"/>
          <p:nvPr/>
        </p:nvSpPr>
        <p:spPr>
          <a:xfrm>
            <a:off x="685800" y="4892040"/>
            <a:ext cx="3154680" cy="1234440"/>
          </a:xfrm>
          <a:prstGeom prst="rect">
            <a:avLst/>
          </a:prstGeom>
          <a:noFill/>
        </p:spPr>
        <p:txBody>
          <a:bodyPr wrap="square" anchor="t" lIns="0" rIns="0" tIns="0" bIns="0">
            <a:spAutoFit/>
          </a:bodyPr>
          <a:lstStyle/>
          <a:p>
            <a:pPr algn="l">
              <a:lnSpc>
                <a:spcPct val="112000"/>
              </a:lnSpc>
              <a:spcAft>
                <a:spcPts val="0"/>
              </a:spcAft>
            </a:pPr>
            <a:r>
              <a:rPr sz="1050" b="1" i="0">
                <a:solidFill>
                  <a:srgbClr val="1B2A4A"/>
                </a:solidFill>
                <a:latin typeface="Calibri"/>
                <a:ea typeface="Calibri"/>
                <a:cs typeface="Calibri"/>
              </a:rPr>
              <a:t>Tiêu chuẩn kỹ thuật: </a:t>
            </a:r>
          </a:p>
          <a:p>
            <a:pPr algn="l">
              <a:lnSpc>
                <a:spcPct val="112000"/>
              </a:lnSpc>
              <a:spcAft>
                <a:spcPts val="0"/>
              </a:spcAft>
            </a:pPr>
            <a:r>
              <a:rPr sz="1000" b="0" i="0">
                <a:solidFill>
                  <a:srgbClr val="5A6478"/>
                </a:solidFill>
                <a:latin typeface="Calibri"/>
                <a:ea typeface="Calibri"/>
                <a:cs typeface="Calibri"/>
              </a:rPr>
              <a:t>Mã nguồn tuân thủ nghiêm ngặt PEP 8, có Type Annotations đầy đủ, cấu trúc module hóa phân tầng rõ ràng giữa Lõi thuật toán và Nghiệp vụ y tế.</a:t>
            </a:r>
          </a:p>
        </p:txBody>
      </p:sp>
      <p:sp>
        <p:nvSpPr>
          <p:cNvPr id="18" name="Rounded Rectangle 17"/>
          <p:cNvSpPr/>
          <p:nvPr/>
        </p:nvSpPr>
        <p:spPr>
          <a:xfrm>
            <a:off x="4206240" y="1234440"/>
            <a:ext cx="3520440" cy="502920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1371600"/>
            <a:ext cx="31546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1D6F6F"/>
                </a:solidFill>
                <a:latin typeface="Calibri"/>
                <a:ea typeface="Calibri"/>
                <a:cs typeface="Calibri"/>
              </a:rPr>
              <a:t>TIẾN ĐỘ 3 GIAI ĐOẠN</a:t>
            </a:r>
          </a:p>
        </p:txBody>
      </p:sp>
      <p:sp>
        <p:nvSpPr>
          <p:cNvPr id="20" name="Rectangle 19"/>
          <p:cNvSpPr/>
          <p:nvPr/>
        </p:nvSpPr>
        <p:spPr>
          <a:xfrm>
            <a:off x="4389120" y="1719072"/>
            <a:ext cx="31546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89120" y="1874519"/>
            <a:ext cx="3154680" cy="123444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1874519"/>
            <a:ext cx="73152" cy="1234440"/>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1965960"/>
            <a:ext cx="29260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217A4B"/>
                </a:solidFill>
                <a:latin typeface="Calibri"/>
                <a:ea typeface="Calibri"/>
                <a:cs typeface="Calibri"/>
              </a:rPr>
              <a:t>Tuần 4: DBO Benchmark</a:t>
            </a:r>
          </a:p>
        </p:txBody>
      </p:sp>
      <p:sp>
        <p:nvSpPr>
          <p:cNvPr id="24" name="TextBox 23"/>
          <p:cNvSpPr txBox="1"/>
          <p:nvPr/>
        </p:nvSpPr>
        <p:spPr>
          <a:xfrm>
            <a:off x="4553712" y="2167127"/>
            <a:ext cx="2926080" cy="201168"/>
          </a:xfrm>
          <a:prstGeom prst="rect">
            <a:avLst/>
          </a:prstGeom>
          <a:noFill/>
        </p:spPr>
        <p:txBody>
          <a:bodyPr wrap="square" anchor="t" lIns="0" rIns="0" tIns="0" bIns="0">
            <a:spAutoFit/>
          </a:bodyPr>
          <a:lstStyle/>
          <a:p>
            <a:pPr algn="l">
              <a:lnSpc>
                <a:spcPct val="100000"/>
              </a:lnSpc>
              <a:spcAft>
                <a:spcPts val="0"/>
              </a:spcAft>
            </a:pPr>
            <a:r>
              <a:rPr sz="1000" b="1" i="0">
                <a:solidFill>
                  <a:srgbClr val="217A4B"/>
                </a:solidFill>
                <a:latin typeface="Calibri"/>
                <a:ea typeface="Calibri"/>
                <a:cs typeface="Calibri"/>
              </a:rPr>
              <a:t>Hoàn thành 100%</a:t>
            </a:r>
          </a:p>
        </p:txBody>
      </p:sp>
      <p:sp>
        <p:nvSpPr>
          <p:cNvPr id="25" name="TextBox 24"/>
          <p:cNvSpPr txBox="1"/>
          <p:nvPr/>
        </p:nvSpPr>
        <p:spPr>
          <a:xfrm>
            <a:off x="4553712" y="2377439"/>
            <a:ext cx="2926080" cy="658368"/>
          </a:xfrm>
          <a:prstGeom prst="rect">
            <a:avLst/>
          </a:prstGeom>
          <a:noFill/>
        </p:spPr>
        <p:txBody>
          <a:bodyPr wrap="square" anchor="t" lIns="0" rIns="0" tIns="0" bIns="0">
            <a:spAutoFit/>
          </a:bodyPr>
          <a:lstStyle/>
          <a:p>
            <a:pPr algn="l">
              <a:lnSpc>
                <a:spcPct val="108000"/>
              </a:lnSpc>
              <a:spcAft>
                <a:spcPts val="0"/>
              </a:spcAft>
            </a:pPr>
            <a:r>
              <a:rPr sz="980" b="0" i="0">
                <a:solidFill>
                  <a:srgbClr val="5A6478"/>
                </a:solidFill>
                <a:latin typeface="Calibri"/>
                <a:ea typeface="Calibri"/>
                <a:cs typeface="Calibri"/>
              </a:rPr>
              <a:t>Cài đặt chuẩn xác DBO gốc, kiểm thử 540 runs trên 6 hàm. Hội tụ tiệm cận 0 tuyệt đối ở 50D.</a:t>
            </a:r>
          </a:p>
        </p:txBody>
      </p:sp>
      <p:sp>
        <p:nvSpPr>
          <p:cNvPr id="26" name="Rounded Rectangle 25"/>
          <p:cNvSpPr/>
          <p:nvPr/>
        </p:nvSpPr>
        <p:spPr>
          <a:xfrm>
            <a:off x="4389120" y="3227832"/>
            <a:ext cx="3154680" cy="123444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3227832"/>
            <a:ext cx="73152" cy="123444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3319272"/>
            <a:ext cx="29260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1D6F6F"/>
                </a:solidFill>
                <a:latin typeface="Calibri"/>
                <a:ea typeface="Calibri"/>
                <a:cs typeface="Calibri"/>
              </a:rPr>
              <a:t>Tuần 5–6: IDBO Algorithm</a:t>
            </a:r>
          </a:p>
        </p:txBody>
      </p:sp>
      <p:sp>
        <p:nvSpPr>
          <p:cNvPr id="29" name="TextBox 28"/>
          <p:cNvSpPr txBox="1"/>
          <p:nvPr/>
        </p:nvSpPr>
        <p:spPr>
          <a:xfrm>
            <a:off x="4553712" y="3520439"/>
            <a:ext cx="2926080" cy="201168"/>
          </a:xfrm>
          <a:prstGeom prst="rect">
            <a:avLst/>
          </a:prstGeom>
          <a:noFill/>
        </p:spPr>
        <p:txBody>
          <a:bodyPr wrap="square" anchor="t" lIns="0" rIns="0" tIns="0" bIns="0">
            <a:spAutoFit/>
          </a:bodyPr>
          <a:lstStyle/>
          <a:p>
            <a:pPr algn="l">
              <a:lnSpc>
                <a:spcPct val="100000"/>
              </a:lnSpc>
              <a:spcAft>
                <a:spcPts val="0"/>
              </a:spcAft>
            </a:pPr>
            <a:r>
              <a:rPr sz="1000" b="1" i="0">
                <a:solidFill>
                  <a:srgbClr val="217A4B"/>
                </a:solidFill>
                <a:latin typeface="Calibri"/>
                <a:ea typeface="Calibri"/>
                <a:cs typeface="Calibri"/>
              </a:rPr>
              <a:t>Hoàn thành 100%</a:t>
            </a:r>
          </a:p>
        </p:txBody>
      </p:sp>
      <p:sp>
        <p:nvSpPr>
          <p:cNvPr id="30" name="TextBox 29"/>
          <p:cNvSpPr txBox="1"/>
          <p:nvPr/>
        </p:nvSpPr>
        <p:spPr>
          <a:xfrm>
            <a:off x="4553712" y="3730752"/>
            <a:ext cx="2926080" cy="658368"/>
          </a:xfrm>
          <a:prstGeom prst="rect">
            <a:avLst/>
          </a:prstGeom>
          <a:noFill/>
        </p:spPr>
        <p:txBody>
          <a:bodyPr wrap="square" anchor="t" lIns="0" rIns="0" tIns="0" bIns="0">
            <a:spAutoFit/>
          </a:bodyPr>
          <a:lstStyle/>
          <a:p>
            <a:pPr algn="l">
              <a:lnSpc>
                <a:spcPct val="108000"/>
              </a:lnSpc>
              <a:spcAft>
                <a:spcPts val="0"/>
              </a:spcAft>
            </a:pPr>
            <a:r>
              <a:rPr sz="980" b="0" i="0">
                <a:solidFill>
                  <a:srgbClr val="5A6478"/>
                </a:solidFill>
                <a:latin typeface="Calibri"/>
                <a:ea typeface="Calibri"/>
                <a:cs typeface="Calibri"/>
              </a:rPr>
              <a:t>Cải tiến IDBO với Diversity &amp; Cauchy. 18/18 cấu hình Hòa, bảo toàn chất lượng, evals chỉ tăng 0.028%.</a:t>
            </a:r>
          </a:p>
        </p:txBody>
      </p:sp>
      <p:sp>
        <p:nvSpPr>
          <p:cNvPr id="31" name="Rounded Rectangle 30"/>
          <p:cNvSpPr/>
          <p:nvPr/>
        </p:nvSpPr>
        <p:spPr>
          <a:xfrm>
            <a:off x="4389120" y="4581144"/>
            <a:ext cx="3154680" cy="123444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0" y="4581144"/>
            <a:ext cx="73152" cy="123444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3712" y="4672583"/>
            <a:ext cx="2926080" cy="228600"/>
          </a:xfrm>
          <a:prstGeom prst="rect">
            <a:avLst/>
          </a:prstGeom>
          <a:noFill/>
        </p:spPr>
        <p:txBody>
          <a:bodyPr wrap="square" anchor="t" lIns="0" rIns="0" tIns="0" bIns="0">
            <a:spAutoFit/>
          </a:bodyPr>
          <a:lstStyle/>
          <a:p>
            <a:pPr algn="l">
              <a:lnSpc>
                <a:spcPct val="100000"/>
              </a:lnSpc>
              <a:spcAft>
                <a:spcPts val="0"/>
              </a:spcAft>
            </a:pPr>
            <a:r>
              <a:rPr sz="1100" b="1" i="0">
                <a:solidFill>
                  <a:srgbClr val="D9822B"/>
                </a:solidFill>
                <a:latin typeface="Calibri"/>
                <a:ea typeface="Calibri"/>
                <a:cs typeface="Calibri"/>
              </a:rPr>
              <a:t>Tuần 7: Menu Optimization</a:t>
            </a:r>
          </a:p>
        </p:txBody>
      </p:sp>
      <p:sp>
        <p:nvSpPr>
          <p:cNvPr id="34" name="TextBox 33"/>
          <p:cNvSpPr txBox="1"/>
          <p:nvPr/>
        </p:nvSpPr>
        <p:spPr>
          <a:xfrm>
            <a:off x="4553712" y="4873752"/>
            <a:ext cx="2926080" cy="201168"/>
          </a:xfrm>
          <a:prstGeom prst="rect">
            <a:avLst/>
          </a:prstGeom>
          <a:noFill/>
        </p:spPr>
        <p:txBody>
          <a:bodyPr wrap="square" anchor="t" lIns="0" rIns="0" tIns="0" bIns="0">
            <a:spAutoFit/>
          </a:bodyPr>
          <a:lstStyle/>
          <a:p>
            <a:pPr algn="l">
              <a:lnSpc>
                <a:spcPct val="100000"/>
              </a:lnSpc>
              <a:spcAft>
                <a:spcPts val="0"/>
              </a:spcAft>
            </a:pPr>
            <a:r>
              <a:rPr sz="1000" b="1" i="0">
                <a:solidFill>
                  <a:srgbClr val="217A4B"/>
                </a:solidFill>
                <a:latin typeface="Calibri"/>
                <a:ea typeface="Calibri"/>
                <a:cs typeface="Calibri"/>
              </a:rPr>
              <a:t>Hoàn thành 100%</a:t>
            </a:r>
          </a:p>
        </p:txBody>
      </p:sp>
      <p:sp>
        <p:nvSpPr>
          <p:cNvPr id="35" name="TextBox 34"/>
          <p:cNvSpPr txBox="1"/>
          <p:nvPr/>
        </p:nvSpPr>
        <p:spPr>
          <a:xfrm>
            <a:off x="4553712" y="5084064"/>
            <a:ext cx="2926080" cy="658368"/>
          </a:xfrm>
          <a:prstGeom prst="rect">
            <a:avLst/>
          </a:prstGeom>
          <a:noFill/>
        </p:spPr>
        <p:txBody>
          <a:bodyPr wrap="square" anchor="t" lIns="0" rIns="0" tIns="0" bIns="0">
            <a:spAutoFit/>
          </a:bodyPr>
          <a:lstStyle/>
          <a:p>
            <a:pPr algn="l">
              <a:lnSpc>
                <a:spcPct val="108000"/>
              </a:lnSpc>
              <a:spcAft>
                <a:spcPts val="0"/>
              </a:spcAft>
            </a:pPr>
            <a:r>
              <a:rPr sz="980" b="0" i="0">
                <a:solidFill>
                  <a:srgbClr val="5A6478"/>
                </a:solidFill>
                <a:latin typeface="Calibri"/>
                <a:ea typeface="Calibri"/>
                <a:cs typeface="Calibri"/>
              </a:rPr>
              <a:t>Mô hình hóa bài toán thực đơn, tích hợp ObjectiveAdapter, tối ưu 0 vi phạm, lệch năng lượng 1.7 kcal.</a:t>
            </a:r>
          </a:p>
        </p:txBody>
      </p:sp>
      <p:sp>
        <p:nvSpPr>
          <p:cNvPr id="36" name="Rounded Rectangle 35"/>
          <p:cNvSpPr/>
          <p:nvPr/>
        </p:nvSpPr>
        <p:spPr>
          <a:xfrm>
            <a:off x="7909560" y="1234440"/>
            <a:ext cx="3776472" cy="502920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92440" y="1371600"/>
            <a:ext cx="3410712" cy="320040"/>
          </a:xfrm>
          <a:prstGeom prst="rect">
            <a:avLst/>
          </a:prstGeom>
          <a:noFill/>
        </p:spPr>
        <p:txBody>
          <a:bodyPr wrap="square" anchor="t" lIns="0" rIns="0" tIns="0" bIns="0">
            <a:spAutoFit/>
          </a:bodyPr>
          <a:lstStyle/>
          <a:p>
            <a:pPr algn="l">
              <a:lnSpc>
                <a:spcPct val="100000"/>
              </a:lnSpc>
              <a:spcAft>
                <a:spcPts val="0"/>
              </a:spcAft>
            </a:pPr>
            <a:r>
              <a:rPr sz="1300" b="1" i="0">
                <a:solidFill>
                  <a:srgbClr val="1B2A4A"/>
                </a:solidFill>
                <a:latin typeface="Calibri"/>
                <a:ea typeface="Calibri"/>
                <a:cs typeface="Calibri"/>
              </a:rPr>
              <a:t>PHÂN CÔNG TRÁCH NHIỆM</a:t>
            </a:r>
          </a:p>
        </p:txBody>
      </p:sp>
      <p:sp>
        <p:nvSpPr>
          <p:cNvPr id="38" name="Rectangle 37"/>
          <p:cNvSpPr/>
          <p:nvPr/>
        </p:nvSpPr>
        <p:spPr>
          <a:xfrm>
            <a:off x="8092440" y="1719072"/>
            <a:ext cx="34107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874519"/>
            <a:ext cx="3410712" cy="123444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1947672"/>
            <a:ext cx="31546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Lê Quang Duy (Nhóm trưởng)</a:t>
            </a:r>
          </a:p>
        </p:txBody>
      </p:sp>
      <p:sp>
        <p:nvSpPr>
          <p:cNvPr id="41" name="TextBox 40"/>
          <p:cNvSpPr txBox="1"/>
          <p:nvPr/>
        </p:nvSpPr>
        <p:spPr>
          <a:xfrm>
            <a:off x="8229600" y="2203703"/>
            <a:ext cx="3154680" cy="841248"/>
          </a:xfrm>
          <a:prstGeom prst="rect">
            <a:avLst/>
          </a:prstGeom>
          <a:noFill/>
        </p:spPr>
        <p:txBody>
          <a:bodyPr wrap="square" anchor="t" lIns="0" rIns="0" tIns="0" bIns="0">
            <a:spAutoFit/>
          </a:bodyPr>
          <a:lstStyle/>
          <a:p>
            <a:pPr algn="l">
              <a:lnSpc>
                <a:spcPct val="110000"/>
              </a:lnSpc>
              <a:spcAft>
                <a:spcPts val="0"/>
              </a:spcAft>
            </a:pPr>
            <a:r>
              <a:rPr sz="980" b="0" i="0">
                <a:solidFill>
                  <a:srgbClr val="1E2430"/>
                </a:solidFill>
                <a:latin typeface="Calibri"/>
                <a:ea typeface="Calibri"/>
                <a:cs typeface="Calibri"/>
              </a:rPr>
              <a:t>• Thiết kế kiến trúc tổng thể hệ thống
• Tích hợp IDBO &amp; ObjectiveAdapter Tuần 7
• Xây dựng pipeline tự động hóa báo cáo DOCX/PPTX</a:t>
            </a:r>
          </a:p>
        </p:txBody>
      </p:sp>
      <p:sp>
        <p:nvSpPr>
          <p:cNvPr id="42" name="Rounded Rectangle 41"/>
          <p:cNvSpPr/>
          <p:nvPr/>
        </p:nvSpPr>
        <p:spPr>
          <a:xfrm>
            <a:off x="8092440" y="3227832"/>
            <a:ext cx="3410712" cy="123444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3300984"/>
            <a:ext cx="31546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Đặng Nguyễn Minh Đăng</a:t>
            </a:r>
          </a:p>
        </p:txBody>
      </p:sp>
      <p:sp>
        <p:nvSpPr>
          <p:cNvPr id="44" name="TextBox 43"/>
          <p:cNvSpPr txBox="1"/>
          <p:nvPr/>
        </p:nvSpPr>
        <p:spPr>
          <a:xfrm>
            <a:off x="8229600" y="3557015"/>
            <a:ext cx="3154680" cy="841248"/>
          </a:xfrm>
          <a:prstGeom prst="rect">
            <a:avLst/>
          </a:prstGeom>
          <a:noFill/>
        </p:spPr>
        <p:txBody>
          <a:bodyPr wrap="square" anchor="t" lIns="0" rIns="0" tIns="0" bIns="0">
            <a:spAutoFit/>
          </a:bodyPr>
          <a:lstStyle/>
          <a:p>
            <a:pPr algn="l">
              <a:lnSpc>
                <a:spcPct val="110000"/>
              </a:lnSpc>
              <a:spcAft>
                <a:spcPts val="0"/>
              </a:spcAft>
            </a:pPr>
            <a:r>
              <a:rPr sz="980" b="0" i="0">
                <a:solidFill>
                  <a:srgbClr val="1E2430"/>
                </a:solidFill>
                <a:latin typeface="Calibri"/>
                <a:ea typeface="Calibri"/>
                <a:cs typeface="Calibri"/>
              </a:rPr>
              <a:t>• Tiền xử lý dữ liệu dinh dưỡng USDA FDC
• Quản lý kịch bản benchmark &amp; Runner thực nghiệm
• Kiểm thử thống kê và trực quan hóa dữ liệu</a:t>
            </a:r>
          </a:p>
        </p:txBody>
      </p:sp>
      <p:sp>
        <p:nvSpPr>
          <p:cNvPr id="45" name="Rounded Rectangle 44"/>
          <p:cNvSpPr/>
          <p:nvPr/>
        </p:nvSpPr>
        <p:spPr>
          <a:xfrm>
            <a:off x="8092440" y="4581144"/>
            <a:ext cx="3410712" cy="123444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0" y="4654296"/>
            <a:ext cx="3154680" cy="256032"/>
          </a:xfrm>
          <a:prstGeom prst="rect">
            <a:avLst/>
          </a:prstGeom>
          <a:noFill/>
        </p:spPr>
        <p:txBody>
          <a:bodyPr wrap="square" anchor="t" lIns="0" rIns="0" tIns="0" bIns="0">
            <a:spAutoFit/>
          </a:bodyPr>
          <a:lstStyle/>
          <a:p>
            <a:pPr algn="l">
              <a:lnSpc>
                <a:spcPct val="100000"/>
              </a:lnSpc>
              <a:spcAft>
                <a:spcPts val="0"/>
              </a:spcAft>
            </a:pPr>
            <a:r>
              <a:rPr sz="1100" b="1" i="0">
                <a:solidFill>
                  <a:srgbClr val="1B2A4A"/>
                </a:solidFill>
                <a:latin typeface="Calibri"/>
                <a:ea typeface="Calibri"/>
                <a:cs typeface="Calibri"/>
              </a:rPr>
              <a:t>Hồ Trung Cương</a:t>
            </a:r>
          </a:p>
        </p:txBody>
      </p:sp>
      <p:sp>
        <p:nvSpPr>
          <p:cNvPr id="47" name="TextBox 46"/>
          <p:cNvSpPr txBox="1"/>
          <p:nvPr/>
        </p:nvSpPr>
        <p:spPr>
          <a:xfrm>
            <a:off x="8229600" y="4910328"/>
            <a:ext cx="3154680" cy="841248"/>
          </a:xfrm>
          <a:prstGeom prst="rect">
            <a:avLst/>
          </a:prstGeom>
          <a:noFill/>
        </p:spPr>
        <p:txBody>
          <a:bodyPr wrap="square" anchor="t" lIns="0" rIns="0" tIns="0" bIns="0">
            <a:spAutoFit/>
          </a:bodyPr>
          <a:lstStyle/>
          <a:p>
            <a:pPr algn="l">
              <a:lnSpc>
                <a:spcPct val="110000"/>
              </a:lnSpc>
              <a:spcAft>
                <a:spcPts val="0"/>
              </a:spcAft>
            </a:pPr>
            <a:r>
              <a:rPr sz="980" b="0" i="0">
                <a:solidFill>
                  <a:srgbClr val="1E2430"/>
                </a:solidFill>
                <a:latin typeface="Calibri"/>
                <a:ea typeface="Calibri"/>
                <a:cs typeface="Calibri"/>
              </a:rPr>
              <a:t>• Cài đặt 4 hành vi sinh tồn thuật toán DBO
• Cài đặt module Diversity &amp; Đột biến Cauchy
• Viết bộ Unit test và kiểm tra biên ràng buộc</a:t>
            </a:r>
          </a:p>
        </p:txBody>
      </p:sp>
      <p:sp>
        <p:nvSpPr>
          <p:cNvPr id="48" name="Rectangle 47"/>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Tổng kết chất lượng code &amp; Phân công trách nhiệm nhóm</a:t>
            </a:r>
          </a:p>
        </p:txBody>
      </p:sp>
      <p:sp>
        <p:nvSpPr>
          <p:cNvPr id="50" name="TextBox 49"/>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D9822B"/>
                </a:solidFill>
                <a:latin typeface="Calibri"/>
                <a:ea typeface="Calibri"/>
                <a:cs typeface="Calibri"/>
              </a:rPr>
              <a:t>KẾ HOẠCH TUẦN 8</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300" b="1" i="0">
                <a:solidFill>
                  <a:srgbClr val="1B2A4A"/>
                </a:solidFill>
                <a:latin typeface="Calibri"/>
                <a:ea typeface="Calibri"/>
                <a:cs typeface="Calibri"/>
              </a:rPr>
              <a:t>Kế hoạch nghiên cứu Tuần 8 &amp; Định hướng phát triển đề tài</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544068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99032"/>
            <a:ext cx="4983480" cy="320040"/>
          </a:xfrm>
          <a:prstGeom prst="rect">
            <a:avLst/>
          </a:prstGeom>
          <a:noFill/>
        </p:spPr>
        <p:txBody>
          <a:bodyPr wrap="square" anchor="t" lIns="0" rIns="0" tIns="0" bIns="0">
            <a:spAutoFit/>
          </a:bodyPr>
          <a:lstStyle/>
          <a:p>
            <a:pPr algn="l">
              <a:lnSpc>
                <a:spcPct val="100000"/>
              </a:lnSpc>
              <a:spcAft>
                <a:spcPts val="0"/>
              </a:spcAft>
            </a:pPr>
            <a:r>
              <a:rPr sz="1250" b="1" i="0">
                <a:solidFill>
                  <a:srgbClr val="1B2A4A"/>
                </a:solidFill>
                <a:latin typeface="Calibri"/>
                <a:ea typeface="Calibri"/>
                <a:cs typeface="Calibri"/>
              </a:rPr>
              <a:t>1. Mở rộng Tập hồ sơ Bệnh lý (P2, P3)</a:t>
            </a:r>
          </a:p>
        </p:txBody>
      </p:sp>
      <p:sp>
        <p:nvSpPr>
          <p:cNvPr id="9" name="Rectangle 8"/>
          <p:cNvSpPr/>
          <p:nvPr/>
        </p:nvSpPr>
        <p:spPr>
          <a:xfrm>
            <a:off x="731520" y="176479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74520"/>
            <a:ext cx="4983480" cy="1554480"/>
          </a:xfrm>
          <a:prstGeom prst="rect">
            <a:avLst/>
          </a:prstGeom>
          <a:noFill/>
        </p:spPr>
        <p:txBody>
          <a:bodyPr wrap="square" anchor="t" lIns="0" rIns="0" tIns="0" bIns="0">
            <a:spAutoFit/>
          </a:bodyPr>
          <a:lstStyle/>
          <a:p>
            <a:pPr algn="l">
              <a:lnSpc>
                <a:spcPct val="115000"/>
              </a:lnSpc>
              <a:spcAft>
                <a:spcPts val="0"/>
              </a:spcAft>
            </a:pPr>
            <a:r>
              <a:rPr sz="1050" b="0" i="0">
                <a:solidFill>
                  <a:srgbClr val="1E2430"/>
                </a:solidFill>
                <a:latin typeface="Calibri"/>
                <a:ea typeface="Calibri"/>
                <a:cs typeface="Calibri"/>
              </a:rPr>
              <a:t>Thử nghiệm trên các nhóm người dùng đặc thù:
• Hồ sơ P2: Bệnh nhân tiểu đường Type 2 (kiểm soát nghiêm ngặt Carb &amp; Chỉ số đường huyết GI).
• Hồ sơ P3: Người cao huyết áp / Bệnh thận (giới hạn Natri, Phospho và cân bằng Kali).
• Hồ sơ P4: Vận động viên thể hình hoặc người béo phì cần giảm mỡ (High-Protein, Calorie Deficit).</a:t>
            </a:r>
          </a:p>
        </p:txBody>
      </p:sp>
      <p:sp>
        <p:nvSpPr>
          <p:cNvPr id="11" name="Rounded Rectangle 10"/>
          <p:cNvSpPr/>
          <p:nvPr/>
        </p:nvSpPr>
        <p:spPr>
          <a:xfrm>
            <a:off x="6245352" y="1234440"/>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234440"/>
            <a:ext cx="5440680" cy="73152"/>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399032"/>
            <a:ext cx="4983480" cy="320040"/>
          </a:xfrm>
          <a:prstGeom prst="rect">
            <a:avLst/>
          </a:prstGeom>
          <a:noFill/>
        </p:spPr>
        <p:txBody>
          <a:bodyPr wrap="square" anchor="t" lIns="0" rIns="0" tIns="0" bIns="0">
            <a:spAutoFit/>
          </a:bodyPr>
          <a:lstStyle/>
          <a:p>
            <a:pPr algn="l">
              <a:lnSpc>
                <a:spcPct val="100000"/>
              </a:lnSpc>
              <a:spcAft>
                <a:spcPts val="0"/>
              </a:spcAft>
            </a:pPr>
            <a:r>
              <a:rPr sz="1250" b="1" i="0">
                <a:solidFill>
                  <a:srgbClr val="1D6F6F"/>
                </a:solidFill>
                <a:latin typeface="Calibri"/>
                <a:ea typeface="Calibri"/>
                <a:cs typeface="Calibri"/>
              </a:rPr>
              <a:t>2. Tinh chỉnh Ma trận Trọng số (WEIGHTS)</a:t>
            </a:r>
          </a:p>
        </p:txBody>
      </p:sp>
      <p:sp>
        <p:nvSpPr>
          <p:cNvPr id="14" name="Rectangle 13"/>
          <p:cNvSpPr/>
          <p:nvPr/>
        </p:nvSpPr>
        <p:spPr>
          <a:xfrm>
            <a:off x="6473952" y="1764792"/>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74520"/>
            <a:ext cx="4983480" cy="1554480"/>
          </a:xfrm>
          <a:prstGeom prst="rect">
            <a:avLst/>
          </a:prstGeom>
          <a:noFill/>
        </p:spPr>
        <p:txBody>
          <a:bodyPr wrap="square" anchor="t" lIns="0" rIns="0" tIns="0" bIns="0">
            <a:spAutoFit/>
          </a:bodyPr>
          <a:lstStyle/>
          <a:p>
            <a:pPr algn="l">
              <a:lnSpc>
                <a:spcPct val="115000"/>
              </a:lnSpc>
              <a:spcAft>
                <a:spcPts val="0"/>
              </a:spcAft>
            </a:pPr>
            <a:r>
              <a:rPr sz="1050" b="0" i="0">
                <a:solidFill>
                  <a:srgbClr val="1E2430"/>
                </a:solidFill>
                <a:latin typeface="Calibri"/>
                <a:ea typeface="Calibri"/>
                <a:cs typeface="Calibri"/>
              </a:rPr>
              <a:t>Hiệu chuẩn các hệ số phạt đa mục tiêu:
• Tinh chỉnh bộ trọng số (w_calo, w_macro, w_micro) phù hợp với từng bệnh lý theo khuyến nghị chuẩn của Viện Dinh Dưỡng Quốc Gia.
• Khảo sát mức độ nhạy cảm của hàm mục tiêu (Sensitivity Analysis) đối với các trọng số phạt.
• Thiết lập cơ chế thích nghi trọng số theo mức độ ưu tiên sức khỏe của bệnh nhân.</a:t>
            </a:r>
          </a:p>
        </p:txBody>
      </p:sp>
      <p:sp>
        <p:nvSpPr>
          <p:cNvPr id="16" name="Rounded Rectangle 15"/>
          <p:cNvSpPr/>
          <p:nvPr/>
        </p:nvSpPr>
        <p:spPr>
          <a:xfrm>
            <a:off x="502920" y="3749039"/>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749039"/>
            <a:ext cx="5440680" cy="7315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13631"/>
            <a:ext cx="4983480" cy="320040"/>
          </a:xfrm>
          <a:prstGeom prst="rect">
            <a:avLst/>
          </a:prstGeom>
          <a:noFill/>
        </p:spPr>
        <p:txBody>
          <a:bodyPr wrap="square" anchor="t" lIns="0" rIns="0" tIns="0" bIns="0">
            <a:spAutoFit/>
          </a:bodyPr>
          <a:lstStyle/>
          <a:p>
            <a:pPr algn="l">
              <a:lnSpc>
                <a:spcPct val="100000"/>
              </a:lnSpc>
              <a:spcAft>
                <a:spcPts val="0"/>
              </a:spcAft>
            </a:pPr>
            <a:r>
              <a:rPr sz="1250" b="1" i="0">
                <a:solidFill>
                  <a:srgbClr val="D9822B"/>
                </a:solidFill>
                <a:latin typeface="Calibri"/>
                <a:ea typeface="Calibri"/>
                <a:cs typeface="Calibri"/>
              </a:rPr>
              <a:t>3. Bước sang Tối ưu hóa Tổ hợp / Hỗn hợp (Mixed-Integer)</a:t>
            </a:r>
          </a:p>
        </p:txBody>
      </p:sp>
      <p:sp>
        <p:nvSpPr>
          <p:cNvPr id="19" name="Rectangle 18"/>
          <p:cNvSpPr/>
          <p:nvPr/>
        </p:nvSpPr>
        <p:spPr>
          <a:xfrm>
            <a:off x="731520" y="4279391"/>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89119"/>
            <a:ext cx="4983480" cy="1554480"/>
          </a:xfrm>
          <a:prstGeom prst="rect">
            <a:avLst/>
          </a:prstGeom>
          <a:noFill/>
        </p:spPr>
        <p:txBody>
          <a:bodyPr wrap="square" anchor="t" lIns="0" rIns="0" tIns="0" bIns="0">
            <a:spAutoFit/>
          </a:bodyPr>
          <a:lstStyle/>
          <a:p>
            <a:pPr algn="l">
              <a:lnSpc>
                <a:spcPct val="115000"/>
              </a:lnSpc>
              <a:spcAft>
                <a:spcPts val="0"/>
              </a:spcAft>
            </a:pPr>
            <a:r>
              <a:rPr sz="1050" b="0" i="0">
                <a:solidFill>
                  <a:srgbClr val="1E2430"/>
                </a:solidFill>
                <a:latin typeface="Calibri"/>
                <a:ea typeface="Calibri"/>
                <a:cs typeface="Calibri"/>
              </a:rPr>
              <a:t>Nâng cấp không gian tìm kiếm từ danh sách cố định sang ngân hàng món ăn lớn:
• Giai đoạn 1 (Chọn món - Rời rạc): Lựa chọn tập k món ăn từ ngân hàng hàng trăm món USDA.
• Giai đoạn 2 (Định lượng - Liên tục): Tối ưu khẩu phần gram của từng món đã chọn.
• Đây là không gian có vô số cực trị địa phương phức tạp — môi trường lý tưởng để cơ chế Đột biến Cauchy &amp; Random Restart của IDBO phát huy sức mạnh vượt trội so với DBO gốc.</a:t>
            </a:r>
          </a:p>
        </p:txBody>
      </p:sp>
      <p:sp>
        <p:nvSpPr>
          <p:cNvPr id="21" name="Rounded Rectangle 20"/>
          <p:cNvSpPr/>
          <p:nvPr/>
        </p:nvSpPr>
        <p:spPr>
          <a:xfrm>
            <a:off x="6245352" y="3749039"/>
            <a:ext cx="5440680" cy="23317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5352" y="3749039"/>
            <a:ext cx="5440680" cy="73152"/>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913631"/>
            <a:ext cx="4983480" cy="320040"/>
          </a:xfrm>
          <a:prstGeom prst="rect">
            <a:avLst/>
          </a:prstGeom>
          <a:noFill/>
        </p:spPr>
        <p:txBody>
          <a:bodyPr wrap="square" anchor="t" lIns="0" rIns="0" tIns="0" bIns="0">
            <a:spAutoFit/>
          </a:bodyPr>
          <a:lstStyle/>
          <a:p>
            <a:pPr algn="l">
              <a:lnSpc>
                <a:spcPct val="100000"/>
              </a:lnSpc>
              <a:spcAft>
                <a:spcPts val="0"/>
              </a:spcAft>
            </a:pPr>
            <a:r>
              <a:rPr sz="1250" b="1" i="0">
                <a:solidFill>
                  <a:srgbClr val="217A4B"/>
                </a:solidFill>
                <a:latin typeface="Calibri"/>
                <a:ea typeface="Calibri"/>
                <a:cs typeface="Calibri"/>
              </a:rPr>
              <a:t>4. Đóng gói Hệ thống &amp; Báo cáo Giữa kỳ</a:t>
            </a:r>
          </a:p>
        </p:txBody>
      </p:sp>
      <p:sp>
        <p:nvSpPr>
          <p:cNvPr id="24" name="Rectangle 23"/>
          <p:cNvSpPr/>
          <p:nvPr/>
        </p:nvSpPr>
        <p:spPr>
          <a:xfrm>
            <a:off x="6473952" y="4279391"/>
            <a:ext cx="498348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4389119"/>
            <a:ext cx="4983480" cy="1554480"/>
          </a:xfrm>
          <a:prstGeom prst="rect">
            <a:avLst/>
          </a:prstGeom>
          <a:noFill/>
        </p:spPr>
        <p:txBody>
          <a:bodyPr wrap="square" anchor="t" lIns="0" rIns="0" tIns="0" bIns="0">
            <a:spAutoFit/>
          </a:bodyPr>
          <a:lstStyle/>
          <a:p>
            <a:pPr algn="l">
              <a:lnSpc>
                <a:spcPct val="115000"/>
              </a:lnSpc>
              <a:spcAft>
                <a:spcPts val="0"/>
              </a:spcAft>
            </a:pPr>
            <a:r>
              <a:rPr sz="1050" b="0" i="0">
                <a:solidFill>
                  <a:srgbClr val="1E2430"/>
                </a:solidFill>
                <a:latin typeface="Calibri"/>
                <a:ea typeface="Calibri"/>
                <a:cs typeface="Calibri"/>
              </a:rPr>
              <a:t>Hoàn thiện sản phẩm ứng dụng và tài liệu học thuật:
• Đóng gói module lõi IDBO thành dịch vụ Backend API chuẩn hóa (FastAPI/Flask).
• Tích hợp cơ sở dữ liệu món ăn Việt Nam mở rộng song song với USDA FDC.
• Hoàn tất toàn bộ tài liệu báo cáo kỹ thuật và chuẩn bị cho đợt báo cáo giữa kỳ trước Hội đồng.</a:t>
            </a:r>
          </a:p>
        </p:txBody>
      </p:sp>
      <p:sp>
        <p:nvSpPr>
          <p:cNvPr id="26" name="Rectangle 25"/>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Kế hoạch nghiên cứu Tuần 8 &amp; Định hướng phát triển đề tài</a:t>
            </a:r>
          </a:p>
        </p:txBody>
      </p:sp>
      <p:sp>
        <p:nvSpPr>
          <p:cNvPr id="28" name="TextBox 27"/>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